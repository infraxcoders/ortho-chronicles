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300" r:id="rId20"/>
    <p:sldId id="260" r:id="rId6"/>
    <p:sldId id="261" r:id="rId7"/>
    <p:sldId id="301" r:id="rId21"/>
    <p:sldId id="302" r:id="rId22"/>
    <p:sldId id="262" r:id="rId8"/>
    <p:sldId id="303" r:id="rId23"/>
    <p:sldId id="304" r:id="rId24"/>
    <p:sldId id="263" r:id="rId9"/>
    <p:sldId id="264" r:id="rId10"/>
    <p:sldId id="305" r:id="rId25"/>
    <p:sldId id="265" r:id="rId11"/>
    <p:sldId id="266" r:id="rId12"/>
    <p:sldId id="268" r:id="rId13"/>
    <p:sldId id="306" r:id="rId26"/>
    <p:sldId id="307" r:id="rId27"/>
    <p:sldId id="308" r:id="rId28"/>
    <p:sldId id="309" r:id="rId29"/>
    <p:sldId id="310" r:id="rId30"/>
    <p:sldId id="267" r:id="rId14"/>
    <p:sldId id="269" r:id="rId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13" y="72"/>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9F132-390F-0EBB-958A-9EA490A4B37F}"/>
              </a:ext>
            </a:extLst>
          </p:cNvPr>
          <p:cNvSpPr>
            <a:spLocks noGrp="1"/>
          </p:cNvSpPr>
          <p:nvPr>
            <p:ph type="ctrTitle"/>
          </p:nvPr>
        </p:nvSpPr>
        <p:spPr>
          <a:xfrm>
            <a:off x="1143000" y="841772"/>
            <a:ext cx="6858000" cy="1790700"/>
          </a:xfrm>
        </p:spPr>
        <p:txBody>
          <a:bodyPr anchor="b"/>
          <a:lstStyle>
            <a:lvl1pPr algn="ctr">
              <a:defRPr sz="3375"/>
            </a:lvl1pPr>
          </a:lstStyle>
          <a:p>
            <a:r>
              <a:rPr lang="en-US"/>
              <a:t>Click to edit Master title style</a:t>
            </a:r>
            <a:endParaRPr lang="en-IN"/>
          </a:p>
        </p:txBody>
      </p:sp>
      <p:sp>
        <p:nvSpPr>
          <p:cNvPr id="3" name="Subtitle 2">
            <a:extLst>
              <a:ext uri="{FF2B5EF4-FFF2-40B4-BE49-F238E27FC236}">
                <a16:creationId xmlns:a16="http://schemas.microsoft.com/office/drawing/2014/main" id="{D1AD7108-BF2C-BCB1-307B-4295620D080F}"/>
              </a:ext>
            </a:extLst>
          </p:cNvPr>
          <p:cNvSpPr>
            <a:spLocks noGrp="1"/>
          </p:cNvSpPr>
          <p:nvPr>
            <p:ph type="subTitle" idx="1"/>
          </p:nvPr>
        </p:nvSpPr>
        <p:spPr>
          <a:xfrm>
            <a:off x="1143000" y="2701528"/>
            <a:ext cx="6858000" cy="1241822"/>
          </a:xfrm>
        </p:spPr>
        <p:txBody>
          <a:bodyPr/>
          <a:lstStyle>
            <a:lvl1pPr marL="0" indent="0" algn="ctr">
              <a:buNone/>
              <a:defRPr sz="135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0E73D12-C932-3F05-AB65-8DC38240953C}"/>
              </a:ext>
            </a:extLst>
          </p:cNvPr>
          <p:cNvSpPr>
            <a:spLocks noGrp="1"/>
          </p:cNvSpPr>
          <p:nvPr>
            <p:ph type="dt" sz="half" idx="10"/>
          </p:nvPr>
        </p:nvSpPr>
        <p:spPr/>
        <p:txBody>
          <a:bodyPr/>
          <a:lstStyle/>
          <a:p>
            <a:fld id="{0D1B21C3-C759-4FA0-AB79-4B4CEBCA19DF}" type="datetimeFigureOut">
              <a:rPr lang="en-IN" smtClean="0"/>
              <a:t>08-06-2026</a:t>
            </a:fld>
            <a:endParaRPr lang="en-IN"/>
          </a:p>
        </p:txBody>
      </p:sp>
      <p:sp>
        <p:nvSpPr>
          <p:cNvPr id="5" name="Footer Placeholder 4">
            <a:extLst>
              <a:ext uri="{FF2B5EF4-FFF2-40B4-BE49-F238E27FC236}">
                <a16:creationId xmlns:a16="http://schemas.microsoft.com/office/drawing/2014/main" id="{D12CE258-F20C-741D-7E4F-880D5DCFBB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6D5EB9-771A-7663-1DC9-6032E82F1B93}"/>
              </a:ext>
            </a:extLst>
          </p:cNvPr>
          <p:cNvSpPr>
            <a:spLocks noGrp="1"/>
          </p:cNvSpPr>
          <p:nvPr>
            <p:ph type="sldNum" sz="quarter" idx="12"/>
          </p:nvPr>
        </p:nvSpPr>
        <p:spPr/>
        <p:txBody>
          <a:bodyPr/>
          <a:lstStyle/>
          <a:p>
            <a:fld id="{8302FE58-A66E-4CC0-B115-2AD9FEDAD452}" type="slidenum">
              <a:rPr lang="en-IN" smtClean="0"/>
              <a:t>‹#›</a:t>
            </a:fld>
            <a:endParaRPr lang="en-IN"/>
          </a:p>
        </p:txBody>
      </p:sp>
    </p:spTree>
    <p:extLst>
      <p:ext uri="{BB962C8B-B14F-4D97-AF65-F5344CB8AC3E}">
        <p14:creationId xmlns:p14="http://schemas.microsoft.com/office/powerpoint/2010/main" val="2248804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68B30-3F58-A0D7-5970-35F2325959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444DE5-0651-929B-1A29-3F0CD6A5C1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117C0A-B2D4-F139-B4DC-E22CD6CE457B}"/>
              </a:ext>
            </a:extLst>
          </p:cNvPr>
          <p:cNvSpPr>
            <a:spLocks noGrp="1"/>
          </p:cNvSpPr>
          <p:nvPr>
            <p:ph type="dt" sz="half" idx="10"/>
          </p:nvPr>
        </p:nvSpPr>
        <p:spPr/>
        <p:txBody>
          <a:bodyPr/>
          <a:lstStyle/>
          <a:p>
            <a:fld id="{0D1B21C3-C759-4FA0-AB79-4B4CEBCA19DF}" type="datetimeFigureOut">
              <a:rPr lang="en-IN" smtClean="0"/>
              <a:t>08-06-2026</a:t>
            </a:fld>
            <a:endParaRPr lang="en-IN"/>
          </a:p>
        </p:txBody>
      </p:sp>
      <p:sp>
        <p:nvSpPr>
          <p:cNvPr id="5" name="Footer Placeholder 4">
            <a:extLst>
              <a:ext uri="{FF2B5EF4-FFF2-40B4-BE49-F238E27FC236}">
                <a16:creationId xmlns:a16="http://schemas.microsoft.com/office/drawing/2014/main" id="{73D7E2D9-CD34-AF20-B0C6-8EBFD644B4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AA03A2-5658-3EFA-966B-E3741A75939A}"/>
              </a:ext>
            </a:extLst>
          </p:cNvPr>
          <p:cNvSpPr>
            <a:spLocks noGrp="1"/>
          </p:cNvSpPr>
          <p:nvPr>
            <p:ph type="sldNum" sz="quarter" idx="12"/>
          </p:nvPr>
        </p:nvSpPr>
        <p:spPr/>
        <p:txBody>
          <a:bodyPr/>
          <a:lstStyle/>
          <a:p>
            <a:fld id="{8302FE58-A66E-4CC0-B115-2AD9FEDAD452}" type="slidenum">
              <a:rPr lang="en-IN" smtClean="0"/>
              <a:t>‹#›</a:t>
            </a:fld>
            <a:endParaRPr lang="en-IN"/>
          </a:p>
        </p:txBody>
      </p:sp>
    </p:spTree>
    <p:extLst>
      <p:ext uri="{BB962C8B-B14F-4D97-AF65-F5344CB8AC3E}">
        <p14:creationId xmlns:p14="http://schemas.microsoft.com/office/powerpoint/2010/main" val="694172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7B077-2D43-2AFA-6C55-CD79CFC2550A}"/>
              </a:ext>
            </a:extLst>
          </p:cNvPr>
          <p:cNvSpPr>
            <a:spLocks noGrp="1"/>
          </p:cNvSpPr>
          <p:nvPr>
            <p:ph type="title"/>
          </p:nvPr>
        </p:nvSpPr>
        <p:spPr>
          <a:xfrm>
            <a:off x="623888" y="1282305"/>
            <a:ext cx="7886700" cy="2139553"/>
          </a:xfrm>
        </p:spPr>
        <p:txBody>
          <a:bodyPr anchor="b"/>
          <a:lstStyle>
            <a:lvl1pPr>
              <a:defRPr sz="3375"/>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AC38CD0-8093-773C-084B-0344533E882D}"/>
              </a:ext>
            </a:extLst>
          </p:cNvPr>
          <p:cNvSpPr>
            <a:spLocks noGrp="1"/>
          </p:cNvSpPr>
          <p:nvPr>
            <p:ph type="body" idx="1"/>
          </p:nvPr>
        </p:nvSpPr>
        <p:spPr>
          <a:xfrm>
            <a:off x="623888" y="3442099"/>
            <a:ext cx="7886700" cy="1125140"/>
          </a:xfrm>
        </p:spPr>
        <p:txBody>
          <a:bodyPr/>
          <a:lstStyle>
            <a:lvl1pPr marL="0" indent="0">
              <a:buNone/>
              <a:defRPr sz="1350">
                <a:solidFill>
                  <a:schemeClr val="tx1">
                    <a:tint val="82000"/>
                  </a:schemeClr>
                </a:solidFill>
              </a:defRPr>
            </a:lvl1pPr>
            <a:lvl2pPr marL="257175" indent="0">
              <a:buNone/>
              <a:defRPr sz="1125">
                <a:solidFill>
                  <a:schemeClr val="tx1">
                    <a:tint val="82000"/>
                  </a:schemeClr>
                </a:solidFill>
              </a:defRPr>
            </a:lvl2pPr>
            <a:lvl3pPr marL="514350" indent="0">
              <a:buNone/>
              <a:defRPr sz="1013">
                <a:solidFill>
                  <a:schemeClr val="tx1">
                    <a:tint val="82000"/>
                  </a:schemeClr>
                </a:solidFill>
              </a:defRPr>
            </a:lvl3pPr>
            <a:lvl4pPr marL="771525" indent="0">
              <a:buNone/>
              <a:defRPr sz="900">
                <a:solidFill>
                  <a:schemeClr val="tx1">
                    <a:tint val="82000"/>
                  </a:schemeClr>
                </a:solidFill>
              </a:defRPr>
            </a:lvl4pPr>
            <a:lvl5pPr marL="1028700" indent="0">
              <a:buNone/>
              <a:defRPr sz="900">
                <a:solidFill>
                  <a:schemeClr val="tx1">
                    <a:tint val="82000"/>
                  </a:schemeClr>
                </a:solidFill>
              </a:defRPr>
            </a:lvl5pPr>
            <a:lvl6pPr marL="1285875" indent="0">
              <a:buNone/>
              <a:defRPr sz="900">
                <a:solidFill>
                  <a:schemeClr val="tx1">
                    <a:tint val="82000"/>
                  </a:schemeClr>
                </a:solidFill>
              </a:defRPr>
            </a:lvl6pPr>
            <a:lvl7pPr marL="1543050" indent="0">
              <a:buNone/>
              <a:defRPr sz="900">
                <a:solidFill>
                  <a:schemeClr val="tx1">
                    <a:tint val="82000"/>
                  </a:schemeClr>
                </a:solidFill>
              </a:defRPr>
            </a:lvl7pPr>
            <a:lvl8pPr marL="1800225" indent="0">
              <a:buNone/>
              <a:defRPr sz="900">
                <a:solidFill>
                  <a:schemeClr val="tx1">
                    <a:tint val="82000"/>
                  </a:schemeClr>
                </a:solidFill>
              </a:defRPr>
            </a:lvl8pPr>
            <a:lvl9pPr marL="2057400" indent="0">
              <a:buNone/>
              <a:defRPr sz="9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522358-171E-C0E9-FCDC-9EFD55394785}"/>
              </a:ext>
            </a:extLst>
          </p:cNvPr>
          <p:cNvSpPr>
            <a:spLocks noGrp="1"/>
          </p:cNvSpPr>
          <p:nvPr>
            <p:ph type="dt" sz="half" idx="10"/>
          </p:nvPr>
        </p:nvSpPr>
        <p:spPr/>
        <p:txBody>
          <a:bodyPr/>
          <a:lstStyle/>
          <a:p>
            <a:fld id="{0D1B21C3-C759-4FA0-AB79-4B4CEBCA19DF}" type="datetimeFigureOut">
              <a:rPr lang="en-IN" smtClean="0"/>
              <a:t>08-06-2026</a:t>
            </a:fld>
            <a:endParaRPr lang="en-IN"/>
          </a:p>
        </p:txBody>
      </p:sp>
      <p:sp>
        <p:nvSpPr>
          <p:cNvPr id="5" name="Footer Placeholder 4">
            <a:extLst>
              <a:ext uri="{FF2B5EF4-FFF2-40B4-BE49-F238E27FC236}">
                <a16:creationId xmlns:a16="http://schemas.microsoft.com/office/drawing/2014/main" id="{0EF81B80-16D8-6267-49E6-7A698B08A1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E6F9D8-9D9E-1E32-B979-30B5C4E9B651}"/>
              </a:ext>
            </a:extLst>
          </p:cNvPr>
          <p:cNvSpPr>
            <a:spLocks noGrp="1"/>
          </p:cNvSpPr>
          <p:nvPr>
            <p:ph type="sldNum" sz="quarter" idx="12"/>
          </p:nvPr>
        </p:nvSpPr>
        <p:spPr/>
        <p:txBody>
          <a:bodyPr/>
          <a:lstStyle/>
          <a:p>
            <a:fld id="{8302FE58-A66E-4CC0-B115-2AD9FEDAD452}" type="slidenum">
              <a:rPr lang="en-IN" smtClean="0"/>
              <a:t>‹#›</a:t>
            </a:fld>
            <a:endParaRPr lang="en-IN"/>
          </a:p>
        </p:txBody>
      </p:sp>
    </p:spTree>
    <p:extLst>
      <p:ext uri="{BB962C8B-B14F-4D97-AF65-F5344CB8AC3E}">
        <p14:creationId xmlns:p14="http://schemas.microsoft.com/office/powerpoint/2010/main" val="479849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BF956-6D4A-B3A5-4878-5E36C28F49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67F344-0B48-44F2-F516-8C31F99EFBE7}"/>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B4ABCCD-805B-0842-280B-2E064EDC714A}"/>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75CE33-946C-C387-B3F8-ED55FC1E0AC1}"/>
              </a:ext>
            </a:extLst>
          </p:cNvPr>
          <p:cNvSpPr>
            <a:spLocks noGrp="1"/>
          </p:cNvSpPr>
          <p:nvPr>
            <p:ph type="dt" sz="half" idx="10"/>
          </p:nvPr>
        </p:nvSpPr>
        <p:spPr/>
        <p:txBody>
          <a:bodyPr/>
          <a:lstStyle/>
          <a:p>
            <a:fld id="{0D1B21C3-C759-4FA0-AB79-4B4CEBCA19DF}" type="datetimeFigureOut">
              <a:rPr lang="en-IN" smtClean="0"/>
              <a:t>08-06-2026</a:t>
            </a:fld>
            <a:endParaRPr lang="en-IN"/>
          </a:p>
        </p:txBody>
      </p:sp>
      <p:sp>
        <p:nvSpPr>
          <p:cNvPr id="6" name="Footer Placeholder 5">
            <a:extLst>
              <a:ext uri="{FF2B5EF4-FFF2-40B4-BE49-F238E27FC236}">
                <a16:creationId xmlns:a16="http://schemas.microsoft.com/office/drawing/2014/main" id="{4624E5CF-608D-AF72-0F9E-D0E10C6627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1458B8-E713-A635-D3DB-613FEB6C4E2F}"/>
              </a:ext>
            </a:extLst>
          </p:cNvPr>
          <p:cNvSpPr>
            <a:spLocks noGrp="1"/>
          </p:cNvSpPr>
          <p:nvPr>
            <p:ph type="sldNum" sz="quarter" idx="12"/>
          </p:nvPr>
        </p:nvSpPr>
        <p:spPr/>
        <p:txBody>
          <a:bodyPr/>
          <a:lstStyle/>
          <a:p>
            <a:fld id="{8302FE58-A66E-4CC0-B115-2AD9FEDAD452}" type="slidenum">
              <a:rPr lang="en-IN" smtClean="0"/>
              <a:t>‹#›</a:t>
            </a:fld>
            <a:endParaRPr lang="en-IN"/>
          </a:p>
        </p:txBody>
      </p:sp>
    </p:spTree>
    <p:extLst>
      <p:ext uri="{BB962C8B-B14F-4D97-AF65-F5344CB8AC3E}">
        <p14:creationId xmlns:p14="http://schemas.microsoft.com/office/powerpoint/2010/main" val="678062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9923E-3D03-9A90-1270-92A8BC36047E}"/>
              </a:ext>
            </a:extLst>
          </p:cNvPr>
          <p:cNvSpPr>
            <a:spLocks noGrp="1"/>
          </p:cNvSpPr>
          <p:nvPr>
            <p:ph type="title"/>
          </p:nvPr>
        </p:nvSpPr>
        <p:spPr>
          <a:xfrm>
            <a:off x="629841" y="273845"/>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B365C84-244A-973C-CCA2-6697E1C1DFEA}"/>
              </a:ext>
            </a:extLst>
          </p:cNvPr>
          <p:cNvSpPr>
            <a:spLocks noGrp="1"/>
          </p:cNvSpPr>
          <p:nvPr>
            <p:ph type="body" idx="1"/>
          </p:nvPr>
        </p:nvSpPr>
        <p:spPr>
          <a:xfrm>
            <a:off x="629842" y="1260872"/>
            <a:ext cx="3868340" cy="617934"/>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a:extLst>
              <a:ext uri="{FF2B5EF4-FFF2-40B4-BE49-F238E27FC236}">
                <a16:creationId xmlns:a16="http://schemas.microsoft.com/office/drawing/2014/main" id="{CD0F61B2-6808-4875-5B30-0A6BD6423BE3}"/>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0196F55-7AF0-231B-BE73-8575730A231E}"/>
              </a:ext>
            </a:extLst>
          </p:cNvPr>
          <p:cNvSpPr>
            <a:spLocks noGrp="1"/>
          </p:cNvSpPr>
          <p:nvPr>
            <p:ph type="body" sz="quarter" idx="3"/>
          </p:nvPr>
        </p:nvSpPr>
        <p:spPr>
          <a:xfrm>
            <a:off x="4629151" y="1260872"/>
            <a:ext cx="3887391" cy="617934"/>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a:extLst>
              <a:ext uri="{FF2B5EF4-FFF2-40B4-BE49-F238E27FC236}">
                <a16:creationId xmlns:a16="http://schemas.microsoft.com/office/drawing/2014/main" id="{6ECFC1FB-D982-8E27-7F76-BED03EBE95AD}"/>
              </a:ext>
            </a:extLst>
          </p:cNvPr>
          <p:cNvSpPr>
            <a:spLocks noGrp="1"/>
          </p:cNvSpPr>
          <p:nvPr>
            <p:ph sz="quarter" idx="4"/>
          </p:nvPr>
        </p:nvSpPr>
        <p:spPr>
          <a:xfrm>
            <a:off x="4629151"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785800E-A299-9DE0-DEC7-6F9EDA699EC4}"/>
              </a:ext>
            </a:extLst>
          </p:cNvPr>
          <p:cNvSpPr>
            <a:spLocks noGrp="1"/>
          </p:cNvSpPr>
          <p:nvPr>
            <p:ph type="dt" sz="half" idx="10"/>
          </p:nvPr>
        </p:nvSpPr>
        <p:spPr/>
        <p:txBody>
          <a:bodyPr/>
          <a:lstStyle/>
          <a:p>
            <a:fld id="{0D1B21C3-C759-4FA0-AB79-4B4CEBCA19DF}" type="datetimeFigureOut">
              <a:rPr lang="en-IN" smtClean="0"/>
              <a:t>08-06-2026</a:t>
            </a:fld>
            <a:endParaRPr lang="en-IN"/>
          </a:p>
        </p:txBody>
      </p:sp>
      <p:sp>
        <p:nvSpPr>
          <p:cNvPr id="8" name="Footer Placeholder 7">
            <a:extLst>
              <a:ext uri="{FF2B5EF4-FFF2-40B4-BE49-F238E27FC236}">
                <a16:creationId xmlns:a16="http://schemas.microsoft.com/office/drawing/2014/main" id="{0842B968-D0AA-446E-4E10-3451A79684D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EFC55D8-C972-9FE4-EE85-B2D0B8696827}"/>
              </a:ext>
            </a:extLst>
          </p:cNvPr>
          <p:cNvSpPr>
            <a:spLocks noGrp="1"/>
          </p:cNvSpPr>
          <p:nvPr>
            <p:ph type="sldNum" sz="quarter" idx="12"/>
          </p:nvPr>
        </p:nvSpPr>
        <p:spPr/>
        <p:txBody>
          <a:bodyPr/>
          <a:lstStyle/>
          <a:p>
            <a:fld id="{8302FE58-A66E-4CC0-B115-2AD9FEDAD452}" type="slidenum">
              <a:rPr lang="en-IN" smtClean="0"/>
              <a:t>‹#›</a:t>
            </a:fld>
            <a:endParaRPr lang="en-IN"/>
          </a:p>
        </p:txBody>
      </p:sp>
    </p:spTree>
    <p:extLst>
      <p:ext uri="{BB962C8B-B14F-4D97-AF65-F5344CB8AC3E}">
        <p14:creationId xmlns:p14="http://schemas.microsoft.com/office/powerpoint/2010/main" val="122629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F7057-6F09-77FE-0F8D-9EC6E52F9F7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7223432-BE10-1028-A79B-CD852A678430}"/>
              </a:ext>
            </a:extLst>
          </p:cNvPr>
          <p:cNvSpPr>
            <a:spLocks noGrp="1"/>
          </p:cNvSpPr>
          <p:nvPr>
            <p:ph type="dt" sz="half" idx="10"/>
          </p:nvPr>
        </p:nvSpPr>
        <p:spPr/>
        <p:txBody>
          <a:bodyPr/>
          <a:lstStyle/>
          <a:p>
            <a:fld id="{0D1B21C3-C759-4FA0-AB79-4B4CEBCA19DF}" type="datetimeFigureOut">
              <a:rPr lang="en-IN" smtClean="0"/>
              <a:t>08-06-2026</a:t>
            </a:fld>
            <a:endParaRPr lang="en-IN"/>
          </a:p>
        </p:txBody>
      </p:sp>
      <p:sp>
        <p:nvSpPr>
          <p:cNvPr id="4" name="Footer Placeholder 3">
            <a:extLst>
              <a:ext uri="{FF2B5EF4-FFF2-40B4-BE49-F238E27FC236}">
                <a16:creationId xmlns:a16="http://schemas.microsoft.com/office/drawing/2014/main" id="{D424080B-6667-9917-60A3-5F4894DB58C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476FCF7-94BC-A3C9-F3D6-8E5D2F3E3C12}"/>
              </a:ext>
            </a:extLst>
          </p:cNvPr>
          <p:cNvSpPr>
            <a:spLocks noGrp="1"/>
          </p:cNvSpPr>
          <p:nvPr>
            <p:ph type="sldNum" sz="quarter" idx="12"/>
          </p:nvPr>
        </p:nvSpPr>
        <p:spPr/>
        <p:txBody>
          <a:bodyPr/>
          <a:lstStyle/>
          <a:p>
            <a:fld id="{8302FE58-A66E-4CC0-B115-2AD9FEDAD452}" type="slidenum">
              <a:rPr lang="en-IN" smtClean="0"/>
              <a:t>‹#›</a:t>
            </a:fld>
            <a:endParaRPr lang="en-IN"/>
          </a:p>
        </p:txBody>
      </p:sp>
    </p:spTree>
    <p:extLst>
      <p:ext uri="{BB962C8B-B14F-4D97-AF65-F5344CB8AC3E}">
        <p14:creationId xmlns:p14="http://schemas.microsoft.com/office/powerpoint/2010/main" val="374187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5D3B17-AB74-96E6-7E7A-AD2BE232F00A}"/>
              </a:ext>
            </a:extLst>
          </p:cNvPr>
          <p:cNvSpPr>
            <a:spLocks noGrp="1"/>
          </p:cNvSpPr>
          <p:nvPr>
            <p:ph type="dt" sz="half" idx="10"/>
          </p:nvPr>
        </p:nvSpPr>
        <p:spPr/>
        <p:txBody>
          <a:bodyPr/>
          <a:lstStyle/>
          <a:p>
            <a:fld id="{0D1B21C3-C759-4FA0-AB79-4B4CEBCA19DF}" type="datetimeFigureOut">
              <a:rPr lang="en-IN" smtClean="0"/>
              <a:t>08-06-2026</a:t>
            </a:fld>
            <a:endParaRPr lang="en-IN"/>
          </a:p>
        </p:txBody>
      </p:sp>
      <p:sp>
        <p:nvSpPr>
          <p:cNvPr id="3" name="Footer Placeholder 2">
            <a:extLst>
              <a:ext uri="{FF2B5EF4-FFF2-40B4-BE49-F238E27FC236}">
                <a16:creationId xmlns:a16="http://schemas.microsoft.com/office/drawing/2014/main" id="{B6A64D10-A1FB-A5F9-A9D8-191BC47F3D4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BDA1A31-D74F-6917-242B-5A3D2099B102}"/>
              </a:ext>
            </a:extLst>
          </p:cNvPr>
          <p:cNvSpPr>
            <a:spLocks noGrp="1"/>
          </p:cNvSpPr>
          <p:nvPr>
            <p:ph type="sldNum" sz="quarter" idx="12"/>
          </p:nvPr>
        </p:nvSpPr>
        <p:spPr/>
        <p:txBody>
          <a:bodyPr/>
          <a:lstStyle/>
          <a:p>
            <a:fld id="{8302FE58-A66E-4CC0-B115-2AD9FEDAD452}" type="slidenum">
              <a:rPr lang="en-IN" smtClean="0"/>
              <a:t>‹#›</a:t>
            </a:fld>
            <a:endParaRPr lang="en-IN"/>
          </a:p>
        </p:txBody>
      </p:sp>
    </p:spTree>
    <p:extLst>
      <p:ext uri="{BB962C8B-B14F-4D97-AF65-F5344CB8AC3E}">
        <p14:creationId xmlns:p14="http://schemas.microsoft.com/office/powerpoint/2010/main" val="1399759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98D0F-BF70-36AB-FC6D-8DF6DCA9612E}"/>
              </a:ext>
            </a:extLst>
          </p:cNvPr>
          <p:cNvSpPr>
            <a:spLocks noGrp="1"/>
          </p:cNvSpPr>
          <p:nvPr>
            <p:ph type="title"/>
          </p:nvPr>
        </p:nvSpPr>
        <p:spPr>
          <a:xfrm>
            <a:off x="629841" y="342900"/>
            <a:ext cx="2949178" cy="1200150"/>
          </a:xfrm>
        </p:spPr>
        <p:txBody>
          <a:bodyPr anchor="b"/>
          <a:lstStyle>
            <a:lvl1pPr>
              <a:defRPr sz="18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2D17A12-BABD-7639-FD37-91B00F18FECC}"/>
              </a:ext>
            </a:extLst>
          </p:cNvPr>
          <p:cNvSpPr>
            <a:spLocks noGrp="1"/>
          </p:cNvSpPr>
          <p:nvPr>
            <p:ph idx="1"/>
          </p:nvPr>
        </p:nvSpPr>
        <p:spPr>
          <a:xfrm>
            <a:off x="3887391" y="740570"/>
            <a:ext cx="4629150" cy="3655219"/>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E73F11D-0AB5-BD02-C087-D9A0C31FC721}"/>
              </a:ext>
            </a:extLst>
          </p:cNvPr>
          <p:cNvSpPr>
            <a:spLocks noGrp="1"/>
          </p:cNvSpPr>
          <p:nvPr>
            <p:ph type="body" sz="half" idx="2"/>
          </p:nvPr>
        </p:nvSpPr>
        <p:spPr>
          <a:xfrm>
            <a:off x="629841" y="1543050"/>
            <a:ext cx="2949178" cy="2858691"/>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en-US"/>
              <a:t>Click to edit Master text styles</a:t>
            </a:r>
          </a:p>
        </p:txBody>
      </p:sp>
      <p:sp>
        <p:nvSpPr>
          <p:cNvPr id="5" name="Date Placeholder 4">
            <a:extLst>
              <a:ext uri="{FF2B5EF4-FFF2-40B4-BE49-F238E27FC236}">
                <a16:creationId xmlns:a16="http://schemas.microsoft.com/office/drawing/2014/main" id="{C827AE69-4990-4ADE-310C-C6A27E86DFD2}"/>
              </a:ext>
            </a:extLst>
          </p:cNvPr>
          <p:cNvSpPr>
            <a:spLocks noGrp="1"/>
          </p:cNvSpPr>
          <p:nvPr>
            <p:ph type="dt" sz="half" idx="10"/>
          </p:nvPr>
        </p:nvSpPr>
        <p:spPr/>
        <p:txBody>
          <a:bodyPr/>
          <a:lstStyle/>
          <a:p>
            <a:fld id="{0D1B21C3-C759-4FA0-AB79-4B4CEBCA19DF}" type="datetimeFigureOut">
              <a:rPr lang="en-IN" smtClean="0"/>
              <a:t>08-06-2026</a:t>
            </a:fld>
            <a:endParaRPr lang="en-IN"/>
          </a:p>
        </p:txBody>
      </p:sp>
      <p:sp>
        <p:nvSpPr>
          <p:cNvPr id="6" name="Footer Placeholder 5">
            <a:extLst>
              <a:ext uri="{FF2B5EF4-FFF2-40B4-BE49-F238E27FC236}">
                <a16:creationId xmlns:a16="http://schemas.microsoft.com/office/drawing/2014/main" id="{8586FC50-9B41-FA27-FD05-518FA962CB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76EE8D-E1FE-4426-768D-B33000AEC4AE}"/>
              </a:ext>
            </a:extLst>
          </p:cNvPr>
          <p:cNvSpPr>
            <a:spLocks noGrp="1"/>
          </p:cNvSpPr>
          <p:nvPr>
            <p:ph type="sldNum" sz="quarter" idx="12"/>
          </p:nvPr>
        </p:nvSpPr>
        <p:spPr/>
        <p:txBody>
          <a:bodyPr/>
          <a:lstStyle/>
          <a:p>
            <a:fld id="{8302FE58-A66E-4CC0-B115-2AD9FEDAD452}" type="slidenum">
              <a:rPr lang="en-IN" smtClean="0"/>
              <a:t>‹#›</a:t>
            </a:fld>
            <a:endParaRPr lang="en-IN"/>
          </a:p>
        </p:txBody>
      </p:sp>
    </p:spTree>
    <p:extLst>
      <p:ext uri="{BB962C8B-B14F-4D97-AF65-F5344CB8AC3E}">
        <p14:creationId xmlns:p14="http://schemas.microsoft.com/office/powerpoint/2010/main" val="3909641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477E7-7CF5-CC29-7207-C01275A9A88C}"/>
              </a:ext>
            </a:extLst>
          </p:cNvPr>
          <p:cNvSpPr>
            <a:spLocks noGrp="1"/>
          </p:cNvSpPr>
          <p:nvPr>
            <p:ph type="title"/>
          </p:nvPr>
        </p:nvSpPr>
        <p:spPr>
          <a:xfrm>
            <a:off x="629841" y="342900"/>
            <a:ext cx="2949178" cy="1200150"/>
          </a:xfrm>
        </p:spPr>
        <p:txBody>
          <a:bodyPr anchor="b"/>
          <a:lstStyle>
            <a:lvl1pPr>
              <a:defRPr sz="18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D2BC95F-9D9F-96E4-B704-A9BBBBF42CB6}"/>
              </a:ext>
            </a:extLst>
          </p:cNvPr>
          <p:cNvSpPr>
            <a:spLocks noGrp="1"/>
          </p:cNvSpPr>
          <p:nvPr>
            <p:ph type="pic" idx="1"/>
          </p:nvPr>
        </p:nvSpPr>
        <p:spPr>
          <a:xfrm>
            <a:off x="3887391" y="740570"/>
            <a:ext cx="4629150" cy="3655219"/>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en-IN"/>
          </a:p>
        </p:txBody>
      </p:sp>
      <p:sp>
        <p:nvSpPr>
          <p:cNvPr id="4" name="Text Placeholder 3">
            <a:extLst>
              <a:ext uri="{FF2B5EF4-FFF2-40B4-BE49-F238E27FC236}">
                <a16:creationId xmlns:a16="http://schemas.microsoft.com/office/drawing/2014/main" id="{8EDBD09D-38CA-58B8-8709-91CBEB9299C7}"/>
              </a:ext>
            </a:extLst>
          </p:cNvPr>
          <p:cNvSpPr>
            <a:spLocks noGrp="1"/>
          </p:cNvSpPr>
          <p:nvPr>
            <p:ph type="body" sz="half" idx="2"/>
          </p:nvPr>
        </p:nvSpPr>
        <p:spPr>
          <a:xfrm>
            <a:off x="629841" y="1543050"/>
            <a:ext cx="2949178" cy="2858691"/>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en-US"/>
              <a:t>Click to edit Master text styles</a:t>
            </a:r>
          </a:p>
        </p:txBody>
      </p:sp>
      <p:sp>
        <p:nvSpPr>
          <p:cNvPr id="5" name="Date Placeholder 4">
            <a:extLst>
              <a:ext uri="{FF2B5EF4-FFF2-40B4-BE49-F238E27FC236}">
                <a16:creationId xmlns:a16="http://schemas.microsoft.com/office/drawing/2014/main" id="{8409EB1A-2E80-20FE-7E96-D548F3AF07BD}"/>
              </a:ext>
            </a:extLst>
          </p:cNvPr>
          <p:cNvSpPr>
            <a:spLocks noGrp="1"/>
          </p:cNvSpPr>
          <p:nvPr>
            <p:ph type="dt" sz="half" idx="10"/>
          </p:nvPr>
        </p:nvSpPr>
        <p:spPr/>
        <p:txBody>
          <a:bodyPr/>
          <a:lstStyle/>
          <a:p>
            <a:fld id="{0D1B21C3-C759-4FA0-AB79-4B4CEBCA19DF}" type="datetimeFigureOut">
              <a:rPr lang="en-IN" smtClean="0"/>
              <a:t>08-06-2026</a:t>
            </a:fld>
            <a:endParaRPr lang="en-IN"/>
          </a:p>
        </p:txBody>
      </p:sp>
      <p:sp>
        <p:nvSpPr>
          <p:cNvPr id="6" name="Footer Placeholder 5">
            <a:extLst>
              <a:ext uri="{FF2B5EF4-FFF2-40B4-BE49-F238E27FC236}">
                <a16:creationId xmlns:a16="http://schemas.microsoft.com/office/drawing/2014/main" id="{7E098011-BE12-426B-3ED0-1796CC33B7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965332-10B1-1AAD-BBD1-815CAE1C3BED}"/>
              </a:ext>
            </a:extLst>
          </p:cNvPr>
          <p:cNvSpPr>
            <a:spLocks noGrp="1"/>
          </p:cNvSpPr>
          <p:nvPr>
            <p:ph type="sldNum" sz="quarter" idx="12"/>
          </p:nvPr>
        </p:nvSpPr>
        <p:spPr/>
        <p:txBody>
          <a:bodyPr/>
          <a:lstStyle/>
          <a:p>
            <a:fld id="{8302FE58-A66E-4CC0-B115-2AD9FEDAD452}" type="slidenum">
              <a:rPr lang="en-IN" smtClean="0"/>
              <a:t>‹#›</a:t>
            </a:fld>
            <a:endParaRPr lang="en-IN"/>
          </a:p>
        </p:txBody>
      </p:sp>
    </p:spTree>
    <p:extLst>
      <p:ext uri="{BB962C8B-B14F-4D97-AF65-F5344CB8AC3E}">
        <p14:creationId xmlns:p14="http://schemas.microsoft.com/office/powerpoint/2010/main" val="520316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5079A-D982-07E9-C1CC-7BEFA504C67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91CAFC-6055-656C-8E2C-1FC6617359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C0D016-7235-931B-52E0-CB55317E2297}"/>
              </a:ext>
            </a:extLst>
          </p:cNvPr>
          <p:cNvSpPr>
            <a:spLocks noGrp="1"/>
          </p:cNvSpPr>
          <p:nvPr>
            <p:ph type="dt" sz="half" idx="10"/>
          </p:nvPr>
        </p:nvSpPr>
        <p:spPr/>
        <p:txBody>
          <a:bodyPr/>
          <a:lstStyle/>
          <a:p>
            <a:fld id="{0D1B21C3-C759-4FA0-AB79-4B4CEBCA19DF}" type="datetimeFigureOut">
              <a:rPr lang="en-IN" smtClean="0"/>
              <a:t>08-06-2026</a:t>
            </a:fld>
            <a:endParaRPr lang="en-IN"/>
          </a:p>
        </p:txBody>
      </p:sp>
      <p:sp>
        <p:nvSpPr>
          <p:cNvPr id="5" name="Footer Placeholder 4">
            <a:extLst>
              <a:ext uri="{FF2B5EF4-FFF2-40B4-BE49-F238E27FC236}">
                <a16:creationId xmlns:a16="http://schemas.microsoft.com/office/drawing/2014/main" id="{995C006B-2500-EEDE-855D-C4F3D60D48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D30F11-CB8D-36D5-DA34-E7A2EEEC0D38}"/>
              </a:ext>
            </a:extLst>
          </p:cNvPr>
          <p:cNvSpPr>
            <a:spLocks noGrp="1"/>
          </p:cNvSpPr>
          <p:nvPr>
            <p:ph type="sldNum" sz="quarter" idx="12"/>
          </p:nvPr>
        </p:nvSpPr>
        <p:spPr/>
        <p:txBody>
          <a:bodyPr/>
          <a:lstStyle/>
          <a:p>
            <a:fld id="{8302FE58-A66E-4CC0-B115-2AD9FEDAD452}" type="slidenum">
              <a:rPr lang="en-IN" smtClean="0"/>
              <a:t>‹#›</a:t>
            </a:fld>
            <a:endParaRPr lang="en-IN"/>
          </a:p>
        </p:txBody>
      </p:sp>
    </p:spTree>
    <p:extLst>
      <p:ext uri="{BB962C8B-B14F-4D97-AF65-F5344CB8AC3E}">
        <p14:creationId xmlns:p14="http://schemas.microsoft.com/office/powerpoint/2010/main" val="3620433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CE184E-F12B-6EC5-93CF-F1727BB7DC09}"/>
              </a:ext>
            </a:extLst>
          </p:cNvPr>
          <p:cNvSpPr>
            <a:spLocks noGrp="1"/>
          </p:cNvSpPr>
          <p:nvPr>
            <p:ph type="title" orient="vert"/>
          </p:nvPr>
        </p:nvSpPr>
        <p:spPr>
          <a:xfrm>
            <a:off x="6543676"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F425D5-AE60-B271-8F69-62980BBB3368}"/>
              </a:ext>
            </a:extLst>
          </p:cNvPr>
          <p:cNvSpPr>
            <a:spLocks noGrp="1"/>
          </p:cNvSpPr>
          <p:nvPr>
            <p:ph type="body" orient="vert" idx="1"/>
          </p:nvPr>
        </p:nvSpPr>
        <p:spPr>
          <a:xfrm>
            <a:off x="628651"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E05FA5-B121-081E-AA9C-C7965713DCF2}"/>
              </a:ext>
            </a:extLst>
          </p:cNvPr>
          <p:cNvSpPr>
            <a:spLocks noGrp="1"/>
          </p:cNvSpPr>
          <p:nvPr>
            <p:ph type="dt" sz="half" idx="10"/>
          </p:nvPr>
        </p:nvSpPr>
        <p:spPr/>
        <p:txBody>
          <a:bodyPr/>
          <a:lstStyle/>
          <a:p>
            <a:fld id="{0D1B21C3-C759-4FA0-AB79-4B4CEBCA19DF}" type="datetimeFigureOut">
              <a:rPr lang="en-IN" smtClean="0"/>
              <a:t>08-06-2026</a:t>
            </a:fld>
            <a:endParaRPr lang="en-IN"/>
          </a:p>
        </p:txBody>
      </p:sp>
      <p:sp>
        <p:nvSpPr>
          <p:cNvPr id="5" name="Footer Placeholder 4">
            <a:extLst>
              <a:ext uri="{FF2B5EF4-FFF2-40B4-BE49-F238E27FC236}">
                <a16:creationId xmlns:a16="http://schemas.microsoft.com/office/drawing/2014/main" id="{4EA58AD7-AC17-5855-D8C3-088A23F9D9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1DD017-7965-5528-6FB6-2F9966669FC6}"/>
              </a:ext>
            </a:extLst>
          </p:cNvPr>
          <p:cNvSpPr>
            <a:spLocks noGrp="1"/>
          </p:cNvSpPr>
          <p:nvPr>
            <p:ph type="sldNum" sz="quarter" idx="12"/>
          </p:nvPr>
        </p:nvSpPr>
        <p:spPr/>
        <p:txBody>
          <a:bodyPr/>
          <a:lstStyle/>
          <a:p>
            <a:fld id="{8302FE58-A66E-4CC0-B115-2AD9FEDAD452}" type="slidenum">
              <a:rPr lang="en-IN" smtClean="0"/>
              <a:t>‹#›</a:t>
            </a:fld>
            <a:endParaRPr lang="en-IN"/>
          </a:p>
        </p:txBody>
      </p:sp>
    </p:spTree>
    <p:extLst>
      <p:ext uri="{BB962C8B-B14F-4D97-AF65-F5344CB8AC3E}">
        <p14:creationId xmlns:p14="http://schemas.microsoft.com/office/powerpoint/2010/main" val="1069659930"/>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06BC71-1A7C-4572-15D8-74B0C8D98955}"/>
              </a:ext>
            </a:extLst>
          </p:cNvPr>
          <p:cNvSpPr>
            <a:spLocks noGrp="1"/>
          </p:cNvSpPr>
          <p:nvPr>
            <p:ph type="title"/>
          </p:nvPr>
        </p:nvSpPr>
        <p:spPr>
          <a:xfrm>
            <a:off x="628650" y="273845"/>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4FE25A6-DC29-4F89-131A-84878187E24A}"/>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EC7A7A-2336-B6A4-62E8-E06DBA1E9D3B}"/>
              </a:ext>
            </a:extLst>
          </p:cNvPr>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675">
                <a:solidFill>
                  <a:schemeClr val="tx1">
                    <a:tint val="82000"/>
                  </a:schemeClr>
                </a:solidFill>
              </a:defRPr>
            </a:lvl1pPr>
          </a:lstStyle>
          <a:p>
            <a:fld id="{0D1B21C3-C759-4FA0-AB79-4B4CEBCA19DF}" type="datetimeFigureOut">
              <a:rPr lang="en-IN" smtClean="0"/>
              <a:t>08-06-2026</a:t>
            </a:fld>
            <a:endParaRPr lang="en-IN"/>
          </a:p>
        </p:txBody>
      </p:sp>
      <p:sp>
        <p:nvSpPr>
          <p:cNvPr id="5" name="Footer Placeholder 4">
            <a:extLst>
              <a:ext uri="{FF2B5EF4-FFF2-40B4-BE49-F238E27FC236}">
                <a16:creationId xmlns:a16="http://schemas.microsoft.com/office/drawing/2014/main" id="{0A44F2FE-A03C-5966-D276-C2455CE45C0C}"/>
              </a:ext>
            </a:extLst>
          </p:cNvPr>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675">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814F0E2-D094-83DD-0A26-3586D524A83F}"/>
              </a:ext>
            </a:extLst>
          </p:cNvPr>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675">
                <a:solidFill>
                  <a:schemeClr val="tx1">
                    <a:tint val="82000"/>
                  </a:schemeClr>
                </a:solidFill>
              </a:defRPr>
            </a:lvl1pPr>
          </a:lstStyle>
          <a:p>
            <a:fld id="{8302FE58-A66E-4CC0-B115-2AD9FEDAD452}" type="slidenum">
              <a:rPr lang="en-IN" smtClean="0"/>
              <a:t>‹#›</a:t>
            </a:fld>
            <a:endParaRPr lang="en-IN"/>
          </a:p>
        </p:txBody>
      </p:sp>
    </p:spTree>
    <p:extLst>
      <p:ext uri="{BB962C8B-B14F-4D97-AF65-F5344CB8AC3E}">
        <p14:creationId xmlns:p14="http://schemas.microsoft.com/office/powerpoint/2010/main" val="1544317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3.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4.jpeg"/><Relationship Id="rId11" Type="http://schemas.openxmlformats.org/officeDocument/2006/relationships/image" Target="../media/image5.jpeg"/></Relationships>
</file>

<file path=ppt/slides/_rels/slide17.xml.rels><?xml version="1.0" encoding="UTF-8"?><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9.png"/></Relationships>
</file>

<file path=ppt/slides/_rels/slide18.xml.rels><?xml version="1.0" encoding="UTF-8"?><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8.png"/></Relationships>
</file>

<file path=ppt/slides/_rels/slide19.xml.rels><?xml version="1.0" encoding="UTF-8"?><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12.png"/><Relationship Id="rId11" Type="http://schemas.openxmlformats.org/officeDocument/2006/relationships/image" Target="../media/image11.jpeg"/></Relationships>
</file>

<file path=ppt/slides/_rels/slide20.xml.rels><?xml version="1.0" encoding="UTF-8"?><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6.jpeg"/><Relationship Id="rId11" Type="http://schemas.openxmlformats.org/officeDocument/2006/relationships/image" Target="../media/image7.jpeg"/></Relationships>
</file>

<file path=ppt/slides/_rels/slide21.xml.rels><?xml version="1.0" encoding="UTF-8"?><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13.png"/></Relationships>
</file>

<file path=ppt/slides/_rels/slide22.xml.rels><?xml version="1.0" encoding="UTF-8"?><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17.png"/></Relationships>
</file>

<file path=ppt/slides/_rels/slide23.xml.rels><?xml version="1.0" encoding="UTF-8"?><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24.png"/></Relationships>
</file>

<file path=ppt/slides/_rels/slide24.xml.rels><?xml version="1.0" encoding="UTF-8"?><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25.jpeg"/><Relationship Id="rId11" Type="http://schemas.openxmlformats.org/officeDocument/2006/relationships/image" Target="../media/image27.jpeg"/></Relationships>
</file>

<file path=ppt/slides/_rels/slide25.xml.rels><?xml version="1.0" encoding="UTF-8"?><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4E9F55-2EBD-F7EC-33A2-DF9FE4E62283}"/>
              </a:ext>
            </a:extLst>
          </p:cNvPr>
          <p:cNvSpPr/>
          <p:nvPr/>
        </p:nvSpPr>
        <p:spPr>
          <a:xfrm>
            <a:off x="0" y="0"/>
            <a:ext cx="9144000" cy="51435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8B60073E-B2AA-C22F-5571-648E274405F7}"/>
              </a:ext>
            </a:extLst>
          </p:cNvPr>
          <p:cNvSpPr/>
          <p:nvPr/>
        </p:nvSpPr>
        <p:spPr>
          <a:xfrm>
            <a:off x="0" y="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C04DCB1C-1D52-6A91-08ED-F33725E25913}"/>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29BF6FEB-78FE-75D2-D0B7-B7F07D7B0A11}"/>
              </a:ext>
            </a:extLst>
          </p:cNvPr>
          <p:cNvSpPr/>
          <p:nvPr/>
        </p:nvSpPr>
        <p:spPr>
          <a:xfrm>
            <a:off x="5715000" y="-889000"/>
            <a:ext cx="4064000" cy="4064000"/>
          </a:xfrm>
          <a:prstGeom prst="ellipse">
            <a:avLst/>
          </a:prstGeom>
          <a:solidFill>
            <a:srgbClr val="1228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93EF85CA-FF94-ABD5-4F70-58BEFEE4EFAF}"/>
              </a:ext>
            </a:extLst>
          </p:cNvPr>
          <p:cNvSpPr txBox="1"/>
          <p:nvPr/>
        </p:nvSpPr>
        <p:spPr>
          <a:xfrm>
            <a:off x="762000" y="787400"/>
            <a:ext cx="7620000" cy="369332"/>
          </a:xfrm>
          <a:prstGeom prst="rect">
            <a:avLst/>
          </a:prstGeom>
          <a:noFill/>
        </p:spPr>
        <p:txBody>
          <a:bodyPr vert="horz" wrap="square" rtlCol="0">
            <a:noAutofit/>
          </a:bodyPr>
          <a:lstStyle/>
          <a:p>
            <a:pPr algn="ctr"/>
            <a:r>
              <a:rPr lang="en-IN" sz="3400" b="1">
                <a:solidFill>
                  <a:srgbClr val="FFFFFF"/>
                </a:solidFill>
                <a:latin typeface="Calibri" panose="020F0502020204030204" pitchFamily="34" charset="0"/>
              </a:rPr>
              <a:t>COMPUTER RADIOGRAPHY</a:t>
            </a:r>
          </a:p>
        </p:txBody>
      </p:sp>
      <p:sp>
        <p:nvSpPr>
          <p:cNvPr id="7" name="TextBox 6">
            <a:extLst>
              <a:ext uri="{FF2B5EF4-FFF2-40B4-BE49-F238E27FC236}">
                <a16:creationId xmlns:a16="http://schemas.microsoft.com/office/drawing/2014/main" id="{1F3E6596-F6C4-6D6A-2C54-51A7FCCED27F}"/>
              </a:ext>
            </a:extLst>
          </p:cNvPr>
          <p:cNvSpPr txBox="1"/>
          <p:nvPr/>
        </p:nvSpPr>
        <p:spPr>
          <a:xfrm>
            <a:off x="762000" y="1346200"/>
            <a:ext cx="7620000" cy="369332"/>
          </a:xfrm>
          <a:prstGeom prst="rect">
            <a:avLst/>
          </a:prstGeom>
          <a:noFill/>
        </p:spPr>
        <p:txBody>
          <a:bodyPr vert="horz" wrap="square" rtlCol="0">
            <a:noAutofit/>
          </a:bodyPr>
          <a:lstStyle/>
          <a:p>
            <a:pPr algn="ctr"/>
            <a:r>
              <a:rPr lang="en-IN" sz="3400" b="1">
                <a:solidFill>
                  <a:srgbClr val="C9A84C"/>
                </a:solidFill>
                <a:latin typeface="Calibri" panose="020F0502020204030204" pitchFamily="34" charset="0"/>
              </a:rPr>
              <a:t>&amp; DIGITAL RADIOGRAPHY</a:t>
            </a:r>
          </a:p>
        </p:txBody>
      </p:sp>
      <p:sp>
        <p:nvSpPr>
          <p:cNvPr id="8" name="TextBox 7">
            <a:extLst>
              <a:ext uri="{FF2B5EF4-FFF2-40B4-BE49-F238E27FC236}">
                <a16:creationId xmlns:a16="http://schemas.microsoft.com/office/drawing/2014/main" id="{FC313DBE-DA15-033B-6178-FBED2051C26D}"/>
              </a:ext>
            </a:extLst>
          </p:cNvPr>
          <p:cNvSpPr txBox="1"/>
          <p:nvPr/>
        </p:nvSpPr>
        <p:spPr>
          <a:xfrm>
            <a:off x="762000" y="2057400"/>
            <a:ext cx="7620000" cy="369332"/>
          </a:xfrm>
          <a:prstGeom prst="rect">
            <a:avLst/>
          </a:prstGeom>
          <a:noFill/>
        </p:spPr>
        <p:txBody>
          <a:bodyPr vert="horz" wrap="square" rtlCol="0">
            <a:noAutofit/>
          </a:bodyPr>
          <a:lstStyle/>
          <a:p>
            <a:pPr algn="ctr"/>
            <a:r>
              <a:rPr lang="en-IN" sz="1400">
                <a:solidFill>
                  <a:srgbClr val="E8D5A3"/>
                </a:solidFill>
                <a:latin typeface="Calibri Light" panose="020F0302020204030204" pitchFamily="34" charset="0"/>
              </a:rPr>
              <a:t>A Comprehensive Overview</a:t>
            </a:r>
          </a:p>
        </p:txBody>
      </p:sp>
      <p:sp>
        <p:nvSpPr>
          <p:cNvPr id="9" name="Rectangle 8">
            <a:extLst>
              <a:ext uri="{FF2B5EF4-FFF2-40B4-BE49-F238E27FC236}">
                <a16:creationId xmlns:a16="http://schemas.microsoft.com/office/drawing/2014/main" id="{7D3E851F-09D6-2CC5-BC94-78E7B55F0BB4}"/>
              </a:ext>
            </a:extLst>
          </p:cNvPr>
          <p:cNvSpPr/>
          <p:nvPr/>
        </p:nvSpPr>
        <p:spPr>
          <a:xfrm>
            <a:off x="1524000" y="2489200"/>
            <a:ext cx="6096000" cy="254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52B264BE-7AE7-69C0-9C8E-1F4880064DE2}"/>
              </a:ext>
            </a:extLst>
          </p:cNvPr>
          <p:cNvSpPr txBox="1"/>
          <p:nvPr/>
        </p:nvSpPr>
        <p:spPr>
          <a:xfrm>
            <a:off x="762000" y="2641600"/>
            <a:ext cx="7620000" cy="369332"/>
          </a:xfrm>
          <a:prstGeom prst="rect">
            <a:avLst/>
          </a:prstGeom>
          <a:noFill/>
        </p:spPr>
        <p:txBody>
          <a:bodyPr vert="horz" wrap="square" rtlCol="0">
            <a:noAutofit/>
          </a:bodyPr>
          <a:lstStyle/>
          <a:p>
            <a:pPr algn="ctr"/>
            <a:r>
              <a:rPr lang="en-IN" sz="1000">
                <a:solidFill>
                  <a:srgbClr val="94A3B8"/>
                </a:solidFill>
                <a:latin typeface="Calibri" panose="020F0502020204030204" pitchFamily="34" charset="0"/>
              </a:rPr>
              <a:t>Prepared by</a:t>
            </a:r>
          </a:p>
        </p:txBody>
      </p:sp>
      <p:sp>
        <p:nvSpPr>
          <p:cNvPr id="11" name="TextBox 10">
            <a:extLst>
              <a:ext uri="{FF2B5EF4-FFF2-40B4-BE49-F238E27FC236}">
                <a16:creationId xmlns:a16="http://schemas.microsoft.com/office/drawing/2014/main" id="{6DEDEAD4-680D-F274-A588-B6822114DC58}"/>
              </a:ext>
            </a:extLst>
          </p:cNvPr>
          <p:cNvSpPr txBox="1"/>
          <p:nvPr/>
        </p:nvSpPr>
        <p:spPr>
          <a:xfrm>
            <a:off x="762000" y="2870200"/>
            <a:ext cx="7620000" cy="369332"/>
          </a:xfrm>
          <a:prstGeom prst="rect">
            <a:avLst/>
          </a:prstGeom>
          <a:noFill/>
        </p:spPr>
        <p:txBody>
          <a:bodyPr vert="horz" wrap="square" rtlCol="0">
            <a:noAutofit/>
          </a:bodyPr>
          <a:lstStyle/>
          <a:p>
            <a:pPr algn="ctr"/>
            <a:r>
              <a:rPr lang="en-IN" sz="2400" b="1">
                <a:solidFill>
                  <a:srgbClr val="FFFFFF"/>
                </a:solidFill>
                <a:latin typeface="Calibri" panose="020F0502020204030204" pitchFamily="34" charset="0"/>
              </a:rPr>
              <a:t>Dr. Ramandeep Kaur</a:t>
            </a:r>
          </a:p>
        </p:txBody>
      </p:sp>
      <p:sp>
        <p:nvSpPr>
          <p:cNvPr id="12" name="TextBox 11">
            <a:extLst>
              <a:ext uri="{FF2B5EF4-FFF2-40B4-BE49-F238E27FC236}">
                <a16:creationId xmlns:a16="http://schemas.microsoft.com/office/drawing/2014/main" id="{89B88E22-3D24-05C1-08AA-DAAAA250C441}"/>
              </a:ext>
            </a:extLst>
          </p:cNvPr>
          <p:cNvSpPr txBox="1"/>
          <p:nvPr/>
        </p:nvSpPr>
        <p:spPr>
          <a:xfrm>
            <a:off x="762000" y="3302000"/>
            <a:ext cx="7620000" cy="369332"/>
          </a:xfrm>
          <a:prstGeom prst="rect">
            <a:avLst/>
          </a:prstGeom>
          <a:noFill/>
        </p:spPr>
        <p:txBody>
          <a:bodyPr vert="horz" wrap="square" rtlCol="0">
            <a:noAutofit/>
          </a:bodyPr>
          <a:lstStyle/>
          <a:p>
            <a:pPr algn="ctr"/>
            <a:r>
              <a:rPr lang="en-IN" sz="1400">
                <a:solidFill>
                  <a:srgbClr val="E8D5A3"/>
                </a:solidFill>
                <a:latin typeface="Calibri" panose="020F0502020204030204" pitchFamily="34" charset="0"/>
              </a:rPr>
              <a:t>Junior Resident</a:t>
            </a:r>
          </a:p>
        </p:txBody>
      </p:sp>
      <p:sp>
        <p:nvSpPr>
          <p:cNvPr id="13" name="TextBox 12">
            <a:extLst>
              <a:ext uri="{FF2B5EF4-FFF2-40B4-BE49-F238E27FC236}">
                <a16:creationId xmlns:a16="http://schemas.microsoft.com/office/drawing/2014/main" id="{4C0ECD23-E21A-FCC2-DFE6-F1259C536D5E}"/>
              </a:ext>
            </a:extLst>
          </p:cNvPr>
          <p:cNvSpPr txBox="1"/>
          <p:nvPr/>
        </p:nvSpPr>
        <p:spPr>
          <a:xfrm>
            <a:off x="762000" y="3530600"/>
            <a:ext cx="7620000" cy="369332"/>
          </a:xfrm>
          <a:prstGeom prst="rect">
            <a:avLst/>
          </a:prstGeom>
          <a:noFill/>
        </p:spPr>
        <p:txBody>
          <a:bodyPr vert="horz" wrap="square" rtlCol="0">
            <a:noAutofit/>
          </a:bodyPr>
          <a:lstStyle/>
          <a:p>
            <a:pPr algn="ctr"/>
            <a:r>
              <a:rPr lang="en-IN" sz="1400">
                <a:solidFill>
                  <a:srgbClr val="E8D5A3"/>
                </a:solidFill>
                <a:latin typeface="Calibri" panose="020F0502020204030204" pitchFamily="34" charset="0"/>
              </a:rPr>
              <a:t>Department of Radiodiagnosis</a:t>
            </a:r>
          </a:p>
        </p:txBody>
      </p:sp>
      <p:sp>
        <p:nvSpPr>
          <p:cNvPr id="14" name="TextBox 13">
            <a:extLst>
              <a:ext uri="{FF2B5EF4-FFF2-40B4-BE49-F238E27FC236}">
                <a16:creationId xmlns:a16="http://schemas.microsoft.com/office/drawing/2014/main" id="{6DCED727-DBFD-85E3-E2C0-95F7EEB0C40F}"/>
              </a:ext>
            </a:extLst>
          </p:cNvPr>
          <p:cNvSpPr txBox="1"/>
          <p:nvPr/>
        </p:nvSpPr>
        <p:spPr>
          <a:xfrm>
            <a:off x="762000" y="3759200"/>
            <a:ext cx="7620000" cy="369332"/>
          </a:xfrm>
          <a:prstGeom prst="rect">
            <a:avLst/>
          </a:prstGeom>
          <a:noFill/>
        </p:spPr>
        <p:txBody>
          <a:bodyPr vert="horz" wrap="square" rtlCol="0">
            <a:noAutofit/>
          </a:bodyPr>
          <a:lstStyle/>
          <a:p>
            <a:pPr algn="ctr"/>
            <a:r>
              <a:rPr lang="en-US" sz="1400">
                <a:solidFill>
                  <a:srgbClr val="E8D5A3"/>
                </a:solidFill>
                <a:latin typeface="Calibri" panose="020F0502020204030204" pitchFamily="34" charset="0"/>
              </a:rPr>
              <a:t>Government Medical College &amp; Hospital, Patiala</a:t>
            </a:r>
            <a:endParaRPr lang="en-IN" sz="1400">
              <a:solidFill>
                <a:srgbClr val="E8D5A3"/>
              </a:solidFill>
              <a:latin typeface="Calibri" panose="020F0502020204030204" pitchFamily="34" charset="0"/>
            </a:endParaRPr>
          </a:p>
        </p:txBody>
      </p:sp>
    </p:spTree>
    <p:extLst>
      <p:ext uri="{BB962C8B-B14F-4D97-AF65-F5344CB8AC3E}">
        <p14:creationId xmlns:p14="http://schemas.microsoft.com/office/powerpoint/2010/main" val="649374930"/>
      </p:ext>
    </p:extLst>
  </p:cSld>
  <p:clrMapOvr>
    <a:masterClrMapping/>
  </p:clrMapOvr>
  <p:transition spd="med">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path" presetSubtype="0" accel="50000" decel="50000" fill="hold" grpId="0" nodeType="afterEffect">
                                  <p:stCondLst>
                                    <p:cond delay="0"/>
                                  </p:stCondLst>
                                  <p:childTnLst>
                                    <p:animMotion origin="layout" path="M 0 0 L 0.25 0.25 E" pathEditMode="relative" ptsTypes="">
                                      <p:cBhvr>
                                        <p:cTn id="6" dur="500" fill="hold"/>
                                        <p:tgtEl>
                                          <p:spTgt spid="6"/>
                                        </p:tgtEl>
                                        <p:attrNameLst>
                                          <p:attrName>ppt_x</p:attrName>
                                          <p:attrName>ppt_y</p:attrName>
                                        </p:attrNameLst>
                                      </p:cBhvr>
                                    </p:animMotion>
                                  </p:childTnLst>
                                </p:cTn>
                              </p:par>
                            </p:childTnLst>
                          </p:cTn>
                        </p:par>
                        <p:par>
                          <p:cTn id="7" fill="hold">
                            <p:stCondLst>
                              <p:cond delay="500"/>
                            </p:stCondLst>
                            <p:childTnLst>
                              <p:par>
                                <p:cTn id="8" presetID="49" presetClass="path" presetSubtype="0" accel="50000" decel="50000" fill="hold" grpId="0" nodeType="afterEffect">
                                  <p:stCondLst>
                                    <p:cond delay="120"/>
                                  </p:stCondLst>
                                  <p:childTnLst>
                                    <p:animMotion origin="layout" path="M 0 0 L 0.25 0.25 E" pathEditMode="relative" ptsTypes="">
                                      <p:cBhvr>
                                        <p:cTn id="9" dur="500" fill="hold"/>
                                        <p:tgtEl>
                                          <p:spTgt spid="7"/>
                                        </p:tgtEl>
                                        <p:attrNameLst>
                                          <p:attrName>ppt_x</p:attrName>
                                          <p:attrName>ppt_y</p:attrName>
                                        </p:attrNameLst>
                                      </p:cBhvr>
                                    </p:animMotion>
                                  </p:childTnLst>
                                </p:cTn>
                              </p:par>
                            </p:childTnLst>
                          </p:cTn>
                        </p:par>
                        <p:par>
                          <p:cTn id="10" fill="hold">
                            <p:stCondLst>
                              <p:cond delay="1120"/>
                            </p:stCondLst>
                            <p:childTnLst>
                              <p:par>
                                <p:cTn id="11" presetID="49" presetClass="path" presetSubtype="0" accel="50000" decel="50000" fill="hold" grpId="0" nodeType="afterEffect">
                                  <p:stCondLst>
                                    <p:cond delay="240"/>
                                  </p:stCondLst>
                                  <p:childTnLst>
                                    <p:animMotion origin="layout" path="M 0 0 L 0.25 0.25 E" pathEditMode="relative" ptsTypes="">
                                      <p:cBhvr>
                                        <p:cTn id="12" dur="500" fill="hold"/>
                                        <p:tgtEl>
                                          <p:spTgt spid="8"/>
                                        </p:tgtEl>
                                        <p:attrNameLst>
                                          <p:attrName>ppt_x</p:attrName>
                                          <p:attrName>ppt_y</p:attrName>
                                        </p:attrNameLst>
                                      </p:cBhvr>
                                    </p:animMotion>
                                  </p:childTnLst>
                                </p:cTn>
                              </p:par>
                            </p:childTnLst>
                          </p:cTn>
                        </p:par>
                        <p:par>
                          <p:cTn id="13" fill="hold">
                            <p:stCondLst>
                              <p:cond delay="1860"/>
                            </p:stCondLst>
                            <p:childTnLst>
                              <p:par>
                                <p:cTn id="14" presetID="49" presetClass="path" presetSubtype="0" accel="50000" decel="50000" fill="hold" grpId="0" nodeType="afterEffect">
                                  <p:stCondLst>
                                    <p:cond delay="360"/>
                                  </p:stCondLst>
                                  <p:childTnLst>
                                    <p:animMotion origin="layout" path="M 0 0 L 0.25 0.25 E" pathEditMode="relative" ptsTypes="">
                                      <p:cBhvr>
                                        <p:cTn id="15" dur="500" fill="hold"/>
                                        <p:tgtEl>
                                          <p:spTgt spid="10"/>
                                        </p:tgtEl>
                                        <p:attrNameLst>
                                          <p:attrName>ppt_x</p:attrName>
                                          <p:attrName>ppt_y</p:attrName>
                                        </p:attrNameLst>
                                      </p:cBhvr>
                                    </p:animMotion>
                                  </p:childTnLst>
                                </p:cTn>
                              </p:par>
                            </p:childTnLst>
                          </p:cTn>
                        </p:par>
                        <p:par>
                          <p:cTn id="16" fill="hold">
                            <p:stCondLst>
                              <p:cond delay="2720"/>
                            </p:stCondLst>
                            <p:childTnLst>
                              <p:par>
                                <p:cTn id="17" presetID="49" presetClass="path" presetSubtype="0" accel="50000" decel="50000" fill="hold" grpId="0" nodeType="afterEffect">
                                  <p:stCondLst>
                                    <p:cond delay="480"/>
                                  </p:stCondLst>
                                  <p:childTnLst>
                                    <p:animMotion origin="layout" path="M 0 0 L 0.25 0.25 E" pathEditMode="relative" ptsTypes="">
                                      <p:cBhvr>
                                        <p:cTn id="18" dur="500" fill="hold"/>
                                        <p:tgtEl>
                                          <p:spTgt spid="11"/>
                                        </p:tgtEl>
                                        <p:attrNameLst>
                                          <p:attrName>ppt_x</p:attrName>
                                          <p:attrName>ppt_y</p:attrName>
                                        </p:attrNameLst>
                                      </p:cBhvr>
                                    </p:animMotion>
                                  </p:childTnLst>
                                </p:cTn>
                              </p:par>
                            </p:childTnLst>
                          </p:cTn>
                        </p:par>
                        <p:par>
                          <p:cTn id="19" fill="hold">
                            <p:stCondLst>
                              <p:cond delay="3700"/>
                            </p:stCondLst>
                            <p:childTnLst>
                              <p:par>
                                <p:cTn id="20" presetID="49" presetClass="path" presetSubtype="0" accel="50000" decel="50000" fill="hold" grpId="0" nodeType="afterEffect">
                                  <p:stCondLst>
                                    <p:cond delay="600"/>
                                  </p:stCondLst>
                                  <p:childTnLst>
                                    <p:animMotion origin="layout" path="M 0 0 L 0.25 0.25 E" pathEditMode="relative" ptsTypes="">
                                      <p:cBhvr>
                                        <p:cTn id="21" dur="500" fill="hold"/>
                                        <p:tgtEl>
                                          <p:spTgt spid="12"/>
                                        </p:tgtEl>
                                        <p:attrNameLst>
                                          <p:attrName>ppt_x</p:attrName>
                                          <p:attrName>ppt_y</p:attrName>
                                        </p:attrNameLst>
                                      </p:cBhvr>
                                    </p:animMotion>
                                  </p:childTnLst>
                                </p:cTn>
                              </p:par>
                            </p:childTnLst>
                          </p:cTn>
                        </p:par>
                        <p:par>
                          <p:cTn id="22" fill="hold">
                            <p:stCondLst>
                              <p:cond delay="4800"/>
                            </p:stCondLst>
                            <p:childTnLst>
                              <p:par>
                                <p:cTn id="23" presetID="49" presetClass="path" presetSubtype="0" accel="50000" decel="50000" fill="hold" grpId="0" nodeType="afterEffect">
                                  <p:stCondLst>
                                    <p:cond delay="720"/>
                                  </p:stCondLst>
                                  <p:childTnLst>
                                    <p:animMotion origin="layout" path="M 0 0 L 0.25 0.25 E" pathEditMode="relative" ptsTypes="">
                                      <p:cBhvr>
                                        <p:cTn id="24" dur="500" fill="hold"/>
                                        <p:tgtEl>
                                          <p:spTgt spid="13"/>
                                        </p:tgtEl>
                                        <p:attrNameLst>
                                          <p:attrName>ppt_x</p:attrName>
                                          <p:attrName>ppt_y</p:attrName>
                                        </p:attrNameLst>
                                      </p:cBhvr>
                                    </p:animMotion>
                                  </p:childTnLst>
                                </p:cTn>
                              </p:par>
                            </p:childTnLst>
                          </p:cTn>
                        </p:par>
                        <p:par>
                          <p:cTn id="25" fill="hold">
                            <p:stCondLst>
                              <p:cond delay="6020"/>
                            </p:stCondLst>
                            <p:childTnLst>
                              <p:par>
                                <p:cTn id="26" presetID="49" presetClass="path" presetSubtype="0" accel="50000" decel="50000" fill="hold" grpId="0" nodeType="afterEffect">
                                  <p:stCondLst>
                                    <p:cond delay="840"/>
                                  </p:stCondLst>
                                  <p:childTnLst>
                                    <p:animMotion origin="layout" path="M 0 0 L 0.25 0.25 E" pathEditMode="relative" ptsTypes="">
                                      <p:cBhvr>
                                        <p:cTn id="27" dur="500" fill="hold"/>
                                        <p:tgtEl>
                                          <p:spTgt spid="1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p:bldP spid="11" grpId="0"/>
      <p:bldP spid="12" grpId="0"/>
      <p:bldP spid="13" grpId="0"/>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7EA6F3-8FA2-7A9E-53D3-7EC09820EB65}"/>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580C31ED-9FC2-0CA5-F619-3C14FBE3FD6D}"/>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23AA02DC-A815-AA60-A80E-4728863352E6}"/>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E9AA8B09-E957-7EF7-D986-61C26A031799}"/>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0930B33-79F3-63FB-59A0-B3331E1D8BC2}"/>
              </a:ext>
            </a:extLst>
          </p:cNvPr>
          <p:cNvSpPr txBox="1"/>
          <p:nvPr/>
        </p:nvSpPr>
        <p:spPr>
          <a:xfrm>
            <a:off x="228600" y="152400"/>
            <a:ext cx="8686800" cy="369332"/>
          </a:xfrm>
          <a:prstGeom prst="rect">
            <a:avLst/>
          </a:prstGeom>
          <a:noFill/>
        </p:spPr>
        <p:txBody>
          <a:bodyPr vert="horz" wrap="square" rtlCol="0">
            <a:noAutofit/>
          </a:bodyPr>
          <a:lstStyle/>
          <a:p>
            <a:r>
              <a:rPr lang="en-IN" sz="2200" b="1">
                <a:solidFill>
                  <a:srgbClr val="FFFFFF"/>
                </a:solidFill>
                <a:latin typeface="Calibri" panose="020F0502020204030204" pitchFamily="34" charset="0"/>
              </a:rPr>
              <a:t>Presentation Outline</a:t>
            </a:r>
          </a:p>
        </p:txBody>
      </p:sp>
      <p:sp>
        <p:nvSpPr>
          <p:cNvPr id="7" name="Rectangle 6">
            <a:extLst>
              <a:ext uri="{FF2B5EF4-FFF2-40B4-BE49-F238E27FC236}">
                <a16:creationId xmlns:a16="http://schemas.microsoft.com/office/drawing/2014/main" id="{4F40B971-228C-E958-EB69-9E282FDEED43}"/>
              </a:ext>
            </a:extLst>
          </p:cNvPr>
          <p:cNvSpPr/>
          <p:nvPr/>
        </p:nvSpPr>
        <p:spPr>
          <a:xfrm>
            <a:off x="508000" y="990600"/>
            <a:ext cx="355600" cy="3556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C1527930-74AB-475A-1439-0C5CD6F7B007}"/>
              </a:ext>
            </a:extLst>
          </p:cNvPr>
          <p:cNvSpPr txBox="1"/>
          <p:nvPr/>
        </p:nvSpPr>
        <p:spPr>
          <a:xfrm>
            <a:off x="508000" y="990600"/>
            <a:ext cx="355600" cy="369332"/>
          </a:xfrm>
          <a:prstGeom prst="rect">
            <a:avLst/>
          </a:prstGeom>
          <a:noFill/>
        </p:spPr>
        <p:txBody>
          <a:bodyPr vert="horz" wrap="square" rtlCol="0">
            <a:noAutofit/>
          </a:bodyPr>
          <a:lstStyle/>
          <a:p>
            <a:pPr algn="ctr"/>
            <a:r>
              <a:rPr lang="en-IN" sz="1200" b="1">
                <a:solidFill>
                  <a:srgbClr val="0D1B2A"/>
                </a:solidFill>
                <a:latin typeface="Calibri" panose="020F0502020204030204" pitchFamily="34" charset="0"/>
              </a:rPr>
              <a:t>1</a:t>
            </a:r>
          </a:p>
        </p:txBody>
      </p:sp>
      <p:sp>
        <p:nvSpPr>
          <p:cNvPr id="9" name="TextBox 8">
            <a:extLst>
              <a:ext uri="{FF2B5EF4-FFF2-40B4-BE49-F238E27FC236}">
                <a16:creationId xmlns:a16="http://schemas.microsoft.com/office/drawing/2014/main" id="{1C0060B4-50AE-DE5F-6428-4FAE08229EFD}"/>
              </a:ext>
            </a:extLst>
          </p:cNvPr>
          <p:cNvSpPr txBox="1"/>
          <p:nvPr/>
        </p:nvSpPr>
        <p:spPr>
          <a:xfrm>
            <a:off x="990600" y="939800"/>
            <a:ext cx="7620000" cy="369332"/>
          </a:xfrm>
          <a:prstGeom prst="rect">
            <a:avLst/>
          </a:prstGeom>
          <a:noFill/>
        </p:spPr>
        <p:txBody>
          <a:bodyPr vert="horz" wrap="square" rtlCol="0">
            <a:noAutofit/>
          </a:bodyPr>
          <a:lstStyle/>
          <a:p>
            <a:r>
              <a:rPr lang="en-US" sz="1500">
                <a:solidFill>
                  <a:srgbClr val="1E293B"/>
                </a:solidFill>
                <a:latin typeface="Calibri" panose="020F0502020204030204" pitchFamily="34" charset="0"/>
              </a:rPr>
              <a:t>Introduction to Digital Projection Radiography</a:t>
            </a:r>
            <a:endParaRPr lang="en-IN" sz="1500">
              <a:solidFill>
                <a:srgbClr val="1E293B"/>
              </a:solidFill>
              <a:latin typeface="Calibri" panose="020F0502020204030204" pitchFamily="34" charset="0"/>
            </a:endParaRPr>
          </a:p>
        </p:txBody>
      </p:sp>
      <p:sp>
        <p:nvSpPr>
          <p:cNvPr id="10" name="Rectangle 9">
            <a:extLst>
              <a:ext uri="{FF2B5EF4-FFF2-40B4-BE49-F238E27FC236}">
                <a16:creationId xmlns:a16="http://schemas.microsoft.com/office/drawing/2014/main" id="{5A401E7C-F2DB-2512-5749-3D99B2CDC6C7}"/>
              </a:ext>
            </a:extLst>
          </p:cNvPr>
          <p:cNvSpPr/>
          <p:nvPr/>
        </p:nvSpPr>
        <p:spPr>
          <a:xfrm>
            <a:off x="508000" y="1549400"/>
            <a:ext cx="355600" cy="3556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CA70A0D-5936-EC9B-BAD4-3617AD3BE609}"/>
              </a:ext>
            </a:extLst>
          </p:cNvPr>
          <p:cNvSpPr txBox="1"/>
          <p:nvPr/>
        </p:nvSpPr>
        <p:spPr>
          <a:xfrm>
            <a:off x="508000" y="1549400"/>
            <a:ext cx="355600" cy="369332"/>
          </a:xfrm>
          <a:prstGeom prst="rect">
            <a:avLst/>
          </a:prstGeom>
          <a:noFill/>
        </p:spPr>
        <p:txBody>
          <a:bodyPr vert="horz" wrap="square" rtlCol="0">
            <a:noAutofit/>
          </a:bodyPr>
          <a:lstStyle/>
          <a:p>
            <a:pPr algn="ctr"/>
            <a:r>
              <a:rPr lang="en-IN" sz="1200" b="1">
                <a:solidFill>
                  <a:srgbClr val="0D1B2A"/>
                </a:solidFill>
                <a:latin typeface="Calibri" panose="020F0502020204030204" pitchFamily="34" charset="0"/>
              </a:rPr>
              <a:t>2</a:t>
            </a:r>
          </a:p>
        </p:txBody>
      </p:sp>
      <p:sp>
        <p:nvSpPr>
          <p:cNvPr id="12" name="TextBox 11">
            <a:extLst>
              <a:ext uri="{FF2B5EF4-FFF2-40B4-BE49-F238E27FC236}">
                <a16:creationId xmlns:a16="http://schemas.microsoft.com/office/drawing/2014/main" id="{CEEA19F6-948D-5F6E-752B-F97EDEC7C5F5}"/>
              </a:ext>
            </a:extLst>
          </p:cNvPr>
          <p:cNvSpPr txBox="1"/>
          <p:nvPr/>
        </p:nvSpPr>
        <p:spPr>
          <a:xfrm>
            <a:off x="990600" y="1498600"/>
            <a:ext cx="7620000" cy="369332"/>
          </a:xfrm>
          <a:prstGeom prst="rect">
            <a:avLst/>
          </a:prstGeom>
          <a:noFill/>
        </p:spPr>
        <p:txBody>
          <a:bodyPr vert="horz" wrap="square" rtlCol="0">
            <a:noAutofit/>
          </a:bodyPr>
          <a:lstStyle/>
          <a:p>
            <a:r>
              <a:rPr lang="en-US" sz="1500">
                <a:solidFill>
                  <a:srgbClr val="1E293B"/>
                </a:solidFill>
                <a:latin typeface="Calibri" panose="020F0502020204030204" pitchFamily="34" charset="0"/>
              </a:rPr>
              <a:t>Computed Radiography (CR) -- History and Overview</a:t>
            </a:r>
            <a:endParaRPr lang="en-IN" sz="1500">
              <a:solidFill>
                <a:srgbClr val="1E293B"/>
              </a:solidFill>
              <a:latin typeface="Calibri" panose="020F0502020204030204" pitchFamily="34" charset="0"/>
            </a:endParaRPr>
          </a:p>
        </p:txBody>
      </p:sp>
      <p:sp>
        <p:nvSpPr>
          <p:cNvPr id="13" name="Rectangle 12">
            <a:extLst>
              <a:ext uri="{FF2B5EF4-FFF2-40B4-BE49-F238E27FC236}">
                <a16:creationId xmlns:a16="http://schemas.microsoft.com/office/drawing/2014/main" id="{8AA3BEDC-7309-BD23-0DBF-78FC357C8C81}"/>
              </a:ext>
            </a:extLst>
          </p:cNvPr>
          <p:cNvSpPr/>
          <p:nvPr/>
        </p:nvSpPr>
        <p:spPr>
          <a:xfrm>
            <a:off x="508000" y="2108200"/>
            <a:ext cx="355600" cy="3556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E67374AE-F7AC-E9D6-A404-ACE76D6FAB88}"/>
              </a:ext>
            </a:extLst>
          </p:cNvPr>
          <p:cNvSpPr txBox="1"/>
          <p:nvPr/>
        </p:nvSpPr>
        <p:spPr>
          <a:xfrm>
            <a:off x="508000" y="2108200"/>
            <a:ext cx="355600" cy="369332"/>
          </a:xfrm>
          <a:prstGeom prst="rect">
            <a:avLst/>
          </a:prstGeom>
          <a:noFill/>
        </p:spPr>
        <p:txBody>
          <a:bodyPr vert="horz" wrap="square" rtlCol="0">
            <a:noAutofit/>
          </a:bodyPr>
          <a:lstStyle/>
          <a:p>
            <a:pPr algn="ctr"/>
            <a:r>
              <a:rPr lang="en-IN" sz="1200" b="1">
                <a:solidFill>
                  <a:srgbClr val="0D1B2A"/>
                </a:solidFill>
                <a:latin typeface="Calibri" panose="020F0502020204030204" pitchFamily="34" charset="0"/>
              </a:rPr>
              <a:t>3</a:t>
            </a:r>
          </a:p>
        </p:txBody>
      </p:sp>
      <p:sp>
        <p:nvSpPr>
          <p:cNvPr id="15" name="TextBox 14">
            <a:extLst>
              <a:ext uri="{FF2B5EF4-FFF2-40B4-BE49-F238E27FC236}">
                <a16:creationId xmlns:a16="http://schemas.microsoft.com/office/drawing/2014/main" id="{9EA067CE-43E9-9130-2916-E978128F7A78}"/>
              </a:ext>
            </a:extLst>
          </p:cNvPr>
          <p:cNvSpPr txBox="1"/>
          <p:nvPr/>
        </p:nvSpPr>
        <p:spPr>
          <a:xfrm>
            <a:off x="990600" y="2057400"/>
            <a:ext cx="7620000" cy="369332"/>
          </a:xfrm>
          <a:prstGeom prst="rect">
            <a:avLst/>
          </a:prstGeom>
          <a:noFill/>
        </p:spPr>
        <p:txBody>
          <a:bodyPr vert="horz" wrap="square" rtlCol="0">
            <a:noAutofit/>
          </a:bodyPr>
          <a:lstStyle/>
          <a:p>
            <a:r>
              <a:rPr lang="en-IN" sz="1500">
                <a:solidFill>
                  <a:srgbClr val="1E293B"/>
                </a:solidFill>
                <a:latin typeface="Calibri" panose="020F0502020204030204" pitchFamily="34" charset="0"/>
              </a:rPr>
              <a:t>CR Cassette and Plate Construction</a:t>
            </a:r>
          </a:p>
        </p:txBody>
      </p:sp>
      <p:sp>
        <p:nvSpPr>
          <p:cNvPr id="16" name="Rectangle 15">
            <a:extLst>
              <a:ext uri="{FF2B5EF4-FFF2-40B4-BE49-F238E27FC236}">
                <a16:creationId xmlns:a16="http://schemas.microsoft.com/office/drawing/2014/main" id="{7A1D778F-2935-D83E-4D63-31EE04B65785}"/>
              </a:ext>
            </a:extLst>
          </p:cNvPr>
          <p:cNvSpPr/>
          <p:nvPr/>
        </p:nvSpPr>
        <p:spPr>
          <a:xfrm>
            <a:off x="508000" y="2667000"/>
            <a:ext cx="355600" cy="3556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E631FF40-C78A-5DAB-B356-C6B9EB0C80ED}"/>
              </a:ext>
            </a:extLst>
          </p:cNvPr>
          <p:cNvSpPr txBox="1"/>
          <p:nvPr/>
        </p:nvSpPr>
        <p:spPr>
          <a:xfrm>
            <a:off x="508000" y="2667000"/>
            <a:ext cx="355600" cy="369332"/>
          </a:xfrm>
          <a:prstGeom prst="rect">
            <a:avLst/>
          </a:prstGeom>
          <a:noFill/>
        </p:spPr>
        <p:txBody>
          <a:bodyPr vert="horz" wrap="square" rtlCol="0">
            <a:noAutofit/>
          </a:bodyPr>
          <a:lstStyle/>
          <a:p>
            <a:pPr algn="ctr"/>
            <a:r>
              <a:rPr lang="en-IN" sz="1200" b="1">
                <a:solidFill>
                  <a:srgbClr val="0D1B2A"/>
                </a:solidFill>
                <a:latin typeface="Calibri" panose="020F0502020204030204" pitchFamily="34" charset="0"/>
              </a:rPr>
              <a:t>4</a:t>
            </a:r>
          </a:p>
        </p:txBody>
      </p:sp>
      <p:sp>
        <p:nvSpPr>
          <p:cNvPr id="18" name="TextBox 17">
            <a:extLst>
              <a:ext uri="{FF2B5EF4-FFF2-40B4-BE49-F238E27FC236}">
                <a16:creationId xmlns:a16="http://schemas.microsoft.com/office/drawing/2014/main" id="{F86F6F24-0BD6-2BA3-E559-5D5764C6ABA1}"/>
              </a:ext>
            </a:extLst>
          </p:cNvPr>
          <p:cNvSpPr txBox="1"/>
          <p:nvPr/>
        </p:nvSpPr>
        <p:spPr>
          <a:xfrm>
            <a:off x="990600" y="2616200"/>
            <a:ext cx="7620000" cy="369332"/>
          </a:xfrm>
          <a:prstGeom prst="rect">
            <a:avLst/>
          </a:prstGeom>
          <a:noFill/>
        </p:spPr>
        <p:txBody>
          <a:bodyPr vert="horz" wrap="square" rtlCol="0">
            <a:noAutofit/>
          </a:bodyPr>
          <a:lstStyle/>
          <a:p>
            <a:r>
              <a:rPr lang="en-IN" sz="1500">
                <a:solidFill>
                  <a:srgbClr val="1E293B"/>
                </a:solidFill>
                <a:latin typeface="Calibri" panose="020F0502020204030204" pitchFamily="34" charset="0"/>
              </a:rPr>
              <a:t>Digital Radiography (DR) -- Overview</a:t>
            </a:r>
          </a:p>
        </p:txBody>
      </p:sp>
      <p:sp>
        <p:nvSpPr>
          <p:cNvPr id="19" name="Rectangle 18">
            <a:extLst>
              <a:ext uri="{FF2B5EF4-FFF2-40B4-BE49-F238E27FC236}">
                <a16:creationId xmlns:a16="http://schemas.microsoft.com/office/drawing/2014/main" id="{6C3ADCA2-661B-10B1-04E7-B7C13F4DD646}"/>
              </a:ext>
            </a:extLst>
          </p:cNvPr>
          <p:cNvSpPr/>
          <p:nvPr/>
        </p:nvSpPr>
        <p:spPr>
          <a:xfrm>
            <a:off x="508000" y="3225800"/>
            <a:ext cx="355600" cy="3556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8E039A46-1FE8-7397-B231-E5D70EA28F2A}"/>
              </a:ext>
            </a:extLst>
          </p:cNvPr>
          <p:cNvSpPr txBox="1"/>
          <p:nvPr/>
        </p:nvSpPr>
        <p:spPr>
          <a:xfrm>
            <a:off x="508000" y="3225800"/>
            <a:ext cx="355600" cy="369332"/>
          </a:xfrm>
          <a:prstGeom prst="rect">
            <a:avLst/>
          </a:prstGeom>
          <a:noFill/>
        </p:spPr>
        <p:txBody>
          <a:bodyPr vert="horz" wrap="square" rtlCol="0">
            <a:noAutofit/>
          </a:bodyPr>
          <a:lstStyle/>
          <a:p>
            <a:pPr algn="ctr"/>
            <a:r>
              <a:rPr lang="en-IN" sz="1200" b="1">
                <a:solidFill>
                  <a:srgbClr val="0D1B2A"/>
                </a:solidFill>
                <a:latin typeface="Calibri" panose="020F0502020204030204" pitchFamily="34" charset="0"/>
              </a:rPr>
              <a:t>5</a:t>
            </a:r>
          </a:p>
        </p:txBody>
      </p:sp>
      <p:sp>
        <p:nvSpPr>
          <p:cNvPr id="21" name="TextBox 20">
            <a:extLst>
              <a:ext uri="{FF2B5EF4-FFF2-40B4-BE49-F238E27FC236}">
                <a16:creationId xmlns:a16="http://schemas.microsoft.com/office/drawing/2014/main" id="{7DD6BAF3-9039-A98B-20AC-2F2E35BD689C}"/>
              </a:ext>
            </a:extLst>
          </p:cNvPr>
          <p:cNvSpPr txBox="1"/>
          <p:nvPr/>
        </p:nvSpPr>
        <p:spPr>
          <a:xfrm>
            <a:off x="990600" y="3175000"/>
            <a:ext cx="7620000" cy="369332"/>
          </a:xfrm>
          <a:prstGeom prst="rect">
            <a:avLst/>
          </a:prstGeom>
          <a:noFill/>
        </p:spPr>
        <p:txBody>
          <a:bodyPr vert="horz" wrap="square" rtlCol="0">
            <a:noAutofit/>
          </a:bodyPr>
          <a:lstStyle/>
          <a:p>
            <a:r>
              <a:rPr lang="en-US" sz="1500">
                <a:solidFill>
                  <a:srgbClr val="1E293B"/>
                </a:solidFill>
                <a:latin typeface="Calibri" panose="020F0502020204030204" pitchFamily="34" charset="0"/>
              </a:rPr>
              <a:t>Flat Plate Detectors and CCD Technology</a:t>
            </a:r>
            <a:endParaRPr lang="en-IN" sz="1500">
              <a:solidFill>
                <a:srgbClr val="1E293B"/>
              </a:solidFill>
              <a:latin typeface="Calibri" panose="020F0502020204030204" pitchFamily="34" charset="0"/>
            </a:endParaRPr>
          </a:p>
        </p:txBody>
      </p:sp>
      <p:sp>
        <p:nvSpPr>
          <p:cNvPr id="22" name="Rectangle 21">
            <a:extLst>
              <a:ext uri="{FF2B5EF4-FFF2-40B4-BE49-F238E27FC236}">
                <a16:creationId xmlns:a16="http://schemas.microsoft.com/office/drawing/2014/main" id="{84BE65A6-4761-AF43-F70A-05D4EE041F11}"/>
              </a:ext>
            </a:extLst>
          </p:cNvPr>
          <p:cNvSpPr/>
          <p:nvPr/>
        </p:nvSpPr>
        <p:spPr>
          <a:xfrm>
            <a:off x="508000" y="3784600"/>
            <a:ext cx="355600" cy="3556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08DF92E8-4CCD-D2E7-F071-0F806C06B715}"/>
              </a:ext>
            </a:extLst>
          </p:cNvPr>
          <p:cNvSpPr txBox="1"/>
          <p:nvPr/>
        </p:nvSpPr>
        <p:spPr>
          <a:xfrm>
            <a:off x="508000" y="3784600"/>
            <a:ext cx="355600" cy="369332"/>
          </a:xfrm>
          <a:prstGeom prst="rect">
            <a:avLst/>
          </a:prstGeom>
          <a:noFill/>
        </p:spPr>
        <p:txBody>
          <a:bodyPr vert="horz" wrap="square" rtlCol="0">
            <a:noAutofit/>
          </a:bodyPr>
          <a:lstStyle/>
          <a:p>
            <a:pPr algn="ctr"/>
            <a:r>
              <a:rPr lang="en-IN" sz="1200" b="1">
                <a:solidFill>
                  <a:srgbClr val="0D1B2A"/>
                </a:solidFill>
                <a:latin typeface="Calibri" panose="020F0502020204030204" pitchFamily="34" charset="0"/>
              </a:rPr>
              <a:t>6</a:t>
            </a:r>
          </a:p>
        </p:txBody>
      </p:sp>
      <p:sp>
        <p:nvSpPr>
          <p:cNvPr id="24" name="TextBox 23">
            <a:extLst>
              <a:ext uri="{FF2B5EF4-FFF2-40B4-BE49-F238E27FC236}">
                <a16:creationId xmlns:a16="http://schemas.microsoft.com/office/drawing/2014/main" id="{5B4C8812-857F-1C0F-2C8A-C9CD4005B5EB}"/>
              </a:ext>
            </a:extLst>
          </p:cNvPr>
          <p:cNvSpPr txBox="1"/>
          <p:nvPr/>
        </p:nvSpPr>
        <p:spPr>
          <a:xfrm>
            <a:off x="990600" y="3733800"/>
            <a:ext cx="7620000" cy="369332"/>
          </a:xfrm>
          <a:prstGeom prst="rect">
            <a:avLst/>
          </a:prstGeom>
          <a:noFill/>
        </p:spPr>
        <p:txBody>
          <a:bodyPr vert="horz" wrap="square" rtlCol="0">
            <a:noAutofit/>
          </a:bodyPr>
          <a:lstStyle/>
          <a:p>
            <a:r>
              <a:rPr lang="en-IN" sz="1500">
                <a:solidFill>
                  <a:srgbClr val="1E293B"/>
                </a:solidFill>
                <a:latin typeface="Calibri" panose="020F0502020204030204" pitchFamily="34" charset="0"/>
              </a:rPr>
              <a:t>Advantages of Digital Radiography</a:t>
            </a:r>
          </a:p>
        </p:txBody>
      </p:sp>
      <p:sp>
        <p:nvSpPr>
          <p:cNvPr id="25" name="Rectangle 24">
            <a:extLst>
              <a:ext uri="{FF2B5EF4-FFF2-40B4-BE49-F238E27FC236}">
                <a16:creationId xmlns:a16="http://schemas.microsoft.com/office/drawing/2014/main" id="{7ABF77FA-C2C0-08BF-91F7-3D41E0433E19}"/>
              </a:ext>
            </a:extLst>
          </p:cNvPr>
          <p:cNvSpPr/>
          <p:nvPr/>
        </p:nvSpPr>
        <p:spPr>
          <a:xfrm>
            <a:off x="508000" y="4343400"/>
            <a:ext cx="355600" cy="3556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3DBDF5AF-AAC0-F025-D1BE-DBFB0B6AC67C}"/>
              </a:ext>
            </a:extLst>
          </p:cNvPr>
          <p:cNvSpPr txBox="1"/>
          <p:nvPr/>
        </p:nvSpPr>
        <p:spPr>
          <a:xfrm>
            <a:off x="508000" y="4343400"/>
            <a:ext cx="355600" cy="369332"/>
          </a:xfrm>
          <a:prstGeom prst="rect">
            <a:avLst/>
          </a:prstGeom>
          <a:noFill/>
        </p:spPr>
        <p:txBody>
          <a:bodyPr vert="horz" wrap="square" rtlCol="0">
            <a:noAutofit/>
          </a:bodyPr>
          <a:lstStyle/>
          <a:p>
            <a:pPr algn="ctr"/>
            <a:r>
              <a:rPr lang="en-IN" sz="1200" b="1">
                <a:solidFill>
                  <a:srgbClr val="0D1B2A"/>
                </a:solidFill>
                <a:latin typeface="Calibri" panose="020F0502020204030204" pitchFamily="34" charset="0"/>
              </a:rPr>
              <a:t>7</a:t>
            </a:r>
          </a:p>
        </p:txBody>
      </p:sp>
      <p:sp>
        <p:nvSpPr>
          <p:cNvPr id="27" name="TextBox 26">
            <a:extLst>
              <a:ext uri="{FF2B5EF4-FFF2-40B4-BE49-F238E27FC236}">
                <a16:creationId xmlns:a16="http://schemas.microsoft.com/office/drawing/2014/main" id="{05EC9F64-A2B4-8C2B-0B9E-07143E9F2042}"/>
              </a:ext>
            </a:extLst>
          </p:cNvPr>
          <p:cNvSpPr txBox="1"/>
          <p:nvPr/>
        </p:nvSpPr>
        <p:spPr>
          <a:xfrm>
            <a:off x="990600" y="4292600"/>
            <a:ext cx="7620000" cy="369332"/>
          </a:xfrm>
          <a:prstGeom prst="rect">
            <a:avLst/>
          </a:prstGeom>
          <a:noFill/>
        </p:spPr>
        <p:txBody>
          <a:bodyPr vert="horz" wrap="square" rtlCol="0">
            <a:noAutofit/>
          </a:bodyPr>
          <a:lstStyle/>
          <a:p>
            <a:r>
              <a:rPr lang="en-IN" sz="1500">
                <a:solidFill>
                  <a:srgbClr val="1E293B"/>
                </a:solidFill>
                <a:latin typeface="Calibri" panose="020F0502020204030204" pitchFamily="34" charset="0"/>
              </a:rPr>
              <a:t>CR vs DR -- Comparative Analysis</a:t>
            </a:r>
          </a:p>
        </p:txBody>
      </p:sp>
    </p:spTree>
    <p:extLst>
      <p:ext uri="{BB962C8B-B14F-4D97-AF65-F5344CB8AC3E}">
        <p14:creationId xmlns:p14="http://schemas.microsoft.com/office/powerpoint/2010/main" val="1544875138"/>
      </p:ext>
    </p:extLst>
  </p:cSld>
  <p:clrMapOvr>
    <a:masterClrMapping/>
  </p:clrMapOvr>
  <p:transition spd="med">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path" presetSubtype="0" accel="50000" decel="50000" fill="hold" grpId="0" nodeType="afterEffect">
                                  <p:stCondLst>
                                    <p:cond delay="100"/>
                                  </p:stCondLst>
                                  <p:childTnLst>
                                    <p:animMotion origin="layout" path="M 0 0 L 0.25 0.25 E" pathEditMode="relative" ptsTypes="">
                                      <p:cBhvr>
                                        <p:cTn id="6" dur="500" fill="hold"/>
                                        <p:tgtEl>
                                          <p:spTgt spid="6"/>
                                        </p:tgtEl>
                                        <p:attrNameLst>
                                          <p:attrName>ppt_x</p:attrName>
                                          <p:attrName>ppt_y</p:attrName>
                                        </p:attrNameLst>
                                      </p:cBhvr>
                                    </p:animMotion>
                                  </p:childTnLst>
                                </p:cTn>
                              </p:par>
                            </p:childTnLst>
                          </p:cTn>
                        </p:par>
                        <p:par>
                          <p:cTn id="7" fill="hold">
                            <p:stCondLst>
                              <p:cond delay="600"/>
                            </p:stCondLst>
                            <p:childTnLst>
                              <p:par>
                                <p:cTn id="8" presetID="49" presetClass="path" presetSubtype="0" accel="50000" decel="50000" fill="hold" grpId="0" nodeType="afterEffect">
                                  <p:stCondLst>
                                    <p:cond delay="180"/>
                                  </p:stCondLst>
                                  <p:childTnLst>
                                    <p:animMotion origin="layout" path="M 0 0 L 0.25 0.25 E" pathEditMode="relative" ptsTypes="">
                                      <p:cBhvr>
                                        <p:cTn id="9" dur="500" fill="hold"/>
                                        <p:tgtEl>
                                          <p:spTgt spid="8"/>
                                        </p:tgtEl>
                                        <p:attrNameLst>
                                          <p:attrName>ppt_x</p:attrName>
                                          <p:attrName>ppt_y</p:attrName>
                                        </p:attrNameLst>
                                      </p:cBhvr>
                                    </p:animMotion>
                                  </p:childTnLst>
                                </p:cTn>
                              </p:par>
                            </p:childTnLst>
                          </p:cTn>
                        </p:par>
                        <p:par>
                          <p:cTn id="10" fill="hold">
                            <p:stCondLst>
                              <p:cond delay="1280"/>
                            </p:stCondLst>
                            <p:childTnLst>
                              <p:par>
                                <p:cTn id="11" presetID="49" presetClass="path" presetSubtype="0" accel="50000" decel="50000" fill="hold" grpId="0" nodeType="afterEffect">
                                  <p:stCondLst>
                                    <p:cond delay="260"/>
                                  </p:stCondLst>
                                  <p:childTnLst>
                                    <p:animMotion origin="layout" path="M 0 0 L 0.25 0.25 E" pathEditMode="relative" ptsTypes="">
                                      <p:cBhvr>
                                        <p:cTn id="12" dur="500" fill="hold"/>
                                        <p:tgtEl>
                                          <p:spTgt spid="9"/>
                                        </p:tgtEl>
                                        <p:attrNameLst>
                                          <p:attrName>ppt_x</p:attrName>
                                          <p:attrName>ppt_y</p:attrName>
                                        </p:attrNameLst>
                                      </p:cBhvr>
                                    </p:animMotion>
                                  </p:childTnLst>
                                </p:cTn>
                              </p:par>
                            </p:childTnLst>
                          </p:cTn>
                        </p:par>
                        <p:par>
                          <p:cTn id="13" fill="hold">
                            <p:stCondLst>
                              <p:cond delay="2040"/>
                            </p:stCondLst>
                            <p:childTnLst>
                              <p:par>
                                <p:cTn id="14" presetID="49" presetClass="path" presetSubtype="0" accel="50000" decel="50000" fill="hold" grpId="0" nodeType="afterEffect">
                                  <p:stCondLst>
                                    <p:cond delay="340"/>
                                  </p:stCondLst>
                                  <p:childTnLst>
                                    <p:animMotion origin="layout" path="M 0 0 L 0.25 0.25 E" pathEditMode="relative" ptsTypes="">
                                      <p:cBhvr>
                                        <p:cTn id="15" dur="500" fill="hold"/>
                                        <p:tgtEl>
                                          <p:spTgt spid="11"/>
                                        </p:tgtEl>
                                        <p:attrNameLst>
                                          <p:attrName>ppt_x</p:attrName>
                                          <p:attrName>ppt_y</p:attrName>
                                        </p:attrNameLst>
                                      </p:cBhvr>
                                    </p:animMotion>
                                  </p:childTnLst>
                                </p:cTn>
                              </p:par>
                            </p:childTnLst>
                          </p:cTn>
                        </p:par>
                        <p:par>
                          <p:cTn id="16" fill="hold">
                            <p:stCondLst>
                              <p:cond delay="2880"/>
                            </p:stCondLst>
                            <p:childTnLst>
                              <p:par>
                                <p:cTn id="17" presetID="49" presetClass="path" presetSubtype="0" accel="50000" decel="50000" fill="hold" grpId="0" nodeType="afterEffect">
                                  <p:stCondLst>
                                    <p:cond delay="420"/>
                                  </p:stCondLst>
                                  <p:childTnLst>
                                    <p:animMotion origin="layout" path="M 0 0 L 0.25 0.25 E" pathEditMode="relative" ptsTypes="">
                                      <p:cBhvr>
                                        <p:cTn id="18" dur="500" fill="hold"/>
                                        <p:tgtEl>
                                          <p:spTgt spid="12"/>
                                        </p:tgtEl>
                                        <p:attrNameLst>
                                          <p:attrName>ppt_x</p:attrName>
                                          <p:attrName>ppt_y</p:attrName>
                                        </p:attrNameLst>
                                      </p:cBhvr>
                                    </p:animMotion>
                                  </p:childTnLst>
                                </p:cTn>
                              </p:par>
                            </p:childTnLst>
                          </p:cTn>
                        </p:par>
                        <p:par>
                          <p:cTn id="19" fill="hold">
                            <p:stCondLst>
                              <p:cond delay="3800"/>
                            </p:stCondLst>
                            <p:childTnLst>
                              <p:par>
                                <p:cTn id="20" presetID="49" presetClass="path" presetSubtype="0" accel="50000" decel="50000" fill="hold" grpId="0" nodeType="afterEffect">
                                  <p:stCondLst>
                                    <p:cond delay="500"/>
                                  </p:stCondLst>
                                  <p:childTnLst>
                                    <p:animMotion origin="layout" path="M 0 0 L 0.25 0.25 E" pathEditMode="relative" ptsTypes="">
                                      <p:cBhvr>
                                        <p:cTn id="21" dur="500" fill="hold"/>
                                        <p:tgtEl>
                                          <p:spTgt spid="14"/>
                                        </p:tgtEl>
                                        <p:attrNameLst>
                                          <p:attrName>ppt_x</p:attrName>
                                          <p:attrName>ppt_y</p:attrName>
                                        </p:attrNameLst>
                                      </p:cBhvr>
                                    </p:animMotion>
                                  </p:childTnLst>
                                </p:cTn>
                              </p:par>
                            </p:childTnLst>
                          </p:cTn>
                        </p:par>
                        <p:par>
                          <p:cTn id="22" fill="hold">
                            <p:stCondLst>
                              <p:cond delay="4800"/>
                            </p:stCondLst>
                            <p:childTnLst>
                              <p:par>
                                <p:cTn id="23" presetID="49" presetClass="path" presetSubtype="0" accel="50000" decel="50000" fill="hold" grpId="0" nodeType="afterEffect">
                                  <p:stCondLst>
                                    <p:cond delay="580"/>
                                  </p:stCondLst>
                                  <p:childTnLst>
                                    <p:animMotion origin="layout" path="M 0 0 L 0.25 0.25 E" pathEditMode="relative" ptsTypes="">
                                      <p:cBhvr>
                                        <p:cTn id="24" dur="500" fill="hold"/>
                                        <p:tgtEl>
                                          <p:spTgt spid="15"/>
                                        </p:tgtEl>
                                        <p:attrNameLst>
                                          <p:attrName>ppt_x</p:attrName>
                                          <p:attrName>ppt_y</p:attrName>
                                        </p:attrNameLst>
                                      </p:cBhvr>
                                    </p:animMotion>
                                  </p:childTnLst>
                                </p:cTn>
                              </p:par>
                            </p:childTnLst>
                          </p:cTn>
                        </p:par>
                        <p:par>
                          <p:cTn id="25" fill="hold">
                            <p:stCondLst>
                              <p:cond delay="5880"/>
                            </p:stCondLst>
                            <p:childTnLst>
                              <p:par>
                                <p:cTn id="26" presetID="49" presetClass="path" presetSubtype="0" accel="50000" decel="50000" fill="hold" grpId="0" nodeType="afterEffect">
                                  <p:stCondLst>
                                    <p:cond delay="660"/>
                                  </p:stCondLst>
                                  <p:childTnLst>
                                    <p:animMotion origin="layout" path="M 0 0 L 0.25 0.25 E" pathEditMode="relative" ptsTypes="">
                                      <p:cBhvr>
                                        <p:cTn id="27" dur="500" fill="hold"/>
                                        <p:tgtEl>
                                          <p:spTgt spid="17"/>
                                        </p:tgtEl>
                                        <p:attrNameLst>
                                          <p:attrName>ppt_x</p:attrName>
                                          <p:attrName>ppt_y</p:attrName>
                                        </p:attrNameLst>
                                      </p:cBhvr>
                                    </p:animMotion>
                                  </p:childTnLst>
                                </p:cTn>
                              </p:par>
                            </p:childTnLst>
                          </p:cTn>
                        </p:par>
                        <p:par>
                          <p:cTn id="28" fill="hold">
                            <p:stCondLst>
                              <p:cond delay="7040"/>
                            </p:stCondLst>
                            <p:childTnLst>
                              <p:par>
                                <p:cTn id="29" presetID="49" presetClass="path" presetSubtype="0" accel="50000" decel="50000" fill="hold" grpId="0" nodeType="afterEffect">
                                  <p:stCondLst>
                                    <p:cond delay="740"/>
                                  </p:stCondLst>
                                  <p:childTnLst>
                                    <p:animMotion origin="layout" path="M 0 0 L 0.25 0.25 E" pathEditMode="relative" ptsTypes="">
                                      <p:cBhvr>
                                        <p:cTn id="30" dur="500" fill="hold"/>
                                        <p:tgtEl>
                                          <p:spTgt spid="18"/>
                                        </p:tgtEl>
                                        <p:attrNameLst>
                                          <p:attrName>ppt_x</p:attrName>
                                          <p:attrName>ppt_y</p:attrName>
                                        </p:attrNameLst>
                                      </p:cBhvr>
                                    </p:animMotion>
                                  </p:childTnLst>
                                </p:cTn>
                              </p:par>
                            </p:childTnLst>
                          </p:cTn>
                        </p:par>
                        <p:par>
                          <p:cTn id="31" fill="hold">
                            <p:stCondLst>
                              <p:cond delay="8280"/>
                            </p:stCondLst>
                            <p:childTnLst>
                              <p:par>
                                <p:cTn id="32" presetID="49" presetClass="path" presetSubtype="0" accel="50000" decel="50000" fill="hold" grpId="0" nodeType="afterEffect">
                                  <p:stCondLst>
                                    <p:cond delay="820"/>
                                  </p:stCondLst>
                                  <p:childTnLst>
                                    <p:animMotion origin="layout" path="M 0 0 L 0.25 0.25 E" pathEditMode="relative" ptsTypes="">
                                      <p:cBhvr>
                                        <p:cTn id="33" dur="500" fill="hold"/>
                                        <p:tgtEl>
                                          <p:spTgt spid="20"/>
                                        </p:tgtEl>
                                        <p:attrNameLst>
                                          <p:attrName>ppt_x</p:attrName>
                                          <p:attrName>ppt_y</p:attrName>
                                        </p:attrNameLst>
                                      </p:cBhvr>
                                    </p:animMotion>
                                  </p:childTnLst>
                                </p:cTn>
                              </p:par>
                            </p:childTnLst>
                          </p:cTn>
                        </p:par>
                        <p:par>
                          <p:cTn id="34" fill="hold">
                            <p:stCondLst>
                              <p:cond delay="9600"/>
                            </p:stCondLst>
                            <p:childTnLst>
                              <p:par>
                                <p:cTn id="35" presetID="49" presetClass="path" presetSubtype="0" accel="50000" decel="50000" fill="hold" grpId="0" nodeType="afterEffect">
                                  <p:stCondLst>
                                    <p:cond delay="900"/>
                                  </p:stCondLst>
                                  <p:childTnLst>
                                    <p:animMotion origin="layout" path="M 0 0 L 0.25 0.25 E" pathEditMode="relative" ptsTypes="">
                                      <p:cBhvr>
                                        <p:cTn id="36" dur="500" fill="hold"/>
                                        <p:tgtEl>
                                          <p:spTgt spid="21"/>
                                        </p:tgtEl>
                                        <p:attrNameLst>
                                          <p:attrName>ppt_x</p:attrName>
                                          <p:attrName>ppt_y</p:attrName>
                                        </p:attrNameLst>
                                      </p:cBhvr>
                                    </p:animMotion>
                                  </p:childTnLst>
                                </p:cTn>
                              </p:par>
                            </p:childTnLst>
                          </p:cTn>
                        </p:par>
                        <p:par>
                          <p:cTn id="37" fill="hold">
                            <p:stCondLst>
                              <p:cond delay="11000"/>
                            </p:stCondLst>
                            <p:childTnLst>
                              <p:par>
                                <p:cTn id="38" presetID="49" presetClass="path" presetSubtype="0" accel="50000" decel="50000" fill="hold" grpId="0" nodeType="afterEffect">
                                  <p:stCondLst>
                                    <p:cond delay="980"/>
                                  </p:stCondLst>
                                  <p:childTnLst>
                                    <p:animMotion origin="layout" path="M 0 0 L 0.25 0.25 E" pathEditMode="relative" ptsTypes="">
                                      <p:cBhvr>
                                        <p:cTn id="39" dur="500" fill="hold"/>
                                        <p:tgtEl>
                                          <p:spTgt spid="23"/>
                                        </p:tgtEl>
                                        <p:attrNameLst>
                                          <p:attrName>ppt_x</p:attrName>
                                          <p:attrName>ppt_y</p:attrName>
                                        </p:attrNameLst>
                                      </p:cBhvr>
                                    </p:animMotion>
                                  </p:childTnLst>
                                </p:cTn>
                              </p:par>
                            </p:childTnLst>
                          </p:cTn>
                        </p:par>
                        <p:par>
                          <p:cTn id="40" fill="hold">
                            <p:stCondLst>
                              <p:cond delay="12480"/>
                            </p:stCondLst>
                            <p:childTnLst>
                              <p:par>
                                <p:cTn id="41" presetID="49" presetClass="path" presetSubtype="0" accel="50000" decel="50000" fill="hold" grpId="0" nodeType="afterEffect">
                                  <p:stCondLst>
                                    <p:cond delay="1060"/>
                                  </p:stCondLst>
                                  <p:childTnLst>
                                    <p:animMotion origin="layout" path="M 0 0 L 0.25 0.25 E" pathEditMode="relative" ptsTypes="">
                                      <p:cBhvr>
                                        <p:cTn id="42" dur="500" fill="hold"/>
                                        <p:tgtEl>
                                          <p:spTgt spid="24"/>
                                        </p:tgtEl>
                                        <p:attrNameLst>
                                          <p:attrName>ppt_x</p:attrName>
                                          <p:attrName>ppt_y</p:attrName>
                                        </p:attrNameLst>
                                      </p:cBhvr>
                                    </p:animMotion>
                                  </p:childTnLst>
                                </p:cTn>
                              </p:par>
                            </p:childTnLst>
                          </p:cTn>
                        </p:par>
                        <p:par>
                          <p:cTn id="43" fill="hold">
                            <p:stCondLst>
                              <p:cond delay="14040"/>
                            </p:stCondLst>
                            <p:childTnLst>
                              <p:par>
                                <p:cTn id="44" presetID="49" presetClass="path" presetSubtype="0" accel="50000" decel="50000" fill="hold" grpId="0" nodeType="afterEffect">
                                  <p:stCondLst>
                                    <p:cond delay="1140"/>
                                  </p:stCondLst>
                                  <p:childTnLst>
                                    <p:animMotion origin="layout" path="M 0 0 L 0.25 0.25 E" pathEditMode="relative" ptsTypes="">
                                      <p:cBhvr>
                                        <p:cTn id="45" dur="500" fill="hold"/>
                                        <p:tgtEl>
                                          <p:spTgt spid="26"/>
                                        </p:tgtEl>
                                        <p:attrNameLst>
                                          <p:attrName>ppt_x</p:attrName>
                                          <p:attrName>ppt_y</p:attrName>
                                        </p:attrNameLst>
                                      </p:cBhvr>
                                    </p:animMotion>
                                  </p:childTnLst>
                                </p:cTn>
                              </p:par>
                            </p:childTnLst>
                          </p:cTn>
                        </p:par>
                        <p:par>
                          <p:cTn id="46" fill="hold">
                            <p:stCondLst>
                              <p:cond delay="15680"/>
                            </p:stCondLst>
                            <p:childTnLst>
                              <p:par>
                                <p:cTn id="47" presetID="49" presetClass="path" presetSubtype="0" accel="50000" decel="50000" fill="hold" grpId="0" nodeType="afterEffect">
                                  <p:stCondLst>
                                    <p:cond delay="1220"/>
                                  </p:stCondLst>
                                  <p:childTnLst>
                                    <p:animMotion origin="layout" path="M 0 0 L 0.25 0.25 E" pathEditMode="relative" ptsTypes="">
                                      <p:cBhvr>
                                        <p:cTn id="48" dur="500" fill="hold"/>
                                        <p:tgtEl>
                                          <p:spTgt spid="2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1" grpId="0"/>
      <p:bldP spid="12" grpId="0"/>
      <p:bldP spid="14" grpId="0"/>
      <p:bldP spid="15" grpId="0"/>
      <p:bldP spid="17" grpId="0"/>
      <p:bldP spid="18" grpId="0"/>
      <p:bldP spid="20" grpId="0"/>
      <p:bldP spid="21" grpId="0"/>
      <p:bldP spid="23" grpId="0"/>
      <p:bldP spid="24" grpId="0"/>
      <p:bldP spid="26" grpId="0"/>
      <p:bldP spid="2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A9DA2B-C15E-C359-0E57-1D82B4372ACE}"/>
              </a:ext>
            </a:extLst>
          </p:cNvPr>
          <p:cNvSpPr/>
          <p:nvPr/>
        </p:nvSpPr>
        <p:spPr>
          <a:xfrm>
            <a:off x="0" y="0"/>
            <a:ext cx="9144000" cy="51435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FCCF162E-8FC8-C299-3178-2F0C3398CD55}"/>
              </a:ext>
            </a:extLst>
          </p:cNvPr>
          <p:cNvSpPr/>
          <p:nvPr/>
        </p:nvSpPr>
        <p:spPr>
          <a:xfrm>
            <a:off x="0" y="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A1F09AEB-54EC-12C1-33FE-BC957D8253EE}"/>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2A3ED39B-63D0-7028-B981-57937A4F58A9}"/>
              </a:ext>
            </a:extLst>
          </p:cNvPr>
          <p:cNvSpPr txBox="1"/>
          <p:nvPr/>
        </p:nvSpPr>
        <p:spPr>
          <a:xfrm>
            <a:off x="787400" y="609600"/>
            <a:ext cx="1016000" cy="369332"/>
          </a:xfrm>
          <a:prstGeom prst="rect">
            <a:avLst/>
          </a:prstGeom>
          <a:noFill/>
        </p:spPr>
        <p:txBody>
          <a:bodyPr vert="horz" wrap="square" rtlCol="0">
            <a:noAutofit/>
          </a:bodyPr>
          <a:lstStyle/>
          <a:p>
            <a:r>
              <a:rPr lang="en-IN" sz="4200" b="1">
                <a:solidFill>
                  <a:srgbClr val="C9A84C"/>
                </a:solidFill>
                <a:latin typeface="Calibri" panose="020F0502020204030204" pitchFamily="34" charset="0"/>
              </a:rPr>
              <a:t>01</a:t>
            </a:r>
          </a:p>
        </p:txBody>
      </p:sp>
      <p:sp>
        <p:nvSpPr>
          <p:cNvPr id="6" name="TextBox 5">
            <a:extLst>
              <a:ext uri="{FF2B5EF4-FFF2-40B4-BE49-F238E27FC236}">
                <a16:creationId xmlns:a16="http://schemas.microsoft.com/office/drawing/2014/main" id="{C6661477-94A5-EBAB-E011-1DBD84A045A3}"/>
              </a:ext>
            </a:extLst>
          </p:cNvPr>
          <p:cNvSpPr txBox="1"/>
          <p:nvPr/>
        </p:nvSpPr>
        <p:spPr>
          <a:xfrm>
            <a:off x="787400" y="1371600"/>
            <a:ext cx="7569200" cy="369332"/>
          </a:xfrm>
          <a:prstGeom prst="rect">
            <a:avLst/>
          </a:prstGeom>
          <a:noFill/>
        </p:spPr>
        <p:txBody>
          <a:bodyPr vert="horz" wrap="square" rtlCol="0">
            <a:noAutofit/>
          </a:bodyPr>
          <a:lstStyle/>
          <a:p>
            <a:pPr algn="ctr"/>
            <a:r>
              <a:rPr lang="en-IN" sz="2800" b="1">
                <a:solidFill>
                  <a:srgbClr val="FFFFFF"/>
                </a:solidFill>
                <a:latin typeface="Calibri" panose="020F0502020204030204" pitchFamily="34" charset="0"/>
              </a:rPr>
              <a:t>DIGITAL PROJECTION RADIOGRAPHY</a:t>
            </a:r>
          </a:p>
        </p:txBody>
      </p:sp>
      <p:sp>
        <p:nvSpPr>
          <p:cNvPr id="7" name="Rectangle 6">
            <a:extLst>
              <a:ext uri="{FF2B5EF4-FFF2-40B4-BE49-F238E27FC236}">
                <a16:creationId xmlns:a16="http://schemas.microsoft.com/office/drawing/2014/main" id="{64CD639B-4AB3-19F7-561E-D249DF6D0B69}"/>
              </a:ext>
            </a:extLst>
          </p:cNvPr>
          <p:cNvSpPr/>
          <p:nvPr/>
        </p:nvSpPr>
        <p:spPr>
          <a:xfrm>
            <a:off x="1524000" y="2006600"/>
            <a:ext cx="6096000" cy="254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C2E60F2F-D911-ACB6-673D-97F91B7B57F2}"/>
              </a:ext>
            </a:extLst>
          </p:cNvPr>
          <p:cNvSpPr/>
          <p:nvPr/>
        </p:nvSpPr>
        <p:spPr>
          <a:xfrm>
            <a:off x="1143000" y="2184400"/>
            <a:ext cx="3048000" cy="1473200"/>
          </a:xfrm>
          <a:prstGeom prst="rect">
            <a:avLst/>
          </a:prstGeom>
          <a:solidFill>
            <a:srgbClr val="142D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E82D1E4-8AB6-ECFD-6DFE-47F0028115B2}"/>
              </a:ext>
            </a:extLst>
          </p:cNvPr>
          <p:cNvSpPr txBox="1"/>
          <p:nvPr/>
        </p:nvSpPr>
        <p:spPr>
          <a:xfrm>
            <a:off x="1143000" y="2235200"/>
            <a:ext cx="3048000" cy="369332"/>
          </a:xfrm>
          <a:prstGeom prst="rect">
            <a:avLst/>
          </a:prstGeom>
          <a:noFill/>
        </p:spPr>
        <p:txBody>
          <a:bodyPr vert="horz" wrap="square" rtlCol="0">
            <a:noAutofit/>
          </a:bodyPr>
          <a:lstStyle/>
          <a:p>
            <a:pPr algn="ctr"/>
            <a:r>
              <a:rPr lang="en-IN" sz="1300" b="1">
                <a:solidFill>
                  <a:srgbClr val="C9A84C"/>
                </a:solidFill>
                <a:latin typeface="Calibri" panose="020F0502020204030204" pitchFamily="34" charset="0"/>
              </a:rPr>
              <a:t>Computed Radiography (CR)</a:t>
            </a:r>
          </a:p>
        </p:txBody>
      </p:sp>
      <p:sp>
        <p:nvSpPr>
          <p:cNvPr id="10" name="TextBox 9">
            <a:extLst>
              <a:ext uri="{FF2B5EF4-FFF2-40B4-BE49-F238E27FC236}">
                <a16:creationId xmlns:a16="http://schemas.microsoft.com/office/drawing/2014/main" id="{045B2137-91C3-A4B0-0CFD-8B5792AD7053}"/>
              </a:ext>
            </a:extLst>
          </p:cNvPr>
          <p:cNvSpPr txBox="1"/>
          <p:nvPr/>
        </p:nvSpPr>
        <p:spPr>
          <a:xfrm>
            <a:off x="1244600" y="2717800"/>
            <a:ext cx="2844800" cy="369332"/>
          </a:xfrm>
          <a:prstGeom prst="rect">
            <a:avLst/>
          </a:prstGeom>
          <a:noFill/>
        </p:spPr>
        <p:txBody>
          <a:bodyPr vert="horz" wrap="square" rtlCol="0">
            <a:noAutofit/>
          </a:bodyPr>
          <a:lstStyle/>
          <a:p>
            <a:pPr algn="ctr"/>
            <a:r>
              <a:rPr lang="en-IN" sz="1100">
                <a:solidFill>
                  <a:srgbClr val="E8D5A3"/>
                </a:solidFill>
                <a:latin typeface="Calibri Light" panose="020F0302020204030204" pitchFamily="34" charset="0"/>
              </a:rPr>
              <a:t>PSP plate | Cassette-based | Requires plate reader</a:t>
            </a:r>
          </a:p>
        </p:txBody>
      </p:sp>
      <p:sp>
        <p:nvSpPr>
          <p:cNvPr id="11" name="Rectangle 10">
            <a:extLst>
              <a:ext uri="{FF2B5EF4-FFF2-40B4-BE49-F238E27FC236}">
                <a16:creationId xmlns:a16="http://schemas.microsoft.com/office/drawing/2014/main" id="{9825AEE4-3A49-A5B3-F922-A69C34778FE5}"/>
              </a:ext>
            </a:extLst>
          </p:cNvPr>
          <p:cNvSpPr/>
          <p:nvPr/>
        </p:nvSpPr>
        <p:spPr>
          <a:xfrm>
            <a:off x="4953000" y="2184400"/>
            <a:ext cx="3048000" cy="1473200"/>
          </a:xfrm>
          <a:prstGeom prst="rect">
            <a:avLst/>
          </a:prstGeom>
          <a:solidFill>
            <a:srgbClr val="142D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23D2839F-8971-1D97-C70B-34447E2D9A48}"/>
              </a:ext>
            </a:extLst>
          </p:cNvPr>
          <p:cNvSpPr txBox="1"/>
          <p:nvPr/>
        </p:nvSpPr>
        <p:spPr>
          <a:xfrm>
            <a:off x="4953000" y="2235200"/>
            <a:ext cx="3048000" cy="369332"/>
          </a:xfrm>
          <a:prstGeom prst="rect">
            <a:avLst/>
          </a:prstGeom>
          <a:noFill/>
        </p:spPr>
        <p:txBody>
          <a:bodyPr vert="horz" wrap="square" rtlCol="0">
            <a:noAutofit/>
          </a:bodyPr>
          <a:lstStyle/>
          <a:p>
            <a:pPr algn="ctr"/>
            <a:r>
              <a:rPr lang="en-IN" sz="1300" b="1">
                <a:solidFill>
                  <a:srgbClr val="C9A84C"/>
                </a:solidFill>
                <a:latin typeface="Calibri" panose="020F0502020204030204" pitchFamily="34" charset="0"/>
              </a:rPr>
              <a:t>Digital Radiography (DR)</a:t>
            </a:r>
          </a:p>
        </p:txBody>
      </p:sp>
      <p:sp>
        <p:nvSpPr>
          <p:cNvPr id="13" name="TextBox 12">
            <a:extLst>
              <a:ext uri="{FF2B5EF4-FFF2-40B4-BE49-F238E27FC236}">
                <a16:creationId xmlns:a16="http://schemas.microsoft.com/office/drawing/2014/main" id="{378C4854-24AE-EC04-0AAA-BD2A770879EB}"/>
              </a:ext>
            </a:extLst>
          </p:cNvPr>
          <p:cNvSpPr txBox="1"/>
          <p:nvPr/>
        </p:nvSpPr>
        <p:spPr>
          <a:xfrm>
            <a:off x="5054600" y="2717800"/>
            <a:ext cx="2844800" cy="369332"/>
          </a:xfrm>
          <a:prstGeom prst="rect">
            <a:avLst/>
          </a:prstGeom>
          <a:noFill/>
        </p:spPr>
        <p:txBody>
          <a:bodyPr vert="horz" wrap="square" rtlCol="0">
            <a:noAutofit/>
          </a:bodyPr>
          <a:lstStyle/>
          <a:p>
            <a:pPr algn="ctr"/>
            <a:r>
              <a:rPr lang="en-US" sz="1100">
                <a:solidFill>
                  <a:srgbClr val="E8D5A3"/>
                </a:solidFill>
                <a:latin typeface="Calibri Light" panose="020F0302020204030204" pitchFamily="34" charset="0"/>
              </a:rPr>
              <a:t>FPD or CCD | Direct capture | Instant display</a:t>
            </a:r>
            <a:endParaRPr lang="en-IN" sz="1100">
              <a:solidFill>
                <a:srgbClr val="E8D5A3"/>
              </a:solidFill>
              <a:latin typeface="Calibri Light" panose="020F0302020204030204" pitchFamily="34" charset="0"/>
            </a:endParaRPr>
          </a:p>
        </p:txBody>
      </p:sp>
    </p:spTree>
    <p:extLst>
      <p:ext uri="{BB962C8B-B14F-4D97-AF65-F5344CB8AC3E}">
        <p14:creationId xmlns:p14="http://schemas.microsoft.com/office/powerpoint/2010/main" val="1249065664"/>
      </p:ext>
    </p:extLst>
  </p:cSld>
  <p:clrMapOvr>
    <a:masterClrMapping/>
  </p:clrMapOvr>
  <p:transition spd="med">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par>
                          <p:cTn id="8" fill="hold">
                            <p:stCondLst>
                              <p:cond delay="550"/>
                            </p:stCondLst>
                            <p:childTnLst>
                              <p:par>
                                <p:cTn id="9" presetID="10" presetClass="entr" presetSubtype="0" fill="hold" grpId="0" nodeType="afterEffect">
                                  <p:stCondLst>
                                    <p:cond delay="2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50"/>
                                        <p:tgtEl>
                                          <p:spTgt spid="6"/>
                                        </p:tgtEl>
                                      </p:cBhvr>
                                    </p:animEffect>
                                  </p:childTnLst>
                                </p:cTn>
                              </p:par>
                            </p:childTnLst>
                          </p:cTn>
                        </p:par>
                        <p:par>
                          <p:cTn id="12" fill="hold">
                            <p:stCondLst>
                              <p:cond delay="1200"/>
                            </p:stCondLst>
                            <p:childTnLst>
                              <p:par>
                                <p:cTn id="13" presetID="10" presetClass="entr" presetSubtype="0" fill="hold" grpId="0" nodeType="afterEffect">
                                  <p:stCondLst>
                                    <p:cond delay="30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50"/>
                                        <p:tgtEl>
                                          <p:spTgt spid="9"/>
                                        </p:tgtEl>
                                      </p:cBhvr>
                                    </p:animEffect>
                                  </p:childTnLst>
                                </p:cTn>
                              </p:par>
                            </p:childTnLst>
                          </p:cTn>
                        </p:par>
                        <p:par>
                          <p:cTn id="16" fill="hold">
                            <p:stCondLst>
                              <p:cond delay="1950"/>
                            </p:stCondLst>
                            <p:childTnLst>
                              <p:par>
                                <p:cTn id="17" presetID="10" presetClass="entr" presetSubtype="0" fill="hold" grpId="0" nodeType="afterEffect">
                                  <p:stCondLst>
                                    <p:cond delay="4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50"/>
                                        <p:tgtEl>
                                          <p:spTgt spid="10"/>
                                        </p:tgtEl>
                                      </p:cBhvr>
                                    </p:animEffect>
                                  </p:childTnLst>
                                </p:cTn>
                              </p:par>
                            </p:childTnLst>
                          </p:cTn>
                        </p:par>
                        <p:par>
                          <p:cTn id="20" fill="hold">
                            <p:stCondLst>
                              <p:cond delay="2800"/>
                            </p:stCondLst>
                            <p:childTnLst>
                              <p:par>
                                <p:cTn id="21" presetID="10" presetClass="entr" presetSubtype="0" fill="hold" grpId="0" nodeType="afterEffect">
                                  <p:stCondLst>
                                    <p:cond delay="5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par>
                          <p:cTn id="24" fill="hold">
                            <p:stCondLst>
                              <p:cond delay="3750"/>
                            </p:stCondLst>
                            <p:childTnLst>
                              <p:par>
                                <p:cTn id="25" presetID="10" presetClass="entr" presetSubtype="0" fill="hold" grpId="0" nodeType="afterEffect">
                                  <p:stCondLst>
                                    <p:cond delay="60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p:bldP spid="10" grpId="0"/>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F88A4C-6FD4-DA71-D34B-50AA61B1A28D}"/>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57BEA4C6-ED6B-990C-CEF3-E570D3BB2D4B}"/>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DD552FFF-D079-22F3-F943-6CFB57D719ED}"/>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0DE4B9F-618A-F156-8DC4-4FC2E4B97068}"/>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34D0BCC-E5AD-863C-270D-9A77BBE7BCD9}"/>
              </a:ext>
            </a:extLst>
          </p:cNvPr>
          <p:cNvSpPr txBox="1"/>
          <p:nvPr/>
        </p:nvSpPr>
        <p:spPr>
          <a:xfrm>
            <a:off x="228600" y="152400"/>
            <a:ext cx="8686800" cy="369332"/>
          </a:xfrm>
          <a:prstGeom prst="rect">
            <a:avLst/>
          </a:prstGeom>
          <a:noFill/>
        </p:spPr>
        <p:txBody>
          <a:bodyPr vert="horz" wrap="square" rtlCol="0">
            <a:noAutofit/>
          </a:bodyPr>
          <a:lstStyle/>
          <a:p>
            <a:r>
              <a:rPr lang="en-US" sz="2200" b="1">
                <a:solidFill>
                  <a:srgbClr val="FFFFFF"/>
                </a:solidFill>
                <a:latin typeface="Calibri" panose="020F0502020204030204" pitchFamily="34" charset="0"/>
              </a:rPr>
              <a:t>Computed Radiography (CR) -- History and Overview</a:t>
            </a:r>
            <a:endParaRPr lang="en-IN" sz="2200" b="1">
              <a:solidFill>
                <a:srgbClr val="FFFFFF"/>
              </a:solidFill>
              <a:latin typeface="Calibri" panose="020F0502020204030204" pitchFamily="34" charset="0"/>
            </a:endParaRPr>
          </a:p>
        </p:txBody>
      </p:sp>
      <p:sp>
        <p:nvSpPr>
          <p:cNvPr id="7" name="TextBox 6">
            <a:extLst>
              <a:ext uri="{FF2B5EF4-FFF2-40B4-BE49-F238E27FC236}">
                <a16:creationId xmlns:a16="http://schemas.microsoft.com/office/drawing/2014/main" id="{97541B5D-0413-CE27-45A9-26594A386058}"/>
              </a:ext>
            </a:extLst>
          </p:cNvPr>
          <p:cNvSpPr txBox="1"/>
          <p:nvPr/>
        </p:nvSpPr>
        <p:spPr>
          <a:xfrm>
            <a:off x="609600" y="939800"/>
            <a:ext cx="8051800" cy="369332"/>
          </a:xfrm>
          <a:prstGeom prst="rect">
            <a:avLst/>
          </a:prstGeom>
          <a:noFill/>
        </p:spPr>
        <p:txBody>
          <a:bodyPr vert="horz" wrap="square" rtlCol="0">
            <a:noAutofit/>
          </a:bodyPr>
          <a:lstStyle/>
          <a:p>
            <a:r>
              <a:rPr lang="en-US" sz="1400">
                <a:solidFill>
                  <a:srgbClr val="1E293B"/>
                </a:solidFill>
                <a:latin typeface="Calibri" panose="020F0502020204030204" pitchFamily="34" charset="0"/>
              </a:rPr>
              <a:t>•  Introduced in 1980-81 by Fuji Photo Film -- a landmark in digital diagnostic imaging
•  Uses the same conventional X-ray equipment -- no hardware replacement required
•  Replaces radiographic film with a Photostimulable Phosphor (PSP) imaging plate
•  Requires a dedicated cassette reader (plate digitizer) for image processing
•  Cassette design is nearly identical to conventional radiographic cassettes
•  Processing time is comparable to conventional film-screen systems
•  Slightly higher radiation exposure than standard film-screen systems</a:t>
            </a:r>
            <a:endParaRPr lang="en-IN" sz="1400">
              <a:solidFill>
                <a:srgbClr val="1E293B"/>
              </a:solidFill>
              <a:latin typeface="Calibri" panose="020F0502020204030204" pitchFamily="34" charset="0"/>
            </a:endParaRPr>
          </a:p>
        </p:txBody>
      </p:sp>
    </p:spTree>
    <p:extLst>
      <p:ext uri="{BB962C8B-B14F-4D97-AF65-F5344CB8AC3E}">
        <p14:creationId xmlns:p14="http://schemas.microsoft.com/office/powerpoint/2010/main" val="4189576991"/>
      </p:ext>
    </p:extLst>
  </p:cSld>
  <p:clrMapOvr>
    <a:masterClrMapping/>
  </p:clrMapOvr>
  <p:transition spd="med">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childTnLst>
                          </p:cTn>
                        </p:par>
                        <p:par>
                          <p:cTn id="8" fill="hold">
                            <p:stCondLst>
                              <p:cond delay="550"/>
                            </p:stCondLst>
                            <p:childTnLst>
                              <p:par>
                                <p:cTn id="9" presetID="10" presetClass="entr" presetSubtype="0" fill="hold" grpId="0" nodeType="afterEffect">
                                  <p:stCondLst>
                                    <p:cond delay="18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ED6DDB-0A9A-246A-DEB9-F62A4155604D}"/>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3CE70610-6567-D8CA-52DC-6629D841C060}"/>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1E6B934D-D0F9-E496-B9CB-F52A2F6B5EE5}"/>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35A727C8-6FE9-41EC-9564-13E6FA002419}"/>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ED0002C2-9CB9-30B4-00B7-DC6DB7B989E3}"/>
              </a:ext>
            </a:extLst>
          </p:cNvPr>
          <p:cNvSpPr txBox="1"/>
          <p:nvPr/>
        </p:nvSpPr>
        <p:spPr>
          <a:xfrm>
            <a:off x="228600" y="152400"/>
            <a:ext cx="8686800" cy="369332"/>
          </a:xfrm>
          <a:prstGeom prst="rect">
            <a:avLst/>
          </a:prstGeom>
          <a:noFill/>
        </p:spPr>
        <p:txBody>
          <a:bodyPr vert="horz" wrap="square" rtlCol="0">
            <a:noAutofit/>
          </a:bodyPr>
          <a:lstStyle/>
          <a:p>
            <a:r>
              <a:rPr lang="en-IN" sz="2200" b="1">
                <a:solidFill>
                  <a:srgbClr val="FFFFFF"/>
                </a:solidFill>
                <a:latin typeface="Calibri" panose="020F0502020204030204" pitchFamily="34" charset="0"/>
              </a:rPr>
              <a:t>CR Cassette Construction</a:t>
            </a:r>
          </a:p>
        </p:txBody>
      </p:sp>
      <p:sp>
        <p:nvSpPr>
          <p:cNvPr id="7" name="Rectangle 6">
            <a:extLst>
              <a:ext uri="{FF2B5EF4-FFF2-40B4-BE49-F238E27FC236}">
                <a16:creationId xmlns:a16="http://schemas.microsoft.com/office/drawing/2014/main" id="{35E02218-C2C5-8286-FAB1-95A6DE81E54D}"/>
              </a:ext>
            </a:extLst>
          </p:cNvPr>
          <p:cNvSpPr/>
          <p:nvPr/>
        </p:nvSpPr>
        <p:spPr>
          <a:xfrm>
            <a:off x="355600" y="889000"/>
            <a:ext cx="4140200" cy="41148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E56FD88B-BF1D-5C1C-0EEC-C233D7A6D66A}"/>
              </a:ext>
            </a:extLst>
          </p:cNvPr>
          <p:cNvSpPr/>
          <p:nvPr/>
        </p:nvSpPr>
        <p:spPr>
          <a:xfrm>
            <a:off x="355600" y="889000"/>
            <a:ext cx="4140200" cy="406400"/>
          </a:xfrm>
          <a:prstGeom prst="rect">
            <a:avLst/>
          </a:prstGeom>
          <a:solidFill>
            <a:srgbClr val="142D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583DA7D5-6939-29D3-18FA-891BE1C04EA5}"/>
              </a:ext>
            </a:extLst>
          </p:cNvPr>
          <p:cNvSpPr txBox="1"/>
          <p:nvPr/>
        </p:nvSpPr>
        <p:spPr>
          <a:xfrm>
            <a:off x="431800" y="901700"/>
            <a:ext cx="3987800" cy="381000"/>
          </a:xfrm>
          <a:prstGeom prst="rect">
            <a:avLst/>
          </a:prstGeom>
          <a:noFill/>
        </p:spPr>
        <p:txBody>
          <a:bodyPr vert="horz" wrap="square" rtlCol="0">
            <a:noAutofit/>
          </a:bodyPr>
          <a:lstStyle/>
          <a:p>
            <a:r>
              <a:rPr lang="en-IN" sz="1100" b="1">
                <a:solidFill>
                  <a:srgbClr val="C9A84C"/>
                </a:solidFill>
                <a:latin typeface="Calibri" panose="020F0502020204030204" pitchFamily="34" charset="0"/>
              </a:rPr>
              <a:t>HOUSING AND FRONT PANEL</a:t>
            </a:r>
          </a:p>
        </p:txBody>
      </p:sp>
      <p:sp>
        <p:nvSpPr>
          <p:cNvPr id="10" name="TextBox 9">
            <a:extLst>
              <a:ext uri="{FF2B5EF4-FFF2-40B4-BE49-F238E27FC236}">
                <a16:creationId xmlns:a16="http://schemas.microsoft.com/office/drawing/2014/main" id="{B0BD4B19-2FC0-238D-A79B-BFBF293CE1F6}"/>
              </a:ext>
            </a:extLst>
          </p:cNvPr>
          <p:cNvSpPr txBox="1"/>
          <p:nvPr/>
        </p:nvSpPr>
        <p:spPr>
          <a:xfrm>
            <a:off x="457200" y="1346200"/>
            <a:ext cx="3886200" cy="369332"/>
          </a:xfrm>
          <a:prstGeom prst="rect">
            <a:avLst/>
          </a:prstGeom>
          <a:noFill/>
        </p:spPr>
        <p:txBody>
          <a:bodyPr vert="horz" wrap="square" rtlCol="0">
            <a:noAutofit/>
          </a:bodyPr>
          <a:lstStyle/>
          <a:p>
            <a:r>
              <a:rPr lang="en-IN" sz="1300">
                <a:solidFill>
                  <a:srgbClr val="1E293B"/>
                </a:solidFill>
                <a:latin typeface="Calibri" panose="020F0502020204030204" pitchFamily="34" charset="0"/>
              </a:rPr>
              <a:t>Materials:
•  Lightweight aluminium
•  Plastic casing
•  Steel frame
Front Panel:
•  Low attenuation carbon fibre
•  Minimises beam attenuation
•  Comparable to conventional cassette</a:t>
            </a:r>
          </a:p>
        </p:txBody>
      </p:sp>
      <p:sp>
        <p:nvSpPr>
          <p:cNvPr id="11" name="Rectangle 10">
            <a:extLst>
              <a:ext uri="{FF2B5EF4-FFF2-40B4-BE49-F238E27FC236}">
                <a16:creationId xmlns:a16="http://schemas.microsoft.com/office/drawing/2014/main" id="{03F53322-12C2-CD78-BD35-0E146B357CF2}"/>
              </a:ext>
            </a:extLst>
          </p:cNvPr>
          <p:cNvSpPr/>
          <p:nvPr/>
        </p:nvSpPr>
        <p:spPr>
          <a:xfrm>
            <a:off x="4546600" y="889000"/>
            <a:ext cx="50800" cy="41148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1E042193-F8A1-FF0E-9325-8665E3E11FC7}"/>
              </a:ext>
            </a:extLst>
          </p:cNvPr>
          <p:cNvSpPr/>
          <p:nvPr/>
        </p:nvSpPr>
        <p:spPr>
          <a:xfrm>
            <a:off x="4622800" y="889000"/>
            <a:ext cx="4165600" cy="41148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6A003E92-F10F-BEB8-A558-17246C73147A}"/>
              </a:ext>
            </a:extLst>
          </p:cNvPr>
          <p:cNvSpPr/>
          <p:nvPr/>
        </p:nvSpPr>
        <p:spPr>
          <a:xfrm>
            <a:off x="4622800" y="889000"/>
            <a:ext cx="4165600" cy="406400"/>
          </a:xfrm>
          <a:prstGeom prst="rect">
            <a:avLst/>
          </a:prstGeom>
          <a:solidFill>
            <a:srgbClr val="142D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B1EEF221-7E62-287B-0929-744D14376B0B}"/>
              </a:ext>
            </a:extLst>
          </p:cNvPr>
          <p:cNvSpPr txBox="1"/>
          <p:nvPr/>
        </p:nvSpPr>
        <p:spPr>
          <a:xfrm>
            <a:off x="4699000" y="901700"/>
            <a:ext cx="4013200" cy="381000"/>
          </a:xfrm>
          <a:prstGeom prst="rect">
            <a:avLst/>
          </a:prstGeom>
          <a:noFill/>
        </p:spPr>
        <p:txBody>
          <a:bodyPr vert="horz" wrap="square" rtlCol="0">
            <a:noAutofit/>
          </a:bodyPr>
          <a:lstStyle/>
          <a:p>
            <a:r>
              <a:rPr lang="en-IN" sz="1100" b="1">
                <a:solidFill>
                  <a:srgbClr val="C9A84C"/>
                </a:solidFill>
                <a:latin typeface="Calibri" panose="020F0502020204030204" pitchFamily="34" charset="0"/>
              </a:rPr>
              <a:t>BACK PANEL AND CHIP</a:t>
            </a:r>
          </a:p>
        </p:txBody>
      </p:sp>
      <p:sp>
        <p:nvSpPr>
          <p:cNvPr id="15" name="TextBox 14">
            <a:extLst>
              <a:ext uri="{FF2B5EF4-FFF2-40B4-BE49-F238E27FC236}">
                <a16:creationId xmlns:a16="http://schemas.microsoft.com/office/drawing/2014/main" id="{DA0A32C1-125A-EBC6-2609-38596BABBA0D}"/>
              </a:ext>
            </a:extLst>
          </p:cNvPr>
          <p:cNvSpPr txBox="1"/>
          <p:nvPr/>
        </p:nvSpPr>
        <p:spPr>
          <a:xfrm>
            <a:off x="4724400" y="1346200"/>
            <a:ext cx="3962400" cy="369332"/>
          </a:xfrm>
          <a:prstGeom prst="rect">
            <a:avLst/>
          </a:prstGeom>
          <a:noFill/>
        </p:spPr>
        <p:txBody>
          <a:bodyPr vert="horz" wrap="square" rtlCol="0">
            <a:noAutofit/>
          </a:bodyPr>
          <a:lstStyle/>
          <a:p>
            <a:r>
              <a:rPr lang="en-IN" sz="1300">
                <a:solidFill>
                  <a:srgbClr val="1E293B"/>
                </a:solidFill>
                <a:latin typeface="Calibri" panose="020F0502020204030204" pitchFamily="34" charset="0"/>
              </a:rPr>
              <a:t>Back Panel:
•  Lead foil lining
•  Shields PSP from backscatter radiation
Embedded Chip:
•  Stores patient demographic data
•  Auto image-to-patient matching
•  Ergonomic design for daily use</a:t>
            </a:r>
          </a:p>
        </p:txBody>
      </p:sp>
    </p:spTree>
    <p:extLst>
      <p:ext uri="{BB962C8B-B14F-4D97-AF65-F5344CB8AC3E}">
        <p14:creationId xmlns:p14="http://schemas.microsoft.com/office/powerpoint/2010/main" val="2402535732"/>
      </p:ext>
    </p:extLst>
  </p:cSld>
  <p:clrMapOvr>
    <a:masterClrMapping/>
  </p:clrMapOvr>
  <p:transition spd="med">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childTnLst>
                          </p:cTn>
                        </p:par>
                        <p:par>
                          <p:cTn id="8" fill="hold">
                            <p:stCondLst>
                              <p:cond delay="550"/>
                            </p:stCondLst>
                            <p:childTnLst>
                              <p:par>
                                <p:cTn id="9" presetID="10" presetClass="entr" presetSubtype="0" fill="hold" grpId="0" nodeType="afterEffect">
                                  <p:stCondLst>
                                    <p:cond delay="17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50"/>
                                        <p:tgtEl>
                                          <p:spTgt spid="9"/>
                                        </p:tgtEl>
                                      </p:cBhvr>
                                    </p:animEffect>
                                  </p:childTnLst>
                                </p:cTn>
                              </p:par>
                            </p:childTnLst>
                          </p:cTn>
                        </p:par>
                        <p:par>
                          <p:cTn id="12" fill="hold">
                            <p:stCondLst>
                              <p:cond delay="1170"/>
                            </p:stCondLst>
                            <p:childTnLst>
                              <p:par>
                                <p:cTn id="13" presetID="10" presetClass="entr" presetSubtype="0" fill="hold" grpId="0" nodeType="afterEffect">
                                  <p:stCondLst>
                                    <p:cond delay="24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childTnLst>
                          </p:cTn>
                        </p:par>
                        <p:par>
                          <p:cTn id="16" fill="hold">
                            <p:stCondLst>
                              <p:cond delay="1860"/>
                            </p:stCondLst>
                            <p:childTnLst>
                              <p:par>
                                <p:cTn id="17" presetID="10" presetClass="entr" presetSubtype="0" fill="hold" grpId="0" nodeType="afterEffect">
                                  <p:stCondLst>
                                    <p:cond delay="31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childTnLst>
                          </p:cTn>
                        </p:par>
                        <p:par>
                          <p:cTn id="20" fill="hold">
                            <p:stCondLst>
                              <p:cond delay="2620"/>
                            </p:stCondLst>
                            <p:childTnLst>
                              <p:par>
                                <p:cTn id="21" presetID="10" presetClass="entr" presetSubtype="0" fill="hold" grpId="0" nodeType="afterEffect">
                                  <p:stCondLst>
                                    <p:cond delay="38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0C47D10-BC0A-571A-69CB-E87E99827006}"/>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63EDB3BB-EBE9-F1A3-9D08-ECAA7E9D6B88}"/>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9448B3E6-53C2-E445-CA96-0640312F25CA}"/>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7F31B7A9-E069-752A-62EC-E6621CC956E5}"/>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BA34556-AD82-E675-3C3C-072F655F3462}"/>
              </a:ext>
            </a:extLst>
          </p:cNvPr>
          <p:cNvSpPr txBox="1"/>
          <p:nvPr/>
        </p:nvSpPr>
        <p:spPr>
          <a:xfrm>
            <a:off x="228600" y="152400"/>
            <a:ext cx="8686800" cy="369332"/>
          </a:xfrm>
          <a:prstGeom prst="rect">
            <a:avLst/>
          </a:prstGeom>
          <a:noFill/>
        </p:spPr>
        <p:txBody>
          <a:bodyPr vert="horz" wrap="square" rtlCol="0">
            <a:noAutofit/>
          </a:bodyPr>
          <a:lstStyle/>
          <a:p>
            <a:r>
              <a:rPr lang="en-US" sz="2200" b="1">
                <a:solidFill>
                  <a:srgbClr val="FFFFFF"/>
                </a:solidFill>
                <a:latin typeface="Calibri" panose="020F0502020204030204" pitchFamily="34" charset="0"/>
              </a:rPr>
              <a:t>Cross-Section of the CR Imaging Plate</a:t>
            </a:r>
            <a:endParaRPr lang="en-IN" sz="2200" b="1">
              <a:solidFill>
                <a:srgbClr val="FFFFFF"/>
              </a:solidFill>
              <a:latin typeface="Calibri" panose="020F0502020204030204" pitchFamily="34" charset="0"/>
            </a:endParaRPr>
          </a:p>
        </p:txBody>
      </p:sp>
      <p:sp>
        <p:nvSpPr>
          <p:cNvPr id="7" name="Rectangle 6">
            <a:extLst>
              <a:ext uri="{FF2B5EF4-FFF2-40B4-BE49-F238E27FC236}">
                <a16:creationId xmlns:a16="http://schemas.microsoft.com/office/drawing/2014/main" id="{8684FA67-6B84-A262-DA6F-DFA6373E680A}"/>
              </a:ext>
            </a:extLst>
          </p:cNvPr>
          <p:cNvSpPr/>
          <p:nvPr/>
        </p:nvSpPr>
        <p:spPr>
          <a:xfrm>
            <a:off x="584200" y="914400"/>
            <a:ext cx="3632200" cy="635000"/>
          </a:xfrm>
          <a:prstGeom prst="rect">
            <a:avLst/>
          </a:prstGeom>
          <a:solidFill>
            <a:srgbClr val="0891D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334C8913-82F9-87A3-6A08-0FCBFDF1D60D}"/>
              </a:ext>
            </a:extLst>
          </p:cNvPr>
          <p:cNvSpPr txBox="1"/>
          <p:nvPr/>
        </p:nvSpPr>
        <p:spPr>
          <a:xfrm>
            <a:off x="635000" y="1092200"/>
            <a:ext cx="3530600" cy="369332"/>
          </a:xfrm>
          <a:prstGeom prst="rect">
            <a:avLst/>
          </a:prstGeom>
          <a:noFill/>
        </p:spPr>
        <p:txBody>
          <a:bodyPr vert="horz" wrap="square" rtlCol="0">
            <a:noAutofit/>
          </a:bodyPr>
          <a:lstStyle/>
          <a:p>
            <a:r>
              <a:rPr lang="en-IN" sz="1200" b="1">
                <a:solidFill>
                  <a:srgbClr val="FFFFFF"/>
                </a:solidFill>
                <a:latin typeface="Calibri" panose="020F0502020204030204" pitchFamily="34" charset="0"/>
              </a:rPr>
              <a:t>Anti-Halo and Reflective Layer</a:t>
            </a:r>
          </a:p>
        </p:txBody>
      </p:sp>
      <p:sp>
        <p:nvSpPr>
          <p:cNvPr id="9" name="Rectangle 8">
            <a:extLst>
              <a:ext uri="{FF2B5EF4-FFF2-40B4-BE49-F238E27FC236}">
                <a16:creationId xmlns:a16="http://schemas.microsoft.com/office/drawing/2014/main" id="{DFC8724C-7294-0658-FF10-233939EE0908}"/>
              </a:ext>
            </a:extLst>
          </p:cNvPr>
          <p:cNvSpPr/>
          <p:nvPr/>
        </p:nvSpPr>
        <p:spPr>
          <a:xfrm>
            <a:off x="4216400" y="1206500"/>
            <a:ext cx="279400" cy="254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02161DAC-12FE-B354-F279-20330AAE1E83}"/>
              </a:ext>
            </a:extLst>
          </p:cNvPr>
          <p:cNvSpPr txBox="1"/>
          <p:nvPr/>
        </p:nvSpPr>
        <p:spPr>
          <a:xfrm>
            <a:off x="4546600" y="1066800"/>
            <a:ext cx="4013200" cy="369332"/>
          </a:xfrm>
          <a:prstGeom prst="rect">
            <a:avLst/>
          </a:prstGeom>
          <a:noFill/>
        </p:spPr>
        <p:txBody>
          <a:bodyPr vert="horz" wrap="square" rtlCol="0">
            <a:noAutofit/>
          </a:bodyPr>
          <a:lstStyle/>
          <a:p>
            <a:r>
              <a:rPr lang="en-US" sz="1100">
                <a:solidFill>
                  <a:srgbClr val="1E293B"/>
                </a:solidFill>
                <a:latin typeface="Calibri" panose="020F0502020204030204" pitchFamily="34" charset="0"/>
              </a:rPr>
              <a:t>Prevents fogging; reflects stimulated light back to phosphor</a:t>
            </a:r>
            <a:endParaRPr lang="en-IN" sz="1100">
              <a:solidFill>
                <a:srgbClr val="1E293B"/>
              </a:solidFill>
              <a:latin typeface="Calibri" panose="020F0502020204030204" pitchFamily="34" charset="0"/>
            </a:endParaRPr>
          </a:p>
        </p:txBody>
      </p:sp>
      <p:sp>
        <p:nvSpPr>
          <p:cNvPr id="11" name="Rectangle 10">
            <a:extLst>
              <a:ext uri="{FF2B5EF4-FFF2-40B4-BE49-F238E27FC236}">
                <a16:creationId xmlns:a16="http://schemas.microsoft.com/office/drawing/2014/main" id="{EC58BAC4-7EAB-99C2-6E26-409E186A2D46}"/>
              </a:ext>
            </a:extLst>
          </p:cNvPr>
          <p:cNvSpPr/>
          <p:nvPr/>
        </p:nvSpPr>
        <p:spPr>
          <a:xfrm>
            <a:off x="584200" y="1600200"/>
            <a:ext cx="3632200" cy="635000"/>
          </a:xfrm>
          <a:prstGeom prst="rect">
            <a:avLst/>
          </a:prstGeom>
          <a:solidFill>
            <a:srgbClr val="00BC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65977DD4-125F-924C-A024-BA2F8FC9A8DF}"/>
              </a:ext>
            </a:extLst>
          </p:cNvPr>
          <p:cNvSpPr txBox="1"/>
          <p:nvPr/>
        </p:nvSpPr>
        <p:spPr>
          <a:xfrm>
            <a:off x="635000" y="1778000"/>
            <a:ext cx="3530600" cy="369332"/>
          </a:xfrm>
          <a:prstGeom prst="rect">
            <a:avLst/>
          </a:prstGeom>
          <a:noFill/>
        </p:spPr>
        <p:txBody>
          <a:bodyPr vert="horz" wrap="square" rtlCol="0">
            <a:noAutofit/>
          </a:bodyPr>
          <a:lstStyle/>
          <a:p>
            <a:r>
              <a:rPr lang="en-IN" sz="1200" b="1">
                <a:solidFill>
                  <a:srgbClr val="FFFFFF"/>
                </a:solidFill>
                <a:latin typeface="Calibri" panose="020F0502020204030204" pitchFamily="34" charset="0"/>
              </a:rPr>
              <a:t>Protective Layer</a:t>
            </a:r>
          </a:p>
        </p:txBody>
      </p:sp>
      <p:sp>
        <p:nvSpPr>
          <p:cNvPr id="13" name="Rectangle 12">
            <a:extLst>
              <a:ext uri="{FF2B5EF4-FFF2-40B4-BE49-F238E27FC236}">
                <a16:creationId xmlns:a16="http://schemas.microsoft.com/office/drawing/2014/main" id="{D75CADAB-7431-EEC4-ECEB-F21F78DC13BA}"/>
              </a:ext>
            </a:extLst>
          </p:cNvPr>
          <p:cNvSpPr/>
          <p:nvPr/>
        </p:nvSpPr>
        <p:spPr>
          <a:xfrm>
            <a:off x="4216400" y="1892300"/>
            <a:ext cx="279400" cy="254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73CC636E-1993-279E-7904-A6F64AE2C936}"/>
              </a:ext>
            </a:extLst>
          </p:cNvPr>
          <p:cNvSpPr txBox="1"/>
          <p:nvPr/>
        </p:nvSpPr>
        <p:spPr>
          <a:xfrm>
            <a:off x="4546600" y="1752600"/>
            <a:ext cx="4013200" cy="369332"/>
          </a:xfrm>
          <a:prstGeom prst="rect">
            <a:avLst/>
          </a:prstGeom>
          <a:noFill/>
        </p:spPr>
        <p:txBody>
          <a:bodyPr vert="horz" wrap="square" rtlCol="0">
            <a:noAutofit/>
          </a:bodyPr>
          <a:lstStyle/>
          <a:p>
            <a:r>
              <a:rPr lang="en-US" sz="1100">
                <a:solidFill>
                  <a:srgbClr val="1E293B"/>
                </a:solidFill>
                <a:latin typeface="Calibri" panose="020F0502020204030204" pitchFamily="34" charset="0"/>
              </a:rPr>
              <a:t>Guards phosphor from physical damage and contamination</a:t>
            </a:r>
            <a:endParaRPr lang="en-IN" sz="1100">
              <a:solidFill>
                <a:srgbClr val="1E293B"/>
              </a:solidFill>
              <a:latin typeface="Calibri" panose="020F0502020204030204" pitchFamily="34" charset="0"/>
            </a:endParaRPr>
          </a:p>
        </p:txBody>
      </p:sp>
      <p:sp>
        <p:nvSpPr>
          <p:cNvPr id="15" name="Rectangle 14">
            <a:extLst>
              <a:ext uri="{FF2B5EF4-FFF2-40B4-BE49-F238E27FC236}">
                <a16:creationId xmlns:a16="http://schemas.microsoft.com/office/drawing/2014/main" id="{0D8EF4B8-B845-E898-7D4E-AD912563F37D}"/>
              </a:ext>
            </a:extLst>
          </p:cNvPr>
          <p:cNvSpPr/>
          <p:nvPr/>
        </p:nvSpPr>
        <p:spPr>
          <a:xfrm>
            <a:off x="584200" y="2286000"/>
            <a:ext cx="3632200" cy="6350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D7C67950-F247-93B1-4615-94CA4BEAB92D}"/>
              </a:ext>
            </a:extLst>
          </p:cNvPr>
          <p:cNvSpPr txBox="1"/>
          <p:nvPr/>
        </p:nvSpPr>
        <p:spPr>
          <a:xfrm>
            <a:off x="635000" y="2463800"/>
            <a:ext cx="3530600" cy="369332"/>
          </a:xfrm>
          <a:prstGeom prst="rect">
            <a:avLst/>
          </a:prstGeom>
          <a:noFill/>
        </p:spPr>
        <p:txBody>
          <a:bodyPr vert="horz" wrap="square" rtlCol="0">
            <a:noAutofit/>
          </a:bodyPr>
          <a:lstStyle/>
          <a:p>
            <a:r>
              <a:rPr lang="en-IN" sz="1200" b="1">
                <a:solidFill>
                  <a:srgbClr val="FFFFFF"/>
                </a:solidFill>
                <a:latin typeface="Calibri" panose="020F0502020204030204" pitchFamily="34" charset="0"/>
              </a:rPr>
              <a:t>Phosphor Layer -- BaFBr:Eu</a:t>
            </a:r>
          </a:p>
        </p:txBody>
      </p:sp>
      <p:sp>
        <p:nvSpPr>
          <p:cNvPr id="17" name="Rectangle 16">
            <a:extLst>
              <a:ext uri="{FF2B5EF4-FFF2-40B4-BE49-F238E27FC236}">
                <a16:creationId xmlns:a16="http://schemas.microsoft.com/office/drawing/2014/main" id="{A5D35B37-A4BD-D122-DF46-10F0FEFB1CB8}"/>
              </a:ext>
            </a:extLst>
          </p:cNvPr>
          <p:cNvSpPr/>
          <p:nvPr/>
        </p:nvSpPr>
        <p:spPr>
          <a:xfrm>
            <a:off x="4216400" y="2578100"/>
            <a:ext cx="279400" cy="254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83B99D60-F95D-1FEF-FBAA-1E7044AD9F33}"/>
              </a:ext>
            </a:extLst>
          </p:cNvPr>
          <p:cNvSpPr txBox="1"/>
          <p:nvPr/>
        </p:nvSpPr>
        <p:spPr>
          <a:xfrm>
            <a:off x="4546600" y="2438400"/>
            <a:ext cx="4013200" cy="369332"/>
          </a:xfrm>
          <a:prstGeom prst="rect">
            <a:avLst/>
          </a:prstGeom>
          <a:noFill/>
        </p:spPr>
        <p:txBody>
          <a:bodyPr vert="horz" wrap="square" rtlCol="0">
            <a:noAutofit/>
          </a:bodyPr>
          <a:lstStyle/>
          <a:p>
            <a:r>
              <a:rPr lang="en-IN" sz="1100">
                <a:solidFill>
                  <a:srgbClr val="1E293B"/>
                </a:solidFill>
                <a:latin typeface="Calibri" panose="020F0502020204030204" pitchFamily="34" charset="0"/>
              </a:rPr>
              <a:t>Core diagnostic layer -- stores latent image as trapped electrons</a:t>
            </a:r>
          </a:p>
        </p:txBody>
      </p:sp>
      <p:sp>
        <p:nvSpPr>
          <p:cNvPr id="19" name="Rectangle 18">
            <a:extLst>
              <a:ext uri="{FF2B5EF4-FFF2-40B4-BE49-F238E27FC236}">
                <a16:creationId xmlns:a16="http://schemas.microsoft.com/office/drawing/2014/main" id="{42753C46-462F-69C7-1E68-B9E168DBC7BA}"/>
              </a:ext>
            </a:extLst>
          </p:cNvPr>
          <p:cNvSpPr/>
          <p:nvPr/>
        </p:nvSpPr>
        <p:spPr>
          <a:xfrm>
            <a:off x="584200" y="2971800"/>
            <a:ext cx="3632200" cy="635000"/>
          </a:xfrm>
          <a:prstGeom prst="rect">
            <a:avLst/>
          </a:prstGeom>
          <a:solidFill>
            <a:srgbClr val="EAB30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EFD16C15-45F5-D1B3-D968-8C4D8227F6EF}"/>
              </a:ext>
            </a:extLst>
          </p:cNvPr>
          <p:cNvSpPr txBox="1"/>
          <p:nvPr/>
        </p:nvSpPr>
        <p:spPr>
          <a:xfrm>
            <a:off x="635000" y="3149600"/>
            <a:ext cx="3530600" cy="369332"/>
          </a:xfrm>
          <a:prstGeom prst="rect">
            <a:avLst/>
          </a:prstGeom>
          <a:noFill/>
        </p:spPr>
        <p:txBody>
          <a:bodyPr vert="horz" wrap="square" rtlCol="0">
            <a:noAutofit/>
          </a:bodyPr>
          <a:lstStyle/>
          <a:p>
            <a:r>
              <a:rPr lang="en-IN" sz="1200" b="1">
                <a:solidFill>
                  <a:srgbClr val="FFFFFF"/>
                </a:solidFill>
                <a:latin typeface="Calibri" panose="020F0502020204030204" pitchFamily="34" charset="0"/>
              </a:rPr>
              <a:t>Base</a:t>
            </a:r>
          </a:p>
        </p:txBody>
      </p:sp>
      <p:sp>
        <p:nvSpPr>
          <p:cNvPr id="21" name="Rectangle 20">
            <a:extLst>
              <a:ext uri="{FF2B5EF4-FFF2-40B4-BE49-F238E27FC236}">
                <a16:creationId xmlns:a16="http://schemas.microsoft.com/office/drawing/2014/main" id="{50E1E2E0-A5B4-712D-F8F4-10BE30AB8772}"/>
              </a:ext>
            </a:extLst>
          </p:cNvPr>
          <p:cNvSpPr/>
          <p:nvPr/>
        </p:nvSpPr>
        <p:spPr>
          <a:xfrm>
            <a:off x="4216400" y="3263900"/>
            <a:ext cx="279400" cy="254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8A4BDE6A-8412-9C2A-4DC7-9B9FB58F0BB8}"/>
              </a:ext>
            </a:extLst>
          </p:cNvPr>
          <p:cNvSpPr txBox="1"/>
          <p:nvPr/>
        </p:nvSpPr>
        <p:spPr>
          <a:xfrm>
            <a:off x="4546600" y="3124200"/>
            <a:ext cx="4013200" cy="369332"/>
          </a:xfrm>
          <a:prstGeom prst="rect">
            <a:avLst/>
          </a:prstGeom>
          <a:noFill/>
        </p:spPr>
        <p:txBody>
          <a:bodyPr vert="horz" wrap="square" rtlCol="0">
            <a:noAutofit/>
          </a:bodyPr>
          <a:lstStyle/>
          <a:p>
            <a:r>
              <a:rPr lang="en-US" sz="1100">
                <a:solidFill>
                  <a:srgbClr val="1E293B"/>
                </a:solidFill>
                <a:latin typeface="Calibri" panose="020F0502020204030204" pitchFamily="34" charset="0"/>
              </a:rPr>
              <a:t>Structural support; transparent to the reading laser beam</a:t>
            </a:r>
            <a:endParaRPr lang="en-IN" sz="1100">
              <a:solidFill>
                <a:srgbClr val="1E293B"/>
              </a:solidFill>
              <a:latin typeface="Calibri" panose="020F0502020204030204" pitchFamily="34" charset="0"/>
            </a:endParaRPr>
          </a:p>
        </p:txBody>
      </p:sp>
      <p:sp>
        <p:nvSpPr>
          <p:cNvPr id="23" name="Rectangle 22">
            <a:extLst>
              <a:ext uri="{FF2B5EF4-FFF2-40B4-BE49-F238E27FC236}">
                <a16:creationId xmlns:a16="http://schemas.microsoft.com/office/drawing/2014/main" id="{058CFBE2-7ECA-F52C-C8B4-3E4D73CA9E3A}"/>
              </a:ext>
            </a:extLst>
          </p:cNvPr>
          <p:cNvSpPr/>
          <p:nvPr/>
        </p:nvSpPr>
        <p:spPr>
          <a:xfrm>
            <a:off x="584200" y="3657600"/>
            <a:ext cx="3632200" cy="635000"/>
          </a:xfrm>
          <a:prstGeom prst="rect">
            <a:avLst/>
          </a:prstGeom>
          <a:solidFill>
            <a:srgbClr val="EF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DB0F5813-5E5A-2764-6607-97BB470915F9}"/>
              </a:ext>
            </a:extLst>
          </p:cNvPr>
          <p:cNvSpPr txBox="1"/>
          <p:nvPr/>
        </p:nvSpPr>
        <p:spPr>
          <a:xfrm>
            <a:off x="635000" y="3835400"/>
            <a:ext cx="3530600" cy="369332"/>
          </a:xfrm>
          <a:prstGeom prst="rect">
            <a:avLst/>
          </a:prstGeom>
          <a:noFill/>
        </p:spPr>
        <p:txBody>
          <a:bodyPr vert="horz" wrap="square" rtlCol="0">
            <a:noAutofit/>
          </a:bodyPr>
          <a:lstStyle/>
          <a:p>
            <a:r>
              <a:rPr lang="en-IN" sz="1200" b="1">
                <a:solidFill>
                  <a:srgbClr val="FFFFFF"/>
                </a:solidFill>
                <a:latin typeface="Calibri" panose="020F0502020204030204" pitchFamily="34" charset="0"/>
              </a:rPr>
              <a:t>Backing Layer</a:t>
            </a:r>
          </a:p>
        </p:txBody>
      </p:sp>
      <p:sp>
        <p:nvSpPr>
          <p:cNvPr id="25" name="Rectangle 24">
            <a:extLst>
              <a:ext uri="{FF2B5EF4-FFF2-40B4-BE49-F238E27FC236}">
                <a16:creationId xmlns:a16="http://schemas.microsoft.com/office/drawing/2014/main" id="{FFA4DF8E-05C0-8901-0DB5-4214606D1593}"/>
              </a:ext>
            </a:extLst>
          </p:cNvPr>
          <p:cNvSpPr/>
          <p:nvPr/>
        </p:nvSpPr>
        <p:spPr>
          <a:xfrm>
            <a:off x="4216400" y="3949700"/>
            <a:ext cx="279400" cy="254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3A54BC2F-EAFD-B095-ED8D-1B842216DC3D}"/>
              </a:ext>
            </a:extLst>
          </p:cNvPr>
          <p:cNvSpPr txBox="1"/>
          <p:nvPr/>
        </p:nvSpPr>
        <p:spPr>
          <a:xfrm>
            <a:off x="4546600" y="3810000"/>
            <a:ext cx="4013200" cy="369332"/>
          </a:xfrm>
          <a:prstGeom prst="rect">
            <a:avLst/>
          </a:prstGeom>
          <a:noFill/>
        </p:spPr>
        <p:txBody>
          <a:bodyPr vert="horz" wrap="square" rtlCol="0">
            <a:noAutofit/>
          </a:bodyPr>
          <a:lstStyle/>
          <a:p>
            <a:r>
              <a:rPr lang="en-US" sz="1100">
                <a:solidFill>
                  <a:srgbClr val="1E293B"/>
                </a:solidFill>
                <a:latin typeface="Calibri" panose="020F0502020204030204" pitchFamily="34" charset="0"/>
              </a:rPr>
              <a:t>Protects the plate from mechanical stress from the rear</a:t>
            </a:r>
            <a:endParaRPr lang="en-IN" sz="1100">
              <a:solidFill>
                <a:srgbClr val="1E293B"/>
              </a:solidFill>
              <a:latin typeface="Calibri" panose="020F0502020204030204" pitchFamily="34" charset="0"/>
            </a:endParaRPr>
          </a:p>
        </p:txBody>
      </p:sp>
    </p:spTree>
    <p:extLst>
      <p:ext uri="{BB962C8B-B14F-4D97-AF65-F5344CB8AC3E}">
        <p14:creationId xmlns:p14="http://schemas.microsoft.com/office/powerpoint/2010/main" val="2608484756"/>
      </p:ext>
    </p:extLst>
  </p:cSld>
  <p:clrMapOvr>
    <a:masterClrMapping/>
  </p:clrMapOvr>
  <p:transition spd="med">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path" presetSubtype="0" accel="50000" decel="50000" fill="hold" grpId="0" nodeType="afterEffect">
                                  <p:stCondLst>
                                    <p:cond delay="100"/>
                                  </p:stCondLst>
                                  <p:childTnLst>
                                    <p:animMotion origin="layout" path="M 0 0 L 0.25 0.25 E" pathEditMode="relative" ptsTypes="">
                                      <p:cBhvr>
                                        <p:cTn id="6" dur="500" fill="hold"/>
                                        <p:tgtEl>
                                          <p:spTgt spid="6"/>
                                        </p:tgtEl>
                                        <p:attrNameLst>
                                          <p:attrName>ppt_x</p:attrName>
                                          <p:attrName>ppt_y</p:attrName>
                                        </p:attrNameLst>
                                      </p:cBhvr>
                                    </p:animMotion>
                                  </p:childTnLst>
                                </p:cTn>
                              </p:par>
                            </p:childTnLst>
                          </p:cTn>
                        </p:par>
                        <p:par>
                          <p:cTn id="7" fill="hold">
                            <p:stCondLst>
                              <p:cond delay="600"/>
                            </p:stCondLst>
                            <p:childTnLst>
                              <p:par>
                                <p:cTn id="8" presetID="49" presetClass="path" presetSubtype="0" accel="50000" decel="50000" fill="hold" grpId="0" nodeType="afterEffect">
                                  <p:stCondLst>
                                    <p:cond delay="200"/>
                                  </p:stCondLst>
                                  <p:childTnLst>
                                    <p:animMotion origin="layout" path="M 0 0 L 0.25 0.25 E" pathEditMode="relative" ptsTypes="">
                                      <p:cBhvr>
                                        <p:cTn id="9" dur="500" fill="hold"/>
                                        <p:tgtEl>
                                          <p:spTgt spid="8"/>
                                        </p:tgtEl>
                                        <p:attrNameLst>
                                          <p:attrName>ppt_x</p:attrName>
                                          <p:attrName>ppt_y</p:attrName>
                                        </p:attrNameLst>
                                      </p:cBhvr>
                                    </p:animMotion>
                                  </p:childTnLst>
                                </p:cTn>
                              </p:par>
                            </p:childTnLst>
                          </p:cTn>
                        </p:par>
                        <p:par>
                          <p:cTn id="10" fill="hold">
                            <p:stCondLst>
                              <p:cond delay="1300"/>
                            </p:stCondLst>
                            <p:childTnLst>
                              <p:par>
                                <p:cTn id="11" presetID="49" presetClass="path" presetSubtype="0" accel="50000" decel="50000" fill="hold" grpId="0" nodeType="afterEffect">
                                  <p:stCondLst>
                                    <p:cond delay="300"/>
                                  </p:stCondLst>
                                  <p:childTnLst>
                                    <p:animMotion origin="layout" path="M 0 0 L 0.25 0.25 E" pathEditMode="relative" ptsTypes="">
                                      <p:cBhvr>
                                        <p:cTn id="12" dur="500" fill="hold"/>
                                        <p:tgtEl>
                                          <p:spTgt spid="10"/>
                                        </p:tgtEl>
                                        <p:attrNameLst>
                                          <p:attrName>ppt_x</p:attrName>
                                          <p:attrName>ppt_y</p:attrName>
                                        </p:attrNameLst>
                                      </p:cBhvr>
                                    </p:animMotion>
                                  </p:childTnLst>
                                </p:cTn>
                              </p:par>
                            </p:childTnLst>
                          </p:cTn>
                        </p:par>
                        <p:par>
                          <p:cTn id="13" fill="hold">
                            <p:stCondLst>
                              <p:cond delay="2100"/>
                            </p:stCondLst>
                            <p:childTnLst>
                              <p:par>
                                <p:cTn id="14" presetID="49" presetClass="path" presetSubtype="0" accel="50000" decel="50000" fill="hold" grpId="0" nodeType="afterEffect">
                                  <p:stCondLst>
                                    <p:cond delay="400"/>
                                  </p:stCondLst>
                                  <p:childTnLst>
                                    <p:animMotion origin="layout" path="M 0 0 L 0.25 0.25 E" pathEditMode="relative" ptsTypes="">
                                      <p:cBhvr>
                                        <p:cTn id="15" dur="500" fill="hold"/>
                                        <p:tgtEl>
                                          <p:spTgt spid="12"/>
                                        </p:tgtEl>
                                        <p:attrNameLst>
                                          <p:attrName>ppt_x</p:attrName>
                                          <p:attrName>ppt_y</p:attrName>
                                        </p:attrNameLst>
                                      </p:cBhvr>
                                    </p:animMotion>
                                  </p:childTnLst>
                                </p:cTn>
                              </p:par>
                            </p:childTnLst>
                          </p:cTn>
                        </p:par>
                        <p:par>
                          <p:cTn id="16" fill="hold">
                            <p:stCondLst>
                              <p:cond delay="3000"/>
                            </p:stCondLst>
                            <p:childTnLst>
                              <p:par>
                                <p:cTn id="17" presetID="49" presetClass="path" presetSubtype="0" accel="50000" decel="50000" fill="hold" grpId="0" nodeType="afterEffect">
                                  <p:stCondLst>
                                    <p:cond delay="500"/>
                                  </p:stCondLst>
                                  <p:childTnLst>
                                    <p:animMotion origin="layout" path="M 0 0 L 0.25 0.25 E" pathEditMode="relative" ptsTypes="">
                                      <p:cBhvr>
                                        <p:cTn id="18" dur="500" fill="hold"/>
                                        <p:tgtEl>
                                          <p:spTgt spid="14"/>
                                        </p:tgtEl>
                                        <p:attrNameLst>
                                          <p:attrName>ppt_x</p:attrName>
                                          <p:attrName>ppt_y</p:attrName>
                                        </p:attrNameLst>
                                      </p:cBhvr>
                                    </p:animMotion>
                                  </p:childTnLst>
                                </p:cTn>
                              </p:par>
                            </p:childTnLst>
                          </p:cTn>
                        </p:par>
                        <p:par>
                          <p:cTn id="19" fill="hold">
                            <p:stCondLst>
                              <p:cond delay="4000"/>
                            </p:stCondLst>
                            <p:childTnLst>
                              <p:par>
                                <p:cTn id="20" presetID="49" presetClass="path" presetSubtype="0" accel="50000" decel="50000" fill="hold" grpId="0" nodeType="afterEffect">
                                  <p:stCondLst>
                                    <p:cond delay="600"/>
                                  </p:stCondLst>
                                  <p:childTnLst>
                                    <p:animMotion origin="layout" path="M 0 0 L 0.25 0.25 E" pathEditMode="relative" ptsTypes="">
                                      <p:cBhvr>
                                        <p:cTn id="21" dur="500" fill="hold"/>
                                        <p:tgtEl>
                                          <p:spTgt spid="16"/>
                                        </p:tgtEl>
                                        <p:attrNameLst>
                                          <p:attrName>ppt_x</p:attrName>
                                          <p:attrName>ppt_y</p:attrName>
                                        </p:attrNameLst>
                                      </p:cBhvr>
                                    </p:animMotion>
                                  </p:childTnLst>
                                </p:cTn>
                              </p:par>
                            </p:childTnLst>
                          </p:cTn>
                        </p:par>
                        <p:par>
                          <p:cTn id="22" fill="hold">
                            <p:stCondLst>
                              <p:cond delay="5100"/>
                            </p:stCondLst>
                            <p:childTnLst>
                              <p:par>
                                <p:cTn id="23" presetID="49" presetClass="path" presetSubtype="0" accel="50000" decel="50000" fill="hold" grpId="0" nodeType="afterEffect">
                                  <p:stCondLst>
                                    <p:cond delay="700"/>
                                  </p:stCondLst>
                                  <p:childTnLst>
                                    <p:animMotion origin="layout" path="M 0 0 L 0.25 0.25 E" pathEditMode="relative" ptsTypes="">
                                      <p:cBhvr>
                                        <p:cTn id="24" dur="500" fill="hold"/>
                                        <p:tgtEl>
                                          <p:spTgt spid="18"/>
                                        </p:tgtEl>
                                        <p:attrNameLst>
                                          <p:attrName>ppt_x</p:attrName>
                                          <p:attrName>ppt_y</p:attrName>
                                        </p:attrNameLst>
                                      </p:cBhvr>
                                    </p:animMotion>
                                  </p:childTnLst>
                                </p:cTn>
                              </p:par>
                            </p:childTnLst>
                          </p:cTn>
                        </p:par>
                        <p:par>
                          <p:cTn id="25" fill="hold">
                            <p:stCondLst>
                              <p:cond delay="6300"/>
                            </p:stCondLst>
                            <p:childTnLst>
                              <p:par>
                                <p:cTn id="26" presetID="49" presetClass="path" presetSubtype="0" accel="50000" decel="50000" fill="hold" grpId="0" nodeType="afterEffect">
                                  <p:stCondLst>
                                    <p:cond delay="800"/>
                                  </p:stCondLst>
                                  <p:childTnLst>
                                    <p:animMotion origin="layout" path="M 0 0 L 0.25 0.25 E" pathEditMode="relative" ptsTypes="">
                                      <p:cBhvr>
                                        <p:cTn id="27" dur="500" fill="hold"/>
                                        <p:tgtEl>
                                          <p:spTgt spid="20"/>
                                        </p:tgtEl>
                                        <p:attrNameLst>
                                          <p:attrName>ppt_x</p:attrName>
                                          <p:attrName>ppt_y</p:attrName>
                                        </p:attrNameLst>
                                      </p:cBhvr>
                                    </p:animMotion>
                                  </p:childTnLst>
                                </p:cTn>
                              </p:par>
                            </p:childTnLst>
                          </p:cTn>
                        </p:par>
                        <p:par>
                          <p:cTn id="28" fill="hold">
                            <p:stCondLst>
                              <p:cond delay="7600"/>
                            </p:stCondLst>
                            <p:childTnLst>
                              <p:par>
                                <p:cTn id="29" presetID="49" presetClass="path" presetSubtype="0" accel="50000" decel="50000" fill="hold" grpId="0" nodeType="afterEffect">
                                  <p:stCondLst>
                                    <p:cond delay="900"/>
                                  </p:stCondLst>
                                  <p:childTnLst>
                                    <p:animMotion origin="layout" path="M 0 0 L 0.25 0.25 E" pathEditMode="relative" ptsTypes="">
                                      <p:cBhvr>
                                        <p:cTn id="30" dur="500" fill="hold"/>
                                        <p:tgtEl>
                                          <p:spTgt spid="22"/>
                                        </p:tgtEl>
                                        <p:attrNameLst>
                                          <p:attrName>ppt_x</p:attrName>
                                          <p:attrName>ppt_y</p:attrName>
                                        </p:attrNameLst>
                                      </p:cBhvr>
                                    </p:animMotion>
                                  </p:childTnLst>
                                </p:cTn>
                              </p:par>
                            </p:childTnLst>
                          </p:cTn>
                        </p:par>
                        <p:par>
                          <p:cTn id="31" fill="hold">
                            <p:stCondLst>
                              <p:cond delay="9000"/>
                            </p:stCondLst>
                            <p:childTnLst>
                              <p:par>
                                <p:cTn id="32" presetID="49" presetClass="path" presetSubtype="0" accel="50000" decel="50000" fill="hold" grpId="0" nodeType="afterEffect">
                                  <p:stCondLst>
                                    <p:cond delay="1000"/>
                                  </p:stCondLst>
                                  <p:childTnLst>
                                    <p:animMotion origin="layout" path="M 0 0 L 0.25 0.25 E" pathEditMode="relative" ptsTypes="">
                                      <p:cBhvr>
                                        <p:cTn id="33" dur="500" fill="hold"/>
                                        <p:tgtEl>
                                          <p:spTgt spid="24"/>
                                        </p:tgtEl>
                                        <p:attrNameLst>
                                          <p:attrName>ppt_x</p:attrName>
                                          <p:attrName>ppt_y</p:attrName>
                                        </p:attrNameLst>
                                      </p:cBhvr>
                                    </p:animMotion>
                                  </p:childTnLst>
                                </p:cTn>
                              </p:par>
                            </p:childTnLst>
                          </p:cTn>
                        </p:par>
                        <p:par>
                          <p:cTn id="34" fill="hold">
                            <p:stCondLst>
                              <p:cond delay="10500"/>
                            </p:stCondLst>
                            <p:childTnLst>
                              <p:par>
                                <p:cTn id="35" presetID="49" presetClass="path" presetSubtype="0" accel="50000" decel="50000" fill="hold" grpId="0" nodeType="afterEffect">
                                  <p:stCondLst>
                                    <p:cond delay="1100"/>
                                  </p:stCondLst>
                                  <p:childTnLst>
                                    <p:animMotion origin="layout" path="M 0 0 L 0.25 0.25 E" pathEditMode="relative" ptsTypes="">
                                      <p:cBhvr>
                                        <p:cTn id="36" dur="500" fill="hold"/>
                                        <p:tgtEl>
                                          <p:spTgt spid="2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2" grpId="0"/>
      <p:bldP spid="14" grpId="0"/>
      <p:bldP spid="16" grpId="0"/>
      <p:bldP spid="18" grpId="0"/>
      <p:bldP spid="20" grpId="0"/>
      <p:bldP spid="22" grpId="0"/>
      <p:bldP spid="24" grpId="0"/>
      <p:bldP spid="2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222D00-E9CD-31F4-46CB-242DCB4AA8ED}"/>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7BF223A7-49D5-41B5-C0D1-4D80E9C5AC08}"/>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09DB011D-1B2D-B77A-CE5A-E06B17784559}"/>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FFAE3B3F-9F99-051F-407B-5659AC8A6595}"/>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1B247593-6694-ACB2-A840-CADEB8DFD36B}"/>
              </a:ext>
            </a:extLst>
          </p:cNvPr>
          <p:cNvSpPr txBox="1"/>
          <p:nvPr/>
        </p:nvSpPr>
        <p:spPr>
          <a:xfrm>
            <a:off x="228600" y="152400"/>
            <a:ext cx="8686800" cy="369332"/>
          </a:xfrm>
          <a:prstGeom prst="rect">
            <a:avLst/>
          </a:prstGeom>
          <a:noFill/>
        </p:spPr>
        <p:txBody>
          <a:bodyPr vert="horz" wrap="square" rtlCol="0">
            <a:noAutofit/>
          </a:bodyPr>
          <a:lstStyle/>
          <a:p>
            <a:r>
              <a:rPr lang="en-IN" sz="2200" b="1">
                <a:solidFill>
                  <a:srgbClr val="FFFFFF"/>
                </a:solidFill>
                <a:latin typeface="Calibri" panose="020F0502020204030204" pitchFamily="34" charset="0"/>
              </a:rPr>
              <a:t>Digital Radiography (DR) -- Overview</a:t>
            </a:r>
          </a:p>
        </p:txBody>
      </p:sp>
      <p:sp>
        <p:nvSpPr>
          <p:cNvPr id="7" name="TextBox 6">
            <a:extLst>
              <a:ext uri="{FF2B5EF4-FFF2-40B4-BE49-F238E27FC236}">
                <a16:creationId xmlns:a16="http://schemas.microsoft.com/office/drawing/2014/main" id="{62D5C81B-A5B9-1572-5C3B-270007B9D98A}"/>
              </a:ext>
            </a:extLst>
          </p:cNvPr>
          <p:cNvSpPr txBox="1"/>
          <p:nvPr/>
        </p:nvSpPr>
        <p:spPr>
          <a:xfrm>
            <a:off x="609600" y="939800"/>
            <a:ext cx="8051800" cy="369332"/>
          </a:xfrm>
          <a:prstGeom prst="rect">
            <a:avLst/>
          </a:prstGeom>
          <a:noFill/>
        </p:spPr>
        <p:txBody>
          <a:bodyPr vert="horz" wrap="square" rtlCol="0">
            <a:noAutofit/>
          </a:bodyPr>
          <a:lstStyle/>
          <a:p>
            <a:r>
              <a:rPr lang="en-US" sz="1400">
                <a:solidFill>
                  <a:srgbClr val="1E293B"/>
                </a:solidFill>
                <a:latin typeface="Calibri" panose="020F0502020204030204" pitchFamily="34" charset="0"/>
              </a:rPr>
              <a:t>•  Operates on the same principle as a digital camera -- direct electronic image capture
•  Eliminates wet processing, PSP plate handling, and cassette transport entirely
•  Two primary detector technologies:
      --  CCD (Charge-Coupled Device) detectors
      --  Digital Flat Plate Detectors (FPD)
•  Images appear on the workstation display within seconds of exposure
•  Fully compatible with PACS (Picture Archiving and Communication System)
•  Enables teleradiology, multi-site image sharing, and electronic reporting</a:t>
            </a:r>
            <a:endParaRPr lang="en-IN" sz="1400">
              <a:solidFill>
                <a:srgbClr val="1E293B"/>
              </a:solidFill>
              <a:latin typeface="Calibri" panose="020F0502020204030204" pitchFamily="34" charset="0"/>
            </a:endParaRPr>
          </a:p>
        </p:txBody>
      </p:sp>
    </p:spTree>
    <p:extLst>
      <p:ext uri="{BB962C8B-B14F-4D97-AF65-F5344CB8AC3E}">
        <p14:creationId xmlns:p14="http://schemas.microsoft.com/office/powerpoint/2010/main" val="483648371"/>
      </p:ext>
    </p:extLst>
  </p:cSld>
  <p:clrMapOvr>
    <a:masterClrMapping/>
  </p:clrMapOvr>
  <p:transition spd="med">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childTnLst>
                          </p:cTn>
                        </p:par>
                        <p:par>
                          <p:cTn id="8" fill="hold">
                            <p:stCondLst>
                              <p:cond delay="550"/>
                            </p:stCondLst>
                            <p:childTnLst>
                              <p:par>
                                <p:cTn id="9" presetID="10" presetClass="entr" presetSubtype="0" fill="hold" grpId="0" nodeType="afterEffect">
                                  <p:stCondLst>
                                    <p:cond delay="18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47C8337-72C1-FF25-07B9-CF8F3914A9E8}"/>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BA9C7FE1-FE42-8D8E-97A6-977DB9AF823F}"/>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DA6A1288-9E41-747B-DBA3-6F02C409E5A0}"/>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D919A974-E6EC-00BF-71D1-05FD8CE8FB9E}"/>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DFA31EA-889E-37FA-AC65-BB77C0310878}"/>
              </a:ext>
            </a:extLst>
          </p:cNvPr>
          <p:cNvSpPr txBox="1"/>
          <p:nvPr/>
        </p:nvSpPr>
        <p:spPr>
          <a:xfrm>
            <a:off x="228600" y="152400"/>
            <a:ext cx="8686800" cy="369332"/>
          </a:xfrm>
          <a:prstGeom prst="rect">
            <a:avLst/>
          </a:prstGeom>
          <a:noFill/>
        </p:spPr>
        <p:txBody>
          <a:bodyPr vert="horz" wrap="square" rtlCol="0">
            <a:noAutofit/>
          </a:bodyPr>
          <a:lstStyle/>
          <a:p>
            <a:r>
              <a:rPr lang="en-IN" sz="2200" b="1">
                <a:solidFill>
                  <a:srgbClr val="FFFFFF"/>
                </a:solidFill>
                <a:latin typeface="Calibri" panose="020F0502020204030204" pitchFamily="34" charset="0"/>
              </a:rPr>
              <a:t>Digital Flat Plate Detectors (FPD)</a:t>
            </a:r>
          </a:p>
        </p:txBody>
      </p:sp>
      <p:sp>
        <p:nvSpPr>
          <p:cNvPr id="7" name="TextBox 6">
            <a:extLst>
              <a:ext uri="{FF2B5EF4-FFF2-40B4-BE49-F238E27FC236}">
                <a16:creationId xmlns:a16="http://schemas.microsoft.com/office/drawing/2014/main" id="{11B01640-E5E9-5D04-E395-9B55D9588096}"/>
              </a:ext>
            </a:extLst>
          </p:cNvPr>
          <p:cNvSpPr txBox="1"/>
          <p:nvPr/>
        </p:nvSpPr>
        <p:spPr>
          <a:xfrm>
            <a:off x="609600" y="939800"/>
            <a:ext cx="8051800" cy="369332"/>
          </a:xfrm>
          <a:prstGeom prst="rect">
            <a:avLst/>
          </a:prstGeom>
          <a:noFill/>
        </p:spPr>
        <p:txBody>
          <a:bodyPr vert="horz" wrap="square" rtlCol="0">
            <a:noAutofit/>
          </a:bodyPr>
          <a:lstStyle/>
          <a:p>
            <a:r>
              <a:rPr lang="en-IN" sz="1350">
                <a:solidFill>
                  <a:srgbClr val="1E293B"/>
                </a:solidFill>
                <a:latin typeface="Calibri" panose="020F0502020204030204" pitchFamily="34" charset="0"/>
              </a:rPr>
              <a:t>•  High capital cost -- typically USD 80,000 to 120,000
•  Significantly reduced patient radiation dose
•  No anti-scatter grid required -- software compensates for scatter
CONVERSION METHODS:
  DIRECT  :  X-rays -&gt; Electrical signal  (amorphous selenium a-Se)
  INDIRECT:  X-rays -&gt; Light (CsI scintillator) -&gt; Electrical signal (a-Si TFT)
•  Superior spatial resolution and dynamic range versus CR and film-screen</a:t>
            </a:r>
          </a:p>
        </p:txBody>
      </p:sp>
    </p:spTree>
    <p:extLst>
      <p:ext uri="{BB962C8B-B14F-4D97-AF65-F5344CB8AC3E}">
        <p14:creationId xmlns:p14="http://schemas.microsoft.com/office/powerpoint/2010/main" val="2754792532"/>
      </p:ext>
    </p:extLst>
  </p:cSld>
  <p:clrMapOvr>
    <a:masterClrMapping/>
  </p:clrMapOvr>
  <p:transition spd="med">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childTnLst>
                          </p:cTn>
                        </p:par>
                        <p:par>
                          <p:cTn id="8" fill="hold">
                            <p:stCondLst>
                              <p:cond delay="550"/>
                            </p:stCondLst>
                            <p:childTnLst>
                              <p:par>
                                <p:cTn id="9" presetID="10" presetClass="entr" presetSubtype="0" fill="hold" grpId="0" nodeType="afterEffect">
                                  <p:stCondLst>
                                    <p:cond delay="18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7F46F9-2718-AD19-0E8F-83C336097ADC}"/>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9F961FD4-2440-4F0D-8A32-DD8B9B274067}"/>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F9E76235-74FF-B29A-7459-AF8AD619D9DD}"/>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76E165DC-B39C-D9F1-E431-5F98D3E12547}"/>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028C2DB-927E-38DD-9393-1F1C0E0A69EB}"/>
              </a:ext>
            </a:extLst>
          </p:cNvPr>
          <p:cNvSpPr txBox="1"/>
          <p:nvPr/>
        </p:nvSpPr>
        <p:spPr>
          <a:xfrm>
            <a:off x="228600" y="152400"/>
            <a:ext cx="8686800" cy="369332"/>
          </a:xfrm>
          <a:prstGeom prst="rect">
            <a:avLst/>
          </a:prstGeom>
          <a:noFill/>
        </p:spPr>
        <p:txBody>
          <a:bodyPr vert="horz" wrap="square" rtlCol="0">
            <a:noAutofit/>
          </a:bodyPr>
          <a:lstStyle/>
          <a:p>
            <a:r>
              <a:rPr lang="en-IN" sz="2200" b="1">
                <a:solidFill>
                  <a:srgbClr val="FFFFFF"/>
                </a:solidFill>
                <a:latin typeface="Calibri" panose="020F0502020204030204" pitchFamily="34" charset="0"/>
              </a:rPr>
              <a:t>CCD (Charge-Coupled Device) Technology</a:t>
            </a:r>
          </a:p>
        </p:txBody>
      </p:sp>
      <p:sp>
        <p:nvSpPr>
          <p:cNvPr id="7" name="TextBox 6">
            <a:extLst>
              <a:ext uri="{FF2B5EF4-FFF2-40B4-BE49-F238E27FC236}">
                <a16:creationId xmlns:a16="http://schemas.microsoft.com/office/drawing/2014/main" id="{938F14CF-29EA-79EF-759B-9BFA004274E9}"/>
              </a:ext>
            </a:extLst>
          </p:cNvPr>
          <p:cNvSpPr txBox="1"/>
          <p:nvPr/>
        </p:nvSpPr>
        <p:spPr>
          <a:xfrm>
            <a:off x="609600" y="939800"/>
            <a:ext cx="8051800" cy="369332"/>
          </a:xfrm>
          <a:prstGeom prst="rect">
            <a:avLst/>
          </a:prstGeom>
          <a:noFill/>
        </p:spPr>
        <p:txBody>
          <a:bodyPr vert="horz" wrap="square" rtlCol="0">
            <a:noAutofit/>
          </a:bodyPr>
          <a:lstStyle/>
          <a:p>
            <a:r>
              <a:rPr lang="en-US" sz="1350">
                <a:solidFill>
                  <a:srgbClr val="1E293B"/>
                </a:solidFill>
                <a:latin typeface="Calibri" panose="020F0502020204030204" pitchFamily="34" charset="0"/>
              </a:rPr>
              <a:t>•  Sold as an integrated component bundled with the X-ray system
•  CCD camera is mounted beneath the examination table prior to installation
•  Considerably less expensive than digital flat plate detector systems
•  Uses optical coupling (lens/mirror) between scintillator and CCD chip
LIMITATION:
•  Requires approximately 2x the mAs compared to flat plate detectors
     (increased patient radiation dose -- a significant clinical consideration)
•  Best suited for fixed radiography rooms and fluoroscopy suites</a:t>
            </a:r>
            <a:endParaRPr lang="en-IN" sz="1350">
              <a:solidFill>
                <a:srgbClr val="1E293B"/>
              </a:solidFill>
              <a:latin typeface="Calibri" panose="020F0502020204030204" pitchFamily="34" charset="0"/>
            </a:endParaRPr>
          </a:p>
        </p:txBody>
      </p:sp>
    </p:spTree>
    <p:extLst>
      <p:ext uri="{BB962C8B-B14F-4D97-AF65-F5344CB8AC3E}">
        <p14:creationId xmlns:p14="http://schemas.microsoft.com/office/powerpoint/2010/main" val="651724968"/>
      </p:ext>
    </p:extLst>
  </p:cSld>
  <p:clrMapOvr>
    <a:masterClrMapping/>
  </p:clrMapOvr>
  <p:transition spd="med">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childTnLst>
                          </p:cTn>
                        </p:par>
                        <p:par>
                          <p:cTn id="8" fill="hold">
                            <p:stCondLst>
                              <p:cond delay="550"/>
                            </p:stCondLst>
                            <p:childTnLst>
                              <p:par>
                                <p:cTn id="9" presetID="10" presetClass="entr" presetSubtype="0" fill="hold" grpId="0" nodeType="afterEffect">
                                  <p:stCondLst>
                                    <p:cond delay="18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8CCA32-8FBE-8960-7580-FA3AB3E6F451}"/>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AC63DE67-DABA-E164-0BCE-2584AD5AA84F}"/>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C019B33D-3184-20F9-62FA-C2B48CE0363E}"/>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F6BBCE0-62AF-5273-E053-582AF3FB39C5}"/>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7AC453DA-70F6-1437-3509-4ABE59F36C59}"/>
              </a:ext>
            </a:extLst>
          </p:cNvPr>
          <p:cNvSpPr txBox="1"/>
          <p:nvPr/>
        </p:nvSpPr>
        <p:spPr>
          <a:xfrm>
            <a:off x="228600" y="152400"/>
            <a:ext cx="8686800" cy="369332"/>
          </a:xfrm>
          <a:prstGeom prst="rect">
            <a:avLst/>
          </a:prstGeom>
          <a:noFill/>
        </p:spPr>
        <p:txBody>
          <a:bodyPr vert="horz" wrap="square" rtlCol="0">
            <a:noAutofit/>
          </a:bodyPr>
          <a:lstStyle/>
          <a:p>
            <a:r>
              <a:rPr lang="en-IN" sz="2200" b="1">
                <a:solidFill>
                  <a:srgbClr val="FFFFFF"/>
                </a:solidFill>
                <a:latin typeface="Calibri" panose="020F0502020204030204" pitchFamily="34" charset="0"/>
              </a:rPr>
              <a:t>Advantages of Digital Radiography</a:t>
            </a:r>
          </a:p>
        </p:txBody>
      </p:sp>
      <p:sp>
        <p:nvSpPr>
          <p:cNvPr id="7" name="Rectangle 6">
            <a:extLst>
              <a:ext uri="{FF2B5EF4-FFF2-40B4-BE49-F238E27FC236}">
                <a16:creationId xmlns:a16="http://schemas.microsoft.com/office/drawing/2014/main" id="{7D4B99E3-E791-5467-F4E8-CE7A4DB4CB3F}"/>
              </a:ext>
            </a:extLst>
          </p:cNvPr>
          <p:cNvSpPr/>
          <p:nvPr/>
        </p:nvSpPr>
        <p:spPr>
          <a:xfrm>
            <a:off x="355600" y="889000"/>
            <a:ext cx="4140200" cy="41148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69AFC78A-44D9-D4AA-734C-35B5C34FA01D}"/>
              </a:ext>
            </a:extLst>
          </p:cNvPr>
          <p:cNvSpPr/>
          <p:nvPr/>
        </p:nvSpPr>
        <p:spPr>
          <a:xfrm>
            <a:off x="355600" y="889000"/>
            <a:ext cx="4140200" cy="406400"/>
          </a:xfrm>
          <a:prstGeom prst="rect">
            <a:avLst/>
          </a:prstGeom>
          <a:solidFill>
            <a:srgbClr val="142D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24DCA25B-0677-4ECB-8BB6-FD2219BEA6A8}"/>
              </a:ext>
            </a:extLst>
          </p:cNvPr>
          <p:cNvSpPr txBox="1"/>
          <p:nvPr/>
        </p:nvSpPr>
        <p:spPr>
          <a:xfrm>
            <a:off x="431800" y="901700"/>
            <a:ext cx="3987800" cy="381000"/>
          </a:xfrm>
          <a:prstGeom prst="rect">
            <a:avLst/>
          </a:prstGeom>
          <a:noFill/>
        </p:spPr>
        <p:txBody>
          <a:bodyPr vert="horz" wrap="square" rtlCol="0">
            <a:noAutofit/>
          </a:bodyPr>
          <a:lstStyle/>
          <a:p>
            <a:r>
              <a:rPr lang="en-IN" sz="1100" b="1">
                <a:solidFill>
                  <a:srgbClr val="C9A84C"/>
                </a:solidFill>
                <a:latin typeface="Calibri" panose="020F0502020204030204" pitchFamily="34" charset="0"/>
              </a:rPr>
              <a:t>CLINICAL ADVANTAGES</a:t>
            </a:r>
          </a:p>
        </p:txBody>
      </p:sp>
      <p:sp>
        <p:nvSpPr>
          <p:cNvPr id="10" name="TextBox 9">
            <a:extLst>
              <a:ext uri="{FF2B5EF4-FFF2-40B4-BE49-F238E27FC236}">
                <a16:creationId xmlns:a16="http://schemas.microsoft.com/office/drawing/2014/main" id="{5F85F19A-592E-CE20-E6AD-F92396F5E8B4}"/>
              </a:ext>
            </a:extLst>
          </p:cNvPr>
          <p:cNvSpPr txBox="1"/>
          <p:nvPr/>
        </p:nvSpPr>
        <p:spPr>
          <a:xfrm>
            <a:off x="457200" y="1346200"/>
            <a:ext cx="3886200" cy="369332"/>
          </a:xfrm>
          <a:prstGeom prst="rect">
            <a:avLst/>
          </a:prstGeom>
          <a:noFill/>
        </p:spPr>
        <p:txBody>
          <a:bodyPr vert="horz" wrap="square" rtlCol="0">
            <a:noAutofit/>
          </a:bodyPr>
          <a:lstStyle/>
          <a:p>
            <a:r>
              <a:rPr lang="en-US" sz="1300">
                <a:solidFill>
                  <a:srgbClr val="1E293B"/>
                </a:solidFill>
                <a:latin typeface="Calibri" panose="020F0502020204030204" pitchFamily="34" charset="0"/>
              </a:rPr>
              <a:t>•  Reduced patient radiation dose
•  Lower retake rate
•  Immediate image availability
•  Wide dynamic range
•  Post-processing capability
•  Image enhancement and window-levelling
•  No film-related artefacts</a:t>
            </a:r>
            <a:endParaRPr lang="en-IN" sz="1300">
              <a:solidFill>
                <a:srgbClr val="1E293B"/>
              </a:solidFill>
              <a:latin typeface="Calibri" panose="020F0502020204030204" pitchFamily="34" charset="0"/>
            </a:endParaRPr>
          </a:p>
        </p:txBody>
      </p:sp>
      <p:sp>
        <p:nvSpPr>
          <p:cNvPr id="11" name="Rectangle 10">
            <a:extLst>
              <a:ext uri="{FF2B5EF4-FFF2-40B4-BE49-F238E27FC236}">
                <a16:creationId xmlns:a16="http://schemas.microsoft.com/office/drawing/2014/main" id="{1CBAF744-BD20-E156-F8DF-581173C525F9}"/>
              </a:ext>
            </a:extLst>
          </p:cNvPr>
          <p:cNvSpPr/>
          <p:nvPr/>
        </p:nvSpPr>
        <p:spPr>
          <a:xfrm>
            <a:off x="4546600" y="889000"/>
            <a:ext cx="50800" cy="41148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7521431A-BE38-4986-2DBF-C79FB3009C90}"/>
              </a:ext>
            </a:extLst>
          </p:cNvPr>
          <p:cNvSpPr/>
          <p:nvPr/>
        </p:nvSpPr>
        <p:spPr>
          <a:xfrm>
            <a:off x="4622800" y="889000"/>
            <a:ext cx="4165600" cy="41148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E006E8B6-2F87-6564-2C7D-8A6C6161A079}"/>
              </a:ext>
            </a:extLst>
          </p:cNvPr>
          <p:cNvSpPr/>
          <p:nvPr/>
        </p:nvSpPr>
        <p:spPr>
          <a:xfrm>
            <a:off x="4622800" y="889000"/>
            <a:ext cx="4165600" cy="406400"/>
          </a:xfrm>
          <a:prstGeom prst="rect">
            <a:avLst/>
          </a:prstGeom>
          <a:solidFill>
            <a:srgbClr val="142D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7C919FE-B697-494D-059C-E32328BD69A6}"/>
              </a:ext>
            </a:extLst>
          </p:cNvPr>
          <p:cNvSpPr txBox="1"/>
          <p:nvPr/>
        </p:nvSpPr>
        <p:spPr>
          <a:xfrm>
            <a:off x="4699000" y="901700"/>
            <a:ext cx="4013200" cy="381000"/>
          </a:xfrm>
          <a:prstGeom prst="rect">
            <a:avLst/>
          </a:prstGeom>
          <a:noFill/>
        </p:spPr>
        <p:txBody>
          <a:bodyPr vert="horz" wrap="square" rtlCol="0">
            <a:noAutofit/>
          </a:bodyPr>
          <a:lstStyle/>
          <a:p>
            <a:r>
              <a:rPr lang="en-IN" sz="1100" b="1">
                <a:solidFill>
                  <a:srgbClr val="C9A84C"/>
                </a:solidFill>
                <a:latin typeface="Calibri" panose="020F0502020204030204" pitchFamily="34" charset="0"/>
              </a:rPr>
              <a:t>OPERATIONAL ADVANTAGES</a:t>
            </a:r>
          </a:p>
        </p:txBody>
      </p:sp>
      <p:sp>
        <p:nvSpPr>
          <p:cNvPr id="15" name="TextBox 14">
            <a:extLst>
              <a:ext uri="{FF2B5EF4-FFF2-40B4-BE49-F238E27FC236}">
                <a16:creationId xmlns:a16="http://schemas.microsoft.com/office/drawing/2014/main" id="{718AB610-30C3-FBE2-EF1B-EC8D8C468DC0}"/>
              </a:ext>
            </a:extLst>
          </p:cNvPr>
          <p:cNvSpPr txBox="1"/>
          <p:nvPr/>
        </p:nvSpPr>
        <p:spPr>
          <a:xfrm>
            <a:off x="4724400" y="1346200"/>
            <a:ext cx="3962400" cy="369332"/>
          </a:xfrm>
          <a:prstGeom prst="rect">
            <a:avLst/>
          </a:prstGeom>
          <a:noFill/>
        </p:spPr>
        <p:txBody>
          <a:bodyPr vert="horz" wrap="square" rtlCol="0">
            <a:noAutofit/>
          </a:bodyPr>
          <a:lstStyle/>
          <a:p>
            <a:r>
              <a:rPr lang="en-US" sz="1300">
                <a:solidFill>
                  <a:srgbClr val="1E293B"/>
                </a:solidFill>
                <a:latin typeface="Calibri" panose="020F0502020204030204" pitchFamily="34" charset="0"/>
              </a:rPr>
              <a:t>•  No film or chemical processing costs
•  No darkroom space required
•  No processor maintenance
•  No physical film storage or filing
•  No film jacket expenses
•  Increased departmental throughput
•  PACS / HIS / RIS integration</a:t>
            </a:r>
            <a:endParaRPr lang="en-IN" sz="1300">
              <a:solidFill>
                <a:srgbClr val="1E293B"/>
              </a:solidFill>
              <a:latin typeface="Calibri" panose="020F0502020204030204" pitchFamily="34" charset="0"/>
            </a:endParaRPr>
          </a:p>
        </p:txBody>
      </p:sp>
    </p:spTree>
    <p:extLst>
      <p:ext uri="{BB962C8B-B14F-4D97-AF65-F5344CB8AC3E}">
        <p14:creationId xmlns:p14="http://schemas.microsoft.com/office/powerpoint/2010/main" val="1682011945"/>
      </p:ext>
    </p:extLst>
  </p:cSld>
  <p:clrMapOvr>
    <a:masterClrMapping/>
  </p:clrMapOvr>
  <p:transition spd="med">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childTnLst>
                          </p:cTn>
                        </p:par>
                        <p:par>
                          <p:cTn id="8" fill="hold">
                            <p:stCondLst>
                              <p:cond delay="550"/>
                            </p:stCondLst>
                            <p:childTnLst>
                              <p:par>
                                <p:cTn id="9" presetID="10" presetClass="entr" presetSubtype="0" fill="hold" grpId="0" nodeType="afterEffect">
                                  <p:stCondLst>
                                    <p:cond delay="17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50"/>
                                        <p:tgtEl>
                                          <p:spTgt spid="9"/>
                                        </p:tgtEl>
                                      </p:cBhvr>
                                    </p:animEffect>
                                  </p:childTnLst>
                                </p:cTn>
                              </p:par>
                            </p:childTnLst>
                          </p:cTn>
                        </p:par>
                        <p:par>
                          <p:cTn id="12" fill="hold">
                            <p:stCondLst>
                              <p:cond delay="1170"/>
                            </p:stCondLst>
                            <p:childTnLst>
                              <p:par>
                                <p:cTn id="13" presetID="10" presetClass="entr" presetSubtype="0" fill="hold" grpId="0" nodeType="afterEffect">
                                  <p:stCondLst>
                                    <p:cond delay="24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childTnLst>
                          </p:cTn>
                        </p:par>
                        <p:par>
                          <p:cTn id="16" fill="hold">
                            <p:stCondLst>
                              <p:cond delay="1860"/>
                            </p:stCondLst>
                            <p:childTnLst>
                              <p:par>
                                <p:cTn id="17" presetID="10" presetClass="entr" presetSubtype="0" fill="hold" grpId="0" nodeType="afterEffect">
                                  <p:stCondLst>
                                    <p:cond delay="31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childTnLst>
                          </p:cTn>
                        </p:par>
                        <p:par>
                          <p:cTn id="20" fill="hold">
                            <p:stCondLst>
                              <p:cond delay="2620"/>
                            </p:stCondLst>
                            <p:childTnLst>
                              <p:par>
                                <p:cTn id="21" presetID="10" presetClass="entr" presetSubtype="0" fill="hold" grpId="0" nodeType="afterEffect">
                                  <p:stCondLst>
                                    <p:cond delay="38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5FD81C-B5A8-7A4D-7D0B-9E029A4840AD}"/>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BFA04EB1-C225-1C25-818D-2599A2241E57}"/>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BECF65E8-20CB-E733-8F03-5D287CCE165B}"/>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3CD68446-8AF6-26F2-5EEE-86CE6C41BE71}"/>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AD91379F-DA91-3390-755A-897268314D71}"/>
              </a:ext>
            </a:extLst>
          </p:cNvPr>
          <p:cNvSpPr txBox="1"/>
          <p:nvPr/>
        </p:nvSpPr>
        <p:spPr>
          <a:xfrm>
            <a:off x="228600" y="152400"/>
            <a:ext cx="8686800" cy="369332"/>
          </a:xfrm>
          <a:prstGeom prst="rect">
            <a:avLst/>
          </a:prstGeom>
          <a:noFill/>
        </p:spPr>
        <p:txBody>
          <a:bodyPr vert="horz" wrap="square" rtlCol="0">
            <a:noAutofit/>
          </a:bodyPr>
          <a:lstStyle/>
          <a:p>
            <a:r>
              <a:rPr lang="en-IN" sz="2200" b="1">
                <a:solidFill>
                  <a:srgbClr val="FFFFFF"/>
                </a:solidFill>
                <a:latin typeface="Calibri" panose="020F0502020204030204" pitchFamily="34" charset="0"/>
              </a:rPr>
              <a:t>CR vs DR -- Comparative Analysis</a:t>
            </a:r>
          </a:p>
        </p:txBody>
      </p:sp>
      <p:graphicFrame>
        <p:nvGraphicFramePr>
          <p:cNvPr id="7" name="Table 6">
            <a:extLst>
              <a:ext uri="{FF2B5EF4-FFF2-40B4-BE49-F238E27FC236}">
                <a16:creationId xmlns:a16="http://schemas.microsoft.com/office/drawing/2014/main" id="{3A347EDD-40AA-8233-49E5-4A869F777196}"/>
              </a:ext>
            </a:extLst>
          </p:cNvPr>
          <p:cNvGraphicFramePr>
            <a:graphicFrameLocks noGrp="1"/>
          </p:cNvGraphicFramePr>
          <p:nvPr>
            <p:extLst>
              <p:ext uri="{D42A27DB-BD31-4B8C-83A1-F6EECF244321}">
                <p14:modId xmlns:p14="http://schemas.microsoft.com/office/powerpoint/2010/main" val="1707866680"/>
              </p:ext>
            </p:extLst>
          </p:nvPr>
        </p:nvGraphicFramePr>
        <p:xfrm>
          <a:off x="330200" y="889000"/>
          <a:ext cx="8483600" cy="4114800"/>
        </p:xfrm>
        <a:graphic>
          <a:graphicData uri="http://schemas.openxmlformats.org/drawingml/2006/table">
            <a:tbl>
              <a:tblPr firstRow="1" bandRow="1">
                <a:tableStyleId>{5C22544A-7EE6-4342-B048-85BDC9FD1C3A}</a:tableStyleId>
              </a:tblPr>
              <a:tblGrid>
                <a:gridCol w="1930400">
                  <a:extLst>
                    <a:ext uri="{9D8B030D-6E8A-4147-A177-3AD203B41FA5}">
                      <a16:colId xmlns:a16="http://schemas.microsoft.com/office/drawing/2014/main" val="2133025779"/>
                    </a:ext>
                  </a:extLst>
                </a:gridCol>
                <a:gridCol w="3276600">
                  <a:extLst>
                    <a:ext uri="{9D8B030D-6E8A-4147-A177-3AD203B41FA5}">
                      <a16:colId xmlns:a16="http://schemas.microsoft.com/office/drawing/2014/main" val="3770784994"/>
                    </a:ext>
                  </a:extLst>
                </a:gridCol>
                <a:gridCol w="3276600">
                  <a:extLst>
                    <a:ext uri="{9D8B030D-6E8A-4147-A177-3AD203B41FA5}">
                      <a16:colId xmlns:a16="http://schemas.microsoft.com/office/drawing/2014/main" val="4211692898"/>
                    </a:ext>
                  </a:extLst>
                </a:gridCol>
              </a:tblGrid>
              <a:tr h="514350">
                <a:tc>
                  <a:txBody>
                    <a:bodyPr/>
                    <a:lstStyle/>
                    <a:p>
                      <a:r>
                        <a:rPr lang="en-IN" sz="1200" b="1">
                          <a:solidFill>
                            <a:srgbClr val="C9A84C"/>
                          </a:solidFill>
                          <a:latin typeface="Calibri" panose="020F0502020204030204" pitchFamily="34" charset="0"/>
                        </a:rPr>
                        <a:t>Parameter</a:t>
                      </a:r>
                    </a:p>
                  </a:txBody>
                  <a:tcPr>
                    <a:solidFill>
                      <a:srgbClr val="0D1B2A"/>
                    </a:solidFill>
                  </a:tcPr>
                </a:tc>
                <a:tc>
                  <a:txBody>
                    <a:bodyPr/>
                    <a:lstStyle/>
                    <a:p>
                      <a:r>
                        <a:rPr lang="en-IN" sz="1200" b="1">
                          <a:solidFill>
                            <a:srgbClr val="C9A84C"/>
                          </a:solidFill>
                          <a:latin typeface="Calibri" panose="020F0502020204030204" pitchFamily="34" charset="0"/>
                        </a:rPr>
                        <a:t>Computed Radiography (CR)</a:t>
                      </a:r>
                    </a:p>
                  </a:txBody>
                  <a:tcPr>
                    <a:solidFill>
                      <a:srgbClr val="0D1B2A"/>
                    </a:solidFill>
                  </a:tcPr>
                </a:tc>
                <a:tc>
                  <a:txBody>
                    <a:bodyPr/>
                    <a:lstStyle/>
                    <a:p>
                      <a:r>
                        <a:rPr lang="en-IN" sz="1200" b="1">
                          <a:solidFill>
                            <a:srgbClr val="C9A84C"/>
                          </a:solidFill>
                          <a:latin typeface="Calibri" panose="020F0502020204030204" pitchFamily="34" charset="0"/>
                        </a:rPr>
                        <a:t>Digital Radiography (DR)</a:t>
                      </a:r>
                    </a:p>
                  </a:txBody>
                  <a:tcPr>
                    <a:solidFill>
                      <a:srgbClr val="0D1B2A"/>
                    </a:solidFill>
                  </a:tcPr>
                </a:tc>
                <a:extLst>
                  <a:ext uri="{0D108BD9-81ED-4DB2-BD59-A6C34878D82A}">
                    <a16:rowId xmlns:a16="http://schemas.microsoft.com/office/drawing/2014/main" val="3876281784"/>
                  </a:ext>
                </a:extLst>
              </a:tr>
              <a:tr h="514350">
                <a:tc>
                  <a:txBody>
                    <a:bodyPr/>
                    <a:lstStyle/>
                    <a:p>
                      <a:r>
                        <a:rPr lang="en-IN" sz="1100" b="1">
                          <a:solidFill>
                            <a:srgbClr val="FFFFFF"/>
                          </a:solidFill>
                          <a:latin typeface="Calibri" panose="020F0502020204030204" pitchFamily="34" charset="0"/>
                        </a:rPr>
                        <a:t>Detector</a:t>
                      </a:r>
                    </a:p>
                  </a:txBody>
                  <a:tcPr>
                    <a:solidFill>
                      <a:srgbClr val="142D50"/>
                    </a:solidFill>
                  </a:tcPr>
                </a:tc>
                <a:tc>
                  <a:txBody>
                    <a:bodyPr/>
                    <a:lstStyle/>
                    <a:p>
                      <a:r>
                        <a:rPr lang="en-IN" sz="1100" b="0">
                          <a:solidFill>
                            <a:srgbClr val="1E293B"/>
                          </a:solidFill>
                          <a:latin typeface="Calibri" panose="020F0502020204030204" pitchFamily="34" charset="0"/>
                        </a:rPr>
                        <a:t>PSP Imaging Plate (cassette)</a:t>
                      </a:r>
                    </a:p>
                  </a:txBody>
                  <a:tcPr>
                    <a:solidFill>
                      <a:srgbClr val="FFFFFF"/>
                    </a:solidFill>
                  </a:tcPr>
                </a:tc>
                <a:tc>
                  <a:txBody>
                    <a:bodyPr/>
                    <a:lstStyle/>
                    <a:p>
                      <a:r>
                        <a:rPr lang="en-IN" sz="1100" b="0">
                          <a:solidFill>
                            <a:srgbClr val="1E293B"/>
                          </a:solidFill>
                          <a:latin typeface="Calibri" panose="020F0502020204030204" pitchFamily="34" charset="0"/>
                        </a:rPr>
                        <a:t>FPD or CCD detector</a:t>
                      </a:r>
                    </a:p>
                  </a:txBody>
                  <a:tcPr>
                    <a:solidFill>
                      <a:srgbClr val="FFFFFF"/>
                    </a:solidFill>
                  </a:tcPr>
                </a:tc>
                <a:extLst>
                  <a:ext uri="{0D108BD9-81ED-4DB2-BD59-A6C34878D82A}">
                    <a16:rowId xmlns:a16="http://schemas.microsoft.com/office/drawing/2014/main" val="811624692"/>
                  </a:ext>
                </a:extLst>
              </a:tr>
              <a:tr h="514350">
                <a:tc>
                  <a:txBody>
                    <a:bodyPr/>
                    <a:lstStyle/>
                    <a:p>
                      <a:r>
                        <a:rPr lang="en-IN" sz="1100" b="1">
                          <a:solidFill>
                            <a:srgbClr val="FFFFFF"/>
                          </a:solidFill>
                          <a:latin typeface="Calibri" panose="020F0502020204030204" pitchFamily="34" charset="0"/>
                        </a:rPr>
                        <a:t>Processing</a:t>
                      </a:r>
                    </a:p>
                  </a:txBody>
                  <a:tcPr>
                    <a:solidFill>
                      <a:srgbClr val="142D50"/>
                    </a:solidFill>
                  </a:tcPr>
                </a:tc>
                <a:tc>
                  <a:txBody>
                    <a:bodyPr/>
                    <a:lstStyle/>
                    <a:p>
                      <a:r>
                        <a:rPr lang="en-US" sz="1100" b="0">
                          <a:solidFill>
                            <a:srgbClr val="1E293B"/>
                          </a:solidFill>
                          <a:latin typeface="Calibri" panose="020F0502020204030204" pitchFamily="34" charset="0"/>
                        </a:rPr>
                        <a:t>Plate reader required (2-5 min)</a:t>
                      </a:r>
                      <a:endParaRPr lang="en-IN" sz="1100" b="0">
                        <a:solidFill>
                          <a:srgbClr val="1E293B"/>
                        </a:solidFill>
                        <a:latin typeface="Calibri" panose="020F0502020204030204" pitchFamily="34" charset="0"/>
                      </a:endParaRPr>
                    </a:p>
                  </a:txBody>
                  <a:tcPr>
                    <a:solidFill>
                      <a:srgbClr val="F0F5FF"/>
                    </a:solidFill>
                  </a:tcPr>
                </a:tc>
                <a:tc>
                  <a:txBody>
                    <a:bodyPr/>
                    <a:lstStyle/>
                    <a:p>
                      <a:r>
                        <a:rPr lang="en-IN" sz="1100" b="0">
                          <a:solidFill>
                            <a:srgbClr val="1E293B"/>
                          </a:solidFill>
                          <a:latin typeface="Calibri" panose="020F0502020204030204" pitchFamily="34" charset="0"/>
                        </a:rPr>
                        <a:t>Near-instantaneous (&lt;5 sec)</a:t>
                      </a:r>
                    </a:p>
                  </a:txBody>
                  <a:tcPr>
                    <a:solidFill>
                      <a:srgbClr val="F0F5FF"/>
                    </a:solidFill>
                  </a:tcPr>
                </a:tc>
                <a:extLst>
                  <a:ext uri="{0D108BD9-81ED-4DB2-BD59-A6C34878D82A}">
                    <a16:rowId xmlns:a16="http://schemas.microsoft.com/office/drawing/2014/main" val="626407653"/>
                  </a:ext>
                </a:extLst>
              </a:tr>
              <a:tr h="514350">
                <a:tc>
                  <a:txBody>
                    <a:bodyPr/>
                    <a:lstStyle/>
                    <a:p>
                      <a:r>
                        <a:rPr lang="en-IN" sz="1100" b="1">
                          <a:solidFill>
                            <a:srgbClr val="FFFFFF"/>
                          </a:solidFill>
                          <a:latin typeface="Calibri" panose="020F0502020204030204" pitchFamily="34" charset="0"/>
                        </a:rPr>
                        <a:t>Radiation Dose</a:t>
                      </a:r>
                    </a:p>
                  </a:txBody>
                  <a:tcPr>
                    <a:solidFill>
                      <a:srgbClr val="142D50"/>
                    </a:solidFill>
                  </a:tcPr>
                </a:tc>
                <a:tc>
                  <a:txBody>
                    <a:bodyPr/>
                    <a:lstStyle/>
                    <a:p>
                      <a:r>
                        <a:rPr lang="en-IN" sz="1100" b="0">
                          <a:solidFill>
                            <a:srgbClr val="1E293B"/>
                          </a:solidFill>
                          <a:latin typeface="Calibri" panose="020F0502020204030204" pitchFamily="34" charset="0"/>
                        </a:rPr>
                        <a:t>Slightly higher than film-screen</a:t>
                      </a:r>
                    </a:p>
                  </a:txBody>
                  <a:tcPr>
                    <a:solidFill>
                      <a:srgbClr val="FFFFFF"/>
                    </a:solidFill>
                  </a:tcPr>
                </a:tc>
                <a:tc>
                  <a:txBody>
                    <a:bodyPr/>
                    <a:lstStyle/>
                    <a:p>
                      <a:r>
                        <a:rPr lang="en-IN" sz="1100" b="0">
                          <a:solidFill>
                            <a:srgbClr val="1E293B"/>
                          </a:solidFill>
                          <a:latin typeface="Calibri" panose="020F0502020204030204" pitchFamily="34" charset="0"/>
                        </a:rPr>
                        <a:t>30-50% lower than CR</a:t>
                      </a:r>
                    </a:p>
                  </a:txBody>
                  <a:tcPr>
                    <a:solidFill>
                      <a:srgbClr val="FFFFFF"/>
                    </a:solidFill>
                  </a:tcPr>
                </a:tc>
                <a:extLst>
                  <a:ext uri="{0D108BD9-81ED-4DB2-BD59-A6C34878D82A}">
                    <a16:rowId xmlns:a16="http://schemas.microsoft.com/office/drawing/2014/main" val="2111066659"/>
                  </a:ext>
                </a:extLst>
              </a:tr>
              <a:tr h="514350">
                <a:tc>
                  <a:txBody>
                    <a:bodyPr/>
                    <a:lstStyle/>
                    <a:p>
                      <a:r>
                        <a:rPr lang="en-IN" sz="1100" b="1">
                          <a:solidFill>
                            <a:srgbClr val="FFFFFF"/>
                          </a:solidFill>
                          <a:latin typeface="Calibri" panose="020F0502020204030204" pitchFamily="34" charset="0"/>
                        </a:rPr>
                        <a:t>Image Quality</a:t>
                      </a:r>
                    </a:p>
                  </a:txBody>
                  <a:tcPr>
                    <a:solidFill>
                      <a:srgbClr val="142D50"/>
                    </a:solidFill>
                  </a:tcPr>
                </a:tc>
                <a:tc>
                  <a:txBody>
                    <a:bodyPr/>
                    <a:lstStyle/>
                    <a:p>
                      <a:r>
                        <a:rPr lang="en-IN" sz="1100" b="0">
                          <a:solidFill>
                            <a:srgbClr val="1E293B"/>
                          </a:solidFill>
                          <a:latin typeface="Calibri" panose="020F0502020204030204" pitchFamily="34" charset="0"/>
                        </a:rPr>
                        <a:t>Good -- comparable to film</a:t>
                      </a:r>
                    </a:p>
                  </a:txBody>
                  <a:tcPr>
                    <a:solidFill>
                      <a:srgbClr val="F0F5FF"/>
                    </a:solidFill>
                  </a:tcPr>
                </a:tc>
                <a:tc>
                  <a:txBody>
                    <a:bodyPr/>
                    <a:lstStyle/>
                    <a:p>
                      <a:r>
                        <a:rPr lang="en-IN" sz="1100" b="0">
                          <a:solidFill>
                            <a:srgbClr val="1E293B"/>
                          </a:solidFill>
                          <a:latin typeface="Calibri" panose="020F0502020204030204" pitchFamily="34" charset="0"/>
                        </a:rPr>
                        <a:t>Excellent -- higher DQE</a:t>
                      </a:r>
                    </a:p>
                  </a:txBody>
                  <a:tcPr>
                    <a:solidFill>
                      <a:srgbClr val="F0F5FF"/>
                    </a:solidFill>
                  </a:tcPr>
                </a:tc>
                <a:extLst>
                  <a:ext uri="{0D108BD9-81ED-4DB2-BD59-A6C34878D82A}">
                    <a16:rowId xmlns:a16="http://schemas.microsoft.com/office/drawing/2014/main" val="2112648750"/>
                  </a:ext>
                </a:extLst>
              </a:tr>
              <a:tr h="514350">
                <a:tc>
                  <a:txBody>
                    <a:bodyPr/>
                    <a:lstStyle/>
                    <a:p>
                      <a:r>
                        <a:rPr lang="en-IN" sz="1100" b="1">
                          <a:solidFill>
                            <a:srgbClr val="FFFFFF"/>
                          </a:solidFill>
                          <a:latin typeface="Calibri" panose="020F0502020204030204" pitchFamily="34" charset="0"/>
                        </a:rPr>
                        <a:t>Initial Cost</a:t>
                      </a:r>
                    </a:p>
                  </a:txBody>
                  <a:tcPr>
                    <a:solidFill>
                      <a:srgbClr val="142D50"/>
                    </a:solidFill>
                  </a:tcPr>
                </a:tc>
                <a:tc>
                  <a:txBody>
                    <a:bodyPr/>
                    <a:lstStyle/>
                    <a:p>
                      <a:r>
                        <a:rPr lang="en-IN" sz="1100" b="0">
                          <a:solidFill>
                            <a:srgbClr val="1E293B"/>
                          </a:solidFill>
                          <a:latin typeface="Calibri" panose="020F0502020204030204" pitchFamily="34" charset="0"/>
                        </a:rPr>
                        <a:t>Low to moderate</a:t>
                      </a:r>
                    </a:p>
                  </a:txBody>
                  <a:tcPr>
                    <a:solidFill>
                      <a:srgbClr val="FFFFFF"/>
                    </a:solidFill>
                  </a:tcPr>
                </a:tc>
                <a:tc>
                  <a:txBody>
                    <a:bodyPr/>
                    <a:lstStyle/>
                    <a:p>
                      <a:r>
                        <a:rPr lang="en-US" sz="1100" b="0">
                          <a:solidFill>
                            <a:srgbClr val="1E293B"/>
                          </a:solidFill>
                          <a:latin typeface="Calibri" panose="020F0502020204030204" pitchFamily="34" charset="0"/>
                        </a:rPr>
                        <a:t>High -- USD 80,000 to 120,000</a:t>
                      </a:r>
                      <a:endParaRPr lang="en-IN" sz="1100" b="0">
                        <a:solidFill>
                          <a:srgbClr val="1E293B"/>
                        </a:solidFill>
                        <a:latin typeface="Calibri" panose="020F0502020204030204" pitchFamily="34" charset="0"/>
                      </a:endParaRPr>
                    </a:p>
                  </a:txBody>
                  <a:tcPr>
                    <a:solidFill>
                      <a:srgbClr val="FFFFFF"/>
                    </a:solidFill>
                  </a:tcPr>
                </a:tc>
                <a:extLst>
                  <a:ext uri="{0D108BD9-81ED-4DB2-BD59-A6C34878D82A}">
                    <a16:rowId xmlns:a16="http://schemas.microsoft.com/office/drawing/2014/main" val="579559106"/>
                  </a:ext>
                </a:extLst>
              </a:tr>
              <a:tr h="514350">
                <a:tc>
                  <a:txBody>
                    <a:bodyPr/>
                    <a:lstStyle/>
                    <a:p>
                      <a:r>
                        <a:rPr lang="en-IN" sz="1100" b="1">
                          <a:solidFill>
                            <a:srgbClr val="FFFFFF"/>
                          </a:solidFill>
                          <a:latin typeface="Calibri" panose="020F0502020204030204" pitchFamily="34" charset="0"/>
                        </a:rPr>
                        <a:t>Portability</a:t>
                      </a:r>
                    </a:p>
                  </a:txBody>
                  <a:tcPr>
                    <a:solidFill>
                      <a:srgbClr val="142D50"/>
                    </a:solidFill>
                  </a:tcPr>
                </a:tc>
                <a:tc>
                  <a:txBody>
                    <a:bodyPr/>
                    <a:lstStyle/>
                    <a:p>
                      <a:r>
                        <a:rPr lang="en-IN" sz="1100" b="0">
                          <a:solidFill>
                            <a:srgbClr val="1E293B"/>
                          </a:solidFill>
                          <a:latin typeface="Calibri" panose="020F0502020204030204" pitchFamily="34" charset="0"/>
                        </a:rPr>
                        <a:t>High -- cassette-based system</a:t>
                      </a:r>
                    </a:p>
                  </a:txBody>
                  <a:tcPr>
                    <a:solidFill>
                      <a:srgbClr val="F0F5FF"/>
                    </a:solidFill>
                  </a:tcPr>
                </a:tc>
                <a:tc>
                  <a:txBody>
                    <a:bodyPr/>
                    <a:lstStyle/>
                    <a:p>
                      <a:r>
                        <a:rPr lang="en-IN" sz="1100" b="0">
                          <a:solidFill>
                            <a:srgbClr val="1E293B"/>
                          </a:solidFill>
                          <a:latin typeface="Calibri" panose="020F0502020204030204" pitchFamily="34" charset="0"/>
                        </a:rPr>
                        <a:t>Limited -- mostly fixed</a:t>
                      </a:r>
                    </a:p>
                  </a:txBody>
                  <a:tcPr>
                    <a:solidFill>
                      <a:srgbClr val="F0F5FF"/>
                    </a:solidFill>
                  </a:tcPr>
                </a:tc>
                <a:extLst>
                  <a:ext uri="{0D108BD9-81ED-4DB2-BD59-A6C34878D82A}">
                    <a16:rowId xmlns:a16="http://schemas.microsoft.com/office/drawing/2014/main" val="3095828948"/>
                  </a:ext>
                </a:extLst>
              </a:tr>
              <a:tr h="514350">
                <a:tc>
                  <a:txBody>
                    <a:bodyPr/>
                    <a:lstStyle/>
                    <a:p>
                      <a:r>
                        <a:rPr lang="en-IN" sz="1100" b="1">
                          <a:solidFill>
                            <a:srgbClr val="FFFFFF"/>
                          </a:solidFill>
                          <a:latin typeface="Calibri" panose="020F0502020204030204" pitchFamily="34" charset="0"/>
                        </a:rPr>
                        <a:t>Workflow</a:t>
                      </a:r>
                    </a:p>
                  </a:txBody>
                  <a:tcPr>
                    <a:solidFill>
                      <a:srgbClr val="142D50"/>
                    </a:solidFill>
                  </a:tcPr>
                </a:tc>
                <a:tc>
                  <a:txBody>
                    <a:bodyPr/>
                    <a:lstStyle/>
                    <a:p>
                      <a:r>
                        <a:rPr lang="en-IN" sz="1100" b="0">
                          <a:solidFill>
                            <a:srgbClr val="1E293B"/>
                          </a:solidFill>
                          <a:latin typeface="Calibri" panose="020F0502020204030204" pitchFamily="34" charset="0"/>
                        </a:rPr>
                        <a:t>Moderate throughput</a:t>
                      </a:r>
                    </a:p>
                  </a:txBody>
                  <a:tcPr>
                    <a:solidFill>
                      <a:srgbClr val="FFFFFF"/>
                    </a:solidFill>
                  </a:tcPr>
                </a:tc>
                <a:tc>
                  <a:txBody>
                    <a:bodyPr/>
                    <a:lstStyle/>
                    <a:p>
                      <a:r>
                        <a:rPr lang="en-IN" sz="1100" b="0">
                          <a:solidFill>
                            <a:srgbClr val="1E293B"/>
                          </a:solidFill>
                          <a:latin typeface="Calibri" panose="020F0502020204030204" pitchFamily="34" charset="0"/>
                        </a:rPr>
                        <a:t>High throughput</a:t>
                      </a:r>
                    </a:p>
                  </a:txBody>
                  <a:tcPr>
                    <a:solidFill>
                      <a:srgbClr val="FFFFFF"/>
                    </a:solidFill>
                  </a:tcPr>
                </a:tc>
                <a:extLst>
                  <a:ext uri="{0D108BD9-81ED-4DB2-BD59-A6C34878D82A}">
                    <a16:rowId xmlns:a16="http://schemas.microsoft.com/office/drawing/2014/main" val="522546964"/>
                  </a:ext>
                </a:extLst>
              </a:tr>
            </a:tbl>
          </a:graphicData>
        </a:graphic>
      </p:graphicFrame>
    </p:spTree>
    <p:extLst>
      <p:ext uri="{BB962C8B-B14F-4D97-AF65-F5344CB8AC3E}">
        <p14:creationId xmlns:p14="http://schemas.microsoft.com/office/powerpoint/2010/main" val="2871917413"/>
      </p:ext>
    </p:extLst>
  </p:cSld>
  <p:clrMapOvr>
    <a:masterClrMapping/>
  </p:clrMapOvr>
  <p:transition spd="med">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0F4EBB-8FE6-82F7-C4E7-E6674C5DABC7}"/>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3F93F3D3-4BE7-D89E-48D5-2E68C9E5568A}"/>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8F4E559C-85BB-9090-D560-2707C3A77419}"/>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4ABA929-F891-C358-504B-FBF6095AC4BA}"/>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BF808A67-0349-FA0A-26C7-898D0C1F3671}"/>
              </a:ext>
            </a:extLst>
          </p:cNvPr>
          <p:cNvSpPr txBox="1"/>
          <p:nvPr/>
        </p:nvSpPr>
        <p:spPr>
          <a:xfrm>
            <a:off x="228600" y="152400"/>
            <a:ext cx="8686800" cy="369332"/>
          </a:xfrm>
          <a:prstGeom prst="rect">
            <a:avLst/>
          </a:prstGeom>
          <a:noFill/>
        </p:spPr>
        <p:txBody>
          <a:bodyPr vert="horz" wrap="square" rtlCol="0">
            <a:noAutofit/>
          </a:bodyPr>
          <a:lstStyle/>
          <a:p>
            <a:r>
              <a:rPr lang="en-IN" sz="2200" b="1">
                <a:solidFill>
                  <a:srgbClr val="FFFFFF"/>
                </a:solidFill>
                <a:latin typeface="Calibri" panose="020F0502020204030204" pitchFamily="34" charset="0"/>
              </a:rPr>
              <a:t>CR vs DR -- Performance Score Comparison</a:t>
            </a:r>
          </a:p>
        </p:txBody>
      </p:sp>
      <p:sp>
        <p:nvSpPr>
          <p:cNvPr id="7" name="Rectangle 6">
            <a:extLst>
              <a:ext uri="{FF2B5EF4-FFF2-40B4-BE49-F238E27FC236}">
                <a16:creationId xmlns:a16="http://schemas.microsoft.com/office/drawing/2014/main" id="{759F8950-CEE2-82D2-7D93-A078D88A8E95}"/>
              </a:ext>
            </a:extLst>
          </p:cNvPr>
          <p:cNvSpPr/>
          <p:nvPr/>
        </p:nvSpPr>
        <p:spPr>
          <a:xfrm>
            <a:off x="355600" y="863600"/>
            <a:ext cx="8407400" cy="40894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D16569AF-6E87-3D93-B8A5-CC5C48F37532}"/>
              </a:ext>
            </a:extLst>
          </p:cNvPr>
          <p:cNvSpPr/>
          <p:nvPr/>
        </p:nvSpPr>
        <p:spPr>
          <a:xfrm>
            <a:off x="2540000" y="965200"/>
            <a:ext cx="12700" cy="3683000"/>
          </a:xfrm>
          <a:prstGeom prst="rect">
            <a:avLst/>
          </a:prstGeom>
          <a:solidFill>
            <a:srgbClr val="D2DCE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E2759E22-773E-717B-0C41-383689A74923}"/>
              </a:ext>
            </a:extLst>
          </p:cNvPr>
          <p:cNvSpPr txBox="1"/>
          <p:nvPr/>
        </p:nvSpPr>
        <p:spPr>
          <a:xfrm>
            <a:off x="2387600" y="4648200"/>
            <a:ext cx="406400" cy="369332"/>
          </a:xfrm>
          <a:prstGeom prst="rect">
            <a:avLst/>
          </a:prstGeom>
          <a:noFill/>
        </p:spPr>
        <p:txBody>
          <a:bodyPr vert="horz" wrap="square" rtlCol="0">
            <a:noAutofit/>
          </a:bodyPr>
          <a:lstStyle/>
          <a:p>
            <a:pPr algn="ctr"/>
            <a:r>
              <a:rPr lang="en-IN" sz="800">
                <a:solidFill>
                  <a:srgbClr val="94A3B8"/>
                </a:solidFill>
                <a:latin typeface="Calibri" panose="020F0502020204030204" pitchFamily="34" charset="0"/>
              </a:rPr>
              <a:t>0%</a:t>
            </a:r>
          </a:p>
        </p:txBody>
      </p:sp>
      <p:sp>
        <p:nvSpPr>
          <p:cNvPr id="10" name="Rectangle 9">
            <a:extLst>
              <a:ext uri="{FF2B5EF4-FFF2-40B4-BE49-F238E27FC236}">
                <a16:creationId xmlns:a16="http://schemas.microsoft.com/office/drawing/2014/main" id="{D7A4E272-DB7E-399F-8286-9BC40A693FCD}"/>
              </a:ext>
            </a:extLst>
          </p:cNvPr>
          <p:cNvSpPr/>
          <p:nvPr/>
        </p:nvSpPr>
        <p:spPr>
          <a:xfrm>
            <a:off x="3810000" y="965200"/>
            <a:ext cx="12700" cy="3683000"/>
          </a:xfrm>
          <a:prstGeom prst="rect">
            <a:avLst/>
          </a:prstGeom>
          <a:solidFill>
            <a:srgbClr val="D2DCE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13505F1E-B9BE-FD04-0146-977842A85E69}"/>
              </a:ext>
            </a:extLst>
          </p:cNvPr>
          <p:cNvSpPr txBox="1"/>
          <p:nvPr/>
        </p:nvSpPr>
        <p:spPr>
          <a:xfrm>
            <a:off x="3657600" y="4648200"/>
            <a:ext cx="406400" cy="369332"/>
          </a:xfrm>
          <a:prstGeom prst="rect">
            <a:avLst/>
          </a:prstGeom>
          <a:noFill/>
        </p:spPr>
        <p:txBody>
          <a:bodyPr vert="horz" wrap="square" rtlCol="0">
            <a:noAutofit/>
          </a:bodyPr>
          <a:lstStyle/>
          <a:p>
            <a:pPr algn="ctr"/>
            <a:r>
              <a:rPr lang="en-IN" sz="800">
                <a:solidFill>
                  <a:srgbClr val="94A3B8"/>
                </a:solidFill>
                <a:latin typeface="Calibri" panose="020F0502020204030204" pitchFamily="34" charset="0"/>
              </a:rPr>
              <a:t>25%</a:t>
            </a:r>
          </a:p>
        </p:txBody>
      </p:sp>
      <p:sp>
        <p:nvSpPr>
          <p:cNvPr id="12" name="Rectangle 11">
            <a:extLst>
              <a:ext uri="{FF2B5EF4-FFF2-40B4-BE49-F238E27FC236}">
                <a16:creationId xmlns:a16="http://schemas.microsoft.com/office/drawing/2014/main" id="{513FA2F5-251E-39BF-4503-3B47BDA5043A}"/>
              </a:ext>
            </a:extLst>
          </p:cNvPr>
          <p:cNvSpPr/>
          <p:nvPr/>
        </p:nvSpPr>
        <p:spPr>
          <a:xfrm>
            <a:off x="5080000" y="965200"/>
            <a:ext cx="12700" cy="3683000"/>
          </a:xfrm>
          <a:prstGeom prst="rect">
            <a:avLst/>
          </a:prstGeom>
          <a:solidFill>
            <a:srgbClr val="D2DCE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F84D4A0F-21AB-A665-720C-2EA05974A4E3}"/>
              </a:ext>
            </a:extLst>
          </p:cNvPr>
          <p:cNvSpPr txBox="1"/>
          <p:nvPr/>
        </p:nvSpPr>
        <p:spPr>
          <a:xfrm>
            <a:off x="4927600" y="4648200"/>
            <a:ext cx="406400" cy="369332"/>
          </a:xfrm>
          <a:prstGeom prst="rect">
            <a:avLst/>
          </a:prstGeom>
          <a:noFill/>
        </p:spPr>
        <p:txBody>
          <a:bodyPr vert="horz" wrap="square" rtlCol="0">
            <a:noAutofit/>
          </a:bodyPr>
          <a:lstStyle/>
          <a:p>
            <a:pPr algn="ctr"/>
            <a:r>
              <a:rPr lang="en-IN" sz="800">
                <a:solidFill>
                  <a:srgbClr val="94A3B8"/>
                </a:solidFill>
                <a:latin typeface="Calibri" panose="020F0502020204030204" pitchFamily="34" charset="0"/>
              </a:rPr>
              <a:t>50%</a:t>
            </a:r>
          </a:p>
        </p:txBody>
      </p:sp>
      <p:sp>
        <p:nvSpPr>
          <p:cNvPr id="14" name="Rectangle 13">
            <a:extLst>
              <a:ext uri="{FF2B5EF4-FFF2-40B4-BE49-F238E27FC236}">
                <a16:creationId xmlns:a16="http://schemas.microsoft.com/office/drawing/2014/main" id="{933BDD22-2E52-29A5-CD74-CE6C0A279C66}"/>
              </a:ext>
            </a:extLst>
          </p:cNvPr>
          <p:cNvSpPr/>
          <p:nvPr/>
        </p:nvSpPr>
        <p:spPr>
          <a:xfrm>
            <a:off x="6350000" y="965200"/>
            <a:ext cx="12700" cy="3683000"/>
          </a:xfrm>
          <a:prstGeom prst="rect">
            <a:avLst/>
          </a:prstGeom>
          <a:solidFill>
            <a:srgbClr val="D2DCE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DE25621A-D7EA-9A2D-BBC2-B5829BD1FD19}"/>
              </a:ext>
            </a:extLst>
          </p:cNvPr>
          <p:cNvSpPr txBox="1"/>
          <p:nvPr/>
        </p:nvSpPr>
        <p:spPr>
          <a:xfrm>
            <a:off x="6197600" y="4648200"/>
            <a:ext cx="406400" cy="369332"/>
          </a:xfrm>
          <a:prstGeom prst="rect">
            <a:avLst/>
          </a:prstGeom>
          <a:noFill/>
        </p:spPr>
        <p:txBody>
          <a:bodyPr vert="horz" wrap="square" rtlCol="0">
            <a:noAutofit/>
          </a:bodyPr>
          <a:lstStyle/>
          <a:p>
            <a:pPr algn="ctr"/>
            <a:r>
              <a:rPr lang="en-IN" sz="800">
                <a:solidFill>
                  <a:srgbClr val="94A3B8"/>
                </a:solidFill>
                <a:latin typeface="Calibri" panose="020F0502020204030204" pitchFamily="34" charset="0"/>
              </a:rPr>
              <a:t>75%</a:t>
            </a:r>
          </a:p>
        </p:txBody>
      </p:sp>
      <p:sp>
        <p:nvSpPr>
          <p:cNvPr id="16" name="Rectangle 15">
            <a:extLst>
              <a:ext uri="{FF2B5EF4-FFF2-40B4-BE49-F238E27FC236}">
                <a16:creationId xmlns:a16="http://schemas.microsoft.com/office/drawing/2014/main" id="{91758517-7FC8-B0FC-C317-BB5FB1F38C13}"/>
              </a:ext>
            </a:extLst>
          </p:cNvPr>
          <p:cNvSpPr/>
          <p:nvPr/>
        </p:nvSpPr>
        <p:spPr>
          <a:xfrm>
            <a:off x="7620000" y="965200"/>
            <a:ext cx="12700" cy="3683000"/>
          </a:xfrm>
          <a:prstGeom prst="rect">
            <a:avLst/>
          </a:prstGeom>
          <a:solidFill>
            <a:srgbClr val="D2DCE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9259A199-5033-0EE3-889D-FEC550D26772}"/>
              </a:ext>
            </a:extLst>
          </p:cNvPr>
          <p:cNvSpPr txBox="1"/>
          <p:nvPr/>
        </p:nvSpPr>
        <p:spPr>
          <a:xfrm>
            <a:off x="7467600" y="4648200"/>
            <a:ext cx="406400" cy="369332"/>
          </a:xfrm>
          <a:prstGeom prst="rect">
            <a:avLst/>
          </a:prstGeom>
          <a:noFill/>
        </p:spPr>
        <p:txBody>
          <a:bodyPr vert="horz" wrap="square" rtlCol="0">
            <a:noAutofit/>
          </a:bodyPr>
          <a:lstStyle/>
          <a:p>
            <a:pPr algn="ctr"/>
            <a:r>
              <a:rPr lang="en-IN" sz="800">
                <a:solidFill>
                  <a:srgbClr val="94A3B8"/>
                </a:solidFill>
                <a:latin typeface="Calibri" panose="020F0502020204030204" pitchFamily="34" charset="0"/>
              </a:rPr>
              <a:t>100%</a:t>
            </a:r>
          </a:p>
        </p:txBody>
      </p:sp>
      <p:sp>
        <p:nvSpPr>
          <p:cNvPr id="18" name="Rectangle 17">
            <a:extLst>
              <a:ext uri="{FF2B5EF4-FFF2-40B4-BE49-F238E27FC236}">
                <a16:creationId xmlns:a16="http://schemas.microsoft.com/office/drawing/2014/main" id="{CE7C7AEB-CED7-AFA3-B96D-18B6F6A21A68}"/>
              </a:ext>
            </a:extLst>
          </p:cNvPr>
          <p:cNvSpPr/>
          <p:nvPr/>
        </p:nvSpPr>
        <p:spPr>
          <a:xfrm>
            <a:off x="2540000" y="4622800"/>
            <a:ext cx="5080000" cy="25400"/>
          </a:xfrm>
          <a:prstGeom prst="rect">
            <a:avLst/>
          </a:prstGeom>
          <a:solidFill>
            <a:srgbClr val="B4BEC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A71A97B4-D813-8E31-C7BA-E5A27FC4D55A}"/>
              </a:ext>
            </a:extLst>
          </p:cNvPr>
          <p:cNvSpPr/>
          <p:nvPr/>
        </p:nvSpPr>
        <p:spPr>
          <a:xfrm>
            <a:off x="355600" y="1041400"/>
            <a:ext cx="8407400" cy="584200"/>
          </a:xfrm>
          <a:prstGeom prst="rect">
            <a:avLst/>
          </a:prstGeom>
          <a:solidFill>
            <a:srgbClr val="F3F7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3A94C251-CA6D-66C3-52E4-6FA9A5897729}"/>
              </a:ext>
            </a:extLst>
          </p:cNvPr>
          <p:cNvSpPr txBox="1"/>
          <p:nvPr/>
        </p:nvSpPr>
        <p:spPr>
          <a:xfrm>
            <a:off x="406400" y="1168400"/>
            <a:ext cx="1981200" cy="369332"/>
          </a:xfrm>
          <a:prstGeom prst="rect">
            <a:avLst/>
          </a:prstGeom>
          <a:noFill/>
        </p:spPr>
        <p:txBody>
          <a:bodyPr vert="horz" wrap="square" rtlCol="0">
            <a:noAutofit/>
          </a:bodyPr>
          <a:lstStyle/>
          <a:p>
            <a:r>
              <a:rPr lang="en-IN" sz="1100" b="1">
                <a:solidFill>
                  <a:srgbClr val="1E293B"/>
                </a:solidFill>
                <a:latin typeface="Calibri" panose="020F0502020204030204" pitchFamily="34" charset="0"/>
              </a:rPr>
              <a:t>Image Quality</a:t>
            </a:r>
          </a:p>
        </p:txBody>
      </p:sp>
      <p:sp>
        <p:nvSpPr>
          <p:cNvPr id="21" name="Rectangle 20">
            <a:extLst>
              <a:ext uri="{FF2B5EF4-FFF2-40B4-BE49-F238E27FC236}">
                <a16:creationId xmlns:a16="http://schemas.microsoft.com/office/drawing/2014/main" id="{1A66C154-7F90-92FA-2A09-4BDA6DD5C80E}"/>
              </a:ext>
            </a:extLst>
          </p:cNvPr>
          <p:cNvSpPr/>
          <p:nvPr/>
        </p:nvSpPr>
        <p:spPr>
          <a:xfrm>
            <a:off x="2540000" y="1092200"/>
            <a:ext cx="3962400" cy="165100"/>
          </a:xfrm>
          <a:prstGeom prst="rect">
            <a:avLst/>
          </a:prstGeom>
          <a:solidFill>
            <a:srgbClr val="2980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261A2950-4EF9-C850-7159-F61E0EEB32CD}"/>
              </a:ext>
            </a:extLst>
          </p:cNvPr>
          <p:cNvSpPr txBox="1"/>
          <p:nvPr/>
        </p:nvSpPr>
        <p:spPr>
          <a:xfrm>
            <a:off x="6540500" y="1092200"/>
            <a:ext cx="330200" cy="369332"/>
          </a:xfrm>
          <a:prstGeom prst="rect">
            <a:avLst/>
          </a:prstGeom>
          <a:noFill/>
        </p:spPr>
        <p:txBody>
          <a:bodyPr vert="horz" wrap="square" rtlCol="0">
            <a:noAutofit/>
          </a:bodyPr>
          <a:lstStyle/>
          <a:p>
            <a:r>
              <a:rPr lang="en-IN" sz="900" b="1">
                <a:solidFill>
                  <a:srgbClr val="2980B9"/>
                </a:solidFill>
                <a:latin typeface="Calibri" panose="020F0502020204030204" pitchFamily="34" charset="0"/>
              </a:rPr>
              <a:t>78%</a:t>
            </a:r>
          </a:p>
        </p:txBody>
      </p:sp>
      <p:sp>
        <p:nvSpPr>
          <p:cNvPr id="23" name="Rectangle 22">
            <a:extLst>
              <a:ext uri="{FF2B5EF4-FFF2-40B4-BE49-F238E27FC236}">
                <a16:creationId xmlns:a16="http://schemas.microsoft.com/office/drawing/2014/main" id="{7C9D895F-1419-1E57-0983-7689316BA186}"/>
              </a:ext>
            </a:extLst>
          </p:cNvPr>
          <p:cNvSpPr/>
          <p:nvPr/>
        </p:nvSpPr>
        <p:spPr>
          <a:xfrm>
            <a:off x="2540000" y="1295400"/>
            <a:ext cx="4826000" cy="165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D55110A9-2044-1872-A99A-AE14816D3F84}"/>
              </a:ext>
            </a:extLst>
          </p:cNvPr>
          <p:cNvSpPr txBox="1"/>
          <p:nvPr/>
        </p:nvSpPr>
        <p:spPr>
          <a:xfrm>
            <a:off x="7404100" y="1295400"/>
            <a:ext cx="330200" cy="369332"/>
          </a:xfrm>
          <a:prstGeom prst="rect">
            <a:avLst/>
          </a:prstGeom>
          <a:noFill/>
        </p:spPr>
        <p:txBody>
          <a:bodyPr vert="horz" wrap="square" rtlCol="0">
            <a:noAutofit/>
          </a:bodyPr>
          <a:lstStyle/>
          <a:p>
            <a:r>
              <a:rPr lang="en-IN" sz="900" b="1">
                <a:solidFill>
                  <a:srgbClr val="C9A84C"/>
                </a:solidFill>
                <a:latin typeface="Calibri" panose="020F0502020204030204" pitchFamily="34" charset="0"/>
              </a:rPr>
              <a:t>95%</a:t>
            </a:r>
          </a:p>
        </p:txBody>
      </p:sp>
      <p:sp>
        <p:nvSpPr>
          <p:cNvPr id="25" name="TextBox 24">
            <a:extLst>
              <a:ext uri="{FF2B5EF4-FFF2-40B4-BE49-F238E27FC236}">
                <a16:creationId xmlns:a16="http://schemas.microsoft.com/office/drawing/2014/main" id="{2EA3CC27-1C71-E2FB-EE03-CFCB83260AEA}"/>
              </a:ext>
            </a:extLst>
          </p:cNvPr>
          <p:cNvSpPr txBox="1"/>
          <p:nvPr/>
        </p:nvSpPr>
        <p:spPr>
          <a:xfrm>
            <a:off x="406400" y="1752600"/>
            <a:ext cx="1981200" cy="369332"/>
          </a:xfrm>
          <a:prstGeom prst="rect">
            <a:avLst/>
          </a:prstGeom>
          <a:noFill/>
        </p:spPr>
        <p:txBody>
          <a:bodyPr vert="horz" wrap="square" rtlCol="0">
            <a:noAutofit/>
          </a:bodyPr>
          <a:lstStyle/>
          <a:p>
            <a:r>
              <a:rPr lang="en-IN" sz="1100" b="1">
                <a:solidFill>
                  <a:srgbClr val="1E293B"/>
                </a:solidFill>
                <a:latin typeface="Calibri" panose="020F0502020204030204" pitchFamily="34" charset="0"/>
              </a:rPr>
              <a:t>Workflow Speed</a:t>
            </a:r>
          </a:p>
        </p:txBody>
      </p:sp>
      <p:sp>
        <p:nvSpPr>
          <p:cNvPr id="26" name="Rectangle 25">
            <a:extLst>
              <a:ext uri="{FF2B5EF4-FFF2-40B4-BE49-F238E27FC236}">
                <a16:creationId xmlns:a16="http://schemas.microsoft.com/office/drawing/2014/main" id="{6352816B-8FE5-8C72-2278-F1BEDB92FFBB}"/>
              </a:ext>
            </a:extLst>
          </p:cNvPr>
          <p:cNvSpPr/>
          <p:nvPr/>
        </p:nvSpPr>
        <p:spPr>
          <a:xfrm>
            <a:off x="2540000" y="1676400"/>
            <a:ext cx="3048000" cy="165100"/>
          </a:xfrm>
          <a:prstGeom prst="rect">
            <a:avLst/>
          </a:prstGeom>
          <a:solidFill>
            <a:srgbClr val="2980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2B61DB2E-C201-8551-5C42-D06A7093D48D}"/>
              </a:ext>
            </a:extLst>
          </p:cNvPr>
          <p:cNvSpPr txBox="1"/>
          <p:nvPr/>
        </p:nvSpPr>
        <p:spPr>
          <a:xfrm>
            <a:off x="5626100" y="1676400"/>
            <a:ext cx="330200" cy="369332"/>
          </a:xfrm>
          <a:prstGeom prst="rect">
            <a:avLst/>
          </a:prstGeom>
          <a:noFill/>
        </p:spPr>
        <p:txBody>
          <a:bodyPr vert="horz" wrap="square" rtlCol="0">
            <a:noAutofit/>
          </a:bodyPr>
          <a:lstStyle/>
          <a:p>
            <a:r>
              <a:rPr lang="en-IN" sz="900" b="1">
                <a:solidFill>
                  <a:srgbClr val="2980B9"/>
                </a:solidFill>
                <a:latin typeface="Calibri" panose="020F0502020204030204" pitchFamily="34" charset="0"/>
              </a:rPr>
              <a:t>60%</a:t>
            </a:r>
          </a:p>
        </p:txBody>
      </p:sp>
      <p:sp>
        <p:nvSpPr>
          <p:cNvPr id="28" name="Rectangle 27">
            <a:extLst>
              <a:ext uri="{FF2B5EF4-FFF2-40B4-BE49-F238E27FC236}">
                <a16:creationId xmlns:a16="http://schemas.microsoft.com/office/drawing/2014/main" id="{3FDA8D64-268A-27D3-006B-4436421DD9EA}"/>
              </a:ext>
            </a:extLst>
          </p:cNvPr>
          <p:cNvSpPr/>
          <p:nvPr/>
        </p:nvSpPr>
        <p:spPr>
          <a:xfrm>
            <a:off x="2540000" y="1879600"/>
            <a:ext cx="4927600" cy="165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E42244B0-D138-1510-C82B-E1437717DB7C}"/>
              </a:ext>
            </a:extLst>
          </p:cNvPr>
          <p:cNvSpPr txBox="1"/>
          <p:nvPr/>
        </p:nvSpPr>
        <p:spPr>
          <a:xfrm>
            <a:off x="7505700" y="1879600"/>
            <a:ext cx="330200" cy="369332"/>
          </a:xfrm>
          <a:prstGeom prst="rect">
            <a:avLst/>
          </a:prstGeom>
          <a:noFill/>
        </p:spPr>
        <p:txBody>
          <a:bodyPr vert="horz" wrap="square" rtlCol="0">
            <a:noAutofit/>
          </a:bodyPr>
          <a:lstStyle/>
          <a:p>
            <a:r>
              <a:rPr lang="en-IN" sz="900" b="1">
                <a:solidFill>
                  <a:srgbClr val="C9A84C"/>
                </a:solidFill>
                <a:latin typeface="Calibri" panose="020F0502020204030204" pitchFamily="34" charset="0"/>
              </a:rPr>
              <a:t>97%</a:t>
            </a:r>
          </a:p>
        </p:txBody>
      </p:sp>
      <p:sp>
        <p:nvSpPr>
          <p:cNvPr id="30" name="Rectangle 29">
            <a:extLst>
              <a:ext uri="{FF2B5EF4-FFF2-40B4-BE49-F238E27FC236}">
                <a16:creationId xmlns:a16="http://schemas.microsoft.com/office/drawing/2014/main" id="{0CB9A2B5-BB62-808E-78B8-746F3DA84DDB}"/>
              </a:ext>
            </a:extLst>
          </p:cNvPr>
          <p:cNvSpPr/>
          <p:nvPr/>
        </p:nvSpPr>
        <p:spPr>
          <a:xfrm>
            <a:off x="355600" y="2209800"/>
            <a:ext cx="8407400" cy="584200"/>
          </a:xfrm>
          <a:prstGeom prst="rect">
            <a:avLst/>
          </a:prstGeom>
          <a:solidFill>
            <a:srgbClr val="F3F7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9FA56FC7-7726-19FB-6264-9CCDABD43E3C}"/>
              </a:ext>
            </a:extLst>
          </p:cNvPr>
          <p:cNvSpPr txBox="1"/>
          <p:nvPr/>
        </p:nvSpPr>
        <p:spPr>
          <a:xfrm>
            <a:off x="406400" y="2336800"/>
            <a:ext cx="1981200" cy="369332"/>
          </a:xfrm>
          <a:prstGeom prst="rect">
            <a:avLst/>
          </a:prstGeom>
          <a:noFill/>
        </p:spPr>
        <p:txBody>
          <a:bodyPr vert="horz" wrap="square" rtlCol="0">
            <a:noAutofit/>
          </a:bodyPr>
          <a:lstStyle/>
          <a:p>
            <a:r>
              <a:rPr lang="en-IN" sz="1100" b="1">
                <a:solidFill>
                  <a:srgbClr val="1E293B"/>
                </a:solidFill>
                <a:latin typeface="Calibri" panose="020F0502020204030204" pitchFamily="34" charset="0"/>
              </a:rPr>
              <a:t>Dose Reduction</a:t>
            </a:r>
          </a:p>
        </p:txBody>
      </p:sp>
      <p:sp>
        <p:nvSpPr>
          <p:cNvPr id="32" name="Rectangle 31">
            <a:extLst>
              <a:ext uri="{FF2B5EF4-FFF2-40B4-BE49-F238E27FC236}">
                <a16:creationId xmlns:a16="http://schemas.microsoft.com/office/drawing/2014/main" id="{5188F35C-073B-B28B-43EB-54E1E797A07F}"/>
              </a:ext>
            </a:extLst>
          </p:cNvPr>
          <p:cNvSpPr/>
          <p:nvPr/>
        </p:nvSpPr>
        <p:spPr>
          <a:xfrm>
            <a:off x="2540000" y="2260600"/>
            <a:ext cx="2794000" cy="165100"/>
          </a:xfrm>
          <a:prstGeom prst="rect">
            <a:avLst/>
          </a:prstGeom>
          <a:solidFill>
            <a:srgbClr val="2980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4E6FA0F9-D857-0A58-AAA9-E9C71FC3A4F3}"/>
              </a:ext>
            </a:extLst>
          </p:cNvPr>
          <p:cNvSpPr txBox="1"/>
          <p:nvPr/>
        </p:nvSpPr>
        <p:spPr>
          <a:xfrm>
            <a:off x="5372100" y="2260600"/>
            <a:ext cx="330200" cy="369332"/>
          </a:xfrm>
          <a:prstGeom prst="rect">
            <a:avLst/>
          </a:prstGeom>
          <a:noFill/>
        </p:spPr>
        <p:txBody>
          <a:bodyPr vert="horz" wrap="square" rtlCol="0">
            <a:noAutofit/>
          </a:bodyPr>
          <a:lstStyle/>
          <a:p>
            <a:r>
              <a:rPr lang="en-IN" sz="900" b="1">
                <a:solidFill>
                  <a:srgbClr val="2980B9"/>
                </a:solidFill>
                <a:latin typeface="Calibri" panose="020F0502020204030204" pitchFamily="34" charset="0"/>
              </a:rPr>
              <a:t>55%</a:t>
            </a:r>
          </a:p>
        </p:txBody>
      </p:sp>
      <p:sp>
        <p:nvSpPr>
          <p:cNvPr id="34" name="Rectangle 33">
            <a:extLst>
              <a:ext uri="{FF2B5EF4-FFF2-40B4-BE49-F238E27FC236}">
                <a16:creationId xmlns:a16="http://schemas.microsoft.com/office/drawing/2014/main" id="{DB4BBA86-5064-AC9E-C57D-4ACECB2C2935}"/>
              </a:ext>
            </a:extLst>
          </p:cNvPr>
          <p:cNvSpPr/>
          <p:nvPr/>
        </p:nvSpPr>
        <p:spPr>
          <a:xfrm>
            <a:off x="2540000" y="2463800"/>
            <a:ext cx="4470400" cy="165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D24B14F6-63A0-26C8-503D-B0BA87627DAA}"/>
              </a:ext>
            </a:extLst>
          </p:cNvPr>
          <p:cNvSpPr txBox="1"/>
          <p:nvPr/>
        </p:nvSpPr>
        <p:spPr>
          <a:xfrm>
            <a:off x="7048500" y="2463800"/>
            <a:ext cx="330200" cy="369332"/>
          </a:xfrm>
          <a:prstGeom prst="rect">
            <a:avLst/>
          </a:prstGeom>
          <a:noFill/>
        </p:spPr>
        <p:txBody>
          <a:bodyPr vert="horz" wrap="square" rtlCol="0">
            <a:noAutofit/>
          </a:bodyPr>
          <a:lstStyle/>
          <a:p>
            <a:r>
              <a:rPr lang="en-IN" sz="900" b="1">
                <a:solidFill>
                  <a:srgbClr val="C9A84C"/>
                </a:solidFill>
                <a:latin typeface="Calibri" panose="020F0502020204030204" pitchFamily="34" charset="0"/>
              </a:rPr>
              <a:t>88%</a:t>
            </a:r>
          </a:p>
        </p:txBody>
      </p:sp>
      <p:sp>
        <p:nvSpPr>
          <p:cNvPr id="36" name="TextBox 35">
            <a:extLst>
              <a:ext uri="{FF2B5EF4-FFF2-40B4-BE49-F238E27FC236}">
                <a16:creationId xmlns:a16="http://schemas.microsoft.com/office/drawing/2014/main" id="{B2933C87-6D2B-CFD9-FBA7-930C0A34E4BB}"/>
              </a:ext>
            </a:extLst>
          </p:cNvPr>
          <p:cNvSpPr txBox="1"/>
          <p:nvPr/>
        </p:nvSpPr>
        <p:spPr>
          <a:xfrm>
            <a:off x="406400" y="2921000"/>
            <a:ext cx="1981200" cy="369332"/>
          </a:xfrm>
          <a:prstGeom prst="rect">
            <a:avLst/>
          </a:prstGeom>
          <a:noFill/>
        </p:spPr>
        <p:txBody>
          <a:bodyPr vert="horz" wrap="square" rtlCol="0">
            <a:noAutofit/>
          </a:bodyPr>
          <a:lstStyle/>
          <a:p>
            <a:r>
              <a:rPr lang="en-IN" sz="1100" b="1">
                <a:solidFill>
                  <a:srgbClr val="1E293B"/>
                </a:solidFill>
                <a:latin typeface="Calibri" panose="020F0502020204030204" pitchFamily="34" charset="0"/>
              </a:rPr>
              <a:t>Portability</a:t>
            </a:r>
          </a:p>
        </p:txBody>
      </p:sp>
      <p:sp>
        <p:nvSpPr>
          <p:cNvPr id="37" name="Rectangle 36">
            <a:extLst>
              <a:ext uri="{FF2B5EF4-FFF2-40B4-BE49-F238E27FC236}">
                <a16:creationId xmlns:a16="http://schemas.microsoft.com/office/drawing/2014/main" id="{6BB0AD12-0C74-D6A0-99DD-7F09D70DA97E}"/>
              </a:ext>
            </a:extLst>
          </p:cNvPr>
          <p:cNvSpPr/>
          <p:nvPr/>
        </p:nvSpPr>
        <p:spPr>
          <a:xfrm>
            <a:off x="2540000" y="2844800"/>
            <a:ext cx="4826000" cy="165100"/>
          </a:xfrm>
          <a:prstGeom prst="rect">
            <a:avLst/>
          </a:prstGeom>
          <a:solidFill>
            <a:srgbClr val="2980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TextBox 37">
            <a:extLst>
              <a:ext uri="{FF2B5EF4-FFF2-40B4-BE49-F238E27FC236}">
                <a16:creationId xmlns:a16="http://schemas.microsoft.com/office/drawing/2014/main" id="{7949F946-6FA2-5CFE-456A-9DB1E4B930B1}"/>
              </a:ext>
            </a:extLst>
          </p:cNvPr>
          <p:cNvSpPr txBox="1"/>
          <p:nvPr/>
        </p:nvSpPr>
        <p:spPr>
          <a:xfrm>
            <a:off x="7404100" y="2844800"/>
            <a:ext cx="330200" cy="369332"/>
          </a:xfrm>
          <a:prstGeom prst="rect">
            <a:avLst/>
          </a:prstGeom>
          <a:noFill/>
        </p:spPr>
        <p:txBody>
          <a:bodyPr vert="horz" wrap="square" rtlCol="0">
            <a:noAutofit/>
          </a:bodyPr>
          <a:lstStyle/>
          <a:p>
            <a:r>
              <a:rPr lang="en-IN" sz="900" b="1">
                <a:solidFill>
                  <a:srgbClr val="2980B9"/>
                </a:solidFill>
                <a:latin typeface="Calibri" panose="020F0502020204030204" pitchFamily="34" charset="0"/>
              </a:rPr>
              <a:t>95%</a:t>
            </a:r>
          </a:p>
        </p:txBody>
      </p:sp>
      <p:sp>
        <p:nvSpPr>
          <p:cNvPr id="39" name="Rectangle 38">
            <a:extLst>
              <a:ext uri="{FF2B5EF4-FFF2-40B4-BE49-F238E27FC236}">
                <a16:creationId xmlns:a16="http://schemas.microsoft.com/office/drawing/2014/main" id="{0A04F110-A6E1-C3D2-6C7F-97C91F6EB1EB}"/>
              </a:ext>
            </a:extLst>
          </p:cNvPr>
          <p:cNvSpPr/>
          <p:nvPr/>
        </p:nvSpPr>
        <p:spPr>
          <a:xfrm>
            <a:off x="2540000" y="3048000"/>
            <a:ext cx="2133600" cy="165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TextBox 39">
            <a:extLst>
              <a:ext uri="{FF2B5EF4-FFF2-40B4-BE49-F238E27FC236}">
                <a16:creationId xmlns:a16="http://schemas.microsoft.com/office/drawing/2014/main" id="{F03ACF4A-E443-E68C-4D8B-99DB85F69214}"/>
              </a:ext>
            </a:extLst>
          </p:cNvPr>
          <p:cNvSpPr txBox="1"/>
          <p:nvPr/>
        </p:nvSpPr>
        <p:spPr>
          <a:xfrm>
            <a:off x="4711700" y="3048000"/>
            <a:ext cx="330200" cy="369332"/>
          </a:xfrm>
          <a:prstGeom prst="rect">
            <a:avLst/>
          </a:prstGeom>
          <a:noFill/>
        </p:spPr>
        <p:txBody>
          <a:bodyPr vert="horz" wrap="square" rtlCol="0">
            <a:noAutofit/>
          </a:bodyPr>
          <a:lstStyle/>
          <a:p>
            <a:r>
              <a:rPr lang="en-IN" sz="900" b="1">
                <a:solidFill>
                  <a:srgbClr val="C9A84C"/>
                </a:solidFill>
                <a:latin typeface="Calibri" panose="020F0502020204030204" pitchFamily="34" charset="0"/>
              </a:rPr>
              <a:t>42%</a:t>
            </a:r>
          </a:p>
        </p:txBody>
      </p:sp>
      <p:sp>
        <p:nvSpPr>
          <p:cNvPr id="41" name="Rectangle 40">
            <a:extLst>
              <a:ext uri="{FF2B5EF4-FFF2-40B4-BE49-F238E27FC236}">
                <a16:creationId xmlns:a16="http://schemas.microsoft.com/office/drawing/2014/main" id="{CF367B10-BDF9-B06B-53FB-412EAF05EDE2}"/>
              </a:ext>
            </a:extLst>
          </p:cNvPr>
          <p:cNvSpPr/>
          <p:nvPr/>
        </p:nvSpPr>
        <p:spPr>
          <a:xfrm>
            <a:off x="355600" y="3378200"/>
            <a:ext cx="8407400" cy="584200"/>
          </a:xfrm>
          <a:prstGeom prst="rect">
            <a:avLst/>
          </a:prstGeom>
          <a:solidFill>
            <a:srgbClr val="F3F7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3EDA6676-E2EF-A23A-BBD7-5339D5B88ACB}"/>
              </a:ext>
            </a:extLst>
          </p:cNvPr>
          <p:cNvSpPr txBox="1"/>
          <p:nvPr/>
        </p:nvSpPr>
        <p:spPr>
          <a:xfrm>
            <a:off x="406400" y="3505200"/>
            <a:ext cx="1981200" cy="369332"/>
          </a:xfrm>
          <a:prstGeom prst="rect">
            <a:avLst/>
          </a:prstGeom>
          <a:noFill/>
        </p:spPr>
        <p:txBody>
          <a:bodyPr vert="horz" wrap="square" rtlCol="0">
            <a:noAutofit/>
          </a:bodyPr>
          <a:lstStyle/>
          <a:p>
            <a:r>
              <a:rPr lang="en-IN" sz="1100" b="1">
                <a:solidFill>
                  <a:srgbClr val="1E293B"/>
                </a:solidFill>
                <a:latin typeface="Calibri" panose="020F0502020204030204" pitchFamily="34" charset="0"/>
              </a:rPr>
              <a:t>Cost Efficiency</a:t>
            </a:r>
          </a:p>
        </p:txBody>
      </p:sp>
      <p:sp>
        <p:nvSpPr>
          <p:cNvPr id="43" name="Rectangle 42">
            <a:extLst>
              <a:ext uri="{FF2B5EF4-FFF2-40B4-BE49-F238E27FC236}">
                <a16:creationId xmlns:a16="http://schemas.microsoft.com/office/drawing/2014/main" id="{FD51F5A3-D137-1EA4-E1F8-65A6ECCFB84B}"/>
              </a:ext>
            </a:extLst>
          </p:cNvPr>
          <p:cNvSpPr/>
          <p:nvPr/>
        </p:nvSpPr>
        <p:spPr>
          <a:xfrm>
            <a:off x="2540000" y="3429000"/>
            <a:ext cx="4470400" cy="165100"/>
          </a:xfrm>
          <a:prstGeom prst="rect">
            <a:avLst/>
          </a:prstGeom>
          <a:solidFill>
            <a:srgbClr val="2980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TextBox 43">
            <a:extLst>
              <a:ext uri="{FF2B5EF4-FFF2-40B4-BE49-F238E27FC236}">
                <a16:creationId xmlns:a16="http://schemas.microsoft.com/office/drawing/2014/main" id="{C5E5798B-ADE5-E54D-7904-A664AA2BB9BE}"/>
              </a:ext>
            </a:extLst>
          </p:cNvPr>
          <p:cNvSpPr txBox="1"/>
          <p:nvPr/>
        </p:nvSpPr>
        <p:spPr>
          <a:xfrm>
            <a:off x="7048500" y="3429000"/>
            <a:ext cx="330200" cy="369332"/>
          </a:xfrm>
          <a:prstGeom prst="rect">
            <a:avLst/>
          </a:prstGeom>
          <a:noFill/>
        </p:spPr>
        <p:txBody>
          <a:bodyPr vert="horz" wrap="square" rtlCol="0">
            <a:noAutofit/>
          </a:bodyPr>
          <a:lstStyle/>
          <a:p>
            <a:r>
              <a:rPr lang="en-IN" sz="900" b="1">
                <a:solidFill>
                  <a:srgbClr val="2980B9"/>
                </a:solidFill>
                <a:latin typeface="Calibri" panose="020F0502020204030204" pitchFamily="34" charset="0"/>
              </a:rPr>
              <a:t>88%</a:t>
            </a:r>
          </a:p>
        </p:txBody>
      </p:sp>
      <p:sp>
        <p:nvSpPr>
          <p:cNvPr id="45" name="Rectangle 44">
            <a:extLst>
              <a:ext uri="{FF2B5EF4-FFF2-40B4-BE49-F238E27FC236}">
                <a16:creationId xmlns:a16="http://schemas.microsoft.com/office/drawing/2014/main" id="{CD29FBB1-1DE7-4CFD-6061-2BCD70BA4B98}"/>
              </a:ext>
            </a:extLst>
          </p:cNvPr>
          <p:cNvSpPr/>
          <p:nvPr/>
        </p:nvSpPr>
        <p:spPr>
          <a:xfrm>
            <a:off x="2540000" y="3632200"/>
            <a:ext cx="2794000" cy="165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TextBox 45">
            <a:extLst>
              <a:ext uri="{FF2B5EF4-FFF2-40B4-BE49-F238E27FC236}">
                <a16:creationId xmlns:a16="http://schemas.microsoft.com/office/drawing/2014/main" id="{88A08D18-2B69-C9BC-3081-BA25C53B4B4A}"/>
              </a:ext>
            </a:extLst>
          </p:cNvPr>
          <p:cNvSpPr txBox="1"/>
          <p:nvPr/>
        </p:nvSpPr>
        <p:spPr>
          <a:xfrm>
            <a:off x="5372100" y="3632200"/>
            <a:ext cx="330200" cy="369332"/>
          </a:xfrm>
          <a:prstGeom prst="rect">
            <a:avLst/>
          </a:prstGeom>
          <a:noFill/>
        </p:spPr>
        <p:txBody>
          <a:bodyPr vert="horz" wrap="square" rtlCol="0">
            <a:noAutofit/>
          </a:bodyPr>
          <a:lstStyle/>
          <a:p>
            <a:r>
              <a:rPr lang="en-IN" sz="900" b="1">
                <a:solidFill>
                  <a:srgbClr val="C9A84C"/>
                </a:solidFill>
                <a:latin typeface="Calibri" panose="020F0502020204030204" pitchFamily="34" charset="0"/>
              </a:rPr>
              <a:t>55%</a:t>
            </a:r>
          </a:p>
        </p:txBody>
      </p:sp>
      <p:sp>
        <p:nvSpPr>
          <p:cNvPr id="47" name="TextBox 46">
            <a:extLst>
              <a:ext uri="{FF2B5EF4-FFF2-40B4-BE49-F238E27FC236}">
                <a16:creationId xmlns:a16="http://schemas.microsoft.com/office/drawing/2014/main" id="{6C6C0F46-D80F-254A-8BE2-20EE66D9F56A}"/>
              </a:ext>
            </a:extLst>
          </p:cNvPr>
          <p:cNvSpPr txBox="1"/>
          <p:nvPr/>
        </p:nvSpPr>
        <p:spPr>
          <a:xfrm>
            <a:off x="406400" y="4089400"/>
            <a:ext cx="1981200" cy="369332"/>
          </a:xfrm>
          <a:prstGeom prst="rect">
            <a:avLst/>
          </a:prstGeom>
          <a:noFill/>
        </p:spPr>
        <p:txBody>
          <a:bodyPr vert="horz" wrap="square" rtlCol="0">
            <a:noAutofit/>
          </a:bodyPr>
          <a:lstStyle/>
          <a:p>
            <a:r>
              <a:rPr lang="en-IN" sz="1100" b="1">
                <a:solidFill>
                  <a:srgbClr val="1E293B"/>
                </a:solidFill>
                <a:latin typeface="Calibri" panose="020F0502020204030204" pitchFamily="34" charset="0"/>
              </a:rPr>
              <a:t>PACS Integration</a:t>
            </a:r>
          </a:p>
        </p:txBody>
      </p:sp>
      <p:sp>
        <p:nvSpPr>
          <p:cNvPr id="48" name="Rectangle 47">
            <a:extLst>
              <a:ext uri="{FF2B5EF4-FFF2-40B4-BE49-F238E27FC236}">
                <a16:creationId xmlns:a16="http://schemas.microsoft.com/office/drawing/2014/main" id="{E3FD7D75-68E5-F501-5CDB-5E470FBAE0B0}"/>
              </a:ext>
            </a:extLst>
          </p:cNvPr>
          <p:cNvSpPr/>
          <p:nvPr/>
        </p:nvSpPr>
        <p:spPr>
          <a:xfrm>
            <a:off x="2540000" y="4013200"/>
            <a:ext cx="3556000" cy="165100"/>
          </a:xfrm>
          <a:prstGeom prst="rect">
            <a:avLst/>
          </a:prstGeom>
          <a:solidFill>
            <a:srgbClr val="2980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TextBox 48">
            <a:extLst>
              <a:ext uri="{FF2B5EF4-FFF2-40B4-BE49-F238E27FC236}">
                <a16:creationId xmlns:a16="http://schemas.microsoft.com/office/drawing/2014/main" id="{1D810B33-9C5F-64F8-CF4A-D60C1AC1ADE2}"/>
              </a:ext>
            </a:extLst>
          </p:cNvPr>
          <p:cNvSpPr txBox="1"/>
          <p:nvPr/>
        </p:nvSpPr>
        <p:spPr>
          <a:xfrm>
            <a:off x="6134100" y="4013200"/>
            <a:ext cx="330200" cy="369332"/>
          </a:xfrm>
          <a:prstGeom prst="rect">
            <a:avLst/>
          </a:prstGeom>
          <a:noFill/>
        </p:spPr>
        <p:txBody>
          <a:bodyPr vert="horz" wrap="square" rtlCol="0">
            <a:noAutofit/>
          </a:bodyPr>
          <a:lstStyle/>
          <a:p>
            <a:r>
              <a:rPr lang="en-IN" sz="900" b="1">
                <a:solidFill>
                  <a:srgbClr val="2980B9"/>
                </a:solidFill>
                <a:latin typeface="Calibri" panose="020F0502020204030204" pitchFamily="34" charset="0"/>
              </a:rPr>
              <a:t>70%</a:t>
            </a:r>
          </a:p>
        </p:txBody>
      </p:sp>
      <p:sp>
        <p:nvSpPr>
          <p:cNvPr id="50" name="Rectangle 49">
            <a:extLst>
              <a:ext uri="{FF2B5EF4-FFF2-40B4-BE49-F238E27FC236}">
                <a16:creationId xmlns:a16="http://schemas.microsoft.com/office/drawing/2014/main" id="{F2765097-5FBD-C7A8-2198-ABADAD8724B3}"/>
              </a:ext>
            </a:extLst>
          </p:cNvPr>
          <p:cNvSpPr/>
          <p:nvPr/>
        </p:nvSpPr>
        <p:spPr>
          <a:xfrm>
            <a:off x="2540000" y="4216400"/>
            <a:ext cx="4978400" cy="165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TextBox 50">
            <a:extLst>
              <a:ext uri="{FF2B5EF4-FFF2-40B4-BE49-F238E27FC236}">
                <a16:creationId xmlns:a16="http://schemas.microsoft.com/office/drawing/2014/main" id="{DB3F2BCE-7B03-82B0-C5D6-484067251CE3}"/>
              </a:ext>
            </a:extLst>
          </p:cNvPr>
          <p:cNvSpPr txBox="1"/>
          <p:nvPr/>
        </p:nvSpPr>
        <p:spPr>
          <a:xfrm>
            <a:off x="7556500" y="4216400"/>
            <a:ext cx="330200" cy="369332"/>
          </a:xfrm>
          <a:prstGeom prst="rect">
            <a:avLst/>
          </a:prstGeom>
          <a:noFill/>
        </p:spPr>
        <p:txBody>
          <a:bodyPr vert="horz" wrap="square" rtlCol="0">
            <a:noAutofit/>
          </a:bodyPr>
          <a:lstStyle/>
          <a:p>
            <a:r>
              <a:rPr lang="en-IN" sz="900" b="1">
                <a:solidFill>
                  <a:srgbClr val="C9A84C"/>
                </a:solidFill>
                <a:latin typeface="Calibri" panose="020F0502020204030204" pitchFamily="34" charset="0"/>
              </a:rPr>
              <a:t>98%</a:t>
            </a:r>
          </a:p>
        </p:txBody>
      </p:sp>
      <p:sp>
        <p:nvSpPr>
          <p:cNvPr id="52" name="Rectangle 51">
            <a:extLst>
              <a:ext uri="{FF2B5EF4-FFF2-40B4-BE49-F238E27FC236}">
                <a16:creationId xmlns:a16="http://schemas.microsoft.com/office/drawing/2014/main" id="{7A92F116-CCDB-E0BB-D9F7-E77595E3373E}"/>
              </a:ext>
            </a:extLst>
          </p:cNvPr>
          <p:cNvSpPr/>
          <p:nvPr/>
        </p:nvSpPr>
        <p:spPr>
          <a:xfrm>
            <a:off x="2794000" y="4775200"/>
            <a:ext cx="203200" cy="127000"/>
          </a:xfrm>
          <a:prstGeom prst="rect">
            <a:avLst/>
          </a:prstGeom>
          <a:solidFill>
            <a:srgbClr val="2980B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TextBox 52">
            <a:extLst>
              <a:ext uri="{FF2B5EF4-FFF2-40B4-BE49-F238E27FC236}">
                <a16:creationId xmlns:a16="http://schemas.microsoft.com/office/drawing/2014/main" id="{5EBE1193-29A5-74D6-9CAD-081665331455}"/>
              </a:ext>
            </a:extLst>
          </p:cNvPr>
          <p:cNvSpPr txBox="1"/>
          <p:nvPr/>
        </p:nvSpPr>
        <p:spPr>
          <a:xfrm>
            <a:off x="3048000" y="4749800"/>
            <a:ext cx="2286000" cy="369332"/>
          </a:xfrm>
          <a:prstGeom prst="rect">
            <a:avLst/>
          </a:prstGeom>
          <a:noFill/>
        </p:spPr>
        <p:txBody>
          <a:bodyPr vert="horz" wrap="square" rtlCol="0">
            <a:noAutofit/>
          </a:bodyPr>
          <a:lstStyle/>
          <a:p>
            <a:r>
              <a:rPr lang="en-IN" sz="900">
                <a:solidFill>
                  <a:srgbClr val="1E293B"/>
                </a:solidFill>
                <a:latin typeface="Calibri" panose="020F0502020204030204" pitchFamily="34" charset="0"/>
              </a:rPr>
              <a:t>Computed Radiography (CR)</a:t>
            </a:r>
          </a:p>
        </p:txBody>
      </p:sp>
      <p:sp>
        <p:nvSpPr>
          <p:cNvPr id="54" name="Rectangle 53">
            <a:extLst>
              <a:ext uri="{FF2B5EF4-FFF2-40B4-BE49-F238E27FC236}">
                <a16:creationId xmlns:a16="http://schemas.microsoft.com/office/drawing/2014/main" id="{411E2C7B-3EB5-6681-0C2E-1590DD0995E7}"/>
              </a:ext>
            </a:extLst>
          </p:cNvPr>
          <p:cNvSpPr/>
          <p:nvPr/>
        </p:nvSpPr>
        <p:spPr>
          <a:xfrm>
            <a:off x="5588000" y="4775200"/>
            <a:ext cx="203200" cy="1270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TextBox 54">
            <a:extLst>
              <a:ext uri="{FF2B5EF4-FFF2-40B4-BE49-F238E27FC236}">
                <a16:creationId xmlns:a16="http://schemas.microsoft.com/office/drawing/2014/main" id="{8443013B-EAA4-0A1C-E5C4-DFF3FE4C6AF0}"/>
              </a:ext>
            </a:extLst>
          </p:cNvPr>
          <p:cNvSpPr txBox="1"/>
          <p:nvPr/>
        </p:nvSpPr>
        <p:spPr>
          <a:xfrm>
            <a:off x="5842000" y="4749800"/>
            <a:ext cx="2286000" cy="369332"/>
          </a:xfrm>
          <a:prstGeom prst="rect">
            <a:avLst/>
          </a:prstGeom>
          <a:noFill/>
        </p:spPr>
        <p:txBody>
          <a:bodyPr vert="horz" wrap="square" rtlCol="0">
            <a:noAutofit/>
          </a:bodyPr>
          <a:lstStyle/>
          <a:p>
            <a:r>
              <a:rPr lang="en-IN" sz="900">
                <a:solidFill>
                  <a:srgbClr val="1E293B"/>
                </a:solidFill>
                <a:latin typeface="Calibri" panose="020F0502020204030204" pitchFamily="34" charset="0"/>
              </a:rPr>
              <a:t>Digital Radiography (DR)</a:t>
            </a:r>
          </a:p>
        </p:txBody>
      </p:sp>
    </p:spTree>
    <p:extLst>
      <p:ext uri="{BB962C8B-B14F-4D97-AF65-F5344CB8AC3E}">
        <p14:creationId xmlns:p14="http://schemas.microsoft.com/office/powerpoint/2010/main" val="2268434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45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9BC8FE-A7FB-E87C-9005-B6F17F7AE6B2}"/>
              </a:ext>
            </a:extLst>
          </p:cNvPr>
          <p:cNvSpPr/>
          <p:nvPr/>
        </p:nvSpPr>
        <p:spPr>
          <a:xfrm>
            <a:off x="0" y="0"/>
            <a:ext cx="9144000" cy="51435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7F725E03-53AA-83F6-2677-3773DFBA91BD}"/>
              </a:ext>
            </a:extLst>
          </p:cNvPr>
          <p:cNvSpPr/>
          <p:nvPr/>
        </p:nvSpPr>
        <p:spPr>
          <a:xfrm>
            <a:off x="0" y="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EE293474-09DA-1EC3-F443-5A796F9E97AD}"/>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C939BF94-9853-2DDA-96B2-D1A55EA07E5F}"/>
              </a:ext>
            </a:extLst>
          </p:cNvPr>
          <p:cNvSpPr/>
          <p:nvPr/>
        </p:nvSpPr>
        <p:spPr>
          <a:xfrm>
            <a:off x="-1016000" y="2286000"/>
            <a:ext cx="3556000" cy="3556000"/>
          </a:xfrm>
          <a:prstGeom prst="ellipse">
            <a:avLst/>
          </a:prstGeom>
          <a:solidFill>
            <a:srgbClr val="1228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575F4CE0-51B1-388B-F510-4D605F05F217}"/>
              </a:ext>
            </a:extLst>
          </p:cNvPr>
          <p:cNvSpPr txBox="1"/>
          <p:nvPr/>
        </p:nvSpPr>
        <p:spPr>
          <a:xfrm>
            <a:off x="762000" y="660400"/>
            <a:ext cx="7620000" cy="369332"/>
          </a:xfrm>
          <a:prstGeom prst="rect">
            <a:avLst/>
          </a:prstGeom>
          <a:noFill/>
        </p:spPr>
        <p:txBody>
          <a:bodyPr vert="horz" wrap="square" rtlCol="0">
            <a:noAutofit/>
          </a:bodyPr>
          <a:lstStyle/>
          <a:p>
            <a:pPr algn="ctr"/>
            <a:r>
              <a:rPr lang="en-IN" sz="2600" b="1">
                <a:solidFill>
                  <a:srgbClr val="C9A84C"/>
                </a:solidFill>
                <a:latin typeface="Calibri" panose="020F0502020204030204" pitchFamily="34" charset="0"/>
              </a:rPr>
              <a:t>CONCLUSION</a:t>
            </a:r>
          </a:p>
        </p:txBody>
      </p:sp>
      <p:sp>
        <p:nvSpPr>
          <p:cNvPr id="7" name="Rectangle 6">
            <a:extLst>
              <a:ext uri="{FF2B5EF4-FFF2-40B4-BE49-F238E27FC236}">
                <a16:creationId xmlns:a16="http://schemas.microsoft.com/office/drawing/2014/main" id="{80F7D6B1-E137-37EC-6561-D217BB322DEA}"/>
              </a:ext>
            </a:extLst>
          </p:cNvPr>
          <p:cNvSpPr/>
          <p:nvPr/>
        </p:nvSpPr>
        <p:spPr>
          <a:xfrm>
            <a:off x="2286000" y="1219200"/>
            <a:ext cx="4572000" cy="254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5B75723C-04C4-3A3A-C0C4-2A3307516AB4}"/>
              </a:ext>
            </a:extLst>
          </p:cNvPr>
          <p:cNvSpPr txBox="1"/>
          <p:nvPr/>
        </p:nvSpPr>
        <p:spPr>
          <a:xfrm>
            <a:off x="1016000" y="1346200"/>
            <a:ext cx="7112000" cy="369332"/>
          </a:xfrm>
          <a:prstGeom prst="rect">
            <a:avLst/>
          </a:prstGeom>
          <a:noFill/>
        </p:spPr>
        <p:txBody>
          <a:bodyPr vert="horz" wrap="square" rtlCol="0">
            <a:noAutofit/>
          </a:bodyPr>
          <a:lstStyle/>
          <a:p>
            <a:pPr algn="ctr"/>
            <a:r>
              <a:rPr lang="en-US" sz="1300">
                <a:solidFill>
                  <a:srgbClr val="E8D5A3"/>
                </a:solidFill>
                <a:latin typeface="Calibri Light" panose="020F0302020204030204" pitchFamily="34" charset="0"/>
              </a:rPr>
              <a:t>Digital radiography -- both CR and DR -- represents a paradigm shift in diagnostic imaging. CR provides an affordable entry point using existing X-ray hardware, while DR delivers superior workflow efficiency and the lowest achievable patient radiation dose. Understanding the technical basis of each modality empowers radiologists and clinicians to select the most appropriate system for their practice setting.</a:t>
            </a:r>
            <a:endParaRPr lang="en-IN" sz="1300">
              <a:solidFill>
                <a:srgbClr val="E8D5A3"/>
              </a:solidFill>
              <a:latin typeface="Calibri Light" panose="020F0302020204030204" pitchFamily="34" charset="0"/>
            </a:endParaRPr>
          </a:p>
        </p:txBody>
      </p:sp>
      <p:sp>
        <p:nvSpPr>
          <p:cNvPr id="9" name="Rectangle 8">
            <a:extLst>
              <a:ext uri="{FF2B5EF4-FFF2-40B4-BE49-F238E27FC236}">
                <a16:creationId xmlns:a16="http://schemas.microsoft.com/office/drawing/2014/main" id="{520BBA96-EC26-809F-0D44-69D97C0F9947}"/>
              </a:ext>
            </a:extLst>
          </p:cNvPr>
          <p:cNvSpPr/>
          <p:nvPr/>
        </p:nvSpPr>
        <p:spPr>
          <a:xfrm>
            <a:off x="2286000" y="3708400"/>
            <a:ext cx="4572000" cy="254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59B9E459-95A8-2E07-337A-696D094CE390}"/>
              </a:ext>
            </a:extLst>
          </p:cNvPr>
          <p:cNvSpPr txBox="1"/>
          <p:nvPr/>
        </p:nvSpPr>
        <p:spPr>
          <a:xfrm>
            <a:off x="762000" y="3860800"/>
            <a:ext cx="7620000" cy="369332"/>
          </a:xfrm>
          <a:prstGeom prst="rect">
            <a:avLst/>
          </a:prstGeom>
          <a:noFill/>
        </p:spPr>
        <p:txBody>
          <a:bodyPr vert="horz" wrap="square" rtlCol="0">
            <a:noAutofit/>
          </a:bodyPr>
          <a:lstStyle/>
          <a:p>
            <a:pPr algn="ctr"/>
            <a:r>
              <a:rPr lang="en-IN" sz="3600" b="1">
                <a:solidFill>
                  <a:srgbClr val="FFFFFF"/>
                </a:solidFill>
                <a:latin typeface="Calibri" panose="020F0502020204030204" pitchFamily="34" charset="0"/>
              </a:rPr>
              <a:t>Thank You</a:t>
            </a:r>
          </a:p>
        </p:txBody>
      </p:sp>
      <p:sp>
        <p:nvSpPr>
          <p:cNvPr id="11" name="TextBox 10">
            <a:extLst>
              <a:ext uri="{FF2B5EF4-FFF2-40B4-BE49-F238E27FC236}">
                <a16:creationId xmlns:a16="http://schemas.microsoft.com/office/drawing/2014/main" id="{C50B86B4-E089-FC87-CE8B-A8F5C8FC6542}"/>
              </a:ext>
            </a:extLst>
          </p:cNvPr>
          <p:cNvSpPr txBox="1"/>
          <p:nvPr/>
        </p:nvSpPr>
        <p:spPr>
          <a:xfrm>
            <a:off x="762000" y="4495800"/>
            <a:ext cx="7620000" cy="369332"/>
          </a:xfrm>
          <a:prstGeom prst="rect">
            <a:avLst/>
          </a:prstGeom>
          <a:noFill/>
        </p:spPr>
        <p:txBody>
          <a:bodyPr vert="horz" wrap="square" rtlCol="0">
            <a:noAutofit/>
          </a:bodyPr>
          <a:lstStyle/>
          <a:p>
            <a:pPr algn="ctr"/>
            <a:r>
              <a:rPr lang="en-IN" sz="1100">
                <a:solidFill>
                  <a:srgbClr val="94A3B8"/>
                </a:solidFill>
                <a:latin typeface="Calibri" panose="020F0502020204030204" pitchFamily="34" charset="0"/>
              </a:rPr>
              <a:t>Dr. Ramandeep Kaur  |  Junior Resident  |  Dept. of Radiodiagnosis  |  GMCH Patiala</a:t>
            </a:r>
          </a:p>
        </p:txBody>
      </p:sp>
    </p:spTree>
    <p:extLst>
      <p:ext uri="{BB962C8B-B14F-4D97-AF65-F5344CB8AC3E}">
        <p14:creationId xmlns:p14="http://schemas.microsoft.com/office/powerpoint/2010/main" val="112087028"/>
      </p:ext>
    </p:extLst>
  </p:cSld>
  <p:clrMapOvr>
    <a:masterClrMapping/>
  </p:clrMapOvr>
  <p:transition spd="med">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path" presetSubtype="0" accel="50000" decel="50000" fill="hold" grpId="0" nodeType="afterEffect">
                                  <p:stCondLst>
                                    <p:cond delay="100"/>
                                  </p:stCondLst>
                                  <p:childTnLst>
                                    <p:animMotion origin="layout" path="M 0 0 L 0.25 0.25 E" pathEditMode="relative" ptsTypes="">
                                      <p:cBhvr>
                                        <p:cTn id="6" dur="500" fill="hold"/>
                                        <p:tgtEl>
                                          <p:spTgt spid="6"/>
                                        </p:tgtEl>
                                        <p:attrNameLst>
                                          <p:attrName>ppt_x</p:attrName>
                                          <p:attrName>ppt_y</p:attrName>
                                        </p:attrNameLst>
                                      </p:cBhvr>
                                    </p:animMotion>
                                  </p:childTnLst>
                                </p:cTn>
                              </p:par>
                            </p:childTnLst>
                          </p:cTn>
                        </p:par>
                        <p:par>
                          <p:cTn id="7" fill="hold">
                            <p:stCondLst>
                              <p:cond delay="600"/>
                            </p:stCondLst>
                            <p:childTnLst>
                              <p:par>
                                <p:cTn id="8" presetID="49" presetClass="path" presetSubtype="0" accel="50000" decel="50000" fill="hold" grpId="0" nodeType="afterEffect">
                                  <p:stCondLst>
                                    <p:cond delay="220"/>
                                  </p:stCondLst>
                                  <p:childTnLst>
                                    <p:animMotion origin="layout" path="M 0 0 L 0.25 0.25 E" pathEditMode="relative" ptsTypes="">
                                      <p:cBhvr>
                                        <p:cTn id="9" dur="500" fill="hold"/>
                                        <p:tgtEl>
                                          <p:spTgt spid="8"/>
                                        </p:tgtEl>
                                        <p:attrNameLst>
                                          <p:attrName>ppt_x</p:attrName>
                                          <p:attrName>ppt_y</p:attrName>
                                        </p:attrNameLst>
                                      </p:cBhvr>
                                    </p:animMotion>
                                  </p:childTnLst>
                                </p:cTn>
                              </p:par>
                            </p:childTnLst>
                          </p:cTn>
                        </p:par>
                        <p:par>
                          <p:cTn id="10" fill="hold">
                            <p:stCondLst>
                              <p:cond delay="1320"/>
                            </p:stCondLst>
                            <p:childTnLst>
                              <p:par>
                                <p:cTn id="11" presetID="49" presetClass="path" presetSubtype="0" accel="50000" decel="50000" fill="hold" grpId="0" nodeType="afterEffect">
                                  <p:stCondLst>
                                    <p:cond delay="340"/>
                                  </p:stCondLst>
                                  <p:childTnLst>
                                    <p:animMotion origin="layout" path="M 0 0 L 0.25 0.25 E" pathEditMode="relative" ptsTypes="">
                                      <p:cBhvr>
                                        <p:cTn id="12" dur="500" fill="hold"/>
                                        <p:tgtEl>
                                          <p:spTgt spid="10"/>
                                        </p:tgtEl>
                                        <p:attrNameLst>
                                          <p:attrName>ppt_x</p:attrName>
                                          <p:attrName>ppt_y</p:attrName>
                                        </p:attrNameLst>
                                      </p:cBhvr>
                                    </p:animMotion>
                                  </p:childTnLst>
                                </p:cTn>
                              </p:par>
                            </p:childTnLst>
                          </p:cTn>
                        </p:par>
                        <p:par>
                          <p:cTn id="13" fill="hold">
                            <p:stCondLst>
                              <p:cond delay="2160"/>
                            </p:stCondLst>
                            <p:childTnLst>
                              <p:par>
                                <p:cTn id="14" presetID="49" presetClass="path" presetSubtype="0" accel="50000" decel="50000" fill="hold" grpId="0" nodeType="afterEffect">
                                  <p:stCondLst>
                                    <p:cond delay="460"/>
                                  </p:stCondLst>
                                  <p:childTnLst>
                                    <p:animMotion origin="layout" path="M 0 0 L 0.25 0.25 E" pathEditMode="relative" ptsTypes="">
                                      <p:cBhvr>
                                        <p:cTn id="15" dur="500" fill="hold"/>
                                        <p:tgtEl>
                                          <p:spTgt spid="1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07D60F2-0AE7-3464-9DE9-79FD53FFEB20}"/>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7A829475-59DF-4093-C47B-02ED4A4F2DF4}"/>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E4C79DEE-B6D2-2EE7-DB9C-7CDDDA98E98F}"/>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3AEB3D20-1D2D-AF89-5E07-0DD9A21CEEFF}"/>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DD908B1F-5FB2-9B09-38EB-D5D06337ECCA}"/>
              </a:ext>
            </a:extLst>
          </p:cNvPr>
          <p:cNvSpPr txBox="1"/>
          <p:nvPr/>
        </p:nvSpPr>
        <p:spPr>
          <a:xfrm>
            <a:off x="228600" y="152400"/>
            <a:ext cx="8686800" cy="369332"/>
          </a:xfrm>
          <a:prstGeom prst="rect">
            <a:avLst/>
          </a:prstGeom>
          <a:noFill/>
        </p:spPr>
        <p:txBody>
          <a:bodyPr vert="horz" wrap="square" rtlCol="0">
            <a:noAutofit/>
          </a:bodyPr>
          <a:lstStyle/>
          <a:p>
            <a:r>
              <a:rPr lang="en-IN" sz="2200" b="1">
                <a:solidFill>
                  <a:srgbClr val="FFFFFF"/>
                </a:solidFill>
                <a:latin typeface="Calibri" panose="020F0502020204030204" pitchFamily="34" charset="0"/>
              </a:rPr>
              <a:t>References</a:t>
            </a:r>
          </a:p>
        </p:txBody>
      </p:sp>
      <p:sp>
        <p:nvSpPr>
          <p:cNvPr id="7" name="TextBox 6">
            <a:extLst>
              <a:ext uri="{FF2B5EF4-FFF2-40B4-BE49-F238E27FC236}">
                <a16:creationId xmlns:a16="http://schemas.microsoft.com/office/drawing/2014/main" id="{A8E1B718-FC1A-4BDC-0BA8-248FE8E81362}"/>
              </a:ext>
            </a:extLst>
          </p:cNvPr>
          <p:cNvSpPr txBox="1"/>
          <p:nvPr/>
        </p:nvSpPr>
        <p:spPr>
          <a:xfrm>
            <a:off x="482600" y="965200"/>
            <a:ext cx="8178800" cy="369332"/>
          </a:xfrm>
          <a:prstGeom prst="rect">
            <a:avLst/>
          </a:prstGeom>
          <a:noFill/>
        </p:spPr>
        <p:txBody>
          <a:bodyPr vert="horz" wrap="square" rtlCol="0">
            <a:noAutofit/>
          </a:bodyPr>
          <a:lstStyle/>
          <a:p>
            <a:r>
              <a:rPr lang="en-IN" sz="1150">
                <a:solidFill>
                  <a:srgbClr val="1E293B"/>
                </a:solidFill>
                <a:latin typeface="Calibri" panose="020F0502020204030204" pitchFamily="34" charset="0"/>
              </a:rPr>
              <a:t>1.  Bushberg JT, Seibert JA, Leidholdt EM, Boone JM. The Essential Physics of Medical Imaging. 3rd ed.
     Lippincott Williams and Wilkins; 2012. ISBN 978-0-7817-8057-5.
2.  Rowlands JA. The physics of computed radiography. Phys Med Biol. 2002;47(23):R123-R166.
     DOI: 10.1088/0031-9155/47/23/201
3.  Chotas HG, Dobbins JT, Ravin CE. Principles of digital radiography with large-area electronically
     readable detectors. Radiology. 1999;210(3):595-599.
4.  Fischbach F, et al. Comparison of indirect CsI/a-Si flat panel and screen film radiography.
     Eur Radiol. 2002;12(12):2949-2956.
5.  Seibert JA. Digital Radiography: The bottom line comparison of CR and DR technology.
     Applied Radiology. 2009;38(5):21-30.
6.  American College of Radiology (ACR). ACR-AAPM-SIIM Practice Parameter for Digital Radiography. 2017.</a:t>
            </a:r>
          </a:p>
        </p:txBody>
      </p:sp>
    </p:spTree>
    <p:extLst>
      <p:ext uri="{BB962C8B-B14F-4D97-AF65-F5344CB8AC3E}">
        <p14:creationId xmlns:p14="http://schemas.microsoft.com/office/powerpoint/2010/main" val="1923421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childTnLst>
                          </p:cTn>
                        </p:par>
                        <p:par>
                          <p:cTn id="8" fill="hold">
                            <p:stCondLst>
                              <p:cond delay="550"/>
                            </p:stCondLst>
                            <p:childTnLst>
                              <p:par>
                                <p:cTn id="9" presetID="10" presetClass="entr" presetSubtype="0" fill="hold" grpId="0" nodeType="afterEffect">
                                  <p:stCondLst>
                                    <p:cond delay="2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F88A4C-6FD4-DA71-D34B-50AA61B1A28D}"/>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57BEA4C6-ED6B-990C-CEF3-E570D3BB2D4B}"/>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DD552FFF-D079-22F3-F943-6CFB57D719ED}"/>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0DE4B9F-618A-F156-8DC4-4FC2E4B97068}"/>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34D0BCC-E5AD-863C-270D-9A77BBE7BCD9}"/>
              </a:ext>
            </a:extLst>
          </p:cNvPr>
          <p:cNvSpPr txBox="1"/>
          <p:nvPr/>
        </p:nvSpPr>
        <p:spPr>
          <a:xfrm>
            <a:off x="228600" y="152400"/>
            <a:ext cx="8686800" cy="369332"/>
          </a:xfrm>
          <a:prstGeom prst="rect">
            <a:avLst/>
          </a:prstGeom>
          <a:noFill/>
        </p:spPr>
        <p:txBody>
          <a:bodyPr vert="horz" wrap="square" rtlCol="0">
            <a:noAutofit/>
          </a:bodyPr>
          <a:lstStyle/>
          <a:p>
            <a:r>
              <a:rPr lang="en-US" sz="2200" b="1">
                <a:solidFill>
                  <a:srgbClr val="FFFFFF"/>
                </a:solidFill>
                <a:latin typeface="Calibri" panose="020F0502020204030204" pitchFamily="34" charset="0"/>
              </a:rPr>
              <a:t>Computed Radiography (CR) System</a:t>
            </a:r>
            <a:endParaRPr lang="en-IN" sz="2200" b="1">
              <a:solidFill>
                <a:srgbClr val="FFFFFF"/>
              </a:solidFill>
              <a:latin typeface="Calibri" panose="020F0502020204030204" pitchFamily="34" charset="0"/>
            </a:endParaRPr>
          </a:p>
        </p:txBody>
      </p:sp>
      <p:pic>
        <p:nvPicPr>
          <p:cNvPr id="20" name="Picture 20"/>
          <p:cNvPicPr>
            <a:picLocks noChangeAspect="1"/>
          </p:cNvPicPr>
          <p:nvPr/>
        </p:nvPicPr>
        <p:blipFill>
          <a:blip r:embed="rId10"/>
          <a:stretch>
            <a:fillRect/>
          </a:stretch>
        </p:blipFill>
        <p:spPr>
          <a:xfrm>
            <a:off x="2476544" y="1000000"/>
            <a:ext cx="4190912" cy="2448000"/>
          </a:xfrm>
          <a:prstGeom prst="rect">
            <a:avLst/>
          </a:prstGeom>
          <a:ln w="9525">
            <a:solidFill>
              <a:srgbClr val="C9A84C"/>
            </a:solidFill>
          </a:ln>
          <a:effectLst>
            <a:outerShdw blurRad="40000" dist="20000" dir="5400000" rotWithShape="0">
              <a:srgbClr val="000000">
                <a:alpha val="22000"/>
              </a:srgbClr>
            </a:outerShdw>
          </a:effectLst>
        </p:spPr>
      </p:pic>
      <p:sp>
        <p:nvSpPr>
          <p:cNvPr id="21" name="Caption 21"/>
          <p:cNvSpPr txBox="1"/>
          <p:nvPr/>
        </p:nvSpPr>
        <p:spPr>
          <a:xfrm>
            <a:off x="1303020" y="3478000"/>
            <a:ext cx="6537960" cy="300000"/>
          </a:xfrm>
          <a:prstGeom prst="rect">
            <a:avLst/>
          </a:prstGeom>
          <a:noFill/>
        </p:spPr>
        <p:txBody>
          <a:bodyPr vert="horz" wrap="square" rtlCol="0">
            <a:noAutofit/>
          </a:bodyPr>
          <a:lstStyle/>
          <a:p>
            <a:pPr algn="ctr"/>
            <a:r>
              <a:rPr lang="en-US" sz="1100" b="1">
                <a:solidFill>
                  <a:srgbClr val="475569"/>
                </a:solidFill>
                <a:latin typeface="Calibri"/>
              </a:rPr>
              <a:t>CR reader unit with imaging plates and diagnostic workstation</a:t>
            </a:r>
          </a:p>
        </p:txBody>
      </p:sp>
      <p:sp>
        <p:nvSpPr>
          <p:cNvPr id="22" name="Note 22"/>
          <p:cNvSpPr txBox="1"/>
          <p:nvPr/>
        </p:nvSpPr>
        <p:spPr>
          <a:xfrm>
            <a:off x="581000" y="3568000"/>
            <a:ext cx="7982000" cy="1432000"/>
          </a:xfrm>
          <a:prstGeom prst="rect">
            <a:avLst/>
          </a:prstGeom>
          <a:noFill/>
        </p:spPr>
        <p:txBody>
          <a:bodyPr vert="horz" wrap="square" rtlCol="0" anchor="ctr">
            <a:noAutofit/>
          </a:bodyPr>
          <a:lstStyle/>
          <a:p>
            <a:pPr algn="l"/>
            <a:r>
              <a:rPr lang="en-US" sz="1300" b="0">
                <a:solidFill>
                  <a:srgbClr val="1E293B"/>
                </a:solidFill>
                <a:latin typeface="Calibri"/>
              </a:rPr>
              <a:t>A complete CR system pairs a plate reader (digitizer) with a review workstation. Exposed PSP imaging plates are fed into the reader, scanned by a laser, and the digital image is displayed for interpretation.</a:t>
            </a:r>
          </a:p>
        </p:txBody>
      </p:sp>
    </p:spTree>
    <p:extLst>
      <p:ext uri="{BB962C8B-B14F-4D97-AF65-F5344CB8AC3E}">
        <p14:creationId xmlns:p14="http://schemas.microsoft.com/office/powerpoint/2010/main" val="4189576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F88A4C-6FD4-DA71-D34B-50AA61B1A28D}"/>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57BEA4C6-ED6B-990C-CEF3-E570D3BB2D4B}"/>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DD552FFF-D079-22F3-F943-6CFB57D719ED}"/>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0DE4B9F-618A-F156-8DC4-4FC2E4B97068}"/>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34D0BCC-E5AD-863C-270D-9A77BBE7BCD9}"/>
              </a:ext>
            </a:extLst>
          </p:cNvPr>
          <p:cNvSpPr txBox="1"/>
          <p:nvPr/>
        </p:nvSpPr>
        <p:spPr>
          <a:xfrm>
            <a:off x="228600" y="152400"/>
            <a:ext cx="8686800" cy="369332"/>
          </a:xfrm>
          <a:prstGeom prst="rect">
            <a:avLst/>
          </a:prstGeom>
          <a:noFill/>
        </p:spPr>
        <p:txBody>
          <a:bodyPr vert="horz" wrap="square" rtlCol="0">
            <a:noAutofit/>
          </a:bodyPr>
          <a:lstStyle/>
          <a:p>
            <a:r>
              <a:rPr lang="en-US" sz="2200" b="1">
                <a:solidFill>
                  <a:srgbClr val="FFFFFF"/>
                </a:solidFill>
                <a:latin typeface="Calibri" panose="020F0502020204030204" pitchFamily="34" charset="0"/>
              </a:rPr>
              <a:t>CR Reader and Imaging Plates</a:t>
            </a:r>
            <a:endParaRPr lang="en-IN" sz="2200" b="1">
              <a:solidFill>
                <a:srgbClr val="FFFFFF"/>
              </a:solidFill>
              <a:latin typeface="Calibri" panose="020F0502020204030204" pitchFamily="34" charset="0"/>
            </a:endParaRPr>
          </a:p>
        </p:txBody>
      </p:sp>
      <p:pic>
        <p:nvPicPr>
          <p:cNvPr id="20" name="Picture0 20"/>
          <p:cNvPicPr>
            <a:picLocks noChangeAspect="1"/>
          </p:cNvPicPr>
          <p:nvPr/>
        </p:nvPicPr>
        <p:blipFill>
          <a:blip r:embed="rId10"/>
          <a:stretch>
            <a:fillRect/>
          </a:stretch>
        </p:blipFill>
        <p:spPr>
          <a:xfrm>
            <a:off x="381000" y="1140445"/>
            <a:ext cx="4011000" cy="2981510"/>
          </a:xfrm>
          <a:prstGeom prst="rect">
            <a:avLst/>
          </a:prstGeom>
          <a:ln w="9525">
            <a:solidFill>
              <a:srgbClr val="C9A84C"/>
            </a:solidFill>
          </a:ln>
          <a:effectLst>
            <a:outerShdw blurRad="40000" dist="20000" dir="5400000" rotWithShape="0">
              <a:srgbClr val="000000">
                <a:alpha val="22000"/>
              </a:srgbClr>
            </a:outerShdw>
          </a:effectLst>
        </p:spPr>
      </p:pic>
      <p:sp>
        <p:nvSpPr>
          <p:cNvPr id="21" name="Caption 21"/>
          <p:cNvSpPr txBox="1"/>
          <p:nvPr/>
        </p:nvSpPr>
        <p:spPr>
          <a:xfrm>
            <a:off x="381000" y="4262400"/>
            <a:ext cx="4011000" cy="300000"/>
          </a:xfrm>
          <a:prstGeom prst="rect">
            <a:avLst/>
          </a:prstGeom>
          <a:noFill/>
        </p:spPr>
        <p:txBody>
          <a:bodyPr vert="horz" wrap="square" rtlCol="0">
            <a:noAutofit/>
          </a:bodyPr>
          <a:lstStyle/>
          <a:p>
            <a:pPr algn="ctr"/>
            <a:r>
              <a:rPr lang="en-US" sz="1100" b="1">
                <a:solidFill>
                  <a:srgbClr val="475569"/>
                </a:solidFill>
                <a:latin typeface="Calibri"/>
              </a:rPr>
              <a:t>Tabletop CR plate reader</a:t>
            </a:r>
          </a:p>
        </p:txBody>
      </p:sp>
      <p:pic>
        <p:nvPicPr>
          <p:cNvPr id="22" name="Picture1 22"/>
          <p:cNvPicPr>
            <a:picLocks noChangeAspect="1"/>
          </p:cNvPicPr>
          <p:nvPr/>
        </p:nvPicPr>
        <p:blipFill>
          <a:blip r:embed="rId11"/>
          <a:stretch>
            <a:fillRect/>
          </a:stretch>
        </p:blipFill>
        <p:spPr>
          <a:xfrm>
            <a:off x="4752000" y="1883181"/>
            <a:ext cx="4011000" cy="1496038"/>
          </a:xfrm>
          <a:prstGeom prst="rect">
            <a:avLst/>
          </a:prstGeom>
          <a:ln w="9525">
            <a:solidFill>
              <a:srgbClr val="C9A84C"/>
            </a:solidFill>
          </a:ln>
          <a:effectLst>
            <a:outerShdw blurRad="40000" dist="20000" dir="5400000" rotWithShape="0">
              <a:srgbClr val="000000">
                <a:alpha val="22000"/>
              </a:srgbClr>
            </a:outerShdw>
          </a:effectLst>
        </p:spPr>
      </p:pic>
      <p:sp>
        <p:nvSpPr>
          <p:cNvPr id="23" name="Caption 23"/>
          <p:cNvSpPr txBox="1"/>
          <p:nvPr/>
        </p:nvSpPr>
        <p:spPr>
          <a:xfrm>
            <a:off x="4752000" y="4262400"/>
            <a:ext cx="4011000" cy="300000"/>
          </a:xfrm>
          <a:prstGeom prst="rect">
            <a:avLst/>
          </a:prstGeom>
          <a:noFill/>
        </p:spPr>
        <p:txBody>
          <a:bodyPr vert="horz" wrap="square" rtlCol="0">
            <a:noAutofit/>
          </a:bodyPr>
          <a:lstStyle/>
          <a:p>
            <a:pPr algn="ctr"/>
            <a:r>
              <a:rPr lang="en-US" sz="1100" b="1">
                <a:solidFill>
                  <a:srgbClr val="475569"/>
                </a:solidFill>
                <a:latin typeface="Calibri"/>
              </a:rPr>
              <a:t>Reusable PSP imaging plates</a:t>
            </a:r>
          </a:p>
        </p:txBody>
      </p:sp>
    </p:spTree>
    <p:extLst>
      <p:ext uri="{BB962C8B-B14F-4D97-AF65-F5344CB8AC3E}">
        <p14:creationId xmlns:p14="http://schemas.microsoft.com/office/powerpoint/2010/main" val="4189576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F88A4C-6FD4-DA71-D34B-50AA61B1A28D}"/>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57BEA4C6-ED6B-990C-CEF3-E570D3BB2D4B}"/>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DD552FFF-D079-22F3-F943-6CFB57D719ED}"/>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0DE4B9F-618A-F156-8DC4-4FC2E4B97068}"/>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34D0BCC-E5AD-863C-270D-9A77BBE7BCD9}"/>
              </a:ext>
            </a:extLst>
          </p:cNvPr>
          <p:cNvSpPr txBox="1"/>
          <p:nvPr/>
        </p:nvSpPr>
        <p:spPr>
          <a:xfrm>
            <a:off x="228600" y="152400"/>
            <a:ext cx="8686800" cy="369332"/>
          </a:xfrm>
          <a:prstGeom prst="rect">
            <a:avLst/>
          </a:prstGeom>
          <a:noFill/>
        </p:spPr>
        <p:txBody>
          <a:bodyPr vert="horz" wrap="square" rtlCol="0">
            <a:noAutofit/>
          </a:bodyPr>
          <a:lstStyle/>
          <a:p>
            <a:r>
              <a:rPr lang="en-US" sz="2200" b="1">
                <a:solidFill>
                  <a:srgbClr val="FFFFFF"/>
                </a:solidFill>
                <a:latin typeface="Calibri" panose="020F0502020204030204" pitchFamily="34" charset="0"/>
              </a:rPr>
              <a:t>CR Image Acquisition Workflow</a:t>
            </a:r>
            <a:endParaRPr lang="en-IN" sz="2200" b="1">
              <a:solidFill>
                <a:srgbClr val="FFFFFF"/>
              </a:solidFill>
              <a:latin typeface="Calibri" panose="020F0502020204030204" pitchFamily="34" charset="0"/>
            </a:endParaRPr>
          </a:p>
        </p:txBody>
      </p:sp>
      <p:pic>
        <p:nvPicPr>
          <p:cNvPr id="20" name="Picture 20"/>
          <p:cNvPicPr>
            <a:picLocks noChangeAspect="1"/>
          </p:cNvPicPr>
          <p:nvPr/>
        </p:nvPicPr>
        <p:blipFill>
          <a:blip r:embed="rId10"/>
          <a:stretch>
            <a:fillRect/>
          </a:stretch>
        </p:blipFill>
        <p:spPr>
          <a:xfrm>
            <a:off x="2389070" y="1020000"/>
            <a:ext cx="4365859" cy="3264000"/>
          </a:xfrm>
          <a:prstGeom prst="rect">
            <a:avLst/>
          </a:prstGeom>
          <a:ln w="9525">
            <a:solidFill>
              <a:srgbClr val="C9A84C"/>
            </a:solidFill>
          </a:ln>
          <a:effectLst>
            <a:outerShdw blurRad="40000" dist="20000" dir="5400000" rotWithShape="0">
              <a:srgbClr val="000000">
                <a:alpha val="22000"/>
              </a:srgbClr>
            </a:outerShdw>
          </a:effectLst>
        </p:spPr>
      </p:pic>
      <p:sp>
        <p:nvSpPr>
          <p:cNvPr id="21" name="Caption 21"/>
          <p:cNvSpPr txBox="1"/>
          <p:nvPr/>
        </p:nvSpPr>
        <p:spPr>
          <a:xfrm>
            <a:off x="1219200" y="4314000"/>
            <a:ext cx="6705600" cy="300000"/>
          </a:xfrm>
          <a:prstGeom prst="rect">
            <a:avLst/>
          </a:prstGeom>
          <a:noFill/>
        </p:spPr>
        <p:txBody>
          <a:bodyPr vert="horz" wrap="square" rtlCol="0">
            <a:noAutofit/>
          </a:bodyPr>
          <a:lstStyle/>
          <a:p>
            <a:pPr algn="ctr"/>
            <a:r>
              <a:rPr lang="en-US" sz="1100" b="1">
                <a:solidFill>
                  <a:srgbClr val="475569"/>
                </a:solidFill>
                <a:latin typeface="Calibri"/>
              </a:rPr>
              <a:t>X-rays → CR plate → laser scanner → ADC → digital image</a:t>
            </a:r>
          </a:p>
        </p:txBody>
      </p:sp>
    </p:spTree>
    <p:extLst>
      <p:ext uri="{BB962C8B-B14F-4D97-AF65-F5344CB8AC3E}">
        <p14:creationId xmlns:p14="http://schemas.microsoft.com/office/powerpoint/2010/main" val="4189576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F88A4C-6FD4-DA71-D34B-50AA61B1A28D}"/>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57BEA4C6-ED6B-990C-CEF3-E570D3BB2D4B}"/>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DD552FFF-D079-22F3-F943-6CFB57D719ED}"/>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0DE4B9F-618A-F156-8DC4-4FC2E4B97068}"/>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34D0BCC-E5AD-863C-270D-9A77BBE7BCD9}"/>
              </a:ext>
            </a:extLst>
          </p:cNvPr>
          <p:cNvSpPr txBox="1"/>
          <p:nvPr/>
        </p:nvSpPr>
        <p:spPr>
          <a:xfrm>
            <a:off x="228600" y="152400"/>
            <a:ext cx="8686800" cy="369332"/>
          </a:xfrm>
          <a:prstGeom prst="rect">
            <a:avLst/>
          </a:prstGeom>
          <a:noFill/>
        </p:spPr>
        <p:txBody>
          <a:bodyPr vert="horz" wrap="square" rtlCol="0">
            <a:noAutofit/>
          </a:bodyPr>
          <a:lstStyle/>
          <a:p>
            <a:r>
              <a:rPr lang="en-US" sz="2200" b="1">
                <a:solidFill>
                  <a:srgbClr val="FFFFFF"/>
                </a:solidFill>
                <a:latin typeface="Calibri" panose="020F0502020204030204" pitchFamily="34" charset="0"/>
              </a:rPr>
              <a:t>DR Image Acquisition Workflow</a:t>
            </a:r>
            <a:endParaRPr lang="en-IN" sz="2200" b="1">
              <a:solidFill>
                <a:srgbClr val="FFFFFF"/>
              </a:solidFill>
              <a:latin typeface="Calibri" panose="020F0502020204030204" pitchFamily="34" charset="0"/>
            </a:endParaRPr>
          </a:p>
        </p:txBody>
      </p:sp>
      <p:pic>
        <p:nvPicPr>
          <p:cNvPr id="20" name="Picture 20"/>
          <p:cNvPicPr>
            <a:picLocks noChangeAspect="1"/>
          </p:cNvPicPr>
          <p:nvPr/>
        </p:nvPicPr>
        <p:blipFill>
          <a:blip r:embed="rId10"/>
          <a:stretch>
            <a:fillRect/>
          </a:stretch>
        </p:blipFill>
        <p:spPr>
          <a:xfrm>
            <a:off x="2398300" y="1020000"/>
            <a:ext cx="4347399" cy="3264000"/>
          </a:xfrm>
          <a:prstGeom prst="rect">
            <a:avLst/>
          </a:prstGeom>
          <a:ln w="9525">
            <a:solidFill>
              <a:srgbClr val="C9A84C"/>
            </a:solidFill>
          </a:ln>
          <a:effectLst>
            <a:outerShdw blurRad="40000" dist="20000" dir="5400000" rotWithShape="0">
              <a:srgbClr val="000000">
                <a:alpha val="22000"/>
              </a:srgbClr>
            </a:outerShdw>
          </a:effectLst>
        </p:spPr>
      </p:pic>
      <p:sp>
        <p:nvSpPr>
          <p:cNvPr id="21" name="Caption 21"/>
          <p:cNvSpPr txBox="1"/>
          <p:nvPr/>
        </p:nvSpPr>
        <p:spPr>
          <a:xfrm>
            <a:off x="1219200" y="4314000"/>
            <a:ext cx="6705600" cy="300000"/>
          </a:xfrm>
          <a:prstGeom prst="rect">
            <a:avLst/>
          </a:prstGeom>
          <a:noFill/>
        </p:spPr>
        <p:txBody>
          <a:bodyPr vert="horz" wrap="square" rtlCol="0">
            <a:noAutofit/>
          </a:bodyPr>
          <a:lstStyle/>
          <a:p>
            <a:pPr algn="ctr"/>
            <a:r>
              <a:rPr lang="en-US" sz="1100" b="1">
                <a:solidFill>
                  <a:srgbClr val="475569"/>
                </a:solidFill>
                <a:latin typeface="Calibri"/>
              </a:rPr>
              <a:t>X-rays → detector → ADC → instant digital image — no plate handling</a:t>
            </a:r>
          </a:p>
        </p:txBody>
      </p:sp>
    </p:spTree>
    <p:extLst>
      <p:ext uri="{BB962C8B-B14F-4D97-AF65-F5344CB8AC3E}">
        <p14:creationId xmlns:p14="http://schemas.microsoft.com/office/powerpoint/2010/main" val="4189576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F88A4C-6FD4-DA71-D34B-50AA61B1A28D}"/>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57BEA4C6-ED6B-990C-CEF3-E570D3BB2D4B}"/>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DD552FFF-D079-22F3-F943-6CFB57D719ED}"/>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0DE4B9F-618A-F156-8DC4-4FC2E4B97068}"/>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34D0BCC-E5AD-863C-270D-9A77BBE7BCD9}"/>
              </a:ext>
            </a:extLst>
          </p:cNvPr>
          <p:cNvSpPr txBox="1"/>
          <p:nvPr/>
        </p:nvSpPr>
        <p:spPr>
          <a:xfrm>
            <a:off x="228600" y="152400"/>
            <a:ext cx="8686800" cy="369332"/>
          </a:xfrm>
          <a:prstGeom prst="rect">
            <a:avLst/>
          </a:prstGeom>
          <a:noFill/>
        </p:spPr>
        <p:txBody>
          <a:bodyPr vert="horz" wrap="square" rtlCol="0">
            <a:noAutofit/>
          </a:bodyPr>
          <a:lstStyle/>
          <a:p>
            <a:r>
              <a:rPr lang="en-US" sz="2200" b="1">
                <a:solidFill>
                  <a:srgbClr val="FFFFFF"/>
                </a:solidFill>
                <a:latin typeface="Calibri" panose="020F0502020204030204" pitchFamily="34" charset="0"/>
              </a:rPr>
              <a:t>Digital Radiography in Practice</a:t>
            </a:r>
            <a:endParaRPr lang="en-IN" sz="2200" b="1">
              <a:solidFill>
                <a:srgbClr val="FFFFFF"/>
              </a:solidFill>
              <a:latin typeface="Calibri" panose="020F0502020204030204" pitchFamily="34" charset="0"/>
            </a:endParaRPr>
          </a:p>
        </p:txBody>
      </p:sp>
      <p:pic>
        <p:nvPicPr>
          <p:cNvPr id="20" name="Picture0 20"/>
          <p:cNvPicPr>
            <a:picLocks noChangeAspect="1"/>
          </p:cNvPicPr>
          <p:nvPr/>
        </p:nvPicPr>
        <p:blipFill>
          <a:blip r:embed="rId10"/>
          <a:stretch>
            <a:fillRect/>
          </a:stretch>
        </p:blipFill>
        <p:spPr>
          <a:xfrm>
            <a:off x="381000" y="1128647"/>
            <a:ext cx="4011000" cy="3005106"/>
          </a:xfrm>
          <a:prstGeom prst="rect">
            <a:avLst/>
          </a:prstGeom>
          <a:ln w="9525">
            <a:solidFill>
              <a:srgbClr val="C9A84C"/>
            </a:solidFill>
          </a:ln>
          <a:effectLst>
            <a:outerShdw blurRad="40000" dist="20000" dir="5400000" rotWithShape="0">
              <a:srgbClr val="000000">
                <a:alpha val="22000"/>
              </a:srgbClr>
            </a:outerShdw>
          </a:effectLst>
        </p:spPr>
      </p:pic>
      <p:sp>
        <p:nvSpPr>
          <p:cNvPr id="21" name="Caption 21"/>
          <p:cNvSpPr txBox="1"/>
          <p:nvPr/>
        </p:nvSpPr>
        <p:spPr>
          <a:xfrm>
            <a:off x="381000" y="4262400"/>
            <a:ext cx="4011000" cy="300000"/>
          </a:xfrm>
          <a:prstGeom prst="rect">
            <a:avLst/>
          </a:prstGeom>
          <a:noFill/>
        </p:spPr>
        <p:txBody>
          <a:bodyPr vert="horz" wrap="square" rtlCol="0">
            <a:noAutofit/>
          </a:bodyPr>
          <a:lstStyle/>
          <a:p>
            <a:pPr algn="ctr"/>
            <a:r>
              <a:rPr lang="en-US" sz="1100" b="1">
                <a:solidFill>
                  <a:srgbClr val="475569"/>
                </a:solidFill>
                <a:latin typeface="Calibri"/>
              </a:rPr>
              <a:t>DR chest imaging suite</a:t>
            </a:r>
          </a:p>
        </p:txBody>
      </p:sp>
      <p:pic>
        <p:nvPicPr>
          <p:cNvPr id="22" name="Picture1 22"/>
          <p:cNvPicPr>
            <a:picLocks noChangeAspect="1"/>
          </p:cNvPicPr>
          <p:nvPr/>
        </p:nvPicPr>
        <p:blipFill>
          <a:blip r:embed="rId11"/>
          <a:stretch>
            <a:fillRect/>
          </a:stretch>
        </p:blipFill>
        <p:spPr>
          <a:xfrm>
            <a:off x="4992427" y="1040000"/>
            <a:ext cx="3530145" cy="3182400"/>
          </a:xfrm>
          <a:prstGeom prst="rect">
            <a:avLst/>
          </a:prstGeom>
          <a:ln w="9525">
            <a:solidFill>
              <a:srgbClr val="C9A84C"/>
            </a:solidFill>
          </a:ln>
          <a:effectLst>
            <a:outerShdw blurRad="40000" dist="20000" dir="5400000" rotWithShape="0">
              <a:srgbClr val="000000">
                <a:alpha val="22000"/>
              </a:srgbClr>
            </a:outerShdw>
          </a:effectLst>
        </p:spPr>
      </p:pic>
      <p:sp>
        <p:nvSpPr>
          <p:cNvPr id="23" name="Caption 23"/>
          <p:cNvSpPr txBox="1"/>
          <p:nvPr/>
        </p:nvSpPr>
        <p:spPr>
          <a:xfrm>
            <a:off x="4752000" y="4262400"/>
            <a:ext cx="4011000" cy="300000"/>
          </a:xfrm>
          <a:prstGeom prst="rect">
            <a:avLst/>
          </a:prstGeom>
          <a:noFill/>
        </p:spPr>
        <p:txBody>
          <a:bodyPr vert="horz" wrap="square" rtlCol="0">
            <a:noAutofit/>
          </a:bodyPr>
          <a:lstStyle/>
          <a:p>
            <a:pPr algn="ctr"/>
            <a:r>
              <a:rPr lang="en-US" sz="1100" b="1">
                <a:solidFill>
                  <a:srgbClr val="475569"/>
                </a:solidFill>
                <a:latin typeface="Calibri"/>
              </a:rPr>
              <a:t>Multi-monitor reporting workstation</a:t>
            </a:r>
          </a:p>
        </p:txBody>
      </p:sp>
    </p:spTree>
    <p:extLst>
      <p:ext uri="{BB962C8B-B14F-4D97-AF65-F5344CB8AC3E}">
        <p14:creationId xmlns:p14="http://schemas.microsoft.com/office/powerpoint/2010/main" val="4189576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F88A4C-6FD4-DA71-D34B-50AA61B1A28D}"/>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57BEA4C6-ED6B-990C-CEF3-E570D3BB2D4B}"/>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DD552FFF-D079-22F3-F943-6CFB57D719ED}"/>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0DE4B9F-618A-F156-8DC4-4FC2E4B97068}"/>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34D0BCC-E5AD-863C-270D-9A77BBE7BCD9}"/>
              </a:ext>
            </a:extLst>
          </p:cNvPr>
          <p:cNvSpPr txBox="1"/>
          <p:nvPr/>
        </p:nvSpPr>
        <p:spPr>
          <a:xfrm>
            <a:off x="228600" y="152400"/>
            <a:ext cx="8686800" cy="369332"/>
          </a:xfrm>
          <a:prstGeom prst="rect">
            <a:avLst/>
          </a:prstGeom>
          <a:noFill/>
        </p:spPr>
        <p:txBody>
          <a:bodyPr vert="horz" wrap="square" rtlCol="0">
            <a:noAutofit/>
          </a:bodyPr>
          <a:lstStyle/>
          <a:p>
            <a:r>
              <a:rPr lang="en-US" sz="2200" b="1">
                <a:solidFill>
                  <a:srgbClr val="FFFFFF"/>
                </a:solidFill>
                <a:latin typeface="Calibri" panose="020F0502020204030204" pitchFamily="34" charset="0"/>
              </a:rPr>
              <a:t>DR Portable Systems</a:t>
            </a:r>
            <a:endParaRPr lang="en-IN" sz="2200" b="1">
              <a:solidFill>
                <a:srgbClr val="FFFFFF"/>
              </a:solidFill>
              <a:latin typeface="Calibri" panose="020F0502020204030204" pitchFamily="34" charset="0"/>
            </a:endParaRPr>
          </a:p>
        </p:txBody>
      </p:sp>
      <p:pic>
        <p:nvPicPr>
          <p:cNvPr id="20" name="Picture0 20"/>
          <p:cNvPicPr>
            <a:picLocks noChangeAspect="1"/>
          </p:cNvPicPr>
          <p:nvPr/>
        </p:nvPicPr>
        <p:blipFill>
          <a:blip r:embed="rId10"/>
          <a:stretch>
            <a:fillRect/>
          </a:stretch>
        </p:blipFill>
        <p:spPr>
          <a:xfrm>
            <a:off x="667761" y="1040000"/>
            <a:ext cx="3437477" cy="3182400"/>
          </a:xfrm>
          <a:prstGeom prst="rect">
            <a:avLst/>
          </a:prstGeom>
          <a:ln w="9525">
            <a:solidFill>
              <a:srgbClr val="C9A84C"/>
            </a:solidFill>
          </a:ln>
          <a:effectLst>
            <a:outerShdw blurRad="40000" dist="20000" dir="5400000" rotWithShape="0">
              <a:srgbClr val="000000">
                <a:alpha val="22000"/>
              </a:srgbClr>
            </a:outerShdw>
          </a:effectLst>
        </p:spPr>
      </p:pic>
      <p:sp>
        <p:nvSpPr>
          <p:cNvPr id="21" name="Caption 21"/>
          <p:cNvSpPr txBox="1"/>
          <p:nvPr/>
        </p:nvSpPr>
        <p:spPr>
          <a:xfrm>
            <a:off x="381000" y="4262400"/>
            <a:ext cx="4011000" cy="300000"/>
          </a:xfrm>
          <a:prstGeom prst="rect">
            <a:avLst/>
          </a:prstGeom>
          <a:noFill/>
        </p:spPr>
        <p:txBody>
          <a:bodyPr vert="horz" wrap="square" rtlCol="0">
            <a:noAutofit/>
          </a:bodyPr>
          <a:lstStyle/>
          <a:p>
            <a:pPr algn="ctr"/>
            <a:r>
              <a:rPr lang="en-US" sz="1100" b="1">
                <a:solidFill>
                  <a:srgbClr val="475569"/>
                </a:solidFill>
                <a:latin typeface="Calibri"/>
              </a:rPr>
              <a:t>Portable DR with rugged laptop option</a:t>
            </a:r>
          </a:p>
        </p:txBody>
      </p:sp>
      <p:pic>
        <p:nvPicPr>
          <p:cNvPr id="22" name="Picture1 22"/>
          <p:cNvPicPr>
            <a:picLocks noChangeAspect="1"/>
          </p:cNvPicPr>
          <p:nvPr/>
        </p:nvPicPr>
        <p:blipFill>
          <a:blip r:embed="rId11"/>
          <a:stretch>
            <a:fillRect/>
          </a:stretch>
        </p:blipFill>
        <p:spPr>
          <a:xfrm>
            <a:off x="5038761" y="1040000"/>
            <a:ext cx="3437477" cy="3182400"/>
          </a:xfrm>
          <a:prstGeom prst="rect">
            <a:avLst/>
          </a:prstGeom>
          <a:ln w="9525">
            <a:solidFill>
              <a:srgbClr val="C9A84C"/>
            </a:solidFill>
          </a:ln>
          <a:effectLst>
            <a:outerShdw blurRad="40000" dist="20000" dir="5400000" rotWithShape="0">
              <a:srgbClr val="000000">
                <a:alpha val="22000"/>
              </a:srgbClr>
            </a:outerShdw>
          </a:effectLst>
        </p:spPr>
      </p:pic>
      <p:sp>
        <p:nvSpPr>
          <p:cNvPr id="23" name="Caption 23"/>
          <p:cNvSpPr txBox="1"/>
          <p:nvPr/>
        </p:nvSpPr>
        <p:spPr>
          <a:xfrm>
            <a:off x="4752000" y="4262400"/>
            <a:ext cx="4011000" cy="300000"/>
          </a:xfrm>
          <a:prstGeom prst="rect">
            <a:avLst/>
          </a:prstGeom>
          <a:noFill/>
        </p:spPr>
        <p:txBody>
          <a:bodyPr vert="horz" wrap="square" rtlCol="0">
            <a:noAutofit/>
          </a:bodyPr>
          <a:lstStyle/>
          <a:p>
            <a:pPr algn="ctr"/>
            <a:r>
              <a:rPr lang="en-US" sz="1100" b="1">
                <a:solidFill>
                  <a:srgbClr val="475569"/>
                </a:solidFill>
                <a:latin typeface="Calibri"/>
              </a:rPr>
              <a:t>Portable DR with carrier</a:t>
            </a:r>
          </a:p>
        </p:txBody>
      </p:sp>
    </p:spTree>
    <p:extLst>
      <p:ext uri="{BB962C8B-B14F-4D97-AF65-F5344CB8AC3E}">
        <p14:creationId xmlns:p14="http://schemas.microsoft.com/office/powerpoint/2010/main" val="4189576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F88A4C-6FD4-DA71-D34B-50AA61B1A28D}"/>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57BEA4C6-ED6B-990C-CEF3-E570D3BB2D4B}"/>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DD552FFF-D079-22F3-F943-6CFB57D719ED}"/>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0DE4B9F-618A-F156-8DC4-4FC2E4B97068}"/>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34D0BCC-E5AD-863C-270D-9A77BBE7BCD9}"/>
              </a:ext>
            </a:extLst>
          </p:cNvPr>
          <p:cNvSpPr txBox="1"/>
          <p:nvPr/>
        </p:nvSpPr>
        <p:spPr>
          <a:xfrm>
            <a:off x="228600" y="152400"/>
            <a:ext cx="8686800" cy="369332"/>
          </a:xfrm>
          <a:prstGeom prst="rect">
            <a:avLst/>
          </a:prstGeom>
          <a:noFill/>
        </p:spPr>
        <p:txBody>
          <a:bodyPr vert="horz" wrap="square" rtlCol="0">
            <a:noAutofit/>
          </a:bodyPr>
          <a:lstStyle/>
          <a:p>
            <a:r>
              <a:rPr lang="en-US" sz="2200" b="1">
                <a:solidFill>
                  <a:srgbClr val="FFFFFF"/>
                </a:solidFill>
                <a:latin typeface="Calibri" panose="020F0502020204030204" pitchFamily="34" charset="0"/>
              </a:rPr>
              <a:t>Comparative Exam Times</a:t>
            </a:r>
            <a:endParaRPr lang="en-IN" sz="2200" b="1">
              <a:solidFill>
                <a:srgbClr val="FFFFFF"/>
              </a:solidFill>
              <a:latin typeface="Calibri" panose="020F0502020204030204" pitchFamily="34" charset="0"/>
            </a:endParaRPr>
          </a:p>
        </p:txBody>
      </p:sp>
      <p:pic>
        <p:nvPicPr>
          <p:cNvPr id="20" name="Picture 20"/>
          <p:cNvPicPr>
            <a:picLocks noChangeAspect="1"/>
          </p:cNvPicPr>
          <p:nvPr/>
        </p:nvPicPr>
        <p:blipFill>
          <a:blip r:embed="rId10"/>
          <a:stretch>
            <a:fillRect/>
          </a:stretch>
        </p:blipFill>
        <p:spPr>
          <a:xfrm>
            <a:off x="1303020" y="1183131"/>
            <a:ext cx="6537960" cy="2081738"/>
          </a:xfrm>
          <a:prstGeom prst="rect">
            <a:avLst/>
          </a:prstGeom>
          <a:ln w="9525">
            <a:solidFill>
              <a:srgbClr val="C9A84C"/>
            </a:solidFill>
          </a:ln>
          <a:effectLst>
            <a:outerShdw blurRad="40000" dist="20000" dir="5400000" rotWithShape="0">
              <a:srgbClr val="000000">
                <a:alpha val="22000"/>
              </a:srgbClr>
            </a:outerShdw>
          </a:effectLst>
        </p:spPr>
      </p:pic>
      <p:sp>
        <p:nvSpPr>
          <p:cNvPr id="21" name="Caption 21"/>
          <p:cNvSpPr txBox="1"/>
          <p:nvPr/>
        </p:nvSpPr>
        <p:spPr>
          <a:xfrm>
            <a:off x="1303020" y="3294869"/>
            <a:ext cx="6537960" cy="300000"/>
          </a:xfrm>
          <a:prstGeom prst="rect">
            <a:avLst/>
          </a:prstGeom>
          <a:noFill/>
        </p:spPr>
        <p:txBody>
          <a:bodyPr vert="horz" wrap="square" rtlCol="0">
            <a:noAutofit/>
          </a:bodyPr>
          <a:lstStyle/>
          <a:p>
            <a:pPr algn="ctr"/>
            <a:r>
              <a:rPr lang="en-US" sz="1100" b="1">
                <a:solidFill>
                  <a:srgbClr val="475569"/>
                </a:solidFill>
                <a:latin typeface="Calibri"/>
              </a:rPr>
              <a:t>Average examination time by imaging technique</a:t>
            </a:r>
          </a:p>
        </p:txBody>
      </p:sp>
      <p:sp>
        <p:nvSpPr>
          <p:cNvPr id="22" name="Note 22"/>
          <p:cNvSpPr txBox="1"/>
          <p:nvPr/>
        </p:nvSpPr>
        <p:spPr>
          <a:xfrm>
            <a:off x="581000" y="3568000"/>
            <a:ext cx="7982000" cy="1432000"/>
          </a:xfrm>
          <a:prstGeom prst="rect">
            <a:avLst/>
          </a:prstGeom>
          <a:noFill/>
        </p:spPr>
        <p:txBody>
          <a:bodyPr vert="horz" wrap="square" rtlCol="0" anchor="ctr">
            <a:noAutofit/>
          </a:bodyPr>
          <a:lstStyle/>
          <a:p>
            <a:pPr algn="l"/>
            <a:r>
              <a:rPr lang="en-US" sz="1300" b="0">
                <a:solidFill>
                  <a:srgbClr val="1E293B"/>
                </a:solidFill>
                <a:latin typeface="Calibri"/>
              </a:rPr>
              <a:t>Digital detectors dramatically cut examination time versus conventional screen-film and even CR, improving departmental throughput.</a:t>
            </a:r>
          </a:p>
        </p:txBody>
      </p:sp>
    </p:spTree>
    <p:extLst>
      <p:ext uri="{BB962C8B-B14F-4D97-AF65-F5344CB8AC3E}">
        <p14:creationId xmlns:p14="http://schemas.microsoft.com/office/powerpoint/2010/main" val="41895769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F88A4C-6FD4-DA71-D34B-50AA61B1A28D}"/>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57BEA4C6-ED6B-990C-CEF3-E570D3BB2D4B}"/>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DD552FFF-D079-22F3-F943-6CFB57D719ED}"/>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0DE4B9F-618A-F156-8DC4-4FC2E4B97068}"/>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34D0BCC-E5AD-863C-270D-9A77BBE7BCD9}"/>
              </a:ext>
            </a:extLst>
          </p:cNvPr>
          <p:cNvSpPr txBox="1"/>
          <p:nvPr/>
        </p:nvSpPr>
        <p:spPr>
          <a:xfrm>
            <a:off x="228600" y="152400"/>
            <a:ext cx="8686800" cy="369332"/>
          </a:xfrm>
          <a:prstGeom prst="rect">
            <a:avLst/>
          </a:prstGeom>
          <a:noFill/>
        </p:spPr>
        <p:txBody>
          <a:bodyPr vert="horz" wrap="square" rtlCol="0">
            <a:noAutofit/>
          </a:bodyPr>
          <a:lstStyle/>
          <a:p>
            <a:r>
              <a:rPr lang="en-US" sz="2200" b="1">
                <a:solidFill>
                  <a:srgbClr val="FFFFFF"/>
                </a:solidFill>
                <a:latin typeface="Calibri" panose="020F0502020204030204" pitchFamily="34" charset="0"/>
              </a:rPr>
              <a:t>DR Systems — Representative Product Range</a:t>
            </a:r>
            <a:endParaRPr lang="en-IN" sz="2200" b="1">
              <a:solidFill>
                <a:srgbClr val="FFFFFF"/>
              </a:solidFill>
              <a:latin typeface="Calibri" panose="020F0502020204030204" pitchFamily="34" charset="0"/>
            </a:endParaRPr>
          </a:p>
        </p:txBody>
      </p:sp>
      <p:pic>
        <p:nvPicPr>
          <p:cNvPr id="20" name="Picture 20"/>
          <p:cNvPicPr>
            <a:picLocks noChangeAspect="1"/>
          </p:cNvPicPr>
          <p:nvPr/>
        </p:nvPicPr>
        <p:blipFill>
          <a:blip r:embed="rId10"/>
          <a:stretch>
            <a:fillRect/>
          </a:stretch>
        </p:blipFill>
        <p:spPr>
          <a:xfrm>
            <a:off x="1681493" y="1020000"/>
            <a:ext cx="5781014" cy="3264000"/>
          </a:xfrm>
          <a:prstGeom prst="rect">
            <a:avLst/>
          </a:prstGeom>
          <a:ln w="9525">
            <a:solidFill>
              <a:srgbClr val="C9A84C"/>
            </a:solidFill>
          </a:ln>
          <a:effectLst>
            <a:outerShdw blurRad="40000" dist="20000" dir="5400000" rotWithShape="0">
              <a:srgbClr val="000000">
                <a:alpha val="22000"/>
              </a:srgbClr>
            </a:outerShdw>
          </a:effectLst>
        </p:spPr>
      </p:pic>
      <p:sp>
        <p:nvSpPr>
          <p:cNvPr id="21" name="Caption 21"/>
          <p:cNvSpPr txBox="1"/>
          <p:nvPr/>
        </p:nvSpPr>
        <p:spPr>
          <a:xfrm>
            <a:off x="1219200" y="4314000"/>
            <a:ext cx="6705600" cy="300000"/>
          </a:xfrm>
          <a:prstGeom prst="rect">
            <a:avLst/>
          </a:prstGeom>
          <a:noFill/>
        </p:spPr>
        <p:txBody>
          <a:bodyPr vert="horz" wrap="square" rtlCol="0">
            <a:noAutofit/>
          </a:bodyPr>
          <a:lstStyle/>
          <a:p>
            <a:pPr algn="ctr"/>
            <a:r>
              <a:rPr lang="en-US" sz="1100" b="1">
                <a:solidFill>
                  <a:srgbClr val="475569"/>
                </a:solidFill>
                <a:latin typeface="Calibri"/>
              </a:rPr>
              <a:t>Fixed and mobile digital radiography systems across power ratings</a:t>
            </a:r>
          </a:p>
        </p:txBody>
      </p:sp>
    </p:spTree>
    <p:extLst>
      <p:ext uri="{BB962C8B-B14F-4D97-AF65-F5344CB8AC3E}">
        <p14:creationId xmlns:p14="http://schemas.microsoft.com/office/powerpoint/2010/main" val="4189576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F88A4C-6FD4-DA71-D34B-50AA61B1A28D}"/>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57BEA4C6-ED6B-990C-CEF3-E570D3BB2D4B}"/>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DD552FFF-D079-22F3-F943-6CFB57D719ED}"/>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0DE4B9F-618A-F156-8DC4-4FC2E4B97068}"/>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34D0BCC-E5AD-863C-270D-9A77BBE7BCD9}"/>
              </a:ext>
            </a:extLst>
          </p:cNvPr>
          <p:cNvSpPr txBox="1"/>
          <p:nvPr/>
        </p:nvSpPr>
        <p:spPr>
          <a:xfrm>
            <a:off x="228600" y="152400"/>
            <a:ext cx="8686800" cy="369332"/>
          </a:xfrm>
          <a:prstGeom prst="rect">
            <a:avLst/>
          </a:prstGeom>
          <a:noFill/>
        </p:spPr>
        <p:txBody>
          <a:bodyPr vert="horz" wrap="square" rtlCol="0">
            <a:noAutofit/>
          </a:bodyPr>
          <a:lstStyle/>
          <a:p>
            <a:r>
              <a:rPr lang="en-US" sz="2200" b="1">
                <a:solidFill>
                  <a:srgbClr val="FFFFFF"/>
                </a:solidFill>
                <a:latin typeface="Calibri" panose="020F0502020204030204" pitchFamily="34" charset="0"/>
              </a:rPr>
              <a:t>CR System Manufacturers</a:t>
            </a:r>
            <a:endParaRPr lang="en-IN" sz="2200" b="1">
              <a:solidFill>
                <a:srgbClr val="FFFFFF"/>
              </a:solidFill>
              <a:latin typeface="Calibri" panose="020F0502020204030204" pitchFamily="34" charset="0"/>
            </a:endParaRPr>
          </a:p>
        </p:txBody>
      </p:sp>
      <p:pic>
        <p:nvPicPr>
          <p:cNvPr id="20" name="Picture 20"/>
          <p:cNvPicPr>
            <a:picLocks noChangeAspect="1"/>
          </p:cNvPicPr>
          <p:nvPr/>
        </p:nvPicPr>
        <p:blipFill>
          <a:blip r:embed="rId10"/>
          <a:stretch>
            <a:fillRect/>
          </a:stretch>
        </p:blipFill>
        <p:spPr>
          <a:xfrm>
            <a:off x="1219200" y="1178554"/>
            <a:ext cx="6705600" cy="2946892"/>
          </a:xfrm>
          <a:prstGeom prst="rect">
            <a:avLst/>
          </a:prstGeom>
          <a:ln w="9525">
            <a:solidFill>
              <a:srgbClr val="C9A84C"/>
            </a:solidFill>
          </a:ln>
          <a:effectLst>
            <a:outerShdw blurRad="40000" dist="20000" dir="5400000" rotWithShape="0">
              <a:srgbClr val="000000">
                <a:alpha val="22000"/>
              </a:srgbClr>
            </a:outerShdw>
          </a:effectLst>
        </p:spPr>
      </p:pic>
      <p:sp>
        <p:nvSpPr>
          <p:cNvPr id="21" name="Caption 21"/>
          <p:cNvSpPr txBox="1"/>
          <p:nvPr/>
        </p:nvSpPr>
        <p:spPr>
          <a:xfrm>
            <a:off x="1219200" y="4155446"/>
            <a:ext cx="6705600" cy="300000"/>
          </a:xfrm>
          <a:prstGeom prst="rect">
            <a:avLst/>
          </a:prstGeom>
          <a:noFill/>
        </p:spPr>
        <p:txBody>
          <a:bodyPr vert="horz" wrap="square" rtlCol="0">
            <a:noAutofit/>
          </a:bodyPr>
          <a:lstStyle/>
          <a:p>
            <a:pPr algn="ctr"/>
            <a:r>
              <a:rPr lang="en-US" sz="1100" b="1">
                <a:solidFill>
                  <a:srgbClr val="475569"/>
                </a:solidFill>
                <a:latin typeface="Calibri"/>
              </a:rPr>
              <a:t>Leading vendors in the computed radiography market</a:t>
            </a:r>
          </a:p>
        </p:txBody>
      </p:sp>
    </p:spTree>
    <p:extLst>
      <p:ext uri="{BB962C8B-B14F-4D97-AF65-F5344CB8AC3E}">
        <p14:creationId xmlns:p14="http://schemas.microsoft.com/office/powerpoint/2010/main" val="41895769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F88A4C-6FD4-DA71-D34B-50AA61B1A28D}"/>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57BEA4C6-ED6B-990C-CEF3-E570D3BB2D4B}"/>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DD552FFF-D079-22F3-F943-6CFB57D719ED}"/>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0DE4B9F-618A-F156-8DC4-4FC2E4B97068}"/>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34D0BCC-E5AD-863C-270D-9A77BBE7BCD9}"/>
              </a:ext>
            </a:extLst>
          </p:cNvPr>
          <p:cNvSpPr txBox="1"/>
          <p:nvPr/>
        </p:nvSpPr>
        <p:spPr>
          <a:xfrm>
            <a:off x="228600" y="152400"/>
            <a:ext cx="8686800" cy="369332"/>
          </a:xfrm>
          <a:prstGeom prst="rect">
            <a:avLst/>
          </a:prstGeom>
          <a:noFill/>
        </p:spPr>
        <p:txBody>
          <a:bodyPr vert="horz" wrap="square" rtlCol="0">
            <a:noAutofit/>
          </a:bodyPr>
          <a:lstStyle/>
          <a:p>
            <a:r>
              <a:rPr lang="en-US" sz="2200" b="1">
                <a:solidFill>
                  <a:srgbClr val="FFFFFF"/>
                </a:solidFill>
                <a:latin typeface="Calibri" panose="020F0502020204030204" pitchFamily="34" charset="0"/>
              </a:rPr>
              <a:t>Global X-Ray Market Outlook</a:t>
            </a:r>
            <a:endParaRPr lang="en-IN" sz="2200" b="1">
              <a:solidFill>
                <a:srgbClr val="FFFFFF"/>
              </a:solidFill>
              <a:latin typeface="Calibri" panose="020F0502020204030204" pitchFamily="34" charset="0"/>
            </a:endParaRPr>
          </a:p>
        </p:txBody>
      </p:sp>
      <p:pic>
        <p:nvPicPr>
          <p:cNvPr id="20" name="Picture0 20"/>
          <p:cNvPicPr>
            <a:picLocks noChangeAspect="1"/>
          </p:cNvPicPr>
          <p:nvPr/>
        </p:nvPicPr>
        <p:blipFill>
          <a:blip r:embed="rId10"/>
          <a:stretch>
            <a:fillRect/>
          </a:stretch>
        </p:blipFill>
        <p:spPr>
          <a:xfrm>
            <a:off x="381000" y="1566462"/>
            <a:ext cx="4011000" cy="2129476"/>
          </a:xfrm>
          <a:prstGeom prst="rect">
            <a:avLst/>
          </a:prstGeom>
          <a:ln w="9525">
            <a:solidFill>
              <a:srgbClr val="C9A84C"/>
            </a:solidFill>
          </a:ln>
          <a:effectLst>
            <a:outerShdw blurRad="40000" dist="20000" dir="5400000" rotWithShape="0">
              <a:srgbClr val="000000">
                <a:alpha val="22000"/>
              </a:srgbClr>
            </a:outerShdw>
          </a:effectLst>
        </p:spPr>
      </p:pic>
      <p:sp>
        <p:nvSpPr>
          <p:cNvPr id="21" name="Caption 21"/>
          <p:cNvSpPr txBox="1"/>
          <p:nvPr/>
        </p:nvSpPr>
        <p:spPr>
          <a:xfrm>
            <a:off x="381000" y="4262400"/>
            <a:ext cx="4011000" cy="300000"/>
          </a:xfrm>
          <a:prstGeom prst="rect">
            <a:avLst/>
          </a:prstGeom>
          <a:noFill/>
        </p:spPr>
        <p:txBody>
          <a:bodyPr vert="horz" wrap="square" rtlCol="0">
            <a:noAutofit/>
          </a:bodyPr>
          <a:lstStyle/>
          <a:p>
            <a:pPr algn="ctr"/>
            <a:r>
              <a:rPr lang="en-US" sz="1100" b="1">
                <a:solidFill>
                  <a:srgbClr val="475569"/>
                </a:solidFill>
                <a:latin typeface="Calibri"/>
              </a:rPr>
              <a:t>X-ray systems revenue forecast</a:t>
            </a:r>
          </a:p>
        </p:txBody>
      </p:sp>
      <p:pic>
        <p:nvPicPr>
          <p:cNvPr id="22" name="Picture1 22"/>
          <p:cNvPicPr>
            <a:picLocks noChangeAspect="1"/>
          </p:cNvPicPr>
          <p:nvPr/>
        </p:nvPicPr>
        <p:blipFill>
          <a:blip r:embed="rId11"/>
          <a:stretch>
            <a:fillRect/>
          </a:stretch>
        </p:blipFill>
        <p:spPr>
          <a:xfrm>
            <a:off x="4752000" y="1448674"/>
            <a:ext cx="4011000" cy="2365051"/>
          </a:xfrm>
          <a:prstGeom prst="rect">
            <a:avLst/>
          </a:prstGeom>
          <a:ln w="9525">
            <a:solidFill>
              <a:srgbClr val="C9A84C"/>
            </a:solidFill>
          </a:ln>
          <a:effectLst>
            <a:outerShdw blurRad="40000" dist="20000" dir="5400000" rotWithShape="0">
              <a:srgbClr val="000000">
                <a:alpha val="22000"/>
              </a:srgbClr>
            </a:outerShdw>
          </a:effectLst>
        </p:spPr>
      </p:pic>
      <p:sp>
        <p:nvSpPr>
          <p:cNvPr id="23" name="Caption 23"/>
          <p:cNvSpPr txBox="1"/>
          <p:nvPr/>
        </p:nvSpPr>
        <p:spPr>
          <a:xfrm>
            <a:off x="4752000" y="4262400"/>
            <a:ext cx="4011000" cy="300000"/>
          </a:xfrm>
          <a:prstGeom prst="rect">
            <a:avLst/>
          </a:prstGeom>
          <a:noFill/>
        </p:spPr>
        <p:txBody>
          <a:bodyPr vert="horz" wrap="square" rtlCol="0">
            <a:noAutofit/>
          </a:bodyPr>
          <a:lstStyle/>
          <a:p>
            <a:pPr algn="ctr"/>
            <a:r>
              <a:rPr lang="en-US" sz="1100" b="1">
                <a:solidFill>
                  <a:srgbClr val="475569"/>
                </a:solidFill>
                <a:latin typeface="Calibri"/>
              </a:rPr>
              <a:t>Market drivers and industry challenges</a:t>
            </a:r>
          </a:p>
        </p:txBody>
      </p:sp>
    </p:spTree>
    <p:extLst>
      <p:ext uri="{BB962C8B-B14F-4D97-AF65-F5344CB8AC3E}">
        <p14:creationId xmlns:p14="http://schemas.microsoft.com/office/powerpoint/2010/main" val="41895769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F88A4C-6FD4-DA71-D34B-50AA61B1A28D}"/>
              </a:ext>
            </a:extLst>
          </p:cNvPr>
          <p:cNvSpPr/>
          <p:nvPr/>
        </p:nvSpPr>
        <p:spPr>
          <a:xfrm>
            <a:off x="0" y="0"/>
            <a:ext cx="9144000" cy="5143500"/>
          </a:xfrm>
          <a:prstGeom prst="rect">
            <a:avLst/>
          </a:prstGeom>
          <a:solidFill>
            <a:srgbClr val="F7F9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57BEA4C6-ED6B-990C-CEF3-E570D3BB2D4B}"/>
              </a:ext>
            </a:extLst>
          </p:cNvPr>
          <p:cNvSpPr/>
          <p:nvPr/>
        </p:nvSpPr>
        <p:spPr>
          <a:xfrm>
            <a:off x="0" y="0"/>
            <a:ext cx="9144000" cy="787400"/>
          </a:xfrm>
          <a:prstGeom prst="rect">
            <a:avLst/>
          </a:prstGeom>
          <a:solidFill>
            <a:srgbClr val="0D1B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DD552FFF-D079-22F3-F943-6CFB57D719ED}"/>
              </a:ext>
            </a:extLst>
          </p:cNvPr>
          <p:cNvSpPr/>
          <p:nvPr/>
        </p:nvSpPr>
        <p:spPr>
          <a:xfrm>
            <a:off x="0" y="787400"/>
            <a:ext cx="9144000" cy="381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0DE4B9F-618A-F156-8DC4-4FC2E4B97068}"/>
              </a:ext>
            </a:extLst>
          </p:cNvPr>
          <p:cNvSpPr/>
          <p:nvPr/>
        </p:nvSpPr>
        <p:spPr>
          <a:xfrm>
            <a:off x="0" y="5080000"/>
            <a:ext cx="9144000" cy="63500"/>
          </a:xfrm>
          <a:prstGeom prst="rect">
            <a:avLst/>
          </a:prstGeom>
          <a:solidFill>
            <a:srgbClr val="C9A84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034D0BCC-E5AD-863C-270D-9A77BBE7BCD9}"/>
              </a:ext>
            </a:extLst>
          </p:cNvPr>
          <p:cNvSpPr txBox="1"/>
          <p:nvPr/>
        </p:nvSpPr>
        <p:spPr>
          <a:xfrm>
            <a:off x="228600" y="152400"/>
            <a:ext cx="8686800" cy="369332"/>
          </a:xfrm>
          <a:prstGeom prst="rect">
            <a:avLst/>
          </a:prstGeom>
          <a:noFill/>
        </p:spPr>
        <p:txBody>
          <a:bodyPr vert="horz" wrap="square" rtlCol="0">
            <a:noAutofit/>
          </a:bodyPr>
          <a:lstStyle/>
          <a:p>
            <a:r>
              <a:rPr lang="en-US" sz="2200" b="1">
                <a:solidFill>
                  <a:srgbClr val="FFFFFF"/>
                </a:solidFill>
                <a:latin typeface="Calibri" panose="020F0502020204030204" pitchFamily="34" charset="0"/>
              </a:rPr>
              <a:t>Radiation Safety</a:t>
            </a:r>
            <a:endParaRPr lang="en-IN" sz="2200" b="1">
              <a:solidFill>
                <a:srgbClr val="FFFFFF"/>
              </a:solidFill>
              <a:latin typeface="Calibri" panose="020F0502020204030204" pitchFamily="34" charset="0"/>
            </a:endParaRPr>
          </a:p>
        </p:txBody>
      </p:sp>
      <p:pic>
        <p:nvPicPr>
          <p:cNvPr id="20" name="Picture 20"/>
          <p:cNvPicPr>
            <a:picLocks noChangeAspect="1"/>
          </p:cNvPicPr>
          <p:nvPr/>
        </p:nvPicPr>
        <p:blipFill>
          <a:blip r:embed="rId10"/>
          <a:stretch>
            <a:fillRect/>
          </a:stretch>
        </p:blipFill>
        <p:spPr>
          <a:xfrm>
            <a:off x="2678880" y="1000000"/>
            <a:ext cx="3786240" cy="2448000"/>
          </a:xfrm>
          <a:prstGeom prst="rect">
            <a:avLst/>
          </a:prstGeom>
          <a:ln w="9525">
            <a:solidFill>
              <a:srgbClr val="C9A84C"/>
            </a:solidFill>
          </a:ln>
          <a:effectLst>
            <a:outerShdw blurRad="40000" dist="20000" dir="5400000" rotWithShape="0">
              <a:srgbClr val="000000">
                <a:alpha val="22000"/>
              </a:srgbClr>
            </a:outerShdw>
          </a:effectLst>
        </p:spPr>
      </p:pic>
      <p:sp>
        <p:nvSpPr>
          <p:cNvPr id="21" name="Caption 21"/>
          <p:cNvSpPr txBox="1"/>
          <p:nvPr/>
        </p:nvSpPr>
        <p:spPr>
          <a:xfrm>
            <a:off x="1303020" y="3478000"/>
            <a:ext cx="6537960" cy="300000"/>
          </a:xfrm>
          <a:prstGeom prst="rect">
            <a:avLst/>
          </a:prstGeom>
          <a:noFill/>
        </p:spPr>
        <p:txBody>
          <a:bodyPr vert="horz" wrap="square" rtlCol="0">
            <a:noAutofit/>
          </a:bodyPr>
          <a:lstStyle/>
          <a:p>
            <a:pPr algn="ctr"/>
            <a:r>
              <a:rPr lang="en-US" sz="1100" b="1">
                <a:solidFill>
                  <a:srgbClr val="475569"/>
                </a:solidFill>
                <a:latin typeface="Calibri"/>
              </a:rPr>
              <a:t>Controlled-area warning signage</a:t>
            </a:r>
          </a:p>
        </p:txBody>
      </p:sp>
      <p:sp>
        <p:nvSpPr>
          <p:cNvPr id="22" name="Note 22"/>
          <p:cNvSpPr txBox="1"/>
          <p:nvPr/>
        </p:nvSpPr>
        <p:spPr>
          <a:xfrm>
            <a:off x="581000" y="3568000"/>
            <a:ext cx="7982000" cy="1432000"/>
          </a:xfrm>
          <a:prstGeom prst="rect">
            <a:avLst/>
          </a:prstGeom>
          <a:noFill/>
        </p:spPr>
        <p:txBody>
          <a:bodyPr vert="horz" wrap="square" rtlCol="0" anchor="ctr">
            <a:noAutofit/>
          </a:bodyPr>
          <a:lstStyle/>
          <a:p>
            <a:pPr algn="l"/>
            <a:r>
              <a:rPr lang="en-US" sz="1300" b="0">
                <a:solidFill>
                  <a:srgbClr val="1E293B"/>
                </a:solidFill>
                <a:latin typeface="Calibri"/>
              </a:rPr>
              <a:t>Although digital systems can lower dose, radiation protection remains essential: controlled access, ALARA practice, shielding, and dose monitoring apply to every CR and DR installation.</a:t>
            </a:r>
          </a:p>
        </p:txBody>
      </p:sp>
    </p:spTree>
    <p:extLst>
      <p:ext uri="{BB962C8B-B14F-4D97-AF65-F5344CB8AC3E}">
        <p14:creationId xmlns:p14="http://schemas.microsoft.com/office/powerpoint/2010/main" val="41895769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1129</Words>
  <Application>Microsoft Office PowerPoint</Application>
  <PresentationFormat>On-screen Show (16:9)</PresentationFormat>
  <Paragraphs>115</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Pawanpreet Singh</dc:creator>
  <cp:lastModifiedBy>Dr Pawanpreet Singh</cp:lastModifiedBy>
  <cp:revision>2</cp:revision>
  <dcterms:created xsi:type="dcterms:W3CDTF">2026-06-08T11:40:44Z</dcterms:created>
  <dcterms:modified xsi:type="dcterms:W3CDTF">2026-06-08T11:53:11Z</dcterms:modified>
</cp:coreProperties>
</file>