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83" r:id="rId13"/>
    <p:sldId id="284" r:id="rId14"/>
    <p:sldId id="285" r:id="rId15"/>
    <p:sldId id="287" r:id="rId16"/>
    <p:sldId id="286" r:id="rId17"/>
    <p:sldId id="288" r:id="rId18"/>
    <p:sldId id="289" r:id="rId19"/>
    <p:sldId id="290" r:id="rId20"/>
    <p:sldId id="268" r:id="rId21"/>
    <p:sldId id="269" r:id="rId22"/>
    <p:sldId id="291" r:id="rId23"/>
    <p:sldId id="292" r:id="rId24"/>
    <p:sldId id="293" r:id="rId25"/>
    <p:sldId id="294" r:id="rId26"/>
    <p:sldId id="295" r:id="rId27"/>
    <p:sldId id="296" r:id="rId28"/>
    <p:sldId id="267" r:id="rId29"/>
    <p:sldId id="272" r:id="rId30"/>
    <p:sldId id="273" r:id="rId31"/>
    <p:sldId id="274" r:id="rId32"/>
    <p:sldId id="275" r:id="rId33"/>
    <p:sldId id="276" r:id="rId34"/>
    <p:sldId id="277" r:id="rId35"/>
    <p:sldId id="278" r:id="rId36"/>
    <p:sldId id="279" r:id="rId37"/>
    <p:sldId id="280" r:id="rId38"/>
    <p:sldId id="281" r:id="rId39"/>
    <p:sldId id="297" r:id="rId40"/>
    <p:sldId id="298" r:id="rId41"/>
    <p:sldId id="299" r:id="rId42"/>
    <p:sldId id="271" r:id="rId43"/>
    <p:sldId id="27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9CB86-FF4B-4520-82C2-226512484168}"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A65AF-76C4-4817-B0F1-65137A1C2BC8}" type="slidenum">
              <a:rPr lang="en-IN" smtClean="0"/>
              <a:t>‹#›</a:t>
            </a:fld>
            <a:endParaRPr lang="en-IN"/>
          </a:p>
        </p:txBody>
      </p:sp>
    </p:spTree>
    <p:extLst>
      <p:ext uri="{BB962C8B-B14F-4D97-AF65-F5344CB8AC3E}">
        <p14:creationId xmlns:p14="http://schemas.microsoft.com/office/powerpoint/2010/main" val="457964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4A65AF-76C4-4817-B0F1-65137A1C2BC8}" type="slidenum">
              <a:rPr lang="en-IN" smtClean="0"/>
              <a:t>2</a:t>
            </a:fld>
            <a:endParaRPr lang="en-IN"/>
          </a:p>
        </p:txBody>
      </p:sp>
    </p:spTree>
    <p:extLst>
      <p:ext uri="{BB962C8B-B14F-4D97-AF65-F5344CB8AC3E}">
        <p14:creationId xmlns:p14="http://schemas.microsoft.com/office/powerpoint/2010/main" val="2789358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4A65AF-76C4-4817-B0F1-65137A1C2BC8}" type="slidenum">
              <a:rPr lang="en-IN" smtClean="0"/>
              <a:t>7</a:t>
            </a:fld>
            <a:endParaRPr lang="en-IN"/>
          </a:p>
        </p:txBody>
      </p:sp>
    </p:spTree>
    <p:extLst>
      <p:ext uri="{BB962C8B-B14F-4D97-AF65-F5344CB8AC3E}">
        <p14:creationId xmlns:p14="http://schemas.microsoft.com/office/powerpoint/2010/main" val="238294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28B0D-6DAA-4CD0-B0FD-626DBE5B4503}"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F5FD9-D6DE-47DD-AA85-175D8BC8E34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55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28B0D-6DAA-4CD0-B0FD-626DBE5B4503}"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1201094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28B0D-6DAA-4CD0-B0FD-626DBE5B4503}"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F5FD9-D6DE-47DD-AA85-175D8BC8E346}"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1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28B0D-6DAA-4CD0-B0FD-626DBE5B4503}" type="datetimeFigureOut">
              <a:rPr lang="en-IN" smtClean="0"/>
              <a:t>15-06-2026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36528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28B0D-6DAA-4CD0-B0FD-626DBE5B4503}" type="datetimeFigureOut">
              <a:rPr lang="en-IN" smtClean="0"/>
              <a:t>15-06-2026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4099782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828B0D-6DAA-4CD0-B0FD-626DBE5B4503}" type="datetimeFigureOut">
              <a:rPr lang="en-IN" smtClean="0"/>
              <a:t>15-06-2026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3081328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5828B0D-6DAA-4CD0-B0FD-626DBE5B4503}" type="datetimeFigureOut">
              <a:rPr lang="en-IN" smtClean="0"/>
              <a:t>15-06-2026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52051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828B0D-6DAA-4CD0-B0FD-626DBE5B4503}" type="datetimeFigureOut">
              <a:rPr lang="en-IN" smtClean="0"/>
              <a:t>15-06-2026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35F5FD9-D6DE-47DD-AA85-175D8BC8E346}" type="slidenum">
              <a:rPr lang="en-IN" smtClean="0"/>
              <a:t>‹#›</a:t>
            </a:fld>
            <a:endParaRPr lang="en-IN"/>
          </a:p>
        </p:txBody>
      </p:sp>
    </p:spTree>
    <p:extLst>
      <p:ext uri="{BB962C8B-B14F-4D97-AF65-F5344CB8AC3E}">
        <p14:creationId xmlns:p14="http://schemas.microsoft.com/office/powerpoint/2010/main" val="4093637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55828B0D-6DAA-4CD0-B0FD-626DBE5B4503}" type="datetimeFigureOut">
              <a:rPr lang="en-IN" smtClean="0"/>
              <a:t>15-06-2026</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35F5FD9-D6DE-47DD-AA85-175D8BC8E346}" type="slidenum">
              <a:rPr lang="en-IN" smtClean="0"/>
              <a:t>‹#›</a:t>
            </a:fld>
            <a:endParaRPr lang="en-IN"/>
          </a:p>
        </p:txBody>
      </p:sp>
    </p:spTree>
    <p:extLst>
      <p:ext uri="{BB962C8B-B14F-4D97-AF65-F5344CB8AC3E}">
        <p14:creationId xmlns:p14="http://schemas.microsoft.com/office/powerpoint/2010/main" val="797864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28B0D-6DAA-4CD0-B0FD-626DBE5B4503}"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2711938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28B0D-6DAA-4CD0-B0FD-626DBE5B4503}" type="datetimeFigureOut">
              <a:rPr lang="en-IN" smtClean="0"/>
              <a:t>15-06-2026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F5FD9-D6DE-47DD-AA85-175D8BC8E346}" type="slidenum">
              <a:rPr lang="en-IN" smtClean="0"/>
              <a:t>‹#›</a:t>
            </a:fld>
            <a:endParaRPr lang="en-IN"/>
          </a:p>
        </p:txBody>
      </p:sp>
    </p:spTree>
    <p:extLst>
      <p:ext uri="{BB962C8B-B14F-4D97-AF65-F5344CB8AC3E}">
        <p14:creationId xmlns:p14="http://schemas.microsoft.com/office/powerpoint/2010/main" val="951760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28B0D-6DAA-4CD0-B0FD-626DBE5B4503}" type="datetimeFigureOut">
              <a:rPr lang="en-IN" smtClean="0"/>
              <a:t>15-06-2026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35F5FD9-D6DE-47DD-AA85-175D8BC8E346}"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575288"/>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9DC7-BF78-246C-F114-9F2B0AE26AB7}"/>
              </a:ext>
            </a:extLst>
          </p:cNvPr>
          <p:cNvSpPr>
            <a:spLocks noGrp="1"/>
          </p:cNvSpPr>
          <p:nvPr>
            <p:ph type="ctrTitle"/>
          </p:nvPr>
        </p:nvSpPr>
        <p:spPr/>
        <p:txBody>
          <a:bodyPr/>
          <a:lstStyle/>
          <a:p>
            <a:r>
              <a:rPr lang="en-IN" dirty="0">
                <a:solidFill>
                  <a:schemeClr val="accent1"/>
                </a:solidFill>
                <a:latin typeface="Times New Roman" panose="02020603050405020304" pitchFamily="18" charset="0"/>
                <a:cs typeface="Times New Roman" panose="02020603050405020304" pitchFamily="18" charset="0"/>
              </a:rPr>
              <a:t>USG Physics</a:t>
            </a:r>
            <a:br>
              <a:rPr lang="en-IN" dirty="0">
                <a:solidFill>
                  <a:schemeClr val="accent1"/>
                </a:solidFill>
                <a:latin typeface="Times New Roman" panose="02020603050405020304" pitchFamily="18" charset="0"/>
                <a:cs typeface="Times New Roman" panose="02020603050405020304" pitchFamily="18" charset="0"/>
              </a:rPr>
            </a:br>
            <a:endParaRPr lang="en-IN" dirty="0">
              <a:solidFill>
                <a:schemeClr val="accent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C3C1E9F-8F7F-DDF4-AFC9-6D3195B4383F}"/>
              </a:ext>
            </a:extLst>
          </p:cNvPr>
          <p:cNvSpPr>
            <a:spLocks noGrp="1"/>
          </p:cNvSpPr>
          <p:nvPr>
            <p:ph type="subTitle" idx="1"/>
          </p:nvPr>
        </p:nvSpPr>
        <p:spPr/>
        <p:txBody>
          <a:bodyPr>
            <a:normAutofit lnSpcReduction="10000"/>
          </a:bodyPr>
          <a:lstStyle/>
          <a:p>
            <a:pPr>
              <a:lnSpc>
                <a:spcPct val="100000"/>
              </a:lnSpc>
              <a:spcBef>
                <a:spcPts val="0"/>
              </a:spcBef>
            </a:pPr>
            <a:r>
              <a:rPr lang="en-IN" dirty="0">
                <a:solidFill>
                  <a:schemeClr val="accent2">
                    <a:lumMod val="75000"/>
                  </a:schemeClr>
                </a:solidFill>
                <a:latin typeface="Times New Roman" panose="02020603050405020304" pitchFamily="18" charset="0"/>
                <a:cs typeface="Times New Roman" panose="02020603050405020304" pitchFamily="18" charset="0"/>
              </a:rPr>
              <a:t>Dr. Swapnil Sidana</a:t>
            </a:r>
          </a:p>
          <a:p>
            <a:pPr>
              <a:lnSpc>
                <a:spcPct val="100000"/>
              </a:lnSpc>
              <a:spcBef>
                <a:spcPts val="0"/>
              </a:spcBef>
            </a:pPr>
            <a:r>
              <a:rPr lang="en-IN" dirty="0">
                <a:solidFill>
                  <a:schemeClr val="accent2">
                    <a:lumMod val="75000"/>
                  </a:schemeClr>
                </a:solidFill>
                <a:latin typeface="Times New Roman" panose="02020603050405020304" pitchFamily="18" charset="0"/>
                <a:cs typeface="Times New Roman" panose="02020603050405020304" pitchFamily="18" charset="0"/>
              </a:rPr>
              <a:t>Junior Resident</a:t>
            </a:r>
          </a:p>
          <a:p>
            <a:pPr>
              <a:lnSpc>
                <a:spcPct val="100000"/>
              </a:lnSpc>
              <a:spcBef>
                <a:spcPts val="0"/>
              </a:spcBef>
            </a:pPr>
            <a:r>
              <a:rPr lang="en-IN" dirty="0">
                <a:solidFill>
                  <a:schemeClr val="accent2">
                    <a:lumMod val="75000"/>
                  </a:schemeClr>
                </a:solidFill>
                <a:latin typeface="Times New Roman" panose="02020603050405020304" pitchFamily="18" charset="0"/>
                <a:cs typeface="Times New Roman" panose="02020603050405020304" pitchFamily="18" charset="0"/>
              </a:rPr>
              <a:t>M.D. Radiodiagnosis</a:t>
            </a:r>
          </a:p>
        </p:txBody>
      </p:sp>
    </p:spTree>
    <p:extLst>
      <p:ext uri="{BB962C8B-B14F-4D97-AF65-F5344CB8AC3E}">
        <p14:creationId xmlns:p14="http://schemas.microsoft.com/office/powerpoint/2010/main" val="2472501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D4DAE1-012E-358D-ECE3-734049BB3A4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What is ultrasound?</a:t>
            </a:r>
          </a:p>
        </p:txBody>
      </p:sp>
      <p:sp>
        <p:nvSpPr>
          <p:cNvPr id="6" name="Content Placeholder 5">
            <a:extLst>
              <a:ext uri="{FF2B5EF4-FFF2-40B4-BE49-F238E27FC236}">
                <a16:creationId xmlns:a16="http://schemas.microsoft.com/office/drawing/2014/main" id="{F1A19A23-1177-5DCF-2138-4398DB893212}"/>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Ultrasound is a diagnostic imaging technique that uses high frequency </a:t>
            </a:r>
            <a:r>
              <a:rPr lang="en-IN">
                <a:latin typeface="Times New Roman" panose="02020603050405020304" pitchFamily="18" charset="0"/>
                <a:cs typeface="Times New Roman" panose="02020603050405020304" pitchFamily="18" charset="0"/>
              </a:rPr>
              <a:t>sound waves </a:t>
            </a:r>
            <a:r>
              <a:rPr lang="en-IN" dirty="0">
                <a:latin typeface="Times New Roman" panose="02020603050405020304" pitchFamily="18" charset="0"/>
                <a:cs typeface="Times New Roman" panose="02020603050405020304" pitchFamily="18" charset="0"/>
              </a:rPr>
              <a:t>and their echoes to generate real time images of internal body structures.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Key Features:</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Non-Ionizing radiation</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Provides real-time imaging</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Useful for soft tissues, fluid filled structures, vascular flow</a:t>
            </a:r>
          </a:p>
        </p:txBody>
      </p:sp>
    </p:spTree>
    <p:extLst>
      <p:ext uri="{BB962C8B-B14F-4D97-AF65-F5344CB8AC3E}">
        <p14:creationId xmlns:p14="http://schemas.microsoft.com/office/powerpoint/2010/main" val="2389367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608C-B1B8-EA89-7EF0-A1B4D7222A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Types of ultrasound</a:t>
            </a:r>
          </a:p>
        </p:txBody>
      </p:sp>
      <p:sp>
        <p:nvSpPr>
          <p:cNvPr id="3" name="Content Placeholder 2">
            <a:extLst>
              <a:ext uri="{FF2B5EF4-FFF2-40B4-BE49-F238E27FC236}">
                <a16:creationId xmlns:a16="http://schemas.microsoft.com/office/drawing/2014/main" id="{2701E93B-0D76-F6F8-B063-A8CD391DF6E8}"/>
              </a:ext>
            </a:extLst>
          </p:cNvPr>
          <p:cNvSpPr>
            <a:spLocks noGrp="1"/>
          </p:cNvSpPr>
          <p:nvPr>
            <p:ph idx="1"/>
          </p:nvPr>
        </p:nvSpPr>
        <p:spPr/>
        <p:txBody>
          <a:bodyPr>
            <a:norm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 (amplitude) mode is one dimensional representation of structures and is used In ophthalmology to measure the axial length of the eyeball.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 (brightness) mode Displays two dimensional images in which echo amplitude is depicted as dots of different brightness. The routine Grayscale ultrasound examination is B mode USG.</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 (motion) mode shows movement as a function of time And is used in Cardiac imaging.</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Doppler mode Is used to measure blood flow and velocity.</a:t>
            </a:r>
          </a:p>
        </p:txBody>
      </p:sp>
    </p:spTree>
    <p:extLst>
      <p:ext uri="{BB962C8B-B14F-4D97-AF65-F5344CB8AC3E}">
        <p14:creationId xmlns:p14="http://schemas.microsoft.com/office/powerpoint/2010/main" val="33190227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E55E-C557-09D0-3E56-FCA8660D0D1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Principle of ultrasound</a:t>
            </a:r>
          </a:p>
        </p:txBody>
      </p:sp>
      <p:sp>
        <p:nvSpPr>
          <p:cNvPr id="3" name="Content Placeholder 2">
            <a:extLst>
              <a:ext uri="{FF2B5EF4-FFF2-40B4-BE49-F238E27FC236}">
                <a16:creationId xmlns:a16="http://schemas.microsoft.com/office/drawing/2014/main" id="{547DFEF7-CFA7-B862-F84D-A08E1D5AB2AB}"/>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Ultrasound works on the principle of pulse echo principle which is facilitated by Piezoelectric material in the ultrasound probe crystal. When piezoelectric crystal is electrically pulsed, it changes shape and vibrates, producing a sound beam that propagates through the tissues. The reflected echoes reach the transducer causing its vibrations which produces electrical voltage comparable to the returning echo.</a:t>
            </a:r>
          </a:p>
        </p:txBody>
      </p:sp>
      <p:pic>
        <p:nvPicPr>
          <p:cNvPr id="5" name="Picture 4">
            <a:extLst>
              <a:ext uri="{FF2B5EF4-FFF2-40B4-BE49-F238E27FC236}">
                <a16:creationId xmlns:a16="http://schemas.microsoft.com/office/drawing/2014/main" id="{2DAE9689-89CF-ACDF-BB54-ABB77D335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4438" y="3234813"/>
            <a:ext cx="6120027" cy="3064387"/>
          </a:xfrm>
          <a:prstGeom prst="rect">
            <a:avLst/>
          </a:prstGeom>
        </p:spPr>
      </p:pic>
    </p:spTree>
    <p:extLst>
      <p:ext uri="{BB962C8B-B14F-4D97-AF65-F5344CB8AC3E}">
        <p14:creationId xmlns:p14="http://schemas.microsoft.com/office/powerpoint/2010/main" val="351051755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6BFD-7EA5-5E7A-E1E3-B2BE63EEB68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Properties of sound</a:t>
            </a:r>
          </a:p>
        </p:txBody>
      </p:sp>
      <p:sp>
        <p:nvSpPr>
          <p:cNvPr id="3" name="Content Placeholder 2">
            <a:extLst>
              <a:ext uri="{FF2B5EF4-FFF2-40B4-BE49-F238E27FC236}">
                <a16:creationId xmlns:a16="http://schemas.microsoft.com/office/drawing/2014/main" id="{A8094B61-36BD-95C1-D0E8-6926A74BA73C}"/>
              </a:ext>
            </a:extLst>
          </p:cNvPr>
          <p:cNvSpPr>
            <a:spLocks noGrp="1"/>
          </p:cNvSpPr>
          <p:nvPr>
            <p:ph idx="1"/>
          </p:nvPr>
        </p:nvSpPr>
        <p:spPr>
          <a:xfrm>
            <a:off x="1036320" y="1737360"/>
            <a:ext cx="10058400" cy="4023360"/>
          </a:xfrm>
        </p:spPr>
        <p:txBody>
          <a:bodyPr/>
          <a:lstStyle/>
          <a:p>
            <a:r>
              <a:rPr lang="en-IN" dirty="0">
                <a:latin typeface="Times New Roman" panose="02020603050405020304" pitchFamily="18" charset="0"/>
                <a:cs typeface="Times New Roman" panose="02020603050405020304" pitchFamily="18" charset="0"/>
              </a:rPr>
              <a:t>Unlike X Rays, the sound is a mechanical energy that requires a medium for travel, it has tissue dependent velocity and does not cause ionisation. Sound wave travels as a longitudinal wave with peaks and troughs.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E9A0AFE-EBCD-ABA4-87B9-117419A2B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080" y="2824480"/>
            <a:ext cx="7386320" cy="2306320"/>
          </a:xfrm>
          <a:prstGeom prst="rect">
            <a:avLst/>
          </a:prstGeom>
        </p:spPr>
      </p:pic>
    </p:spTree>
    <p:extLst>
      <p:ext uri="{BB962C8B-B14F-4D97-AF65-F5344CB8AC3E}">
        <p14:creationId xmlns:p14="http://schemas.microsoft.com/office/powerpoint/2010/main" val="1338602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4897E3-0655-6469-30AD-BAB3E12E12A0}"/>
              </a:ext>
            </a:extLst>
          </p:cNvPr>
          <p:cNvSpPr>
            <a:spLocks noGrp="1"/>
          </p:cNvSpPr>
          <p:nvPr>
            <p:ph idx="4294967295"/>
          </p:nvPr>
        </p:nvSpPr>
        <p:spPr>
          <a:xfrm>
            <a:off x="711200" y="223520"/>
            <a:ext cx="10708640" cy="5788343"/>
          </a:xfrm>
        </p:spPr>
        <p:txBody>
          <a:bodyPr/>
          <a:lstStyle/>
          <a:p>
            <a:pPr marL="0" indent="0">
              <a:buNone/>
            </a:pPr>
            <a:r>
              <a:rPr lang="en-IN" dirty="0">
                <a:latin typeface="Times New Roman" panose="02020603050405020304" pitchFamily="18" charset="0"/>
                <a:cs typeface="Times New Roman" panose="02020603050405020304" pitchFamily="18" charset="0"/>
              </a:rPr>
              <a:t>The propagation velocity depends on Tissue and is constant for a particular tissue. It is inversely proportional to the compressibility and density of the tissue And is directly proportional to The stiffness of tissue. Thus, the velocity of sound is less in air, which has high compressibility and in soft tissues it is 1540 m/s. Thus, To get best images of soft issues USG machines are calibrated to this speed (1540 m/s).</a:t>
            </a:r>
          </a:p>
        </p:txBody>
      </p:sp>
      <p:graphicFrame>
        <p:nvGraphicFramePr>
          <p:cNvPr id="5" name="Table 4">
            <a:extLst>
              <a:ext uri="{FF2B5EF4-FFF2-40B4-BE49-F238E27FC236}">
                <a16:creationId xmlns:a16="http://schemas.microsoft.com/office/drawing/2014/main" id="{99568097-3F36-9BE8-34B4-94E296E1F51E}"/>
              </a:ext>
            </a:extLst>
          </p:cNvPr>
          <p:cNvGraphicFramePr>
            <a:graphicFrameLocks noGrp="1"/>
          </p:cNvGraphicFramePr>
          <p:nvPr>
            <p:extLst>
              <p:ext uri="{D42A27DB-BD31-4B8C-83A1-F6EECF244321}">
                <p14:modId xmlns:p14="http://schemas.microsoft.com/office/powerpoint/2010/main" val="1763111736"/>
              </p:ext>
            </p:extLst>
          </p:nvPr>
        </p:nvGraphicFramePr>
        <p:xfrm>
          <a:off x="711200" y="2377441"/>
          <a:ext cx="10708640" cy="3633895"/>
        </p:xfrm>
        <a:graphic>
          <a:graphicData uri="http://schemas.openxmlformats.org/drawingml/2006/table">
            <a:tbl>
              <a:tblPr firstRow="1" bandRow="1">
                <a:tableStyleId>{5C22544A-7EE6-4342-B048-85BDC9FD1C3A}</a:tableStyleId>
              </a:tblPr>
              <a:tblGrid>
                <a:gridCol w="5202149">
                  <a:extLst>
                    <a:ext uri="{9D8B030D-6E8A-4147-A177-3AD203B41FA5}">
                      <a16:colId xmlns:a16="http://schemas.microsoft.com/office/drawing/2014/main" val="923686488"/>
                    </a:ext>
                  </a:extLst>
                </a:gridCol>
                <a:gridCol w="5506491">
                  <a:extLst>
                    <a:ext uri="{9D8B030D-6E8A-4147-A177-3AD203B41FA5}">
                      <a16:colId xmlns:a16="http://schemas.microsoft.com/office/drawing/2014/main" val="265534064"/>
                    </a:ext>
                  </a:extLst>
                </a:gridCol>
              </a:tblGrid>
              <a:tr h="726779">
                <a:tc>
                  <a:txBody>
                    <a:bodyPr/>
                    <a:lstStyle/>
                    <a:p>
                      <a:r>
                        <a:rPr lang="en-IN" dirty="0"/>
                        <a:t>Material</a:t>
                      </a:r>
                    </a:p>
                  </a:txBody>
                  <a:tcPr/>
                </a:tc>
                <a:tc>
                  <a:txBody>
                    <a:bodyPr/>
                    <a:lstStyle/>
                    <a:p>
                      <a:r>
                        <a:rPr lang="en-IN" dirty="0"/>
                        <a:t>Speed of sound (m/s)</a:t>
                      </a:r>
                    </a:p>
                  </a:txBody>
                  <a:tcPr/>
                </a:tc>
                <a:extLst>
                  <a:ext uri="{0D108BD9-81ED-4DB2-BD59-A6C34878D82A}">
                    <a16:rowId xmlns:a16="http://schemas.microsoft.com/office/drawing/2014/main" val="3690947033"/>
                  </a:ext>
                </a:extLst>
              </a:tr>
              <a:tr h="726779">
                <a:tc>
                  <a:txBody>
                    <a:bodyPr/>
                    <a:lstStyle/>
                    <a:p>
                      <a:r>
                        <a:rPr lang="en-IN" dirty="0"/>
                        <a:t>Air</a:t>
                      </a:r>
                    </a:p>
                  </a:txBody>
                  <a:tcPr/>
                </a:tc>
                <a:tc>
                  <a:txBody>
                    <a:bodyPr/>
                    <a:lstStyle/>
                    <a:p>
                      <a:r>
                        <a:rPr lang="en-IN" dirty="0"/>
                        <a:t>330</a:t>
                      </a:r>
                    </a:p>
                  </a:txBody>
                  <a:tcPr/>
                </a:tc>
                <a:extLst>
                  <a:ext uri="{0D108BD9-81ED-4DB2-BD59-A6C34878D82A}">
                    <a16:rowId xmlns:a16="http://schemas.microsoft.com/office/drawing/2014/main" val="2400482025"/>
                  </a:ext>
                </a:extLst>
              </a:tr>
              <a:tr h="726779">
                <a:tc>
                  <a:txBody>
                    <a:bodyPr/>
                    <a:lstStyle/>
                    <a:p>
                      <a:r>
                        <a:rPr lang="en-IN" dirty="0"/>
                        <a:t>Fat</a:t>
                      </a:r>
                    </a:p>
                  </a:txBody>
                  <a:tcPr/>
                </a:tc>
                <a:tc>
                  <a:txBody>
                    <a:bodyPr/>
                    <a:lstStyle/>
                    <a:p>
                      <a:r>
                        <a:rPr lang="en-IN" dirty="0"/>
                        <a:t>1450</a:t>
                      </a:r>
                    </a:p>
                  </a:txBody>
                  <a:tcPr/>
                </a:tc>
                <a:extLst>
                  <a:ext uri="{0D108BD9-81ED-4DB2-BD59-A6C34878D82A}">
                    <a16:rowId xmlns:a16="http://schemas.microsoft.com/office/drawing/2014/main" val="616058571"/>
                  </a:ext>
                </a:extLst>
              </a:tr>
              <a:tr h="726779">
                <a:tc>
                  <a:txBody>
                    <a:bodyPr/>
                    <a:lstStyle/>
                    <a:p>
                      <a:r>
                        <a:rPr lang="en-IN" dirty="0"/>
                        <a:t>Water</a:t>
                      </a:r>
                    </a:p>
                  </a:txBody>
                  <a:tcPr/>
                </a:tc>
                <a:tc>
                  <a:txBody>
                    <a:bodyPr/>
                    <a:lstStyle/>
                    <a:p>
                      <a:r>
                        <a:rPr lang="en-IN" dirty="0"/>
                        <a:t>1480</a:t>
                      </a:r>
                    </a:p>
                  </a:txBody>
                  <a:tcPr/>
                </a:tc>
                <a:extLst>
                  <a:ext uri="{0D108BD9-81ED-4DB2-BD59-A6C34878D82A}">
                    <a16:rowId xmlns:a16="http://schemas.microsoft.com/office/drawing/2014/main" val="1135007210"/>
                  </a:ext>
                </a:extLst>
              </a:tr>
              <a:tr h="726779">
                <a:tc>
                  <a:txBody>
                    <a:bodyPr/>
                    <a:lstStyle/>
                    <a:p>
                      <a:r>
                        <a:rPr lang="en-IN" dirty="0"/>
                        <a:t>Soft tissues (average)</a:t>
                      </a:r>
                    </a:p>
                  </a:txBody>
                  <a:tcPr/>
                </a:tc>
                <a:tc>
                  <a:txBody>
                    <a:bodyPr/>
                    <a:lstStyle/>
                    <a:p>
                      <a:r>
                        <a:rPr lang="en-IN" dirty="0"/>
                        <a:t>1540</a:t>
                      </a:r>
                    </a:p>
                  </a:txBody>
                  <a:tcPr/>
                </a:tc>
                <a:extLst>
                  <a:ext uri="{0D108BD9-81ED-4DB2-BD59-A6C34878D82A}">
                    <a16:rowId xmlns:a16="http://schemas.microsoft.com/office/drawing/2014/main" val="2695806320"/>
                  </a:ext>
                </a:extLst>
              </a:tr>
            </a:tbl>
          </a:graphicData>
        </a:graphic>
      </p:graphicFrame>
    </p:spTree>
    <p:extLst>
      <p:ext uri="{BB962C8B-B14F-4D97-AF65-F5344CB8AC3E}">
        <p14:creationId xmlns:p14="http://schemas.microsoft.com/office/powerpoint/2010/main" val="253690041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35A18-3E56-C4DF-E776-C70BFA8827B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Acoustic Impedence and Acoustic Impedence Mismatch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C5674F-2EC0-86AC-EA2F-7FBA5B42C407}"/>
                  </a:ext>
                </a:extLst>
              </p:cNvPr>
              <p:cNvSpPr>
                <a:spLocks noGrp="1"/>
              </p:cNvSpPr>
              <p:nvPr>
                <p:ph idx="1"/>
              </p:nvPr>
            </p:nvSpPr>
            <p:spPr>
              <a:xfrm>
                <a:off x="1097280" y="2306320"/>
                <a:ext cx="10058400" cy="3562774"/>
              </a:xfrm>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resistance offered by the tissues to the movement of particles caused by ultrasound waves is called the acoustic impedance.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Z = </a:t>
                </a:r>
                <a14:m>
                  <m:oMath xmlns:m="http://schemas.openxmlformats.org/officeDocument/2006/math">
                    <m:r>
                      <a:rPr lang="en-IN" i="1" smtClean="0">
                        <a:latin typeface="Cambria Math" panose="02040503050406030204" pitchFamily="18" charset="0"/>
                        <a:ea typeface="Cambria Math" panose="02040503050406030204" pitchFamily="18" charset="0"/>
                      </a:rPr>
                      <m:t>𝜌</m:t>
                    </m:r>
                  </m:oMath>
                </a14:m>
                <a:r>
                  <a:rPr lang="en-IN" dirty="0">
                    <a:latin typeface="Times New Roman" panose="02020603050405020304" pitchFamily="18" charset="0"/>
                    <a:cs typeface="Times New Roman" panose="02020603050405020304" pitchFamily="18" charset="0"/>
                  </a:rPr>
                  <a:t>c, </a:t>
                </a:r>
                <a14:m>
                  <m:oMath xmlns:m="http://schemas.openxmlformats.org/officeDocument/2006/math">
                    <m:r>
                      <a:rPr lang="en-IN" i="1" smtClean="0">
                        <a:latin typeface="Cambria Math" panose="02040503050406030204" pitchFamily="18" charset="0"/>
                        <a:ea typeface="Cambria Math" panose="02040503050406030204" pitchFamily="18" charset="0"/>
                      </a:rPr>
                      <m:t>𝜌</m:t>
                    </m:r>
                  </m:oMath>
                </a14:m>
                <a:r>
                  <a:rPr lang="en-IN" dirty="0">
                    <a:latin typeface="Times New Roman" panose="02020603050405020304" pitchFamily="18" charset="0"/>
                    <a:cs typeface="Times New Roman" panose="02020603050405020304" pitchFamily="18" charset="0"/>
                  </a:rPr>
                  <a:t> is the density of tissue and c is the speed of ultrasound wave in the tissue.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Measured in Rayl/kg/m</a:t>
                </a:r>
                <a:r>
                  <a:rPr lang="en-IN" baseline="30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Thus, acoustic impedance is directly proportional to the density, rigidity of tissue and speed of sound in a material.</a:t>
                </a:r>
              </a:p>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Acoustic impedance mismatch </a:t>
                </a:r>
                <a:r>
                  <a:rPr lang="en-IN" dirty="0">
                    <a:latin typeface="Times New Roman" panose="02020603050405020304" pitchFamily="18" charset="0"/>
                    <a:cs typeface="Times New Roman" panose="02020603050405020304" pitchFamily="18" charset="0"/>
                  </a:rPr>
                  <a:t>is the difference in acoustic impedance at interface of two tissues and determines the amount of energy reflected at the interface which in turn is detected and is displayed as images in ultrasound imaging.</a:t>
                </a:r>
              </a:p>
            </p:txBody>
          </p:sp>
        </mc:Choice>
        <mc:Fallback xmlns="">
          <p:sp>
            <p:nvSpPr>
              <p:cNvPr id="3" name="Content Placeholder 2">
                <a:extLst>
                  <a:ext uri="{FF2B5EF4-FFF2-40B4-BE49-F238E27FC236}">
                    <a16:creationId xmlns:a16="http://schemas.microsoft.com/office/drawing/2014/main" id="{D9C5674F-2EC0-86AC-EA2F-7FBA5B42C407}"/>
                  </a:ext>
                </a:extLst>
              </p:cNvPr>
              <p:cNvSpPr>
                <a:spLocks noGrp="1" noRot="1" noChangeAspect="1" noMove="1" noResize="1" noEditPoints="1" noAdjustHandles="1" noChangeArrowheads="1" noChangeShapeType="1" noTextEdit="1"/>
              </p:cNvSpPr>
              <p:nvPr>
                <p:ph idx="1"/>
              </p:nvPr>
            </p:nvSpPr>
            <p:spPr>
              <a:xfrm>
                <a:off x="1097280" y="2306320"/>
                <a:ext cx="10058400" cy="3562774"/>
              </a:xfrm>
              <a:blipFill>
                <a:blip r:embed="rId3"/>
                <a:stretch>
                  <a:fillRect l="-1455" t="-1709" r="-1333"/>
                </a:stretch>
              </a:blipFill>
            </p:spPr>
            <p:txBody>
              <a:bodyPr/>
              <a:lstStyle/>
              <a:p>
                <a:r>
                  <a:rPr lang="en-IN">
                    <a:noFill/>
                  </a:rPr>
                  <a:t> </a:t>
                </a:r>
              </a:p>
            </p:txBody>
          </p:sp>
        </mc:Fallback>
      </mc:AlternateContent>
    </p:spTree>
    <p:extLst>
      <p:ext uri="{BB962C8B-B14F-4D97-AF65-F5344CB8AC3E}">
        <p14:creationId xmlns:p14="http://schemas.microsoft.com/office/powerpoint/2010/main" val="2149586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1D33E6-842F-B69D-4805-A9B134CA725D}"/>
              </a:ext>
            </a:extLst>
          </p:cNvPr>
          <p:cNvSpPr>
            <a:spLocks noGrp="1"/>
          </p:cNvSpPr>
          <p:nvPr>
            <p:ph idx="4294967295"/>
          </p:nvPr>
        </p:nvSpPr>
        <p:spPr>
          <a:xfrm>
            <a:off x="924560" y="1281906"/>
            <a:ext cx="10058400" cy="4294188"/>
          </a:xfrm>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If the mismatch is high (air-bone interface) almost 100 % sound is reflected back with almost no transmission.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If the mismatch is low (fat muscle interface) there is better sound transmission with decreased reflection.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Piezoelectric crystals at the transducer head have very high acoustic impedances compared with skin. Therefore, the matching layer is used in front of the piezoelectric crystal to reduce this difference and allow for better sound transmission into the body</a:t>
            </a:r>
          </a:p>
        </p:txBody>
      </p:sp>
    </p:spTree>
    <p:extLst>
      <p:ext uri="{BB962C8B-B14F-4D97-AF65-F5344CB8AC3E}">
        <p14:creationId xmlns:p14="http://schemas.microsoft.com/office/powerpoint/2010/main" val="228126677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6ACCE-9EEA-68EA-05EE-038CFBD5F2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Interactions with Tissues</a:t>
            </a:r>
          </a:p>
        </p:txBody>
      </p:sp>
      <p:sp>
        <p:nvSpPr>
          <p:cNvPr id="3" name="Content Placeholder 2">
            <a:extLst>
              <a:ext uri="{FF2B5EF4-FFF2-40B4-BE49-F238E27FC236}">
                <a16:creationId xmlns:a16="http://schemas.microsoft.com/office/drawing/2014/main" id="{05DD6D74-A672-1A9A-6FEC-0717D406E20C}"/>
              </a:ext>
            </a:extLst>
          </p:cNvPr>
          <p:cNvSpPr>
            <a:spLocks noGrp="1"/>
          </p:cNvSpPr>
          <p:nvPr>
            <p:ph idx="1"/>
          </p:nvPr>
        </p:nvSpPr>
        <p:spPr/>
        <p:txBody>
          <a:bodyPr>
            <a:norm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Absorption: it is the major mechanism, the higher the frequency the greater the absorption.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Reflection: the higher the acoustic impedance mismatch, the greater the reflection. Thus, to decrease the acoustic impedance mismatch and thereby allow better sound transmission between the transducer and the skin, the ultrasound gel is used. It also decreases the amount of trapped air between the transducer and the skin. The other practical application is when examining the pelvis, the urinary bladder should be as full as possible to lift the intestine out of the way.</a:t>
            </a:r>
          </a:p>
          <a:p>
            <a:r>
              <a:rPr lang="en-IN" dirty="0">
                <a:latin typeface="Times New Roman" panose="02020603050405020304" pitchFamily="18" charset="0"/>
                <a:cs typeface="Times New Roman" panose="02020603050405020304" pitchFamily="18" charset="0"/>
              </a:rPr>
              <a:t>Ultrasound reflection also depends on the size and surface features of the interface, reflecting surfaces can be specular or diffuse reflectors.</a:t>
            </a:r>
          </a:p>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specular reflector </a:t>
            </a:r>
            <a:r>
              <a:rPr lang="en-IN" dirty="0">
                <a:latin typeface="Times New Roman" panose="02020603050405020304" pitchFamily="18" charset="0"/>
                <a:cs typeface="Times New Roman" panose="02020603050405020304" pitchFamily="18" charset="0"/>
              </a:rPr>
              <a:t>is large and smooth like the mirror and forms an image only when incident sound wave is perpendicular to the surface because with an oblique incident sound wave, the reflected sound is reflected away from the transducer and no image is formed. For example diaphragm, foetal skull &amp; vessel wall.</a:t>
            </a:r>
          </a:p>
        </p:txBody>
      </p:sp>
    </p:spTree>
    <p:extLst>
      <p:ext uri="{BB962C8B-B14F-4D97-AF65-F5344CB8AC3E}">
        <p14:creationId xmlns:p14="http://schemas.microsoft.com/office/powerpoint/2010/main" val="1050194822"/>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85807EF-0576-39CB-93D7-C393DD411E3A}"/>
              </a:ext>
            </a:extLst>
          </p:cNvPr>
          <p:cNvSpPr>
            <a:spLocks noGrp="1"/>
          </p:cNvSpPr>
          <p:nvPr>
            <p:ph type="title"/>
          </p:nvPr>
        </p:nvSpPr>
        <p:spPr/>
        <p:txBody>
          <a:bodyPr>
            <a:normAutofit/>
          </a:bodyPr>
          <a:lstStyle/>
          <a:p>
            <a:r>
              <a:rPr lang="en-IN" sz="2000" dirty="0">
                <a:latin typeface="Times New Roman" panose="02020603050405020304" pitchFamily="18" charset="0"/>
                <a:cs typeface="Times New Roman" panose="02020603050405020304" pitchFamily="18" charset="0"/>
              </a:rPr>
              <a:t>Diffuse reflector: It is more frequently encountered and is made up of small interfaces, each being much smaller than the incident sound wavelength, echo is scattered in all directions with only a portion of reflected waves reaching the transducer and forming an image. The characteristic </a:t>
            </a:r>
            <a:r>
              <a:rPr lang="en-IN" sz="2000" dirty="0" err="1">
                <a:latin typeface="Times New Roman" panose="02020603050405020304" pitchFamily="18" charset="0"/>
                <a:cs typeface="Times New Roman" panose="02020603050405020304" pitchFamily="18" charset="0"/>
              </a:rPr>
              <a:t>echopattern</a:t>
            </a:r>
            <a:r>
              <a:rPr lang="en-IN" sz="2000" dirty="0">
                <a:latin typeface="Times New Roman" panose="02020603050405020304" pitchFamily="18" charset="0"/>
                <a:cs typeface="Times New Roman" panose="02020603050405020304" pitchFamily="18" charset="0"/>
              </a:rPr>
              <a:t> of solid organs and tissues such as liver is attributable to the diffuse reflection.</a:t>
            </a:r>
          </a:p>
        </p:txBody>
      </p:sp>
      <p:pic>
        <p:nvPicPr>
          <p:cNvPr id="5" name="Content Placeholder 4">
            <a:extLst>
              <a:ext uri="{FF2B5EF4-FFF2-40B4-BE49-F238E27FC236}">
                <a16:creationId xmlns:a16="http://schemas.microsoft.com/office/drawing/2014/main" id="{361E7ABC-A528-3887-F1AB-3384BF1C37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1096963" y="1851729"/>
            <a:ext cx="10058400" cy="4011792"/>
          </a:xfrm>
          <a:prstGeom prst="rect">
            <a:avLst/>
          </a:prstGeom>
        </p:spPr>
      </p:pic>
    </p:spTree>
    <p:extLst>
      <p:ext uri="{BB962C8B-B14F-4D97-AF65-F5344CB8AC3E}">
        <p14:creationId xmlns:p14="http://schemas.microsoft.com/office/powerpoint/2010/main" val="410878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B8CEA0-8953-542C-E4D3-D70A1416B5FC}"/>
              </a:ext>
            </a:extLst>
          </p:cNvPr>
          <p:cNvSpPr>
            <a:spLocks noGrp="1"/>
          </p:cNvSpPr>
          <p:nvPr>
            <p:ph idx="4294967295"/>
          </p:nvPr>
        </p:nvSpPr>
        <p:spPr>
          <a:xfrm>
            <a:off x="812800" y="629921"/>
            <a:ext cx="10058400" cy="4974908"/>
          </a:xfrm>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Refraction: The change in velocity and angle as beam crosses an interface.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Scatter: Small surfaces scatter sound in many directions because of reflection and refraction. Examples are the liver and kidney </a:t>
            </a:r>
            <a:r>
              <a:rPr lang="en-IN" dirty="0" err="1">
                <a:latin typeface="Times New Roman" panose="02020603050405020304" pitchFamily="18" charset="0"/>
                <a:cs typeface="Times New Roman" panose="02020603050405020304" pitchFamily="18" charset="0"/>
              </a:rPr>
              <a:t>perinchyma</a:t>
            </a:r>
            <a:r>
              <a:rPr lang="en-IN" dirty="0">
                <a:latin typeface="Times New Roman" panose="02020603050405020304" pitchFamily="18" charset="0"/>
                <a:cs typeface="Times New Roman" panose="02020603050405020304" pitchFamily="18" charset="0"/>
              </a:rPr>
              <a:t> Based on the amount of scatter Compared with background signal A tissue or lesion is categorised as hyperechoic, hypoechoic, or anechoic when the amount of scatter is more, less or no scatter at all respectively.</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result of all interactions is sound attenuation that is the decrease in the intensity of ultrasound waves as they pass through tissues, similar to the sound that becomes fainter when one moves away from it. Attenuation is directly related to the frequency of the sound wave Thus, for deeper tissues lower frequency transducers should be used to allow adequate penetration without attenuation but for superficial organs high frequency transducers are better.</a:t>
            </a:r>
          </a:p>
        </p:txBody>
      </p:sp>
    </p:spTree>
    <p:extLst>
      <p:ext uri="{BB962C8B-B14F-4D97-AF65-F5344CB8AC3E}">
        <p14:creationId xmlns:p14="http://schemas.microsoft.com/office/powerpoint/2010/main" val="3051361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918D-A886-2E4B-4A27-80385DD4DC2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Transducer</a:t>
            </a:r>
          </a:p>
        </p:txBody>
      </p:sp>
      <p:sp>
        <p:nvSpPr>
          <p:cNvPr id="3" name="Content Placeholder 2">
            <a:extLst>
              <a:ext uri="{FF2B5EF4-FFF2-40B4-BE49-F238E27FC236}">
                <a16:creationId xmlns:a16="http://schemas.microsoft.com/office/drawing/2014/main" id="{D70E9761-1CC1-43E0-CF9C-A3B9AD765DEB}"/>
              </a:ext>
            </a:extLst>
          </p:cNvPr>
          <p:cNvSpPr>
            <a:spLocks noGrp="1"/>
          </p:cNvSpPr>
          <p:nvPr>
            <p:ph idx="1"/>
          </p:nvPr>
        </p:nvSpPr>
        <p:spPr/>
        <p:txBody>
          <a:bodyPr>
            <a:noAutofit/>
          </a:bodyPr>
          <a:lstStyle/>
          <a:p>
            <a:r>
              <a:rPr lang="en-US" dirty="0">
                <a:latin typeface="Times New Roman" panose="02020603050405020304" pitchFamily="18" charset="0"/>
                <a:cs typeface="Times New Roman" panose="02020603050405020304" pitchFamily="18" charset="0"/>
              </a:rPr>
              <a:t>An</a:t>
            </a:r>
            <a:r>
              <a:rPr lang="en-US" b="1" dirty="0">
                <a:latin typeface="Times New Roman" panose="02020603050405020304" pitchFamily="18" charset="0"/>
                <a:cs typeface="Times New Roman" panose="02020603050405020304" pitchFamily="18" charset="0"/>
              </a:rPr>
              <a:t> ultrasound transducer</a:t>
            </a:r>
            <a:r>
              <a:rPr lang="en-US" dirty="0">
                <a:latin typeface="Times New Roman" panose="02020603050405020304" pitchFamily="18" charset="0"/>
                <a:cs typeface="Times New Roman" panose="02020603050405020304" pitchFamily="18" charset="0"/>
              </a:rPr>
              <a:t> converts electrical energy into mechanical (sound) energy and back again, based on the piezoelectric effect. It is the hand-held part of the ultrasound machine that is responsible for the production and detection of ultrasound waves.</a:t>
            </a:r>
          </a:p>
          <a:p>
            <a:r>
              <a:rPr lang="en-US" b="1" dirty="0">
                <a:latin typeface="Times New Roman" panose="02020603050405020304" pitchFamily="18" charset="0"/>
                <a:cs typeface="Times New Roman" panose="02020603050405020304" pitchFamily="18" charset="0"/>
              </a:rPr>
              <a:t>Components</a:t>
            </a:r>
          </a:p>
          <a:p>
            <a:r>
              <a:rPr lang="en-US" dirty="0">
                <a:latin typeface="Times New Roman" panose="02020603050405020304" pitchFamily="18" charset="0"/>
                <a:cs typeface="Times New Roman" panose="02020603050405020304" pitchFamily="18" charset="0"/>
              </a:rPr>
              <a:t>A transducer consists of five main components: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Crystal/ceramic element with piezoelectric properties</a:t>
            </a:r>
            <a:endParaRPr lang="en-US"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usually lead zirconate titanate (</a:t>
            </a:r>
            <a:r>
              <a:rPr lang="en-US" sz="2000" dirty="0" err="1">
                <a:latin typeface="Times New Roman" panose="02020603050405020304" pitchFamily="18" charset="0"/>
                <a:cs typeface="Times New Roman" panose="02020603050405020304" pitchFamily="18" charset="0"/>
              </a:rPr>
              <a:t>PbZT</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may consist of a single element or be a broadband transducer with multiple elements</a:t>
            </a:r>
          </a:p>
          <a:p>
            <a:pPr lvl="1"/>
            <a:r>
              <a:rPr lang="en-US" sz="2000" dirty="0">
                <a:latin typeface="Times New Roman" panose="02020603050405020304" pitchFamily="18" charset="0"/>
                <a:cs typeface="Times New Roman" panose="02020603050405020304" pitchFamily="18" charset="0"/>
              </a:rPr>
              <a:t>piezoelectric polyvinylidene fluoride (PVDF) is useful in those high frequency, high bandwidth transducer that needs focusing to a certain region. PVDF also has low acoustic impedance similar to water, thus is useful in making ultrasound pulses with good temporal resolution.</a:t>
            </a:r>
          </a:p>
        </p:txBody>
      </p:sp>
    </p:spTree>
    <p:extLst>
      <p:ext uri="{BB962C8B-B14F-4D97-AF65-F5344CB8AC3E}">
        <p14:creationId xmlns:p14="http://schemas.microsoft.com/office/powerpoint/2010/main" val="346500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E2A0C-34C0-33B2-C46A-F52CF28E0039}"/>
              </a:ext>
            </a:extLst>
          </p:cNvPr>
          <p:cNvSpPr>
            <a:spLocks noGrp="1"/>
          </p:cNvSpPr>
          <p:nvPr>
            <p:ph idx="4294967295"/>
          </p:nvPr>
        </p:nvSpPr>
        <p:spPr>
          <a:xfrm>
            <a:off x="985736" y="435752"/>
            <a:ext cx="10058400" cy="5011737"/>
          </a:xfrm>
        </p:spPr>
        <p:txBody>
          <a:bodyPr>
            <a:noAutofit/>
          </a:bodyPr>
          <a:lstStyle/>
          <a:p>
            <a:pPr lvl="1"/>
            <a:r>
              <a:rPr lang="en-US" sz="2000" dirty="0">
                <a:latin typeface="Times New Roman" panose="02020603050405020304" pitchFamily="18" charset="0"/>
                <a:cs typeface="Times New Roman" panose="02020603050405020304" pitchFamily="18" charset="0"/>
              </a:rPr>
              <a:t>element thickness is determined by what resonance frequency is desired</a:t>
            </a:r>
          </a:p>
          <a:p>
            <a:pPr lvl="2"/>
            <a:r>
              <a:rPr lang="en-US" sz="2000" dirty="0">
                <a:latin typeface="Times New Roman" panose="02020603050405020304" pitchFamily="18" charset="0"/>
                <a:cs typeface="Times New Roman" panose="02020603050405020304" pitchFamily="18" charset="0"/>
              </a:rPr>
              <a:t>equal to half the wavelength.</a:t>
            </a:r>
          </a:p>
          <a:p>
            <a:pPr lvl="2"/>
            <a:r>
              <a:rPr lang="en-US" sz="2000" dirty="0">
                <a:latin typeface="Times New Roman" panose="02020603050405020304" pitchFamily="18" charset="0"/>
                <a:cs typeface="Times New Roman" panose="02020603050405020304" pitchFamily="18" charset="0"/>
              </a:rPr>
              <a:t>a thicker element produces a lower frequency oscillation while a thinner element produces a higher frequency oscillation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Positive and ground electrodes on the faces of the element</a:t>
            </a:r>
            <a:endParaRPr lang="en-US"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this allows for electrical connection</a:t>
            </a:r>
          </a:p>
          <a:p>
            <a:pPr lvl="1"/>
            <a:r>
              <a:rPr lang="en-US" sz="2000" dirty="0">
                <a:latin typeface="Times New Roman" panose="02020603050405020304" pitchFamily="18" charset="0"/>
                <a:cs typeface="Times New Roman" panose="02020603050405020304" pitchFamily="18" charset="0"/>
              </a:rPr>
              <a:t>positive electrode is in the back of the element </a:t>
            </a:r>
          </a:p>
          <a:p>
            <a:pPr lvl="1"/>
            <a:r>
              <a:rPr lang="en-US" sz="2000" dirty="0">
                <a:latin typeface="Times New Roman" panose="02020603050405020304" pitchFamily="18" charset="0"/>
                <a:cs typeface="Times New Roman" panose="02020603050405020304" pitchFamily="18" charset="0"/>
              </a:rPr>
              <a:t>ground electrode is on the front of the element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Damping (backing) block</a:t>
            </a:r>
            <a:endParaRPr lang="en-US"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adhered to the back of the crystal (behind the positive electrode) </a:t>
            </a:r>
          </a:p>
          <a:p>
            <a:pPr lvl="1"/>
            <a:r>
              <a:rPr lang="en-US" sz="2000" dirty="0">
                <a:latin typeface="Times New Roman" panose="02020603050405020304" pitchFamily="18" charset="0"/>
                <a:cs typeface="Times New Roman" panose="02020603050405020304" pitchFamily="18" charset="0"/>
              </a:rPr>
              <a:t>absorbs ultrasound energy directed backward and attenuates stray ultrasound signals from the housing </a:t>
            </a:r>
          </a:p>
          <a:p>
            <a:pPr lvl="1"/>
            <a:r>
              <a:rPr lang="en-US" sz="2000" dirty="0">
                <a:latin typeface="Times New Roman" panose="02020603050405020304" pitchFamily="18" charset="0"/>
                <a:cs typeface="Times New Roman" panose="02020603050405020304" pitchFamily="18" charset="0"/>
              </a:rPr>
              <a:t>Dampens the resonant vibrations in the element which creates a shorter spatial pulse length,  this allows for better axial resolution for imaging of organs and high bandwidth to receive reflected echoes </a:t>
            </a:r>
          </a:p>
          <a:p>
            <a:pPr marL="201168" lvl="1" indent="0">
              <a:buNone/>
            </a:pPr>
            <a:endParaRPr lang="en-US" sz="20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03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57958-CC86-D047-6060-18BAFA1E666F}"/>
              </a:ext>
            </a:extLst>
          </p:cNvPr>
          <p:cNvSpPr>
            <a:spLocks noGrp="1"/>
          </p:cNvSpPr>
          <p:nvPr>
            <p:ph idx="4294967295"/>
          </p:nvPr>
        </p:nvSpPr>
        <p:spPr>
          <a:xfrm>
            <a:off x="927370" y="523302"/>
            <a:ext cx="10058400" cy="4914460"/>
          </a:xfrm>
        </p:spPr>
        <p:txBody>
          <a:bodyPr>
            <a:no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Matching layer</a:t>
            </a:r>
            <a:endParaRPr lang="en-US"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Interface between the transducer element and the tissue </a:t>
            </a:r>
          </a:p>
          <a:p>
            <a:pPr lvl="1"/>
            <a:r>
              <a:rPr lang="en-US" sz="2000" dirty="0">
                <a:latin typeface="Times New Roman" panose="02020603050405020304" pitchFamily="18" charset="0"/>
                <a:cs typeface="Times New Roman" panose="02020603050405020304" pitchFamily="18" charset="0"/>
              </a:rPr>
              <a:t>allows close to 100% transmission of the ultrasound from the element into the tissues by minimizing reflection due to traversing different mediums (acoustic impedance) </a:t>
            </a:r>
          </a:p>
          <a:p>
            <a:pPr lvl="1"/>
            <a:r>
              <a:rPr lang="en-US" sz="2000" dirty="0">
                <a:latin typeface="Times New Roman" panose="02020603050405020304" pitchFamily="18" charset="0"/>
                <a:cs typeface="Times New Roman" panose="02020603050405020304" pitchFamily="18" charset="0"/>
              </a:rPr>
              <a:t>Achieves this by consisting of layers of material with acoustic impedances that are between soft tissue and transducer material</a:t>
            </a:r>
          </a:p>
          <a:p>
            <a:pPr lvl="2"/>
            <a:r>
              <a:rPr lang="en-US" sz="2000" dirty="0">
                <a:latin typeface="Times New Roman" panose="02020603050405020304" pitchFamily="18" charset="0"/>
                <a:cs typeface="Times New Roman" panose="02020603050405020304" pitchFamily="18" charset="0"/>
              </a:rPr>
              <a:t>May consist of one or multiple layers</a:t>
            </a:r>
          </a:p>
          <a:p>
            <a:pPr lvl="1"/>
            <a:r>
              <a:rPr lang="en-US" sz="2000" dirty="0">
                <a:latin typeface="Times New Roman" panose="02020603050405020304" pitchFamily="18" charset="0"/>
                <a:cs typeface="Times New Roman" panose="02020603050405020304" pitchFamily="18" charset="0"/>
              </a:rPr>
              <a:t>Each layer is one-quarter wavelength thick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Housing</a:t>
            </a:r>
            <a:endParaRPr lang="en-US"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electrical insulation and protection of the element </a:t>
            </a:r>
          </a:p>
          <a:p>
            <a:pPr lvl="1"/>
            <a:r>
              <a:rPr lang="en-US" sz="2000" dirty="0">
                <a:latin typeface="Times New Roman" panose="02020603050405020304" pitchFamily="18" charset="0"/>
                <a:cs typeface="Times New Roman" panose="02020603050405020304" pitchFamily="18" charset="0"/>
              </a:rPr>
              <a:t>includes a plastic case, metal shield and acoustic insulator</a:t>
            </a:r>
          </a:p>
          <a:p>
            <a:pPr lvl="1"/>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9870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16D31D-5B51-7D0B-367E-76717FC52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912" y="428625"/>
            <a:ext cx="5972175" cy="5583069"/>
          </a:xfrm>
          <a:prstGeom prst="rect">
            <a:avLst/>
          </a:prstGeom>
        </p:spPr>
      </p:pic>
    </p:spTree>
    <p:extLst>
      <p:ext uri="{BB962C8B-B14F-4D97-AF65-F5344CB8AC3E}">
        <p14:creationId xmlns:p14="http://schemas.microsoft.com/office/powerpoint/2010/main" val="37999104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CEEB3A-EC4A-827F-D928-9E1BDA60144D}"/>
              </a:ext>
            </a:extLst>
          </p:cNvPr>
          <p:cNvSpPr>
            <a:spLocks noGrp="1"/>
          </p:cNvSpPr>
          <p:nvPr>
            <p:ph idx="4294967295"/>
          </p:nvPr>
        </p:nvSpPr>
        <p:spPr>
          <a:xfrm>
            <a:off x="781560" y="140471"/>
            <a:ext cx="10058400" cy="5031192"/>
          </a:xfrm>
        </p:spPr>
        <p:txBody>
          <a:bodyPr>
            <a:noAutofit/>
          </a:bodyPr>
          <a:lstStyle/>
          <a:p>
            <a:r>
              <a:rPr lang="en-US" b="1" dirty="0">
                <a:latin typeface="Times New Roman" panose="02020603050405020304" pitchFamily="18" charset="0"/>
                <a:cs typeface="Times New Roman" panose="02020603050405020304" pitchFamily="18" charset="0"/>
              </a:rPr>
              <a:t>Ultrasound beam production </a:t>
            </a:r>
          </a:p>
          <a:p>
            <a:r>
              <a:rPr lang="en-US" dirty="0">
                <a:latin typeface="Times New Roman" panose="02020603050405020304" pitchFamily="18" charset="0"/>
                <a:cs typeface="Times New Roman" panose="02020603050405020304" pitchFamily="18" charset="0"/>
              </a:rPr>
              <a:t>Ultrasound transducers typically consist of 128-512 piezoelectric elements arranged in linear or curvilinear arrays. Each element is individually insulated.</a:t>
            </a:r>
          </a:p>
          <a:p>
            <a:r>
              <a:rPr lang="en-US" dirty="0">
                <a:latin typeface="Times New Roman" panose="02020603050405020304" pitchFamily="18" charset="0"/>
                <a:cs typeface="Times New Roman" panose="02020603050405020304" pitchFamily="18" charset="0"/>
              </a:rPr>
              <a:t>Transducers can produce an ultrasound beam by mechanical or electronic means. In mechanical transducers, either oscillating or rotating wheels is used. In electronic transducers, there are two ways to generate ultrasound beam :</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Linear vs Phased Array</a:t>
            </a:r>
          </a:p>
          <a:p>
            <a:pPr marL="0" indent="0">
              <a:buNone/>
            </a:pPr>
            <a:r>
              <a:rPr lang="en-IN" dirty="0">
                <a:latin typeface="Times New Roman" panose="02020603050405020304" pitchFamily="18" charset="0"/>
                <a:cs typeface="Times New Roman" panose="02020603050405020304" pitchFamily="18" charset="0"/>
              </a:rPr>
              <a:t>What is the Ultrasound Beam?</a:t>
            </a:r>
          </a:p>
          <a:p>
            <a:pPr marL="0" indent="0">
              <a:buNone/>
            </a:pPr>
            <a:r>
              <a:rPr lang="en-IN" dirty="0">
                <a:latin typeface="Times New Roman" panose="02020603050405020304" pitchFamily="18" charset="0"/>
                <a:cs typeface="Times New Roman" panose="02020603050405020304" pitchFamily="18" charset="0"/>
              </a:rPr>
              <a:t>The ultrasound beam is the directed propagation of acoustic waves from the transducer into tissue and back.</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Key Beam Components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Main lobe → useful signal</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Side lobes / grating lobes → artifacts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Near field (Fresnel zone) → beam converges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Far field (Fraunhofer zone) → beam diverges</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121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42C09D-8CF9-0853-9609-6A60EF961381}"/>
              </a:ext>
            </a:extLst>
          </p:cNvPr>
          <p:cNvSpPr>
            <a:spLocks noGrp="1"/>
          </p:cNvSpPr>
          <p:nvPr>
            <p:ph idx="4294967295"/>
          </p:nvPr>
        </p:nvSpPr>
        <p:spPr>
          <a:xfrm>
            <a:off x="698090" y="292766"/>
            <a:ext cx="10058400" cy="5311621"/>
          </a:xfrm>
        </p:spPr>
        <p:txBody>
          <a:bodyPr>
            <a:noAutofit/>
          </a:bodyPr>
          <a:lstStyle/>
          <a:p>
            <a:pPr>
              <a:buFont typeface="Wingdings" panose="05000000000000000000" pitchFamily="2" charset="2"/>
              <a:buChar char="q"/>
            </a:pPr>
            <a:r>
              <a:rPr lang="en-IN" sz="1500" dirty="0">
                <a:latin typeface="Times New Roman" panose="02020603050405020304" pitchFamily="18" charset="0"/>
                <a:cs typeface="Times New Roman" panose="02020603050405020304" pitchFamily="18" charset="0"/>
              </a:rPr>
              <a:t> </a:t>
            </a:r>
            <a:r>
              <a:rPr lang="en-IN" sz="1500" b="1" dirty="0">
                <a:latin typeface="Times New Roman" panose="02020603050405020304" pitchFamily="18" charset="0"/>
                <a:cs typeface="Times New Roman" panose="02020603050405020304" pitchFamily="18" charset="0"/>
              </a:rPr>
              <a:t>Linear Array Transducer</a:t>
            </a:r>
          </a:p>
          <a:p>
            <a:pPr>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How it Works?</a:t>
            </a:r>
          </a:p>
          <a:p>
            <a:r>
              <a:rPr lang="en-IN" sz="1500" dirty="0">
                <a:latin typeface="Times New Roman" panose="02020603050405020304" pitchFamily="18" charset="0"/>
                <a:cs typeface="Times New Roman" panose="02020603050405020304" pitchFamily="18" charset="0"/>
              </a:rPr>
              <a:t>Multiple elements arranged in a straight line, groups of elements are fired sequentially and beam travels perpendicular (straight) to probe</a:t>
            </a:r>
          </a:p>
          <a:p>
            <a:pPr>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Beam Characteristics</a:t>
            </a:r>
          </a:p>
          <a:p>
            <a:pPr>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Parallel scan lines</a:t>
            </a:r>
          </a:p>
          <a:p>
            <a:pPr>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Rectangular image</a:t>
            </a:r>
          </a:p>
          <a:p>
            <a:pPr>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Minimal beam steering</a:t>
            </a:r>
          </a:p>
          <a:p>
            <a:pPr>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Image Shape</a:t>
            </a:r>
          </a:p>
          <a:p>
            <a:r>
              <a:rPr lang="en-IN" sz="1500" dirty="0">
                <a:latin typeface="Times New Roman" panose="02020603050405020304" pitchFamily="18" charset="0"/>
                <a:cs typeface="Times New Roman" panose="02020603050405020304" pitchFamily="18" charset="0"/>
              </a:rPr>
              <a:t>Rectangular field of view</a:t>
            </a:r>
          </a:p>
          <a:p>
            <a:r>
              <a:rPr lang="en-IN" sz="15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Excellent lateral resolution</a:t>
            </a:r>
          </a:p>
          <a:p>
            <a:pPr>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Uniform image across depth</a:t>
            </a:r>
          </a:p>
          <a:p>
            <a:r>
              <a:rPr lang="en-IN" sz="1500" b="1" dirty="0">
                <a:latin typeface="Times New Roman" panose="02020603050405020304" pitchFamily="18" charset="0"/>
                <a:cs typeface="Times New Roman" panose="02020603050405020304" pitchFamily="18" charset="0"/>
              </a:rPr>
              <a:t>Limitations</a:t>
            </a:r>
          </a:p>
          <a:p>
            <a:r>
              <a:rPr lang="en-IN" sz="1500" dirty="0">
                <a:latin typeface="Times New Roman" panose="02020603050405020304" pitchFamily="18" charset="0"/>
                <a:cs typeface="Times New Roman" panose="02020603050405020304" pitchFamily="18" charset="0"/>
              </a:rPr>
              <a:t>Limited penetration</a:t>
            </a:r>
          </a:p>
          <a:p>
            <a:r>
              <a:rPr lang="en-IN" sz="1500" dirty="0">
                <a:latin typeface="Times New Roman" panose="02020603050405020304" pitchFamily="18" charset="0"/>
                <a:cs typeface="Times New Roman" panose="02020603050405020304" pitchFamily="18" charset="0"/>
              </a:rPr>
              <a:t>Large footprint (not good between ribs)</a:t>
            </a:r>
          </a:p>
          <a:p>
            <a:endParaRPr lang="en-IN" sz="1500" dirty="0"/>
          </a:p>
        </p:txBody>
      </p:sp>
    </p:spTree>
    <p:extLst>
      <p:ext uri="{BB962C8B-B14F-4D97-AF65-F5344CB8AC3E}">
        <p14:creationId xmlns:p14="http://schemas.microsoft.com/office/powerpoint/2010/main" val="10882573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08214-842F-91D0-77C7-D87900E9B0FD}"/>
              </a:ext>
            </a:extLst>
          </p:cNvPr>
          <p:cNvSpPr>
            <a:spLocks noGrp="1"/>
          </p:cNvSpPr>
          <p:nvPr>
            <p:ph idx="4294967295"/>
          </p:nvPr>
        </p:nvSpPr>
        <p:spPr>
          <a:xfrm>
            <a:off x="530942" y="341927"/>
            <a:ext cx="10058400" cy="5763905"/>
          </a:xfrm>
        </p:spPr>
        <p:txBody>
          <a:bodyPr>
            <a:normAutofit fontScale="92500" lnSpcReduction="10000"/>
          </a:bodyPr>
          <a:lstStyle/>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Phased Array Transducer</a:t>
            </a:r>
          </a:p>
          <a:p>
            <a:r>
              <a:rPr lang="en-IN" dirty="0">
                <a:latin typeface="Times New Roman" panose="02020603050405020304" pitchFamily="18" charset="0"/>
                <a:cs typeface="Times New Roman" panose="02020603050405020304" pitchFamily="18" charset="0"/>
              </a:rPr>
              <a:t>How it Works?</a:t>
            </a:r>
          </a:p>
          <a:p>
            <a:r>
              <a:rPr lang="en-IN" dirty="0">
                <a:latin typeface="Times New Roman" panose="02020603050405020304" pitchFamily="18" charset="0"/>
                <a:cs typeface="Times New Roman" panose="02020603050405020304" pitchFamily="18" charset="0"/>
              </a:rPr>
              <a:t>All elements fire almost simultaneously, with time delays (phasing) → beam is steered electronically.</a:t>
            </a:r>
          </a:p>
          <a:p>
            <a:r>
              <a:rPr lang="en-IN" b="1" dirty="0">
                <a:latin typeface="Times New Roman" panose="02020603050405020304" pitchFamily="18" charset="0"/>
                <a:cs typeface="Times New Roman" panose="02020603050405020304" pitchFamily="18" charset="0"/>
              </a:rPr>
              <a:t>Beam Characteristics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Beam steering + focusing</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Scan lines diverge from a point</a:t>
            </a:r>
          </a:p>
          <a:p>
            <a:r>
              <a:rPr lang="en-IN" b="1" dirty="0">
                <a:latin typeface="Times New Roman" panose="02020603050405020304" pitchFamily="18" charset="0"/>
                <a:cs typeface="Times New Roman" panose="02020603050405020304" pitchFamily="18" charset="0"/>
              </a:rPr>
              <a:t>Image Shape</a:t>
            </a:r>
          </a:p>
          <a:p>
            <a:r>
              <a:rPr lang="en-IN" dirty="0">
                <a:latin typeface="Times New Roman" panose="02020603050405020304" pitchFamily="18" charset="0"/>
                <a:cs typeface="Times New Roman" panose="02020603050405020304" pitchFamily="18" charset="0"/>
              </a:rPr>
              <a:t>Sector (pie-shaped)</a:t>
            </a:r>
          </a:p>
          <a:p>
            <a:r>
              <a:rPr lang="en-IN" b="1" dirty="0">
                <a:latin typeface="Times New Roman" panose="02020603050405020304" pitchFamily="18" charset="0"/>
                <a:cs typeface="Times New Roman" panose="02020603050405020304" pitchFamily="18" charset="0"/>
              </a:rPr>
              <a:t>Advantages</a:t>
            </a:r>
          </a:p>
          <a:p>
            <a:r>
              <a:rPr lang="en-IN" dirty="0">
                <a:latin typeface="Times New Roman" panose="02020603050405020304" pitchFamily="18" charset="0"/>
                <a:cs typeface="Times New Roman" panose="02020603050405020304" pitchFamily="18" charset="0"/>
              </a:rPr>
              <a:t>Small footprint → fits between ribs</a:t>
            </a:r>
          </a:p>
          <a:p>
            <a:r>
              <a:rPr lang="en-IN" dirty="0">
                <a:latin typeface="Times New Roman" panose="02020603050405020304" pitchFamily="18" charset="0"/>
                <a:cs typeface="Times New Roman" panose="02020603050405020304" pitchFamily="18" charset="0"/>
              </a:rPr>
              <a:t>Can image deep structures</a:t>
            </a:r>
          </a:p>
          <a:p>
            <a:r>
              <a:rPr lang="en-IN" b="1" dirty="0">
                <a:latin typeface="Times New Roman" panose="02020603050405020304" pitchFamily="18" charset="0"/>
                <a:cs typeface="Times New Roman" panose="02020603050405020304" pitchFamily="18" charset="0"/>
              </a:rPr>
              <a:t>Limitations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Lower resolution compared to linear</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More artifacts (side lobes)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761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5C4617-F334-0A93-D759-7F182D5D7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047" y="471947"/>
            <a:ext cx="4045398" cy="5388079"/>
          </a:xfrm>
          <a:prstGeom prst="rect">
            <a:avLst/>
          </a:prstGeom>
        </p:spPr>
      </p:pic>
      <p:pic>
        <p:nvPicPr>
          <p:cNvPr id="5" name="Picture 4">
            <a:extLst>
              <a:ext uri="{FF2B5EF4-FFF2-40B4-BE49-F238E27FC236}">
                <a16:creationId xmlns:a16="http://schemas.microsoft.com/office/drawing/2014/main" id="{6F3E3B63-6174-A20E-9BB3-721F3F0D8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2544" y="1538134"/>
            <a:ext cx="5981700" cy="3467100"/>
          </a:xfrm>
          <a:prstGeom prst="rect">
            <a:avLst/>
          </a:prstGeom>
        </p:spPr>
      </p:pic>
    </p:spTree>
    <p:extLst>
      <p:ext uri="{BB962C8B-B14F-4D97-AF65-F5344CB8AC3E}">
        <p14:creationId xmlns:p14="http://schemas.microsoft.com/office/powerpoint/2010/main" val="2967325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5851-D8F8-F703-B03A-13DEE6B2C36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Image Quality</a:t>
            </a:r>
          </a:p>
        </p:txBody>
      </p:sp>
      <p:sp>
        <p:nvSpPr>
          <p:cNvPr id="3" name="Content Placeholder 2">
            <a:extLst>
              <a:ext uri="{FF2B5EF4-FFF2-40B4-BE49-F238E27FC236}">
                <a16:creationId xmlns:a16="http://schemas.microsoft.com/office/drawing/2014/main" id="{A73FD279-AF4C-D34B-E8F0-CCF12FADE9D5}"/>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quality of an ultrasound image is determined by spatial resolution, contrast resolution, temporal resolution and absence of certain artefacts.</a:t>
            </a:r>
          </a:p>
          <a:p>
            <a:pPr>
              <a:buFont typeface="Wingdings" panose="05000000000000000000" pitchFamily="2" charset="2"/>
              <a:buChar char="Ø"/>
            </a:pPr>
            <a:r>
              <a:rPr lang="en-IN" b="1" dirty="0">
                <a:solidFill>
                  <a:srgbClr val="92D050"/>
                </a:solidFill>
                <a:latin typeface="Times New Roman" panose="02020603050405020304" pitchFamily="18" charset="0"/>
                <a:cs typeface="Times New Roman" panose="02020603050405020304" pitchFamily="18" charset="0"/>
              </a:rPr>
              <a:t>Spatial resolution </a:t>
            </a:r>
            <a:r>
              <a:rPr lang="en-IN" dirty="0">
                <a:latin typeface="Times New Roman" panose="02020603050405020304" pitchFamily="18" charset="0"/>
                <a:cs typeface="Times New Roman" panose="02020603050405020304" pitchFamily="18" charset="0"/>
              </a:rPr>
              <a:t>is the ability to differentiate too closely situated Objects as distinct structures. It is considered in three planes With different determinants of resolution for each. Resolution along the axis of the ultrasound beam is axial resolution, resolution in the plane perpendicular to the beam and parallel to the transducer is lateral resolution, and resolution in the plane perpendicular to the beam and to the transducer is azimuth or elevational resolution or slice thickness.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Axial Resolution is the ability to separate two objects lying along the axis of the beam. It can be improved by a higher frequency and shorter length of pulse. But the problem with the high frequency transducers is poor penetration.</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044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B6706E-3746-008A-2228-3899840EA086}"/>
              </a:ext>
            </a:extLst>
          </p:cNvPr>
          <p:cNvSpPr>
            <a:spLocks noGrp="1"/>
          </p:cNvSpPr>
          <p:nvPr>
            <p:ph idx="4294967295"/>
          </p:nvPr>
        </p:nvSpPr>
        <p:spPr>
          <a:xfrm>
            <a:off x="690880" y="921703"/>
            <a:ext cx="10058400" cy="4849177"/>
          </a:xfrm>
        </p:spPr>
        <p:txBody>
          <a:bodyPr>
            <a:normAutofit/>
          </a:bodyPr>
          <a:lstStyle/>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Lateral resolution is the ability to resolve two adjacent objects and is best achieved within the focal zone. Its key determinant is width of the ultrasound beam, which can be altered by focusing the beam usually by electronic phasing. It can be improved by using focused transducers, a distinct focal position and using multiple focal lengths. However, this reduces frame rate.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Elevational resolution and slice thickness are directly related to the transducer height and are fixed for standard 2D transducers.</a:t>
            </a: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b="1" dirty="0">
                <a:solidFill>
                  <a:srgbClr val="92D050"/>
                </a:solidFill>
                <a:latin typeface="Times New Roman" panose="02020603050405020304" pitchFamily="18" charset="0"/>
                <a:cs typeface="Times New Roman" panose="02020603050405020304" pitchFamily="18" charset="0"/>
              </a:rPr>
              <a:t>Temporal resolution </a:t>
            </a:r>
            <a:r>
              <a:rPr lang="en-IN" dirty="0">
                <a:latin typeface="Times New Roman" panose="02020603050405020304" pitchFamily="18" charset="0"/>
                <a:cs typeface="Times New Roman" panose="02020603050405020304" pitchFamily="18" charset="0"/>
              </a:rPr>
              <a:t>is the ability of the system to display events occurring at different times as separate images and is measured in frames per second. Factors that decrease temporal resolution include a greater number of focal zones, imaging a deep deeper object (Echo takes longer to return), doppler and a large sector width (more space to scan).</a:t>
            </a:r>
          </a:p>
          <a:p>
            <a:pPr>
              <a:buFont typeface="Wingdings" panose="05000000000000000000" pitchFamily="2" charset="2"/>
              <a:buChar char="Ø"/>
            </a:pPr>
            <a:r>
              <a:rPr lang="en-IN" b="1" dirty="0">
                <a:solidFill>
                  <a:srgbClr val="92D050"/>
                </a:solidFill>
                <a:latin typeface="Times New Roman" panose="02020603050405020304" pitchFamily="18" charset="0"/>
                <a:cs typeface="Times New Roman" panose="02020603050405020304" pitchFamily="18" charset="0"/>
              </a:rPr>
              <a:t>Contrast resolution </a:t>
            </a:r>
            <a:r>
              <a:rPr lang="en-IN" dirty="0">
                <a:latin typeface="Times New Roman" panose="02020603050405020304" pitchFamily="18" charset="0"/>
                <a:cs typeface="Times New Roman" panose="02020603050405020304" pitchFamily="18" charset="0"/>
              </a:rPr>
              <a:t>is the ability of a grayscale display distinguish between echoes of slightly different intensities. Contrast resolution depends on the number of bits per pixel in the image and can be improved by increasing the number of bits per pixel.</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4448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C79C6-EB54-7315-FCA1-8E9FA514BC4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Doppler Physics</a:t>
            </a:r>
          </a:p>
        </p:txBody>
      </p:sp>
      <p:sp>
        <p:nvSpPr>
          <p:cNvPr id="3" name="Content Placeholder 2">
            <a:extLst>
              <a:ext uri="{FF2B5EF4-FFF2-40B4-BE49-F238E27FC236}">
                <a16:creationId xmlns:a16="http://schemas.microsoft.com/office/drawing/2014/main" id="{A2507C8B-1079-14F2-A315-08D01692EE40}"/>
              </a:ext>
            </a:extLst>
          </p:cNvPr>
          <p:cNvSpPr>
            <a:spLocks noGrp="1"/>
          </p:cNvSpPr>
          <p:nvPr>
            <p:ph idx="1"/>
          </p:nvPr>
        </p:nvSpPr>
        <p:spPr>
          <a:xfrm>
            <a:off x="1097280" y="1845734"/>
            <a:ext cx="10058400" cy="5164666"/>
          </a:xfrm>
        </p:spPr>
        <p:txBody>
          <a:bodyPr>
            <a:normAutofit/>
          </a:bodyPr>
          <a:lstStyle/>
          <a:p>
            <a:r>
              <a:rPr lang="en-IN" dirty="0">
                <a:latin typeface="Times New Roman" panose="02020603050405020304" pitchFamily="18" charset="0"/>
                <a:cs typeface="Times New Roman" panose="02020603050405020304" pitchFamily="18" charset="0"/>
              </a:rPr>
              <a:t>Core Principle – Doppler effect: the doppler effect is the change in frequency of a wave when the source or reflector is moving relative to the observer.</a:t>
            </a:r>
          </a:p>
          <a:p>
            <a:r>
              <a:rPr lang="en-IN" dirty="0">
                <a:latin typeface="Times New Roman" panose="02020603050405020304" pitchFamily="18" charset="0"/>
                <a:cs typeface="Times New Roman" panose="02020603050405020304" pitchFamily="18" charset="0"/>
              </a:rPr>
              <a:t>Ultrasound waves hit moving RBCs → reflected waves return with changed frequency.</a:t>
            </a:r>
          </a:p>
          <a:p>
            <a:r>
              <a:rPr lang="en-IN" dirty="0">
                <a:latin typeface="Times New Roman" panose="02020603050405020304" pitchFamily="18" charset="0"/>
                <a:cs typeface="Times New Roman" panose="02020603050405020304" pitchFamily="18" charset="0"/>
              </a:rPr>
              <a:t>Doppler Shift Equation </a:t>
            </a:r>
          </a:p>
        </p:txBody>
      </p:sp>
      <p:pic>
        <p:nvPicPr>
          <p:cNvPr id="5" name="Picture 4">
            <a:extLst>
              <a:ext uri="{FF2B5EF4-FFF2-40B4-BE49-F238E27FC236}">
                <a16:creationId xmlns:a16="http://schemas.microsoft.com/office/drawing/2014/main" id="{0900AEE4-3753-01C1-1A5D-5E090D825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435" y="3103153"/>
            <a:ext cx="5009945" cy="3155079"/>
          </a:xfrm>
          <a:prstGeom prst="rect">
            <a:avLst/>
          </a:prstGeom>
        </p:spPr>
      </p:pic>
    </p:spTree>
    <p:extLst>
      <p:ext uri="{BB962C8B-B14F-4D97-AF65-F5344CB8AC3E}">
        <p14:creationId xmlns:p14="http://schemas.microsoft.com/office/powerpoint/2010/main" val="25463807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658D2D-1519-B24C-7349-3C86AA1961F8}"/>
              </a:ext>
            </a:extLst>
          </p:cNvPr>
          <p:cNvSpPr>
            <a:spLocks noGrp="1"/>
          </p:cNvSpPr>
          <p:nvPr>
            <p:ph idx="4294967295"/>
          </p:nvPr>
        </p:nvSpPr>
        <p:spPr>
          <a:xfrm>
            <a:off x="796412" y="194443"/>
            <a:ext cx="11012129" cy="5911389"/>
          </a:xfrm>
        </p:spPr>
        <p:txBody>
          <a:bodyPr>
            <a:normAutofit/>
          </a:bodyPr>
          <a:lstStyle/>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Types of Doppler</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Continuous Wave (CW) Doppler</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Uses 2 crystals (one transmit, one receive)</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Measures very high velocities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No depth resolution </a:t>
            </a:r>
          </a:p>
          <a:p>
            <a:pPr marL="0" indent="0">
              <a:buNone/>
            </a:pPr>
            <a:r>
              <a:rPr lang="en-IN" dirty="0">
                <a:latin typeface="Times New Roman" panose="02020603050405020304" pitchFamily="18" charset="0"/>
                <a:cs typeface="Times New Roman" panose="02020603050405020304" pitchFamily="18" charset="0"/>
              </a:rPr>
              <a:t>Used in cardiology (valvular stenosis)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Pulsed Wave (PW) Doppler</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Single crystal alternates transmit/receive</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Has sample volume (gate) → depth specific</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Limited by aliasing</a:t>
            </a:r>
          </a:p>
          <a:p>
            <a:pPr marL="0" indent="0">
              <a:buNone/>
            </a:pPr>
            <a:r>
              <a:rPr lang="en-IN" dirty="0">
                <a:latin typeface="Times New Roman" panose="02020603050405020304" pitchFamily="18" charset="0"/>
                <a:cs typeface="Times New Roman" panose="02020603050405020304" pitchFamily="18" charset="0"/>
              </a:rPr>
              <a:t>Used in obstetrics, carotids, abdominal vessels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9466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BFBF0F-B2D2-6AD1-9A44-00C648C09EB5}"/>
              </a:ext>
            </a:extLst>
          </p:cNvPr>
          <p:cNvSpPr>
            <a:spLocks noGrp="1"/>
          </p:cNvSpPr>
          <p:nvPr>
            <p:ph idx="4294967295"/>
          </p:nvPr>
        </p:nvSpPr>
        <p:spPr>
          <a:xfrm>
            <a:off x="344129" y="164947"/>
            <a:ext cx="11336594" cy="5940885"/>
          </a:xfrm>
        </p:spPr>
        <p:txBody>
          <a:bodyPr>
            <a:normAutofit/>
          </a:bodyPr>
          <a:lstStyle/>
          <a:p>
            <a:pPr>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Doppler</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Maps flow over grayscale image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Convention: Red = toward probe, Blue = away (not artery vs vein!)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Quick assessment of presence &amp; direction of flow</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Power Doppler</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Displays amplitude (not direction)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More sensitive to low flow</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No directional information</a:t>
            </a:r>
          </a:p>
          <a:p>
            <a:r>
              <a:rPr lang="en-IN" dirty="0">
                <a:latin typeface="Times New Roman" panose="02020603050405020304" pitchFamily="18" charset="0"/>
                <a:cs typeface="Times New Roman" panose="02020603050405020304" pitchFamily="18" charset="0"/>
              </a:rPr>
              <a:t>Useful in:</a:t>
            </a:r>
          </a:p>
          <a:p>
            <a:pPr>
              <a:buFont typeface="Wingdings" panose="05000000000000000000" pitchFamily="2" charset="2"/>
              <a:buChar char="§"/>
            </a:pPr>
            <a:r>
              <a:rPr lang="en-IN" dirty="0" err="1">
                <a:latin typeface="Times New Roman" panose="02020603050405020304" pitchFamily="18" charset="0"/>
                <a:cs typeface="Times New Roman" panose="02020603050405020304" pitchFamily="18" charset="0"/>
              </a:rPr>
              <a:t>Tumors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Placental flow</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Small vessels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205802"/>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4B96AA-08A5-AC05-97E2-1DA19CAE12E1}"/>
              </a:ext>
            </a:extLst>
          </p:cNvPr>
          <p:cNvSpPr>
            <a:spLocks noGrp="1"/>
          </p:cNvSpPr>
          <p:nvPr>
            <p:ph idx="4294967295"/>
          </p:nvPr>
        </p:nvSpPr>
        <p:spPr>
          <a:xfrm>
            <a:off x="511276" y="164946"/>
            <a:ext cx="11061291" cy="5862227"/>
          </a:xfrm>
        </p:spPr>
        <p:txBody>
          <a:bodyPr>
            <a:normAutofit/>
          </a:bodyPr>
          <a:lstStyle/>
          <a:p>
            <a:r>
              <a:rPr lang="en-IN" dirty="0">
                <a:latin typeface="Times New Roman" panose="02020603050405020304" pitchFamily="18" charset="0"/>
                <a:cs typeface="Times New Roman" panose="02020603050405020304" pitchFamily="18" charset="0"/>
              </a:rPr>
              <a:t>Key parameters to be taken care of:</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Doppler Angle </a:t>
            </a:r>
          </a:p>
          <a:p>
            <a:r>
              <a:rPr lang="en-IN" dirty="0">
                <a:latin typeface="Times New Roman" panose="02020603050405020304" pitchFamily="18" charset="0"/>
                <a:cs typeface="Times New Roman" panose="02020603050405020304" pitchFamily="18" charset="0"/>
              </a:rPr>
              <a:t>Ideal: &lt; 60°</a:t>
            </a:r>
          </a:p>
          <a:p>
            <a:r>
              <a:rPr lang="en-IN" dirty="0">
                <a:latin typeface="Times New Roman" panose="02020603050405020304" pitchFamily="18" charset="0"/>
                <a:cs typeface="Times New Roman" panose="02020603050405020304" pitchFamily="18" charset="0"/>
              </a:rPr>
              <a:t>At 90° → cos90 = 0 → no Doppler signal</a:t>
            </a:r>
          </a:p>
          <a:p>
            <a:r>
              <a:rPr lang="en-IN" dirty="0">
                <a:latin typeface="Times New Roman" panose="02020603050405020304" pitchFamily="18" charset="0"/>
                <a:cs typeface="Times New Roman" panose="02020603050405020304" pitchFamily="18" charset="0"/>
              </a:rPr>
              <a:t>Never report velocity without angle correction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Aliasing</a:t>
            </a:r>
          </a:p>
          <a:p>
            <a:pPr marL="0" indent="0">
              <a:buNone/>
            </a:pPr>
            <a:r>
              <a:rPr lang="en-IN" dirty="0">
                <a:latin typeface="Times New Roman" panose="02020603050405020304" pitchFamily="18" charset="0"/>
                <a:cs typeface="Times New Roman" panose="02020603050405020304" pitchFamily="18" charset="0"/>
              </a:rPr>
              <a:t>Occurs when doppler shift is more than half of PRF (Nyquist limit)</a:t>
            </a:r>
          </a:p>
          <a:p>
            <a:pPr marL="0" indent="0">
              <a:buNone/>
            </a:pPr>
            <a:r>
              <a:rPr lang="en-IN" dirty="0">
                <a:latin typeface="Times New Roman" panose="02020603050405020304" pitchFamily="18" charset="0"/>
                <a:cs typeface="Times New Roman" panose="02020603050405020304" pitchFamily="18" charset="0"/>
              </a:rPr>
              <a:t>Appearance:</a:t>
            </a:r>
          </a:p>
          <a:p>
            <a:pPr marL="0" indent="0">
              <a:buNone/>
            </a:pPr>
            <a:r>
              <a:rPr lang="en-IN" dirty="0">
                <a:latin typeface="Times New Roman" panose="02020603050405020304" pitchFamily="18" charset="0"/>
                <a:cs typeface="Times New Roman" panose="02020603050405020304" pitchFamily="18" charset="0"/>
              </a:rPr>
              <a:t>Wrap-around of waveform</a:t>
            </a:r>
          </a:p>
          <a:p>
            <a:pPr marL="0" indent="0">
              <a:buNone/>
            </a:pPr>
            <a:r>
              <a:rPr lang="en-IN" dirty="0">
                <a:latin typeface="Times New Roman" panose="02020603050405020304" pitchFamily="18" charset="0"/>
                <a:cs typeface="Times New Roman" panose="02020603050405020304" pitchFamily="18" charset="0"/>
              </a:rPr>
              <a:t>How to Fix it:</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Increase PRF (scale)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Lower frequency</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Shift baseline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4973683"/>
      </p:ext>
    </p:extLst>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03AD1-E8E2-EE61-EDCE-EA7B8EF5A682}"/>
              </a:ext>
            </a:extLst>
          </p:cNvPr>
          <p:cNvSpPr>
            <a:spLocks noGrp="1"/>
          </p:cNvSpPr>
          <p:nvPr>
            <p:ph idx="4294967295"/>
          </p:nvPr>
        </p:nvSpPr>
        <p:spPr>
          <a:xfrm>
            <a:off x="422787" y="206479"/>
            <a:ext cx="10058400" cy="5495362"/>
          </a:xfrm>
        </p:spPr>
        <p:txBody>
          <a:bodyPr>
            <a:normAutofit fontScale="92500" lnSpcReduction="10000"/>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Spectral Doppler </a:t>
            </a:r>
          </a:p>
          <a:p>
            <a:pPr marL="0" indent="0">
              <a:buNone/>
            </a:pPr>
            <a:r>
              <a:rPr lang="en-IN" dirty="0">
                <a:latin typeface="Times New Roman" panose="02020603050405020304" pitchFamily="18" charset="0"/>
                <a:cs typeface="Times New Roman" panose="02020603050405020304" pitchFamily="18" charset="0"/>
              </a:rPr>
              <a:t>Shows velocity vs time waveform</a:t>
            </a:r>
          </a:p>
          <a:p>
            <a:pPr marL="0" indent="0">
              <a:buNone/>
            </a:pPr>
            <a:r>
              <a:rPr lang="en-IN" dirty="0">
                <a:latin typeface="Times New Roman" panose="02020603050405020304" pitchFamily="18" charset="0"/>
                <a:cs typeface="Times New Roman" panose="02020603050405020304" pitchFamily="18" charset="0"/>
              </a:rPr>
              <a:t>Key indices:</a:t>
            </a:r>
          </a:p>
          <a:p>
            <a:pPr marL="0" indent="0">
              <a:buNone/>
            </a:pPr>
            <a:r>
              <a:rPr lang="en-IN" dirty="0">
                <a:latin typeface="Times New Roman" panose="02020603050405020304" pitchFamily="18" charset="0"/>
                <a:cs typeface="Times New Roman" panose="02020603050405020304" pitchFamily="18" charset="0"/>
              </a:rPr>
              <a:t>PSV (Peak systolic velocity)</a:t>
            </a:r>
          </a:p>
          <a:p>
            <a:pPr marL="0" indent="0">
              <a:buNone/>
            </a:pPr>
            <a:r>
              <a:rPr lang="en-IN" dirty="0">
                <a:latin typeface="Times New Roman" panose="02020603050405020304" pitchFamily="18" charset="0"/>
                <a:cs typeface="Times New Roman" panose="02020603050405020304" pitchFamily="18" charset="0"/>
              </a:rPr>
              <a:t>EDV (End diastolic velocity)</a:t>
            </a:r>
          </a:p>
          <a:p>
            <a:pPr marL="0" indent="0">
              <a:buNone/>
            </a:pPr>
            <a:r>
              <a:rPr lang="en-IN" dirty="0">
                <a:latin typeface="Times New Roman" panose="02020603050405020304" pitchFamily="18" charset="0"/>
                <a:cs typeface="Times New Roman" panose="02020603050405020304" pitchFamily="18" charset="0"/>
              </a:rPr>
              <a:t>Derived indices:</a:t>
            </a:r>
          </a:p>
          <a:p>
            <a:pPr marL="0" indent="0">
              <a:buNone/>
            </a:pPr>
            <a:r>
              <a:rPr lang="en-IN" dirty="0">
                <a:latin typeface="Times New Roman" panose="02020603050405020304" pitchFamily="18" charset="0"/>
                <a:cs typeface="Times New Roman" panose="02020603050405020304" pitchFamily="18" charset="0"/>
              </a:rPr>
              <a:t>RI = (S − D) / S</a:t>
            </a:r>
          </a:p>
          <a:p>
            <a:pPr marL="0" indent="0">
              <a:buNone/>
            </a:pPr>
            <a:r>
              <a:rPr lang="en-IN" dirty="0">
                <a:latin typeface="Times New Roman" panose="02020603050405020304" pitchFamily="18" charset="0"/>
                <a:cs typeface="Times New Roman" panose="02020603050405020304" pitchFamily="18" charset="0"/>
              </a:rPr>
              <a:t>PI = (S − D) / Mean</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PI is more reliable than RI, because it incorporates the entire waveform (Mean velocity) and it works even when there is absent diastolic flow.</a:t>
            </a:r>
          </a:p>
          <a:p>
            <a:pPr marL="0" indent="0">
              <a:buNone/>
            </a:pPr>
            <a:r>
              <a:rPr lang="en-IN" dirty="0">
                <a:latin typeface="Times New Roman" panose="02020603050405020304" pitchFamily="18" charset="0"/>
                <a:cs typeface="Times New Roman" panose="02020603050405020304" pitchFamily="18" charset="0"/>
              </a:rPr>
              <a:t>Used in:</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Umbilical artery</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MCA</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Uterine artery</a:t>
            </a:r>
          </a:p>
          <a:p>
            <a:endParaRPr lang="en-IN" dirty="0"/>
          </a:p>
        </p:txBody>
      </p:sp>
    </p:spTree>
    <p:extLst>
      <p:ext uri="{BB962C8B-B14F-4D97-AF65-F5344CB8AC3E}">
        <p14:creationId xmlns:p14="http://schemas.microsoft.com/office/powerpoint/2010/main" val="40011620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896CB-C125-64A2-42B6-9411F237A98E}"/>
              </a:ext>
            </a:extLst>
          </p:cNvPr>
          <p:cNvSpPr>
            <a:spLocks noGrp="1"/>
          </p:cNvSpPr>
          <p:nvPr>
            <p:ph idx="4294967295"/>
          </p:nvPr>
        </p:nvSpPr>
        <p:spPr>
          <a:xfrm>
            <a:off x="690880" y="271463"/>
            <a:ext cx="10556240" cy="4869497"/>
          </a:xfrm>
        </p:spPr>
        <p:txBody>
          <a:bodyPr>
            <a:normAutofit lnSpcReduction="10000"/>
          </a:bodyPr>
          <a:lstStyle/>
          <a:p>
            <a:pPr>
              <a:buFont typeface="Wingdings" panose="05000000000000000000" pitchFamily="2" charset="2"/>
              <a:buChar char="v"/>
            </a:pPr>
            <a:r>
              <a:rPr lang="en-IN" sz="2200" b="1" i="1" dirty="0">
                <a:latin typeface="Times New Roman" panose="02020603050405020304" pitchFamily="18" charset="0"/>
                <a:cs typeface="Times New Roman" panose="02020603050405020304" pitchFamily="18" charset="0"/>
              </a:rPr>
              <a:t>Practical Obstetric Applications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Umbilical Artery</a:t>
            </a:r>
          </a:p>
          <a:p>
            <a:r>
              <a:rPr lang="en-IN" dirty="0">
                <a:latin typeface="Times New Roman" panose="02020603050405020304" pitchFamily="18" charset="0"/>
                <a:cs typeface="Times New Roman" panose="02020603050405020304" pitchFamily="18" charset="0"/>
              </a:rPr>
              <a:t>Normally: it is a low resistance vessel</a:t>
            </a:r>
          </a:p>
          <a:p>
            <a:r>
              <a:rPr lang="en-IN" dirty="0">
                <a:latin typeface="Times New Roman" panose="02020603050405020304" pitchFamily="18" charset="0"/>
                <a:cs typeface="Times New Roman" panose="02020603050405020304" pitchFamily="18" charset="0"/>
              </a:rPr>
              <a:t>Abnormal: decreased/absent/reversed diastolic flow → placental insufficiency</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Middle Cerebral Artery (MCA)</a:t>
            </a:r>
          </a:p>
          <a:p>
            <a:pPr marL="0" indent="0">
              <a:buNone/>
            </a:pPr>
            <a:r>
              <a:rPr lang="en-IN" dirty="0">
                <a:latin typeface="Times New Roman" panose="02020603050405020304" pitchFamily="18" charset="0"/>
                <a:cs typeface="Times New Roman" panose="02020603050405020304" pitchFamily="18" charset="0"/>
              </a:rPr>
              <a:t>↓ resistance (PI) in </a:t>
            </a:r>
            <a:r>
              <a:rPr lang="en-IN" dirty="0" err="1">
                <a:latin typeface="Times New Roman" panose="02020603050405020304" pitchFamily="18" charset="0"/>
                <a:cs typeface="Times New Roman" panose="02020603050405020304" pitchFamily="18" charset="0"/>
              </a:rPr>
              <a:t>fetal</a:t>
            </a:r>
            <a:r>
              <a:rPr lang="en-IN" dirty="0">
                <a:latin typeface="Times New Roman" panose="02020603050405020304" pitchFamily="18" charset="0"/>
                <a:cs typeface="Times New Roman" panose="02020603050405020304" pitchFamily="18" charset="0"/>
              </a:rPr>
              <a:t> hypoxia (brain sparing)</a:t>
            </a:r>
          </a:p>
          <a:p>
            <a:r>
              <a:rPr lang="en-IN" dirty="0">
                <a:latin typeface="Times New Roman" panose="02020603050405020304" pitchFamily="18" charset="0"/>
                <a:cs typeface="Times New Roman" panose="02020603050405020304" pitchFamily="18" charset="0"/>
              </a:rPr>
              <a:t>↑ PSV → </a:t>
            </a:r>
            <a:r>
              <a:rPr lang="en-IN" dirty="0" err="1">
                <a:latin typeface="Times New Roman" panose="02020603050405020304" pitchFamily="18" charset="0"/>
                <a:cs typeface="Times New Roman" panose="02020603050405020304" pitchFamily="18" charset="0"/>
              </a:rPr>
              <a:t>fetal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anemia</a:t>
            </a:r>
            <a:r>
              <a:rPr lang="en-IN" dirty="0">
                <a:latin typeface="Times New Roman" panose="02020603050405020304" pitchFamily="18" charset="0"/>
                <a:cs typeface="Times New Roman" panose="02020603050405020304" pitchFamily="18" charset="0"/>
              </a:rPr>
              <a:t> ( PSV &gt; 1.5 MoM )</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Uterine Artery</a:t>
            </a:r>
          </a:p>
          <a:p>
            <a:r>
              <a:rPr lang="en-IN" dirty="0">
                <a:latin typeface="Times New Roman" panose="02020603050405020304" pitchFamily="18" charset="0"/>
                <a:cs typeface="Times New Roman" panose="02020603050405020304" pitchFamily="18" charset="0"/>
              </a:rPr>
              <a:t>Look for:</a:t>
            </a:r>
          </a:p>
          <a:p>
            <a:r>
              <a:rPr lang="en-IN" dirty="0">
                <a:latin typeface="Times New Roman" panose="02020603050405020304" pitchFamily="18" charset="0"/>
                <a:cs typeface="Times New Roman" panose="02020603050405020304" pitchFamily="18" charset="0"/>
              </a:rPr>
              <a:t>Early diastolic notch</a:t>
            </a:r>
          </a:p>
          <a:p>
            <a:r>
              <a:rPr lang="en-IN" dirty="0">
                <a:latin typeface="Times New Roman" panose="02020603050405020304" pitchFamily="18" charset="0"/>
                <a:cs typeface="Times New Roman" panose="02020603050405020304" pitchFamily="18" charset="0"/>
              </a:rPr>
              <a:t>High PI  → risk of preeclampsia/IUGR</a:t>
            </a:r>
          </a:p>
          <a:p>
            <a:endParaRPr lang="en-IN" dirty="0"/>
          </a:p>
        </p:txBody>
      </p:sp>
      <p:pic>
        <p:nvPicPr>
          <p:cNvPr id="5" name="Picture 4">
            <a:extLst>
              <a:ext uri="{FF2B5EF4-FFF2-40B4-BE49-F238E27FC236}">
                <a16:creationId xmlns:a16="http://schemas.microsoft.com/office/drawing/2014/main" id="{328243B9-A446-3F50-59FB-2D79AFBE5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6483" y="2371466"/>
            <a:ext cx="4955998" cy="3694054"/>
          </a:xfrm>
          <a:prstGeom prst="rect">
            <a:avLst/>
          </a:prstGeom>
        </p:spPr>
      </p:pic>
    </p:spTree>
    <p:extLst>
      <p:ext uri="{BB962C8B-B14F-4D97-AF65-F5344CB8AC3E}">
        <p14:creationId xmlns:p14="http://schemas.microsoft.com/office/powerpoint/2010/main" val="37335763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70CD6-FD4F-EC51-E695-41925CC54A7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Ultrasound Gel</a:t>
            </a:r>
          </a:p>
        </p:txBody>
      </p:sp>
      <p:sp>
        <p:nvSpPr>
          <p:cNvPr id="3" name="Content Placeholder 2">
            <a:extLst>
              <a:ext uri="{FF2B5EF4-FFF2-40B4-BE49-F238E27FC236}">
                <a16:creationId xmlns:a16="http://schemas.microsoft.com/office/drawing/2014/main" id="{10F45FC1-F74C-F237-AC0A-1E45991CC5EF}"/>
              </a:ext>
            </a:extLst>
          </p:cNvPr>
          <p:cNvSpPr>
            <a:spLocks noGrp="1"/>
          </p:cNvSpPr>
          <p:nvPr>
            <p:ph idx="1"/>
          </p:nvPr>
        </p:nvSpPr>
        <p:spPr/>
        <p:txBody>
          <a:bodyPr>
            <a:normAutofit lnSpcReduction="10000"/>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Gel is needed to remove pockets of air between probe and patient’s skin, which would otherwise prevent sound transmission into patient’s body. Thus Ultrasound gel acts as a medium to transmit sound And as a lubricant.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Liquids such as water and alcohols are suitable media, however, being volatile and having low viscosity makes them inappropriate. That is why specific gels have been developed.</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Ingredients of ultrasound gel include: Distilled water, Carbomer, Ethylenediamine tetra-acetic acid (EDTA), Propylene glycol, </a:t>
            </a:r>
            <a:r>
              <a:rPr lang="en-IN" dirty="0" err="1">
                <a:latin typeface="Times New Roman" panose="02020603050405020304" pitchFamily="18" charset="0"/>
                <a:cs typeface="Times New Roman" panose="02020603050405020304" pitchFamily="18" charset="0"/>
              </a:rPr>
              <a:t>glycerin</a:t>
            </a:r>
            <a:r>
              <a:rPr lang="en-IN" dirty="0">
                <a:latin typeface="Times New Roman" panose="02020603050405020304" pitchFamily="18" charset="0"/>
                <a:cs typeface="Times New Roman" panose="02020603050405020304" pitchFamily="18" charset="0"/>
              </a:rPr>
              <a:t> and trolamine. Occasionally, a colourant is used, usually a blue colour.</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 case of a patient having an open wound or a skin rash or any other risk of infection, the transducer or patient’s skin should be covered with plastic and gel should be used on both sides of the plastic.</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transducer must be cleaned after every patient.</a:t>
            </a:r>
          </a:p>
        </p:txBody>
      </p:sp>
    </p:spTree>
    <p:extLst>
      <p:ext uri="{BB962C8B-B14F-4D97-AF65-F5344CB8AC3E}">
        <p14:creationId xmlns:p14="http://schemas.microsoft.com/office/powerpoint/2010/main" val="317768917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1F85F-B0D6-E25A-CFD4-1F03308CEC8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Artefacts</a:t>
            </a:r>
          </a:p>
        </p:txBody>
      </p:sp>
      <p:sp>
        <p:nvSpPr>
          <p:cNvPr id="3" name="Content Placeholder 2">
            <a:extLst>
              <a:ext uri="{FF2B5EF4-FFF2-40B4-BE49-F238E27FC236}">
                <a16:creationId xmlns:a16="http://schemas.microsoft.com/office/drawing/2014/main" id="{5C5C23A7-DE54-AEBA-BF24-149C63F830CC}"/>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Artefacts are incorrect representation of anatomy or function which can enhance or degrade the diagnostic value of the ultrasound image.</a:t>
            </a:r>
          </a:p>
          <a:p>
            <a:r>
              <a:rPr lang="en-IN" dirty="0">
                <a:latin typeface="Times New Roman" panose="02020603050405020304" pitchFamily="18" charset="0"/>
                <a:cs typeface="Times New Roman" panose="02020603050405020304" pitchFamily="18" charset="0"/>
              </a:rPr>
              <a:t>The causes are machine &amp; operator related, as well as intrinsic to the characteristics and interaction of ultrasound with the tissues. So, removing the potentially avoidable artefacts is important for maximising image quality and thereby increasing the diagnostic accuracy.</a:t>
            </a:r>
          </a:p>
        </p:txBody>
      </p:sp>
    </p:spTree>
    <p:extLst>
      <p:ext uri="{BB962C8B-B14F-4D97-AF65-F5344CB8AC3E}">
        <p14:creationId xmlns:p14="http://schemas.microsoft.com/office/powerpoint/2010/main" val="2245092478"/>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ACB2D-B221-3B18-A954-0053FF04E66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Assumptions in ultrasound imaging</a:t>
            </a:r>
          </a:p>
        </p:txBody>
      </p:sp>
      <p:sp>
        <p:nvSpPr>
          <p:cNvPr id="3" name="Content Placeholder 2">
            <a:extLst>
              <a:ext uri="{FF2B5EF4-FFF2-40B4-BE49-F238E27FC236}">
                <a16:creationId xmlns:a16="http://schemas.microsoft.com/office/drawing/2014/main" id="{020583BD-2B35-33A7-7636-F5585D83CB44}"/>
              </a:ext>
            </a:extLst>
          </p:cNvPr>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Sonographic instruments are based on following assumptions, violation of which results in artefacts.</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Velocity of sound</a:t>
            </a:r>
            <a:r>
              <a:rPr lang="en-IN" dirty="0">
                <a:latin typeface="Times New Roman" panose="02020603050405020304" pitchFamily="18" charset="0"/>
                <a:cs typeface="Times New Roman" panose="02020603050405020304" pitchFamily="18" charset="0"/>
              </a:rPr>
              <a:t>: Sound travels at uniform speed of 1540 m/s throughout the tissues. Alteration in the velocity results in propagation velocity artefact. It is also assumed that the longer the round trip travel time of ultrasound wave the deeper the object or target is situated.</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Attenuation of sound</a:t>
            </a:r>
            <a:r>
              <a:rPr lang="en-IN" dirty="0">
                <a:latin typeface="Times New Roman" panose="02020603050405020304" pitchFamily="18" charset="0"/>
                <a:cs typeface="Times New Roman" panose="02020603050405020304" pitchFamily="18" charset="0"/>
              </a:rPr>
              <a:t>: Sound waves decrease in intensity at constant rate as they travel through tissues. If the wave travels through tissues that do not attenuate much or attenuate more then artefacts like increased through transmission/enhancement (PAE) and shadowing (DAS) arise respectively.</a:t>
            </a:r>
            <a:endParaRPr lang="en-IN"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Path of sound: </a:t>
            </a:r>
            <a:r>
              <a:rPr lang="en-IN" dirty="0">
                <a:latin typeface="Times New Roman" panose="02020603050405020304" pitchFamily="18" charset="0"/>
                <a:cs typeface="Times New Roman" panose="02020603050405020304" pitchFamily="18" charset="0"/>
              </a:rPr>
              <a:t>Soundwave travels in a straight line, is reflected off a reflector only once Returns directly back to the probe at the same angle, exactly to the point from which it left the probe And echoes originate only from objects located along the beam axis. If the sound wave undergoes more than one reflection then artefacts such as mirror image, reverberation or comet-tail occur. And if the direction of the beam or its echo is altered, Refraction or anisotropy artefact may be produced.</a:t>
            </a:r>
          </a:p>
          <a:p>
            <a:pPr>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Beam Profile: </a:t>
            </a:r>
            <a:r>
              <a:rPr lang="en-IN" dirty="0">
                <a:latin typeface="Times New Roman" panose="02020603050405020304" pitchFamily="18" charset="0"/>
                <a:cs typeface="Times New Roman" panose="02020603050405020304" pitchFamily="18" charset="0"/>
              </a:rPr>
              <a:t>Sound beam generated by the transducer is a narrow line. Violation results in Side lobe or Grating lobe artefacts.</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467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14AD8-A0BC-71FF-62A1-42B9D4EA18E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Classification of ultrasound artefacts</a:t>
            </a:r>
          </a:p>
        </p:txBody>
      </p:sp>
      <p:sp>
        <p:nvSpPr>
          <p:cNvPr id="3" name="Content Placeholder 2">
            <a:extLst>
              <a:ext uri="{FF2B5EF4-FFF2-40B4-BE49-F238E27FC236}">
                <a16:creationId xmlns:a16="http://schemas.microsoft.com/office/drawing/2014/main" id="{34706B04-5499-6D17-5ECC-99976355148B}"/>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Propagation of velocity artefacts: </a:t>
            </a:r>
            <a:r>
              <a:rPr lang="en-IN" dirty="0">
                <a:latin typeface="Times New Roman" panose="02020603050405020304" pitchFamily="18" charset="0"/>
                <a:cs typeface="Times New Roman" panose="02020603050405020304" pitchFamily="18" charset="0"/>
              </a:rPr>
              <a:t>In the case of a fatty lesion, the slow speed of propagation </a:t>
            </a:r>
          </a:p>
          <a:p>
            <a:r>
              <a:rPr lang="en-IN" dirty="0">
                <a:latin typeface="Times New Roman" panose="02020603050405020304" pitchFamily="18" charset="0"/>
                <a:cs typeface="Times New Roman" panose="02020603050405020304" pitchFamily="18" charset="0"/>
              </a:rPr>
              <a:t>(1450 m/s) means that the echo take longer to return to the transducer, thus the lesion is displayed deeper in the image then its true location (e.g. focal fatty lesion in liver). This can be minimised by using multibeam features and improved signal processing.</a:t>
            </a:r>
          </a:p>
          <a:p>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FB24497-01B3-66E1-BDD8-56846482B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1916" y="3332480"/>
            <a:ext cx="5609130" cy="2865120"/>
          </a:xfrm>
          <a:prstGeom prst="rect">
            <a:avLst/>
          </a:prstGeom>
        </p:spPr>
      </p:pic>
    </p:spTree>
    <p:extLst>
      <p:ext uri="{BB962C8B-B14F-4D97-AF65-F5344CB8AC3E}">
        <p14:creationId xmlns:p14="http://schemas.microsoft.com/office/powerpoint/2010/main" val="1269759570"/>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3749-1341-AA31-6DC2-6DBACE3596B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Attenuation Errors</a:t>
            </a:r>
          </a:p>
        </p:txBody>
      </p:sp>
      <p:sp>
        <p:nvSpPr>
          <p:cNvPr id="3" name="Content Placeholder 2">
            <a:extLst>
              <a:ext uri="{FF2B5EF4-FFF2-40B4-BE49-F238E27FC236}">
                <a16:creationId xmlns:a16="http://schemas.microsoft.com/office/drawing/2014/main" id="{BE3F9A22-0DD2-381A-AE92-773048E79FFC}"/>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Shadowing</a:t>
            </a:r>
            <a:r>
              <a:rPr lang="en-IN" dirty="0">
                <a:latin typeface="Times New Roman" panose="02020603050405020304" pitchFamily="18" charset="0"/>
                <a:cs typeface="Times New Roman" panose="02020603050405020304" pitchFamily="18" charset="0"/>
              </a:rPr>
              <a:t> results when there is marked reduction in the intensity of the ultrasound deep to a strong reflector, consequently, no information received from the area behind that structure.</a:t>
            </a:r>
          </a:p>
        </p:txBody>
      </p:sp>
      <p:pic>
        <p:nvPicPr>
          <p:cNvPr id="5" name="Picture 4">
            <a:extLst>
              <a:ext uri="{FF2B5EF4-FFF2-40B4-BE49-F238E27FC236}">
                <a16:creationId xmlns:a16="http://schemas.microsoft.com/office/drawing/2014/main" id="{89D201A9-4F8D-CC8C-B3B4-BE35462EB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8939" y="2509520"/>
            <a:ext cx="5190501" cy="3467948"/>
          </a:xfrm>
          <a:prstGeom prst="rect">
            <a:avLst/>
          </a:prstGeom>
        </p:spPr>
      </p:pic>
    </p:spTree>
    <p:extLst>
      <p:ext uri="{BB962C8B-B14F-4D97-AF65-F5344CB8AC3E}">
        <p14:creationId xmlns:p14="http://schemas.microsoft.com/office/powerpoint/2010/main" val="1126457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FFC45-EF91-BDC7-BF80-B7D22E7E9A5D}"/>
              </a:ext>
            </a:extLst>
          </p:cNvPr>
          <p:cNvSpPr>
            <a:spLocks noGrp="1"/>
          </p:cNvSpPr>
          <p:nvPr>
            <p:ph idx="4294967295"/>
          </p:nvPr>
        </p:nvSpPr>
        <p:spPr>
          <a:xfrm>
            <a:off x="670560" y="850583"/>
            <a:ext cx="10058400" cy="4022725"/>
          </a:xfrm>
        </p:spPr>
        <p:txBody>
          <a:bodyPr/>
          <a:lstStyle/>
          <a:p>
            <a:r>
              <a:rPr lang="en-IN" b="1" dirty="0">
                <a:latin typeface="Times New Roman" panose="02020603050405020304" pitchFamily="18" charset="0"/>
                <a:cs typeface="Times New Roman" panose="02020603050405020304" pitchFamily="18" charset="0"/>
              </a:rPr>
              <a:t>Enhancement</a:t>
            </a:r>
            <a:r>
              <a:rPr lang="en-IN" dirty="0">
                <a:latin typeface="Times New Roman" panose="02020603050405020304" pitchFamily="18" charset="0"/>
                <a:cs typeface="Times New Roman" panose="02020603050405020304" pitchFamily="18" charset="0"/>
              </a:rPr>
              <a:t> is seen when there is less attenuating object as compared to the surrounding tissues. Consequently, increased amplitude of beam reaches and is returned from the area deep to this object as compared to the surrounding tissues. Therefore, this area appears bright as compared to the surrounding tissues.</a:t>
            </a:r>
          </a:p>
        </p:txBody>
      </p:sp>
      <p:pic>
        <p:nvPicPr>
          <p:cNvPr id="5" name="Picture 4">
            <a:extLst>
              <a:ext uri="{FF2B5EF4-FFF2-40B4-BE49-F238E27FC236}">
                <a16:creationId xmlns:a16="http://schemas.microsoft.com/office/drawing/2014/main" id="{F8B08CE9-A949-A718-4AF8-8AEBDC4DB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7600" y="2479040"/>
            <a:ext cx="7020560" cy="3017520"/>
          </a:xfrm>
          <a:prstGeom prst="rect">
            <a:avLst/>
          </a:prstGeom>
        </p:spPr>
      </p:pic>
    </p:spTree>
    <p:extLst>
      <p:ext uri="{BB962C8B-B14F-4D97-AF65-F5344CB8AC3E}">
        <p14:creationId xmlns:p14="http://schemas.microsoft.com/office/powerpoint/2010/main" val="178665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E804-2DFF-305C-5600-97AF6218FA8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Path of sound related artefacts</a:t>
            </a:r>
          </a:p>
        </p:txBody>
      </p:sp>
      <p:sp>
        <p:nvSpPr>
          <p:cNvPr id="3" name="Content Placeholder 2">
            <a:extLst>
              <a:ext uri="{FF2B5EF4-FFF2-40B4-BE49-F238E27FC236}">
                <a16:creationId xmlns:a16="http://schemas.microsoft.com/office/drawing/2014/main" id="{F539B13F-B2C1-AEC6-0E8A-2BAB07C6C499}"/>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Mirror image artefact/multipath artefact : </a:t>
            </a:r>
            <a:r>
              <a:rPr lang="en-IN" dirty="0">
                <a:latin typeface="Times New Roman" panose="02020603050405020304" pitchFamily="18" charset="0"/>
                <a:cs typeface="Times New Roman" panose="02020603050405020304" pitchFamily="18" charset="0"/>
              </a:rPr>
              <a:t>When the ultrasound beam encounters a highly reflective surface, the reflected echoes then encounter another reflective structure on their way back and are reflected back towards the reflective interface before being reflected to the transducer, where they are detected. This display show a duplicate structure equidistant but on opposite side of the reflector creating a mirror image. This most often happens at the diaphragm wherein the liver is seen in the chest cavity due to sound waves being reflected off the diaphragm.</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6E649F-A063-964A-15C1-AB65D1999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9441" y="3769360"/>
            <a:ext cx="7904480" cy="2316480"/>
          </a:xfrm>
          <a:prstGeom prst="rect">
            <a:avLst/>
          </a:prstGeom>
        </p:spPr>
      </p:pic>
    </p:spTree>
    <p:extLst>
      <p:ext uri="{BB962C8B-B14F-4D97-AF65-F5344CB8AC3E}">
        <p14:creationId xmlns:p14="http://schemas.microsoft.com/office/powerpoint/2010/main" val="301894004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869EAA-6ECF-58B9-91A8-A1CE70452605}"/>
              </a:ext>
            </a:extLst>
          </p:cNvPr>
          <p:cNvSpPr>
            <a:spLocks noGrp="1"/>
          </p:cNvSpPr>
          <p:nvPr>
            <p:ph idx="4294967295"/>
          </p:nvPr>
        </p:nvSpPr>
        <p:spPr>
          <a:xfrm>
            <a:off x="843280" y="413703"/>
            <a:ext cx="10058400" cy="3548697"/>
          </a:xfrm>
        </p:spPr>
        <p:txBody>
          <a:bodyPr>
            <a:normAutofit lnSpcReduction="10000"/>
          </a:bodyPr>
          <a:lstStyle/>
          <a:p>
            <a:r>
              <a:rPr lang="en-IN" b="1" dirty="0" err="1">
                <a:latin typeface="Times New Roman" panose="02020603050405020304" pitchFamily="18" charset="0"/>
                <a:cs typeface="Times New Roman" panose="02020603050405020304" pitchFamily="18" charset="0"/>
              </a:rPr>
              <a:t>Reverbration</a:t>
            </a:r>
            <a:r>
              <a:rPr lang="en-IN" b="1" dirty="0">
                <a:latin typeface="Times New Roman" panose="02020603050405020304" pitchFamily="18" charset="0"/>
                <a:cs typeface="Times New Roman" panose="02020603050405020304" pitchFamily="18" charset="0"/>
              </a:rPr>
              <a:t> artefact</a:t>
            </a:r>
            <a:r>
              <a:rPr lang="en-IN" dirty="0">
                <a:latin typeface="Times New Roman" panose="02020603050405020304" pitchFamily="18" charset="0"/>
                <a:cs typeface="Times New Roman" panose="02020603050405020304" pitchFamily="18" charset="0"/>
              </a:rPr>
              <a:t>: It arises when the ultrasound signal reflects repeatedly between highly reflective interfaces near the transducer, resulting in delayed echo return to the transducer. This appears in the image as a series of regularly spaced echoes at increasing depth. It can be reduced by changing the scanning angle or placing the transducer in such a way so as to widen the parallel interface that contribute to the artefact. Reverberation may be helpful In identification of a specific type of reflectors such as surgical clip or needle during biopsy.</a:t>
            </a:r>
          </a:p>
          <a:p>
            <a:r>
              <a:rPr lang="en-IN" dirty="0">
                <a:latin typeface="Times New Roman" panose="02020603050405020304" pitchFamily="18" charset="0"/>
                <a:cs typeface="Times New Roman" panose="02020603050405020304" pitchFamily="18" charset="0"/>
              </a:rPr>
              <a:t>There are two types of reverberation artefacts:</a:t>
            </a:r>
          </a:p>
          <a:p>
            <a:r>
              <a:rPr lang="en-IN" b="1" dirty="0">
                <a:latin typeface="Times New Roman" panose="02020603050405020304" pitchFamily="18" charset="0"/>
                <a:cs typeface="Times New Roman" panose="02020603050405020304" pitchFamily="18" charset="0"/>
              </a:rPr>
              <a:t>Comet-tail Artefact</a:t>
            </a:r>
            <a:r>
              <a:rPr lang="en-IN" dirty="0">
                <a:latin typeface="Times New Roman" panose="02020603050405020304" pitchFamily="18" charset="0"/>
                <a:cs typeface="Times New Roman" panose="02020603050405020304" pitchFamily="18" charset="0"/>
              </a:rPr>
              <a:t>: It occurs when the repetitive reflections occur within very small structures such as, in tiny crypts in the wall of Gall bladder in case of </a:t>
            </a:r>
            <a:r>
              <a:rPr lang="en-IN" dirty="0" err="1">
                <a:latin typeface="Times New Roman" panose="02020603050405020304" pitchFamily="18" charset="0"/>
                <a:cs typeface="Times New Roman" panose="02020603050405020304" pitchFamily="18" charset="0"/>
              </a:rPr>
              <a:t>adenomyomatosis</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Ring down artefact: </a:t>
            </a:r>
            <a:r>
              <a:rPr lang="en-IN" dirty="0">
                <a:latin typeface="Times New Roman" panose="02020603050405020304" pitchFamily="18" charset="0"/>
                <a:cs typeface="Times New Roman" panose="02020603050405020304" pitchFamily="18" charset="0"/>
              </a:rPr>
              <a:t>It occurs when the ultrasound waves cause oscillation within fluid trapped by a tetrahedron of gas bubbles.</a:t>
            </a:r>
          </a:p>
        </p:txBody>
      </p:sp>
      <p:pic>
        <p:nvPicPr>
          <p:cNvPr id="9" name="Picture 8">
            <a:extLst>
              <a:ext uri="{FF2B5EF4-FFF2-40B4-BE49-F238E27FC236}">
                <a16:creationId xmlns:a16="http://schemas.microsoft.com/office/drawing/2014/main" id="{270D0064-C68D-E696-E712-B92053408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7600" y="3779520"/>
            <a:ext cx="4704079" cy="2397760"/>
          </a:xfrm>
          <a:prstGeom prst="rect">
            <a:avLst/>
          </a:prstGeom>
        </p:spPr>
      </p:pic>
      <p:pic>
        <p:nvPicPr>
          <p:cNvPr id="11" name="Picture 10">
            <a:extLst>
              <a:ext uri="{FF2B5EF4-FFF2-40B4-BE49-F238E27FC236}">
                <a16:creationId xmlns:a16="http://schemas.microsoft.com/office/drawing/2014/main" id="{769EBF8B-EBD4-5496-C204-2C6B7FE46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279" y="3779520"/>
            <a:ext cx="4420553" cy="2397760"/>
          </a:xfrm>
          <a:prstGeom prst="rect">
            <a:avLst/>
          </a:prstGeom>
        </p:spPr>
      </p:pic>
    </p:spTree>
    <p:extLst>
      <p:ext uri="{BB962C8B-B14F-4D97-AF65-F5344CB8AC3E}">
        <p14:creationId xmlns:p14="http://schemas.microsoft.com/office/powerpoint/2010/main" val="142355938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CB9C5-FF43-55D9-3749-D73D04F6FF22}"/>
              </a:ext>
            </a:extLst>
          </p:cNvPr>
          <p:cNvSpPr>
            <a:spLocks noGrp="1"/>
          </p:cNvSpPr>
          <p:nvPr>
            <p:ph idx="4294967295"/>
          </p:nvPr>
        </p:nvSpPr>
        <p:spPr>
          <a:xfrm>
            <a:off x="746760" y="238443"/>
            <a:ext cx="10058400" cy="4022725"/>
          </a:xfrm>
        </p:spPr>
        <p:txBody>
          <a:bodyPr/>
          <a:lstStyle/>
          <a:p>
            <a:r>
              <a:rPr lang="en-IN" b="1" dirty="0">
                <a:latin typeface="Times New Roman" panose="02020603050405020304" pitchFamily="18" charset="0"/>
                <a:cs typeface="Times New Roman" panose="02020603050405020304" pitchFamily="18" charset="0"/>
              </a:rPr>
              <a:t>Refraction: </a:t>
            </a:r>
            <a:r>
              <a:rPr lang="en-IN" dirty="0">
                <a:latin typeface="Times New Roman" panose="02020603050405020304" pitchFamily="18" charset="0"/>
                <a:cs typeface="Times New Roman" panose="02020603050405020304" pitchFamily="18" charset="0"/>
              </a:rPr>
              <a:t>When an ultrasound beam is incident on a boundary between two tissues at an angle other than 90 degree and if these tissues do not have same speed of sound, there is a change in the direction of ultrasound beam, this results in </a:t>
            </a:r>
            <a:r>
              <a:rPr lang="en-IN" dirty="0" err="1">
                <a:latin typeface="Times New Roman" panose="02020603050405020304" pitchFamily="18" charset="0"/>
                <a:cs typeface="Times New Roman" panose="02020603050405020304" pitchFamily="18" charset="0"/>
              </a:rPr>
              <a:t>artifactual</a:t>
            </a:r>
            <a:r>
              <a:rPr lang="en-IN" dirty="0">
                <a:latin typeface="Times New Roman" panose="02020603050405020304" pitchFamily="18" charset="0"/>
                <a:cs typeface="Times New Roman" panose="02020603050405020304" pitchFamily="18" charset="0"/>
              </a:rPr>
              <a:t> representation of objects on the display even when they are not truly in the scanned field of view (Refraction). Thus, refraction can cause object misregistration or duplication or lateral defocusing at the edge of curved structures. This artefact is most often observed in pelvic structures deep to the rectus muscles and midline fat. It can be minimised by increasing the scan angle so that sound waves travel perpendicular to the interface.</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2990DD-F903-6175-0A7B-7A464F325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140" y="2502408"/>
            <a:ext cx="4259580" cy="2298192"/>
          </a:xfrm>
          <a:prstGeom prst="rect">
            <a:avLst/>
          </a:prstGeom>
        </p:spPr>
      </p:pic>
    </p:spTree>
    <p:extLst>
      <p:ext uri="{BB962C8B-B14F-4D97-AF65-F5344CB8AC3E}">
        <p14:creationId xmlns:p14="http://schemas.microsoft.com/office/powerpoint/2010/main" val="1622165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55CB8D-CC04-E86D-07A2-844518F294CA}"/>
              </a:ext>
            </a:extLst>
          </p:cNvPr>
          <p:cNvSpPr>
            <a:spLocks noGrp="1"/>
          </p:cNvSpPr>
          <p:nvPr>
            <p:ph idx="4294967295"/>
          </p:nvPr>
        </p:nvSpPr>
        <p:spPr>
          <a:xfrm>
            <a:off x="594360" y="261303"/>
            <a:ext cx="10058400" cy="4022725"/>
          </a:xfrm>
        </p:spPr>
        <p:txBody>
          <a:bodyPr/>
          <a:lstStyle/>
          <a:p>
            <a:r>
              <a:rPr lang="en-IN" b="1" dirty="0">
                <a:latin typeface="Times New Roman" panose="02020603050405020304" pitchFamily="18" charset="0"/>
                <a:cs typeface="Times New Roman" panose="02020603050405020304" pitchFamily="18" charset="0"/>
              </a:rPr>
              <a:t>Anisotropy: </a:t>
            </a:r>
            <a:r>
              <a:rPr lang="en-IN" dirty="0">
                <a:latin typeface="Times New Roman" panose="02020603050405020304" pitchFamily="18" charset="0"/>
                <a:cs typeface="Times New Roman" panose="02020603050405020304" pitchFamily="18" charset="0"/>
              </a:rPr>
              <a:t>Anisotropy is an artefact caused by structures that are composed of bundles of highly reflective fibres running parallel to each other such as tendons and ligaments. If the sound beam hits the tendon or ligament fibres perpendicular to their length, it is reflected directly back resulting in an echogenic appearance but if the angle of </a:t>
            </a:r>
            <a:r>
              <a:rPr lang="en-IN" dirty="0" err="1">
                <a:latin typeface="Times New Roman" panose="02020603050405020304" pitchFamily="18" charset="0"/>
                <a:cs typeface="Times New Roman" panose="02020603050405020304" pitchFamily="18" charset="0"/>
              </a:rPr>
              <a:t>insonation</a:t>
            </a:r>
            <a:r>
              <a:rPr lang="en-IN" dirty="0">
                <a:latin typeface="Times New Roman" panose="02020603050405020304" pitchFamily="18" charset="0"/>
                <a:cs typeface="Times New Roman" panose="02020603050405020304" pitchFamily="18" charset="0"/>
              </a:rPr>
              <a:t> is not perpendicular to the tendon fibres, the beam is reflected away from transducer leading to generation of an image with an </a:t>
            </a:r>
            <a:r>
              <a:rPr lang="en-IN" dirty="0" err="1">
                <a:latin typeface="Times New Roman" panose="02020603050405020304" pitchFamily="18" charset="0"/>
                <a:cs typeface="Times New Roman" panose="02020603050405020304" pitchFamily="18" charset="0"/>
              </a:rPr>
              <a:t>artifactual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hypoechogenicity</a:t>
            </a:r>
            <a:r>
              <a:rPr lang="en-IN" dirty="0">
                <a:latin typeface="Times New Roman" panose="02020603050405020304" pitchFamily="18" charset="0"/>
                <a:cs typeface="Times New Roman" panose="02020603050405020304" pitchFamily="18" charset="0"/>
              </a:rPr>
              <a:t> within the tendon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AA33530-24BB-2FEE-D7E9-E77521082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464" y="2208179"/>
            <a:ext cx="6858000" cy="3698845"/>
          </a:xfrm>
          <a:prstGeom prst="rect">
            <a:avLst/>
          </a:prstGeom>
        </p:spPr>
      </p:pic>
    </p:spTree>
    <p:extLst>
      <p:ext uri="{BB962C8B-B14F-4D97-AF65-F5344CB8AC3E}">
        <p14:creationId xmlns:p14="http://schemas.microsoft.com/office/powerpoint/2010/main" val="399792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1C949-CDA3-9F82-6CD8-775C7D9965C2}"/>
              </a:ext>
            </a:extLst>
          </p:cNvPr>
          <p:cNvSpPr>
            <a:spLocks noGrp="1"/>
          </p:cNvSpPr>
          <p:nvPr>
            <p:ph idx="4294967295"/>
          </p:nvPr>
        </p:nvSpPr>
        <p:spPr>
          <a:xfrm>
            <a:off x="713362" y="328748"/>
            <a:ext cx="10058400" cy="4022725"/>
          </a:xfrm>
        </p:spPr>
        <p:txBody>
          <a:bodyPr/>
          <a:lstStyle/>
          <a:p>
            <a:r>
              <a:rPr lang="en-IN" b="1" dirty="0">
                <a:latin typeface="Times New Roman" panose="02020603050405020304" pitchFamily="18" charset="0"/>
                <a:cs typeface="Times New Roman" panose="02020603050405020304" pitchFamily="18" charset="0"/>
              </a:rPr>
              <a:t>Beam width Artefact/ Side lobe and grating lobe : </a:t>
            </a:r>
            <a:r>
              <a:rPr lang="en-IN" dirty="0">
                <a:latin typeface="Times New Roman" panose="02020603050405020304" pitchFamily="18" charset="0"/>
                <a:cs typeface="Times New Roman" panose="02020603050405020304" pitchFamily="18" charset="0"/>
              </a:rPr>
              <a:t>Although most of the energy generated by a transducer is emitted in a beam along the central axis of the transducer However some energies also emitted at the periphery of the primary beam. These are called side lobes or grating lobes and are lower in intensity than the primary beam. Side lobes or grating lobes may interact with strong reflector that lie outside scan plane and produce artefacts that are displayed in the ultrasound image. They are more evident when misplaced echoes overlap and expected anechoic structure. It can be minimised by placing the transducer at the centre of the object of interest and adjusting the focal zone to appropriate depth.</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F9EB8DF-F0DE-1C11-6EBA-B79BB4C515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384" y="2821020"/>
            <a:ext cx="6439231" cy="2944899"/>
          </a:xfrm>
          <a:prstGeom prst="rect">
            <a:avLst/>
          </a:prstGeom>
        </p:spPr>
      </p:pic>
    </p:spTree>
    <p:extLst>
      <p:ext uri="{BB962C8B-B14F-4D97-AF65-F5344CB8AC3E}">
        <p14:creationId xmlns:p14="http://schemas.microsoft.com/office/powerpoint/2010/main" val="1233192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CE155-49B6-FC0B-6A5A-8AD744BA6CD6}"/>
              </a:ext>
            </a:extLst>
          </p:cNvPr>
          <p:cNvSpPr>
            <a:spLocks noGrp="1"/>
          </p:cNvSpPr>
          <p:nvPr>
            <p:ph type="title"/>
          </p:nvPr>
        </p:nvSpPr>
        <p:spPr>
          <a:xfrm>
            <a:off x="1066800" y="115146"/>
            <a:ext cx="10058400" cy="873760"/>
          </a:xfrm>
        </p:spPr>
        <p:txBody>
          <a:bodyPr/>
          <a:lstStyle/>
          <a:p>
            <a:r>
              <a:rPr lang="en-IN" dirty="0">
                <a:latin typeface="Times New Roman" panose="02020603050405020304" pitchFamily="18" charset="0"/>
                <a:cs typeface="Times New Roman" panose="02020603050405020304" pitchFamily="18" charset="0"/>
              </a:rPr>
              <a:t>Doppler Artefacts</a:t>
            </a:r>
          </a:p>
        </p:txBody>
      </p:sp>
      <p:sp>
        <p:nvSpPr>
          <p:cNvPr id="3" name="Content Placeholder 2">
            <a:extLst>
              <a:ext uri="{FF2B5EF4-FFF2-40B4-BE49-F238E27FC236}">
                <a16:creationId xmlns:a16="http://schemas.microsoft.com/office/drawing/2014/main" id="{594498B5-2D68-A00E-3088-F7B89A15165F}"/>
              </a:ext>
            </a:extLst>
          </p:cNvPr>
          <p:cNvSpPr>
            <a:spLocks noGrp="1"/>
          </p:cNvSpPr>
          <p:nvPr>
            <p:ph idx="1"/>
          </p:nvPr>
        </p:nvSpPr>
        <p:spPr>
          <a:xfrm>
            <a:off x="711200" y="1093894"/>
            <a:ext cx="10058400" cy="4839546"/>
          </a:xfrm>
        </p:spPr>
        <p:txBody>
          <a:bodyPr>
            <a:normAutofit fontScale="92500" lnSpcReduction="10000"/>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Aliasing </a:t>
            </a:r>
          </a:p>
          <a:p>
            <a:r>
              <a:rPr lang="en-IN" dirty="0">
                <a:latin typeface="Times New Roman" panose="02020603050405020304" pitchFamily="18" charset="0"/>
                <a:cs typeface="Times New Roman" panose="02020603050405020304" pitchFamily="18" charset="0"/>
              </a:rPr>
              <a:t>Mechanism: Occurs when Doppler shift exceeds Nyquist limit (PRF/2)</a:t>
            </a:r>
          </a:p>
          <a:p>
            <a:r>
              <a:rPr lang="en-IN" b="1" dirty="0">
                <a:latin typeface="Times New Roman" panose="02020603050405020304" pitchFamily="18" charset="0"/>
                <a:cs typeface="Times New Roman" panose="02020603050405020304" pitchFamily="18" charset="0"/>
              </a:rPr>
              <a:t>Appearance</a:t>
            </a:r>
          </a:p>
          <a:p>
            <a:r>
              <a:rPr lang="en-IN" dirty="0">
                <a:latin typeface="Times New Roman" panose="02020603050405020304" pitchFamily="18" charset="0"/>
                <a:cs typeface="Times New Roman" panose="02020603050405020304" pitchFamily="18" charset="0"/>
              </a:rPr>
              <a:t>Spectral: waveform “wraps around” baseline</a:t>
            </a:r>
          </a:p>
          <a:p>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mosaic pattern (red-blue mix)</a:t>
            </a:r>
          </a:p>
          <a:p>
            <a:r>
              <a:rPr lang="en-IN" dirty="0">
                <a:latin typeface="Times New Roman" panose="02020603050405020304" pitchFamily="18" charset="0"/>
                <a:cs typeface="Times New Roman" panose="02020603050405020304" pitchFamily="18" charset="0"/>
              </a:rPr>
              <a:t>Seen in : High velocity flow (stenosis) and Low PRF settings</a:t>
            </a:r>
          </a:p>
          <a:p>
            <a:r>
              <a:rPr lang="en-IN" dirty="0">
                <a:latin typeface="Times New Roman" panose="02020603050405020304" pitchFamily="18" charset="0"/>
                <a:cs typeface="Times New Roman" panose="02020603050405020304" pitchFamily="18" charset="0"/>
              </a:rPr>
              <a:t>Correction: ↑ PRF (scale), ↓ transducer frequency and by Shift baseline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Spectral Broadening</a:t>
            </a:r>
          </a:p>
          <a:p>
            <a:r>
              <a:rPr lang="en-IN" dirty="0">
                <a:latin typeface="Times New Roman" panose="02020603050405020304" pitchFamily="18" charset="0"/>
                <a:cs typeface="Times New Roman" panose="02020603050405020304" pitchFamily="18" charset="0"/>
              </a:rPr>
              <a:t>Mechanism: Range of velocities within sample volume and Large gate or turbulent flow.</a:t>
            </a:r>
          </a:p>
          <a:p>
            <a:r>
              <a:rPr lang="en-IN" b="1" dirty="0">
                <a:latin typeface="Times New Roman" panose="02020603050405020304" pitchFamily="18" charset="0"/>
                <a:cs typeface="Times New Roman" panose="02020603050405020304" pitchFamily="18" charset="0"/>
              </a:rPr>
              <a:t>Appearance</a:t>
            </a:r>
          </a:p>
          <a:p>
            <a:r>
              <a:rPr lang="en-IN" dirty="0">
                <a:latin typeface="Times New Roman" panose="02020603050405020304" pitchFamily="18" charset="0"/>
                <a:cs typeface="Times New Roman" panose="02020603050405020304" pitchFamily="18" charset="0"/>
              </a:rPr>
              <a:t>Filling of spectral window (loss of clear black window)</a:t>
            </a:r>
          </a:p>
          <a:p>
            <a:r>
              <a:rPr lang="en-IN" b="1" dirty="0">
                <a:latin typeface="Times New Roman" panose="02020603050405020304" pitchFamily="18" charset="0"/>
                <a:cs typeface="Times New Roman" panose="02020603050405020304" pitchFamily="18" charset="0"/>
              </a:rPr>
              <a:t>Causes : </a:t>
            </a:r>
            <a:r>
              <a:rPr lang="en-IN" dirty="0">
                <a:latin typeface="Times New Roman" panose="02020603050405020304" pitchFamily="18" charset="0"/>
                <a:cs typeface="Times New Roman" panose="02020603050405020304" pitchFamily="18" charset="0"/>
              </a:rPr>
              <a:t>True turbulence (stenosis)  and Instrumental (large sample volume, high gain)</a:t>
            </a:r>
          </a:p>
        </p:txBody>
      </p:sp>
    </p:spTree>
    <p:extLst>
      <p:ext uri="{BB962C8B-B14F-4D97-AF65-F5344CB8AC3E}">
        <p14:creationId xmlns:p14="http://schemas.microsoft.com/office/powerpoint/2010/main" val="140207087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5A0CE3-3388-0F54-FCFD-F0128E6C1EFA}"/>
              </a:ext>
            </a:extLst>
          </p:cNvPr>
          <p:cNvSpPr>
            <a:spLocks noGrp="1"/>
          </p:cNvSpPr>
          <p:nvPr>
            <p:ph idx="4294967295"/>
          </p:nvPr>
        </p:nvSpPr>
        <p:spPr>
          <a:xfrm>
            <a:off x="497840" y="240983"/>
            <a:ext cx="11369040" cy="5946457"/>
          </a:xfrm>
        </p:spPr>
        <p:txBody>
          <a:bodyPr>
            <a:normAutofit/>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Mirror Image Artifact</a:t>
            </a:r>
          </a:p>
          <a:p>
            <a:r>
              <a:rPr lang="en-IN" dirty="0">
                <a:latin typeface="Times New Roman" panose="02020603050405020304" pitchFamily="18" charset="0"/>
                <a:cs typeface="Times New Roman" panose="02020603050405020304" pitchFamily="18" charset="0"/>
              </a:rPr>
              <a:t>Mechanism: Reflection from strong specular reflector (e.g., diaphragm)</a:t>
            </a:r>
          </a:p>
          <a:p>
            <a:r>
              <a:rPr lang="en-IN" dirty="0">
                <a:latin typeface="Times New Roman" panose="02020603050405020304" pitchFamily="18" charset="0"/>
                <a:cs typeface="Times New Roman" panose="02020603050405020304" pitchFamily="18" charset="0"/>
              </a:rPr>
              <a:t>Appearance: </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Duplicate vessel on opposite side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Doppler waveform duplicated</a:t>
            </a:r>
          </a:p>
          <a:p>
            <a:r>
              <a:rPr lang="en-IN" dirty="0">
                <a:latin typeface="Times New Roman" panose="02020603050405020304" pitchFamily="18" charset="0"/>
                <a:cs typeface="Times New Roman" panose="02020603050405020304" pitchFamily="18" charset="0"/>
              </a:rPr>
              <a:t>Common site: Liver–diaphragm interface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Twinkling Artifact</a:t>
            </a:r>
          </a:p>
          <a:p>
            <a:r>
              <a:rPr lang="en-IN" dirty="0">
                <a:latin typeface="Times New Roman" panose="02020603050405020304" pitchFamily="18" charset="0"/>
                <a:cs typeface="Times New Roman" panose="02020603050405020304" pitchFamily="18" charset="0"/>
              </a:rPr>
              <a:t>Mechanism: Rapid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alternation due to rough reflective surface</a:t>
            </a:r>
          </a:p>
          <a:p>
            <a:r>
              <a:rPr lang="en-IN" dirty="0">
                <a:latin typeface="Times New Roman" panose="02020603050405020304" pitchFamily="18" charset="0"/>
                <a:cs typeface="Times New Roman" panose="02020603050405020304" pitchFamily="18" charset="0"/>
              </a:rPr>
              <a:t>Appearance: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“twinkling” behind structure</a:t>
            </a:r>
          </a:p>
          <a:p>
            <a:r>
              <a:rPr lang="en-IN" dirty="0">
                <a:latin typeface="Times New Roman" panose="02020603050405020304" pitchFamily="18" charset="0"/>
                <a:cs typeface="Times New Roman" panose="02020603050405020304" pitchFamily="18" charset="0"/>
              </a:rPr>
              <a:t>It is seen in: Renal stones and calcifications (Often more sensitive than acoustic shadowing)</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Blooming Artifact</a:t>
            </a:r>
          </a:p>
          <a:p>
            <a:r>
              <a:rPr lang="en-IN" dirty="0">
                <a:latin typeface="Times New Roman" panose="02020603050405020304" pitchFamily="18" charset="0"/>
                <a:cs typeface="Times New Roman" panose="02020603050405020304" pitchFamily="18" charset="0"/>
              </a:rPr>
              <a:t>Mechanism: it occurs due to excessive doppler gain</a:t>
            </a:r>
          </a:p>
          <a:p>
            <a:r>
              <a:rPr lang="en-IN" dirty="0">
                <a:latin typeface="Times New Roman" panose="02020603050405020304" pitchFamily="18" charset="0"/>
                <a:cs typeface="Times New Roman" panose="02020603050405020304" pitchFamily="18" charset="0"/>
              </a:rPr>
              <a:t>Appearance: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is seen outside vessel margins, it can be fixed by reducing the gain.</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437915"/>
      </p:ext>
    </p:extLst>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25156-63A4-6C88-9147-4E9D870FAB28}"/>
              </a:ext>
            </a:extLst>
          </p:cNvPr>
          <p:cNvSpPr>
            <a:spLocks noGrp="1"/>
          </p:cNvSpPr>
          <p:nvPr>
            <p:ph idx="4294967295"/>
          </p:nvPr>
        </p:nvSpPr>
        <p:spPr>
          <a:xfrm>
            <a:off x="497840" y="220663"/>
            <a:ext cx="10820400" cy="5763577"/>
          </a:xfrm>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Range Ambiguity (PW Doppler)</a:t>
            </a:r>
          </a:p>
          <a:p>
            <a:pPr marL="0" indent="0">
              <a:buNone/>
            </a:pPr>
            <a:r>
              <a:rPr lang="en-IN" dirty="0">
                <a:latin typeface="Times New Roman" panose="02020603050405020304" pitchFamily="18" charset="0"/>
                <a:cs typeface="Times New Roman" panose="02020603050405020304" pitchFamily="18" charset="0"/>
              </a:rPr>
              <a:t>Mechanism: Echoes from deeper structures assigned incorrectly, it is seen in high PRF settings.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Flash Artifact (Motion Artifact)</a:t>
            </a:r>
          </a:p>
          <a:p>
            <a:pPr marL="0" indent="0">
              <a:buNone/>
            </a:pPr>
            <a:r>
              <a:rPr lang="en-IN" dirty="0">
                <a:latin typeface="Times New Roman" panose="02020603050405020304" pitchFamily="18" charset="0"/>
                <a:cs typeface="Times New Roman" panose="02020603050405020304" pitchFamily="18" charset="0"/>
              </a:rPr>
              <a:t>Mechanism: Tissue/probe motion</a:t>
            </a:r>
          </a:p>
          <a:p>
            <a:pPr marL="0" indent="0">
              <a:buNone/>
            </a:pPr>
            <a:r>
              <a:rPr lang="en-IN" dirty="0">
                <a:latin typeface="Times New Roman" panose="02020603050405020304" pitchFamily="18" charset="0"/>
                <a:cs typeface="Times New Roman" panose="02020603050405020304" pitchFamily="18" charset="0"/>
              </a:rPr>
              <a:t>Appearance: Sudden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bursts not related to flow, it is seen in case of </a:t>
            </a:r>
            <a:r>
              <a:rPr lang="en-IN" dirty="0" err="1">
                <a:latin typeface="Times New Roman" panose="02020603050405020304" pitchFamily="18" charset="0"/>
                <a:cs typeface="Times New Roman" panose="02020603050405020304" pitchFamily="18" charset="0"/>
              </a:rPr>
              <a:t>Fetal</a:t>
            </a:r>
            <a:r>
              <a:rPr lang="en-IN" dirty="0">
                <a:latin typeface="Times New Roman" panose="02020603050405020304" pitchFamily="18" charset="0"/>
                <a:cs typeface="Times New Roman" panose="02020603050405020304" pitchFamily="18" charset="0"/>
              </a:rPr>
              <a:t> movement, breathing, probe pressure.</a:t>
            </a:r>
          </a:p>
          <a:p>
            <a:endParaRPr lang="en-IN" dirty="0"/>
          </a:p>
        </p:txBody>
      </p:sp>
    </p:spTree>
    <p:extLst>
      <p:ext uri="{BB962C8B-B14F-4D97-AF65-F5344CB8AC3E}">
        <p14:creationId xmlns:p14="http://schemas.microsoft.com/office/powerpoint/2010/main" val="9268758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6D50-2883-EC1C-0EFC-C6EA4A5D3C0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Ultrasound safety and Bioeffects</a:t>
            </a:r>
          </a:p>
        </p:txBody>
      </p:sp>
      <p:sp>
        <p:nvSpPr>
          <p:cNvPr id="3" name="Content Placeholder 2">
            <a:extLst>
              <a:ext uri="{FF2B5EF4-FFF2-40B4-BE49-F238E27FC236}">
                <a16:creationId xmlns:a16="http://schemas.microsoft.com/office/drawing/2014/main" id="{B73DC977-B903-BBBA-9552-E2C58591489B}"/>
              </a:ext>
            </a:extLst>
          </p:cNvPr>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Although ultrasound is generally safe, there are some theoretical risks. To reduce the probability of these risks, a few values that must be monitored and kept within certain limits as follows: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Thermal index: It measures the ability of the ultrasound wave to heat up the local tissue. Its value should be &lt;/= 0.7 (very safe), can be used </a:t>
            </a:r>
            <a:r>
              <a:rPr lang="en-IN" dirty="0" err="1">
                <a:latin typeface="Times New Roman" panose="02020603050405020304" pitchFamily="18" charset="0"/>
                <a:cs typeface="Times New Roman" panose="02020603050405020304" pitchFamily="18" charset="0"/>
              </a:rPr>
              <a:t>upto</a:t>
            </a:r>
            <a:r>
              <a:rPr lang="en-IN" dirty="0">
                <a:latin typeface="Times New Roman" panose="02020603050405020304" pitchFamily="18" charset="0"/>
                <a:cs typeface="Times New Roman" panose="02020603050405020304" pitchFamily="18" charset="0"/>
              </a:rPr>
              <a:t> 1.0 in routine scans and ANC scans.  (2.0 is the upper limit – use ALARA principle)</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Mechanical Index: Measures the maximum amplitude of pressure pulse indicates the risk of cavitation</a:t>
            </a:r>
          </a:p>
          <a:p>
            <a:pPr marL="0" indent="0">
              <a:buNone/>
            </a:pPr>
            <a:r>
              <a:rPr lang="en-IN" dirty="0">
                <a:latin typeface="Times New Roman" panose="02020603050405020304" pitchFamily="18" charset="0"/>
                <a:cs typeface="Times New Roman" panose="02020603050405020304" pitchFamily="18" charset="0"/>
              </a:rPr>
              <a:t>(should not be &gt; 1.0)</a:t>
            </a:r>
          </a:p>
          <a:p>
            <a:r>
              <a:rPr lang="en-IN" dirty="0">
                <a:latin typeface="Times New Roman" panose="02020603050405020304" pitchFamily="18" charset="0"/>
                <a:cs typeface="Times New Roman" panose="02020603050405020304" pitchFamily="18" charset="0"/>
              </a:rPr>
              <a:t>Complications of ultrasound:</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Local heating :This is more with Doppler imaging because of large duration of pulse and high PRF are used Thereby increasing The amount of energy introduced in scanning.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Cavitation: This is the action of acoustic field within a fluid to generate bubbles. The pressure changes causes microbubbles in a liquid to expand increasingly and then collapse. For example: Gas containing structures such as bowel &amp; lungs.</a:t>
            </a:r>
          </a:p>
        </p:txBody>
      </p:sp>
    </p:spTree>
    <p:extLst>
      <p:ext uri="{BB962C8B-B14F-4D97-AF65-F5344CB8AC3E}">
        <p14:creationId xmlns:p14="http://schemas.microsoft.com/office/powerpoint/2010/main" val="23259654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84FD8-6186-445D-3EC7-E683BD7BC73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Thank You!</a:t>
            </a:r>
          </a:p>
        </p:txBody>
      </p:sp>
      <p:sp>
        <p:nvSpPr>
          <p:cNvPr id="3" name="Content Placeholder 2">
            <a:extLst>
              <a:ext uri="{FF2B5EF4-FFF2-40B4-BE49-F238E27FC236}">
                <a16:creationId xmlns:a16="http://schemas.microsoft.com/office/drawing/2014/main" id="{CCCE5953-27F4-EE8C-5E9A-33B285E498EE}"/>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If you don’t understand something, it’s probably physics….not you.</a:t>
            </a:r>
          </a:p>
        </p:txBody>
      </p:sp>
    </p:spTree>
    <p:extLst>
      <p:ext uri="{BB962C8B-B14F-4D97-AF65-F5344CB8AC3E}">
        <p14:creationId xmlns:p14="http://schemas.microsoft.com/office/powerpoint/2010/main" val="363750222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1055</TotalTime>
  <Words>3980</Words>
  <Application>Microsoft Office PowerPoint</Application>
  <PresentationFormat>Widescreen</PresentationFormat>
  <Paragraphs>264</Paragraphs>
  <Slides>43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Calibri Light</vt:lpstr>
      <vt:lpstr>Cambria Math</vt:lpstr>
      <vt:lpstr>Times New Roman</vt:lpstr>
      <vt:lpstr>Wingdings</vt:lpstr>
      <vt:lpstr>Retrospect</vt:lpstr>
      <vt:lpstr>USG Physics </vt:lpstr>
      <vt:lpstr>What is ultrasound?</vt:lpstr>
      <vt:lpstr>Types of ultrasound</vt:lpstr>
      <vt:lpstr>Principle of ultrasound</vt:lpstr>
      <vt:lpstr>Properties of sound</vt:lpstr>
      <vt:lpstr>PowerPoint Presentation</vt:lpstr>
      <vt:lpstr>Acoustic Impedence and Acoustic Impedence Mismatch</vt:lpstr>
      <vt:lpstr>PowerPoint Presentation</vt:lpstr>
      <vt:lpstr>Interactions with Tissues</vt:lpstr>
      <vt:lpstr>Diffuse reflector: It is more frequently encountered and is made up of small interfaces, each being much smaller than the incident sound wavelength, echo is scattered in all directions with only a portion of reflected waves reaching the transducer and forming an image. The characteristic echopattern of solid organs and tissues such as liver is attributable to the diffuse reflection.</vt:lpstr>
      <vt:lpstr>PowerPoint Presentation</vt:lpstr>
      <vt:lpstr>Transducer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Image Quality</vt:lpstr>
      <vt:lpstr>PowerPoint Presentation</vt:lpstr>
      <vt:lpstr>Doppler Physics</vt:lpstr>
      <vt:lpstr>PowerPoint Presentation</vt:lpstr>
      <vt:lpstr>PowerPoint Presentation</vt:lpstr>
      <vt:lpstr>PowerPoint Presentation</vt:lpstr>
      <vt:lpstr>PowerPoint Presentation</vt:lpstr>
      <vt:lpstr>PowerPoint Presentation</vt:lpstr>
      <vt:lpstr>Ultrasound Gel</vt:lpstr>
      <vt:lpstr>Artefacts</vt:lpstr>
      <vt:lpstr>Assumptions in ultrasound imaging</vt:lpstr>
      <vt:lpstr>Classification of ultrasound artefacts</vt:lpstr>
      <vt:lpstr>Attenuation Errors</vt:lpstr>
      <vt:lpstr>PowerPoint Presentation</vt:lpstr>
      <vt:lpstr>Path of sound related artefacts</vt:lpstr>
      <vt:lpstr>PowerPoint Presentation</vt:lpstr>
      <vt:lpstr>PowerPoint Presentation</vt:lpstr>
      <vt:lpstr>PowerPoint Presentation</vt:lpstr>
      <vt:lpstr>PowerPoint Presentation</vt:lpstr>
      <vt:lpstr>Doppler Artefacts</vt:lpstr>
      <vt:lpstr>PowerPoint Presentation</vt:lpstr>
      <vt:lpstr>PowerPoint Presentation</vt:lpstr>
      <vt:lpstr>Ultrasound safety and Bioeffects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Swapnil Sidana</dc:creator>
  <cp:lastModifiedBy>Dr Pawanpreet Singh</cp:lastModifiedBy>
  <cp:revision>39</cp:revision>
  <dcterms:created xsi:type="dcterms:W3CDTF">2026-04-19T09:41:28Z</dcterms:created>
  <dcterms:modified xsi:type="dcterms:W3CDTF">2026-06-15T16:22:21Z</dcterms:modified>
</cp:coreProperties>
</file>