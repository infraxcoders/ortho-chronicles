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03E43-7F9A-6DDF-3821-92A3F46E3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C01E2-FF92-D611-EE48-8F089836F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47645-E502-4659-F937-FE7E4F00B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32C3-51FF-45CE-AA28-4093108A6C2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B5960-BB9E-797D-08B0-D8BF0C155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C74E7-80B3-B7D8-5462-78D72714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93F21-C7F7-4862-B348-9CC0BAFDD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106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A4D4-6D43-508D-681B-B37353CBE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E6B16-E0CB-C445-9B34-62EA656EE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EABB6-F9E1-0BD7-3619-86AFA2063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32C3-51FF-45CE-AA28-4093108A6C2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A5F14-FEF6-8807-BA57-08986829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06065-5ED9-788A-CFF1-59BCA21C9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93F21-C7F7-4862-B348-9CC0BAFDD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92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4FD70-B04A-FE63-1A39-61484AD4A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993BB-0120-03FA-739A-4E1690344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EABC0-01FC-B5CA-DB12-8CD038F8D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32C3-51FF-45CE-AA28-4093108A6C2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A8947-AE98-B6EC-7787-1A19B62F3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CDDFC-F951-44E3-DA72-8CBB6511E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93F21-C7F7-4862-B348-9CC0BAFDD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292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964A7-0A03-4F94-C3CA-37A5C0A7F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09769-F5A8-7A81-F03E-B6FB2DD34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D0E01-F827-DCA8-248D-631D10783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68DA1-E9DA-8D28-D1BA-57410C5E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32C3-51FF-45CE-AA28-4093108A6C2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292469-8534-5A23-1910-E407344BE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B0B57-7EB2-3843-05B0-1ABBEC86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93F21-C7F7-4862-B348-9CC0BAFDD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218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DF80-A6E1-F616-064E-758A5B5E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12242-C5E8-65CA-6E73-B6C974F07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53E1A-D364-C98D-4D8B-993E4EF54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FABEED-541B-790C-3C69-2A1A5938E9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B3343E-CD07-1224-B568-A8470793D4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4B568F-C5AA-A58B-3167-BEB049BFE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32C3-51FF-45CE-AA28-4093108A6C2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B58CAF-F72A-6D71-4D12-36D2D40EE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CA34B-F992-5063-B444-4E8EA2FCF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93F21-C7F7-4862-B348-9CC0BAFDD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945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855A6-C6B5-1652-D6DA-5312A4B4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11B677-DC6E-6843-96C3-474E7B3BC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32C3-51FF-45CE-AA28-4093108A6C2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FC1159-6185-B782-E6FB-8CB9BBA33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2F1491-C81F-9416-442C-ED6C8639B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93F21-C7F7-4862-B348-9CC0BAFDD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697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EC3A65-8F93-FF6A-20F3-A30190AF3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32C3-51FF-45CE-AA28-4093108A6C2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E7D086-D7B8-6B8D-4B58-6BDE796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29DA3-E9A9-BEAA-938D-4AC82536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93F21-C7F7-4862-B348-9CC0BAFDD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088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DF3B3-26D7-D284-C2FB-59B0B6120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68392-68BF-710C-9BD4-613ACDE41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68612F-02DA-6AA5-DE4C-87D1FA041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96F8A-D855-D180-27DD-20034FA46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32C3-51FF-45CE-AA28-4093108A6C2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D686F-042B-2600-33F7-71A425901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7780D-92E3-0A2C-C483-9DFF3D7A7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93F21-C7F7-4862-B348-9CC0BAFDD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587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11819-8A20-E1B4-77F9-1B590D4E4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D9A725-6A9E-BCBF-17F4-EAC93DE84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5566E-CE17-3158-07A8-EEAD1F3E4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C7B52-6921-F84F-F04A-D481823F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32C3-51FF-45CE-AA28-4093108A6C2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FF67E-A769-0AC6-C253-29BE962F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DF85B-B7F6-E90D-1DD0-3A882BF9F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93F21-C7F7-4862-B348-9CC0BAFDD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551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66B99-4683-DF7F-922E-0214C8CAA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A2129-DE6F-4BA5-4F88-01AFD1E00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BDE0A-5AA2-65F3-73C2-1C0463BD9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32C3-51FF-45CE-AA28-4093108A6C2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7A843-220A-0CCF-F432-F2C463E4D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DDA5F-BA43-3EBA-FDC8-997292AD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93F21-C7F7-4862-B348-9CC0BAFDD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216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9D8399-EA99-B25C-CDE5-DF3B361974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308AF2-75CF-FA01-CCD5-94F5B1BAA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AE0F2-1F08-C5A5-E03E-EFB534D67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32C3-51FF-45CE-AA28-4093108A6C2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A200C-CCA8-BD42-CF80-9846193E1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2DE3C-B1E5-6643-C7B4-4E3CF0DD6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93F21-C7F7-4862-B348-9CC0BAFDD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418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9974-2A4C-8CFC-68FE-19CA58E84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7583E-1B9E-481F-3042-3030B3A96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98F8A-BCE8-9819-FC8E-53071C2FC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232C3-51FF-45CE-AA28-4093108A6C2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BDD76-EF9A-0531-F00A-A7A252B92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B8B7-9E57-B7F9-917E-74C70EE1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93F21-C7F7-4862-B348-9CC0BAFDD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17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437FAB-310E-8DB2-FCE7-2A53AC73A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10DEB-77E3-49B0-65A7-97BF33691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78841-6922-0ABF-B9DB-9FF2D7F21F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232C3-51FF-45CE-AA28-4093108A6C25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73E3B-AFA8-705F-48A2-4BA3D20EC4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55D23-387C-776D-70F4-6EDC34241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193F21-C7F7-4862-B348-9CC0BAFDD3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71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DA148-E109-DFAB-F08A-B0FC1044A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/>
              <a:t>Indications for TKR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53FBE-B6C7-6197-0398-3FB0FD1A9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• Severe osteoarthritis of the knee — Kellgren-Lawrence Grade III/IV</a:t>
            </a:r>
          </a:p>
          <a:p>
            <a:r>
              <a:rPr lang="en-US" sz="1800"/>
              <a:t>• Rheumatoid arthritis with joint destruction</a:t>
            </a:r>
          </a:p>
          <a:p>
            <a:r>
              <a:rPr lang="en-US" sz="1800"/>
              <a:t>• Post-traumatic arthritis</a:t>
            </a:r>
          </a:p>
          <a:p>
            <a:r>
              <a:rPr lang="en-US" sz="1800"/>
              <a:t>• Osteonecrosis of femoral condyle</a:t>
            </a:r>
          </a:p>
          <a:p>
            <a:r>
              <a:rPr lang="en-US" sz="1800"/>
              <a:t>• Failed conservative management (&gt;6 months)</a:t>
            </a:r>
          </a:p>
          <a:p>
            <a:r>
              <a:rPr lang="en-US" sz="1800"/>
              <a:t>• Pain at rest, night pain, significant functional limitation</a:t>
            </a:r>
          </a:p>
          <a:p>
            <a:r>
              <a:rPr lang="en-US" sz="1800"/>
              <a:t>• Contraindications: Active infection, poor vascular supply, severe malalignment (relative)</a:t>
            </a: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3400632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87A77-7C51-B6C8-EC52-70E333C05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/>
              <a:t>Pre-operative Planning &amp; Templating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F1190-D2A9-D841-A960-7CCB4BB1B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• Weight-bearing AP, lateral and skyline X-rays (bilateral)</a:t>
            </a:r>
          </a:p>
          <a:p>
            <a:r>
              <a:rPr lang="en-US" sz="1800"/>
              <a:t>• Full-length lower limb alignment X-ray (HKA angle)</a:t>
            </a:r>
          </a:p>
          <a:p>
            <a:r>
              <a:rPr lang="en-US" sz="1800"/>
              <a:t>• Normal HKA: 5–7° valgus</a:t>
            </a:r>
          </a:p>
          <a:p>
            <a:r>
              <a:rPr lang="en-US" sz="1800"/>
              <a:t>• Templating: Femoral and tibial component sizing on X-ray overlay</a:t>
            </a:r>
          </a:p>
          <a:p>
            <a:r>
              <a:rPr lang="en-US" sz="1800"/>
              <a:t>• Assess bone stock, deformity, ligament integrity</a:t>
            </a:r>
          </a:p>
          <a:p>
            <a:r>
              <a:rPr lang="en-US" sz="1800"/>
              <a:t>• Pre-op blood workup, cardiac clearance, dental clearance</a:t>
            </a:r>
          </a:p>
          <a:p>
            <a:r>
              <a:rPr lang="en-US" sz="1800"/>
              <a:t>• Skin condition assessment — avoid surgery over abrasions/cellulitis</a:t>
            </a: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2966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A7604-3B08-1FE2-A806-42E7ADD2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/>
              <a:t>Surgical Approach — Medial Parapatellar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ACB6E-BABF-1B43-A132-AE68FE2CF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• Most widely used approach for primary TKR</a:t>
            </a:r>
          </a:p>
          <a:p>
            <a:r>
              <a:rPr lang="en-US" sz="1800"/>
              <a:t>• Skin incision: Midline anterior, 15–20 cm</a:t>
            </a:r>
          </a:p>
          <a:p>
            <a:r>
              <a:rPr lang="en-US" sz="1800"/>
              <a:t>• Arthrotomy: Medial to patella, dividing quadriceps tendon superiorly</a:t>
            </a:r>
          </a:p>
          <a:p>
            <a:r>
              <a:rPr lang="en-US" sz="1800"/>
              <a:t>• Advantages: Excellent exposure, extensile</a:t>
            </a:r>
          </a:p>
          <a:p>
            <a:r>
              <a:rPr lang="en-US" sz="1800"/>
              <a:t>• Alternatives: Midvastus (muscle-splitting) or Subvastus approaches</a:t>
            </a:r>
          </a:p>
          <a:p>
            <a:r>
              <a:rPr lang="en-US" sz="1800"/>
              <a:t>• Tourniquet at 250–300 mmHg</a:t>
            </a:r>
          </a:p>
          <a:p>
            <a:r>
              <a:rPr lang="en-US" sz="1800"/>
              <a:t>• Eversion of patella to expose the joint</a:t>
            </a: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235863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9D269-6514-ABEF-A7AD-5D0B33237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/>
              <a:t>Bone Cuts — Distal Femur &amp; Proximal Tibia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BEAF0-5FD7-2864-5F2A-9D501AA8E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800"/>
              <a:t>• Distal femoral cut: 5–7° valgus, 3° flexion, resect 9–10 mm</a:t>
            </a:r>
          </a:p>
          <a:p>
            <a:r>
              <a:rPr lang="en-IN" sz="1800"/>
              <a:t>• Femoral sizing (AP dimension) — avoid overstuffing</a:t>
            </a:r>
            <a:endParaRPr lang="en-US" sz="1800"/>
          </a:p>
          <a:p>
            <a:r>
              <a:rPr lang="en-US" sz="1800"/>
              <a:t>• Posterior femoral cuts determine flexion gap</a:t>
            </a:r>
          </a:p>
          <a:p>
            <a:r>
              <a:rPr lang="en-US" sz="1800"/>
              <a:t>• Proximal tibial cut: 90° to mechanical axis, 3–5° posterior slope</a:t>
            </a:r>
          </a:p>
          <a:p>
            <a:r>
              <a:rPr lang="en-US" sz="1800"/>
              <a:t>• Resect 8–10 mm from less worn compartment</a:t>
            </a:r>
          </a:p>
          <a:p>
            <a:r>
              <a:rPr lang="en-US" sz="1800"/>
              <a:t>• Tibial sizing — avoid medial/lateral overhang</a:t>
            </a:r>
          </a:p>
          <a:p>
            <a:r>
              <a:rPr lang="en-US" sz="1800"/>
              <a:t>• Equal flexion and extension gaps = balanced knee</a:t>
            </a: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4279679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96851-11C8-5C1E-A6E4-207BEEAB6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/>
              <a:t>Gap Balancing vs Measured Resection</a:t>
            </a:r>
            <a:endParaRPr lang="en-IN" sz="2800" b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722FE-1623-A559-DEB6-5478B349F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• Measured Resection: Bone cuts made to anatomic landmarks; equal to resected bone</a:t>
            </a:r>
          </a:p>
          <a:p>
            <a:r>
              <a:rPr lang="en-US" sz="1800"/>
              <a:t>• Gap Balancing: Extension gap established first; flexion gap matched to it</a:t>
            </a:r>
          </a:p>
          <a:p>
            <a:r>
              <a:rPr lang="en-US" sz="1800"/>
              <a:t>• Both techniques aim for rectangular equal gaps in flex and extension</a:t>
            </a:r>
          </a:p>
          <a:p>
            <a:r>
              <a:rPr lang="en-US" sz="1800"/>
              <a:t>• Soft tissue releases guided by deformity pattern</a:t>
            </a:r>
          </a:p>
          <a:p>
            <a:r>
              <a:rPr lang="en-US" sz="1800"/>
              <a:t>• Varus knee: MCL pie-crusting, posteromedial capsule release</a:t>
            </a:r>
          </a:p>
          <a:p>
            <a:r>
              <a:rPr lang="en-US" sz="1800"/>
              <a:t>• Valgus knee: Lateral release, LCL, popliteus</a:t>
            </a:r>
          </a:p>
          <a:p>
            <a:r>
              <a:rPr lang="en-US" sz="1800"/>
              <a:t>• Goal: Full extension, 120°+ flexion with stable balanced gaps</a:t>
            </a: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1612858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67C8D-5612-117D-11C7-C9D8FD22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/>
              <a:t>Implant Types &amp; Selection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64281-D29F-3F5E-7BFA-9A53F643E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• CR (Cruciate-Retaining): PCL intact; natural feel, more complex balancing</a:t>
            </a:r>
          </a:p>
          <a:p>
            <a:r>
              <a:rPr lang="en-US" sz="1800"/>
              <a:t>• PS (Posterior-Stabilized): PCL sacrificed; cam-post mechanism; easier balancing</a:t>
            </a:r>
          </a:p>
          <a:p>
            <a:r>
              <a:rPr lang="en-US" sz="1800"/>
              <a:t>• CS (Constrained): Fixed hinge for severe instability — revision cases</a:t>
            </a:r>
          </a:p>
          <a:p>
            <a:r>
              <a:rPr lang="en-US" sz="1800"/>
              <a:t>• Unicompartmental: Medial or lateral compartment only — strict indications</a:t>
            </a:r>
          </a:p>
          <a:p>
            <a:r>
              <a:rPr lang="en-US" sz="1800"/>
              <a:t>• Cemented vs Cementless: Cemented gold standard in elderly; cementless in young active</a:t>
            </a:r>
          </a:p>
          <a:p>
            <a:r>
              <a:rPr lang="en-US" sz="1800"/>
              <a:t>• Mobile bearing vs Fixed bearing: Similar long-term outcomes</a:t>
            </a:r>
          </a:p>
          <a:p>
            <a:r>
              <a:rPr lang="en-US" sz="1800"/>
              <a:t>• All-poly tibia vs Metal-backed tibia — cost vs longevity</a:t>
            </a: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1122328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0DA53-1C7F-CA95-7600-51913D3C9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/>
              <a:t>Complications &amp;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CA82A-FF43-6F2C-BC62-0ED9B5135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• Infection: Most feared — 1–2%; requires 2-stage revision</a:t>
            </a:r>
          </a:p>
          <a:p>
            <a:r>
              <a:rPr lang="en-US" sz="1800"/>
              <a:t>• DVT/PE: Prophylaxis with LMWH/aspirin, TED stockings, early mobilisation</a:t>
            </a:r>
          </a:p>
          <a:p>
            <a:r>
              <a:rPr lang="en-US" sz="1800"/>
              <a:t>• Stiffness: MUA if ROM &lt;90° at 3 months</a:t>
            </a:r>
          </a:p>
          <a:p>
            <a:r>
              <a:rPr lang="en-US" sz="1800"/>
              <a:t>• Periprosthetic fracture, aseptic loosening (5% at 10 years)</a:t>
            </a:r>
          </a:p>
          <a:p>
            <a:r>
              <a:rPr lang="en-US" sz="1800"/>
              <a:t>• Component malalignment, bearing wear</a:t>
            </a:r>
          </a:p>
          <a:p>
            <a:r>
              <a:rPr lang="en-US" sz="1800"/>
              <a:t>• Outcomes: 90%+ satisfied; survivorship &gt;95% at 15 years</a:t>
            </a:r>
          </a:p>
          <a:p>
            <a:r>
              <a:rPr lang="en-US" sz="1800"/>
              <a:t>• Average flexion 110–120°; WOMAC and KSS scores improve significantly</a:t>
            </a: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1702688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47189-A4E0-7096-0BB5-06FF6FC3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32858-29D2-FCE5-8F57-764F4E458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• TKR is the gold standard for end-stage knee OA</a:t>
            </a:r>
          </a:p>
          <a:p>
            <a:r>
              <a:rPr lang="en-US" sz="1800"/>
              <a:t>• Success depends on: correct indication, meticulous technique, balanced gaps</a:t>
            </a:r>
          </a:p>
          <a:p>
            <a:r>
              <a:rPr lang="en-US" sz="1800"/>
              <a:t>• Implant selection tailored to patient age, activity, bone stock</a:t>
            </a:r>
          </a:p>
          <a:p>
            <a:r>
              <a:rPr lang="en-US" sz="1800"/>
              <a:t>• CR vs PS choice based on PCL status and surgeon preference</a:t>
            </a:r>
          </a:p>
          <a:p>
            <a:r>
              <a:rPr lang="en-US" sz="1800"/>
              <a:t>• Rigorous post-op rehab essential for optimal outcome</a:t>
            </a:r>
          </a:p>
          <a:p>
            <a:r>
              <a:rPr lang="en-US" sz="1800"/>
              <a:t>• Expected survivorship &gt;95% at 15 years with modern implants</a:t>
            </a:r>
          </a:p>
          <a:p>
            <a:r>
              <a:rPr lang="en-US" sz="1800"/>
              <a:t>• Reference: Insall &amp; Scott Surgery of the Knee, 5th Ed.</a:t>
            </a:r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220901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Indications for TKR</vt:lpstr>
      <vt:lpstr>Pre-operative Planning &amp; Templating</vt:lpstr>
      <vt:lpstr>Surgical Approach — Medial Parapatellar</vt:lpstr>
      <vt:lpstr>Bone Cuts — Distal Femur &amp; Proximal Tibia</vt:lpstr>
      <vt:lpstr>Gap Balancing vs Measured Resection</vt:lpstr>
      <vt:lpstr>Implant Types &amp; Selection</vt:lpstr>
      <vt:lpstr>Complications &amp; Outcomes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Pawanpreet Singh</dc:creator>
  <cp:lastModifiedBy>Dr Pawanpreet Singh</cp:lastModifiedBy>
  <cp:revision>1</cp:revision>
  <dcterms:created xsi:type="dcterms:W3CDTF">2026-06-08T08:11:36Z</dcterms:created>
  <dcterms:modified xsi:type="dcterms:W3CDTF">2026-06-08T08:11:36Z</dcterms:modified>
</cp:coreProperties>
</file>