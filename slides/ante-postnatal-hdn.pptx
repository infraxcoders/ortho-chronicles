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513" y="5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496c5ece77f112a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496c5ece77f112a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496c5ece77f112a5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496c5ece77f112a5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5a64187d14b99439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5a64187d14b99439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5a64187d14b99439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5a64187d14b99439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496c5ece77f112a5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496c5ece77f112a5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5e60461858d7119e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5e60461858d7119e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5a64187d14b99439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5a64187d14b99439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5a64187d14b99439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5a64187d14b99439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496c5ece77f112a5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496c5ece77f112a5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496c5ece77f112a5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496c5ece77f112a5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5a64187d14b99439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5a64187d14b99439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5a64187d14b99439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5a64187d14b99439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5e60461858d7119e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5e60461858d7119e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5a64187d14b99439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5a64187d14b99439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496c5ece77f112a5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496c5ece77f112a5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496c5ece77f112a5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496c5ece77f112a5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5e60461858d7119e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5e60461858d7119e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496c5ece77f112a5_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496c5ece77f112a5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5e60461858d7119e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5e60461858d7119e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5e60461858d7119e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5e60461858d7119e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496c5ece77f112a5_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496c5ece77f112a5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5e60461858d7119e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5e60461858d7119e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5e60461858d7119e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5e60461858d7119e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496c5ece77f112a5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496c5ece77f112a5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5a64187d14b99439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5a64187d14b99439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496c5ece77f112a5_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496c5ece77f112a5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496c5ece77f112a5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496c5ece77f112a5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5df32cda7dccd82e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5df32cda7dccd82e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5a64187d14b99439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5a64187d14b99439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5a64187d14b99439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5a64187d14b99439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3.xml"/><Relationship Id="rId1" Type="http://schemas.openxmlformats.org/officeDocument/2006/relationships/slideLayout" Target="../slideLayouts/slideLayout11.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11.xml"/><Relationship Id="rId5" Type="http://schemas.openxmlformats.org/officeDocument/2006/relationships/image" Target="../media/image14.jpg"/><Relationship Id="rId4" Type="http://schemas.openxmlformats.org/officeDocument/2006/relationships/image" Target="../media/image1.jpg"/></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17.jpg"/></Relationships>
</file>

<file path=ppt/slides/_rels/slide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2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23.jp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pa"/>
              <a:t>USG IMAGING &amp; CLASSIFICATION</a:t>
            </a:r>
            <a:endParaRPr/>
          </a:p>
        </p:txBody>
      </p:sp>
      <p:sp>
        <p:nvSpPr>
          <p:cNvPr id="55" name="Google Shape;55;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pa"/>
              <a:t>ANTENATAL &amp; POSTNATAL HYDRONEPHROSIS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NOMENCLATURE</a:t>
            </a:r>
            <a:endParaRPr/>
          </a:p>
        </p:txBody>
      </p:sp>
      <p:sp>
        <p:nvSpPr>
          <p:cNvPr id="61" name="Google Shape;61;p1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PYELECTASIS</a:t>
            </a:r>
            <a:endParaRPr/>
          </a:p>
          <a:p>
            <a:pPr marL="457200" lvl="0" indent="-342900" algn="l" rtl="0">
              <a:spcBef>
                <a:spcPts val="0"/>
              </a:spcBef>
              <a:spcAft>
                <a:spcPts val="0"/>
              </a:spcAft>
              <a:buSzPts val="1800"/>
              <a:buChar char="●"/>
            </a:pPr>
            <a:r>
              <a:rPr lang="pa"/>
              <a:t>PELVIECTASIS</a:t>
            </a:r>
            <a:endParaRPr/>
          </a:p>
          <a:p>
            <a:pPr marL="457200" lvl="0" indent="-342900" algn="l" rtl="0">
              <a:spcBef>
                <a:spcPts val="0"/>
              </a:spcBef>
              <a:spcAft>
                <a:spcPts val="0"/>
              </a:spcAft>
              <a:buSzPts val="1800"/>
              <a:buChar char="●"/>
            </a:pPr>
            <a:r>
              <a:rPr lang="pa"/>
              <a:t>PROMINENT PELVICALYCEAL SYSTEM</a:t>
            </a:r>
            <a:endParaRPr/>
          </a:p>
          <a:p>
            <a:pPr marL="457200" lvl="0" indent="-342900" algn="l" rtl="0">
              <a:spcBef>
                <a:spcPts val="0"/>
              </a:spcBef>
              <a:spcAft>
                <a:spcPts val="0"/>
              </a:spcAft>
              <a:buSzPts val="1800"/>
              <a:buChar char="●"/>
            </a:pPr>
            <a:r>
              <a:rPr lang="pa"/>
              <a:t>HYDRONEPHROSIS (Mild/moderate/severe/gross)</a:t>
            </a:r>
            <a:endParaRPr/>
          </a:p>
          <a:p>
            <a:pPr marL="457200" lvl="0" indent="-342900" algn="l" rtl="0">
              <a:spcBef>
                <a:spcPts val="0"/>
              </a:spcBef>
              <a:spcAft>
                <a:spcPts val="0"/>
              </a:spcAft>
              <a:buSzPts val="1800"/>
              <a:buChar char="●"/>
            </a:pPr>
            <a:r>
              <a:rPr lang="pa"/>
              <a:t>URONEPHROSIS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072750" y="152400"/>
            <a:ext cx="6564275" cy="3933825"/>
          </a:xfrm>
          <a:prstGeom prst="rect">
            <a:avLst/>
          </a:prstGeom>
          <a:noFill/>
          <a:ln>
            <a:noFill/>
          </a:ln>
        </p:spPr>
      </p:pic>
      <p:sp>
        <p:nvSpPr>
          <p:cNvPr id="67" name="Google Shape;67;p15"/>
          <p:cNvSpPr txBox="1"/>
          <p:nvPr/>
        </p:nvSpPr>
        <p:spPr>
          <a:xfrm>
            <a:off x="0" y="4086219"/>
            <a:ext cx="9144000" cy="74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a" sz="1800">
                <a:solidFill>
                  <a:schemeClr val="dk2"/>
                </a:solidFill>
              </a:rPr>
              <a:t>Image Credits: DIAGNOSTIC ULTRASOUND 6TH E</a:t>
            </a:r>
            <a:endParaRPr sz="1800">
              <a:solidFill>
                <a:schemeClr val="dk2"/>
              </a:solidFill>
            </a:endParaRPr>
          </a:p>
          <a:p>
            <a:pPr marL="0" lvl="0" indent="0" algn="l" rtl="0">
              <a:spcBef>
                <a:spcPts val="0"/>
              </a:spcBef>
              <a:spcAft>
                <a:spcPts val="0"/>
              </a:spcAft>
              <a:buNone/>
            </a:pPr>
            <a:r>
              <a:rPr lang="pa" sz="1800">
                <a:solidFill>
                  <a:schemeClr val="dk2"/>
                </a:solidFill>
              </a:rPr>
              <a:t>Oblique sagittal view of the right kidney in a 22 week fetus</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pic>
        <p:nvPicPr>
          <p:cNvPr id="72" name="Google Shape;72;p16"/>
          <p:cNvPicPr preferRelativeResize="0"/>
          <p:nvPr/>
        </p:nvPicPr>
        <p:blipFill>
          <a:blip r:embed="rId3">
            <a:alphaModFix/>
          </a:blip>
          <a:stretch>
            <a:fillRect/>
          </a:stretch>
        </p:blipFill>
        <p:spPr>
          <a:xfrm>
            <a:off x="152400" y="170273"/>
            <a:ext cx="8839199" cy="4699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pic>
        <p:nvPicPr>
          <p:cNvPr id="77" name="Google Shape;77;p17"/>
          <p:cNvPicPr preferRelativeResize="0"/>
          <p:nvPr/>
        </p:nvPicPr>
        <p:blipFill>
          <a:blip r:embed="rId3">
            <a:alphaModFix/>
          </a:blip>
          <a:stretch>
            <a:fillRect/>
          </a:stretch>
        </p:blipFill>
        <p:spPr>
          <a:xfrm>
            <a:off x="510424" y="304800"/>
            <a:ext cx="8123175"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a" sz="2100"/>
              <a:t>Sonographic appearance of the normal fetal kidneys in 2nd trimester  </a:t>
            </a:r>
            <a:endParaRPr sz="2100"/>
          </a:p>
        </p:txBody>
      </p:sp>
      <p:sp>
        <p:nvSpPr>
          <p:cNvPr id="83" name="Google Shape;83;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84" name="Google Shape;84;p18"/>
          <p:cNvPicPr preferRelativeResize="0"/>
          <p:nvPr/>
        </p:nvPicPr>
        <p:blipFill>
          <a:blip r:embed="rId3">
            <a:alphaModFix/>
          </a:blip>
          <a:stretch>
            <a:fillRect/>
          </a:stretch>
        </p:blipFill>
        <p:spPr>
          <a:xfrm>
            <a:off x="311700" y="1017725"/>
            <a:ext cx="8630951" cy="38507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9"/>
          <p:cNvSpPr txBox="1">
            <a:spLocks noGrp="1"/>
          </p:cNvSpPr>
          <p:nvPr>
            <p:ph type="title"/>
          </p:nvPr>
        </p:nvSpPr>
        <p:spPr>
          <a:xfrm>
            <a:off x="157721" y="0"/>
            <a:ext cx="8520600" cy="841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Clr>
                <a:schemeClr val="dk1"/>
              </a:buClr>
              <a:buSzPts val="1100"/>
              <a:buFont typeface="Arial"/>
              <a:buNone/>
            </a:pPr>
            <a:r>
              <a:rPr lang="pa" sz="2100"/>
              <a:t>Sonographic appearance of the normal fetal kidneys in 3rd trimester  </a:t>
            </a:r>
            <a:endParaRPr/>
          </a:p>
        </p:txBody>
      </p:sp>
      <p:pic>
        <p:nvPicPr>
          <p:cNvPr id="90" name="Google Shape;90;p19"/>
          <p:cNvPicPr preferRelativeResize="0"/>
          <p:nvPr/>
        </p:nvPicPr>
        <p:blipFill>
          <a:blip r:embed="rId3">
            <a:alphaModFix/>
          </a:blip>
          <a:stretch>
            <a:fillRect/>
          </a:stretch>
        </p:blipFill>
        <p:spPr>
          <a:xfrm>
            <a:off x="152400" y="994200"/>
            <a:ext cx="8839201" cy="370505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pic>
        <p:nvPicPr>
          <p:cNvPr id="95" name="Google Shape;95;p20"/>
          <p:cNvPicPr preferRelativeResize="0"/>
          <p:nvPr/>
        </p:nvPicPr>
        <p:blipFill>
          <a:blip r:embed="rId3">
            <a:alphaModFix/>
          </a:blip>
          <a:stretch>
            <a:fillRect/>
          </a:stretch>
        </p:blipFill>
        <p:spPr>
          <a:xfrm>
            <a:off x="0" y="397225"/>
            <a:ext cx="9143999" cy="5009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21"/>
          <p:cNvPicPr preferRelativeResize="0"/>
          <p:nvPr/>
        </p:nvPicPr>
        <p:blipFill>
          <a:blip r:embed="rId3">
            <a:alphaModFix/>
          </a:blip>
          <a:stretch>
            <a:fillRect/>
          </a:stretch>
        </p:blipFill>
        <p:spPr>
          <a:xfrm>
            <a:off x="2866354" y="152400"/>
            <a:ext cx="3411284"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Measuring the APRPD</a:t>
            </a:r>
            <a:endParaRPr/>
          </a:p>
        </p:txBody>
      </p:sp>
      <p:sp>
        <p:nvSpPr>
          <p:cNvPr id="106" name="Google Shape;106;p2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pa"/>
              <a:t>Ideally the fetal spine should be at 12 o’clock position / 6 o’clock position </a:t>
            </a:r>
            <a:endParaRPr/>
          </a:p>
          <a:p>
            <a:pPr marL="0" lvl="0" indent="0" algn="l" rtl="0">
              <a:spcBef>
                <a:spcPts val="1200"/>
              </a:spcBef>
              <a:spcAft>
                <a:spcPts val="1200"/>
              </a:spcAft>
              <a:buNone/>
            </a:pPr>
            <a:r>
              <a:rPr lang="pa"/>
              <a:t>In postnatal patients the AP RPD should be measured with the patient in prone position.The prone position tends to increase the width of the pelvis compared to the supine position. However in case this is not feasible, it should be documented that the measurement has been done in supine position. Subsequent measurements in serial USGs should be taken in the same patient position.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Calyceal dilatation</a:t>
            </a:r>
            <a:endParaRPr/>
          </a:p>
        </p:txBody>
      </p:sp>
      <p:sp>
        <p:nvSpPr>
          <p:cNvPr id="112" name="Google Shape;112;p2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Central vs peripheral calyceal dilatation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Calyceal dilation : Central or peripheral ?</a:t>
            </a:r>
            <a:endParaRPr/>
          </a:p>
        </p:txBody>
      </p:sp>
      <p:pic>
        <p:nvPicPr>
          <p:cNvPr id="118" name="Google Shape;118;p24"/>
          <p:cNvPicPr preferRelativeResize="0"/>
          <p:nvPr/>
        </p:nvPicPr>
        <p:blipFill>
          <a:blip r:embed="rId3">
            <a:alphaModFix/>
          </a:blip>
          <a:stretch>
            <a:fillRect/>
          </a:stretch>
        </p:blipFill>
        <p:spPr>
          <a:xfrm>
            <a:off x="232050" y="1092401"/>
            <a:ext cx="8679899" cy="3785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3" name="Google Shape;123;p25"/>
          <p:cNvPicPr preferRelativeResize="0"/>
          <p:nvPr/>
        </p:nvPicPr>
        <p:blipFill>
          <a:blip r:embed="rId3">
            <a:alphaModFix/>
          </a:blip>
          <a:stretch>
            <a:fillRect/>
          </a:stretch>
        </p:blipFill>
        <p:spPr>
          <a:xfrm>
            <a:off x="0" y="0"/>
            <a:ext cx="3077450" cy="5143501"/>
          </a:xfrm>
          <a:prstGeom prst="rect">
            <a:avLst/>
          </a:prstGeom>
          <a:noFill/>
          <a:ln>
            <a:noFill/>
          </a:ln>
        </p:spPr>
      </p:pic>
      <p:pic>
        <p:nvPicPr>
          <p:cNvPr id="124" name="Google Shape;124;p25"/>
          <p:cNvPicPr preferRelativeResize="0"/>
          <p:nvPr/>
        </p:nvPicPr>
        <p:blipFill>
          <a:blip r:embed="rId4">
            <a:alphaModFix/>
          </a:blip>
          <a:stretch>
            <a:fillRect/>
          </a:stretch>
        </p:blipFill>
        <p:spPr>
          <a:xfrm>
            <a:off x="3497437" y="0"/>
            <a:ext cx="2149150" cy="2419350"/>
          </a:xfrm>
          <a:prstGeom prst="rect">
            <a:avLst/>
          </a:prstGeom>
          <a:noFill/>
          <a:ln>
            <a:noFill/>
          </a:ln>
        </p:spPr>
      </p:pic>
      <p:pic>
        <p:nvPicPr>
          <p:cNvPr id="125" name="Google Shape;125;p25"/>
          <p:cNvPicPr preferRelativeResize="0"/>
          <p:nvPr/>
        </p:nvPicPr>
        <p:blipFill>
          <a:blip r:embed="rId5">
            <a:alphaModFix/>
          </a:blip>
          <a:stretch>
            <a:fillRect/>
          </a:stretch>
        </p:blipFill>
        <p:spPr>
          <a:xfrm>
            <a:off x="3497436" y="2571750"/>
            <a:ext cx="2149150" cy="2419349"/>
          </a:xfrm>
          <a:prstGeom prst="rect">
            <a:avLst/>
          </a:prstGeom>
          <a:noFill/>
          <a:ln>
            <a:noFill/>
          </a:ln>
        </p:spPr>
      </p:pic>
      <p:pic>
        <p:nvPicPr>
          <p:cNvPr id="126" name="Google Shape;126;p25"/>
          <p:cNvPicPr preferRelativeResize="0"/>
          <p:nvPr/>
        </p:nvPicPr>
        <p:blipFill>
          <a:blip r:embed="rId6">
            <a:alphaModFix/>
          </a:blip>
          <a:stretch>
            <a:fillRect/>
          </a:stretch>
        </p:blipFill>
        <p:spPr>
          <a:xfrm>
            <a:off x="6066550" y="0"/>
            <a:ext cx="3077450"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pic>
        <p:nvPicPr>
          <p:cNvPr id="131" name="Google Shape;131;p26"/>
          <p:cNvPicPr preferRelativeResize="0"/>
          <p:nvPr/>
        </p:nvPicPr>
        <p:blipFill>
          <a:blip r:embed="rId3">
            <a:alphaModFix/>
          </a:blip>
          <a:stretch>
            <a:fillRect/>
          </a:stretch>
        </p:blipFill>
        <p:spPr>
          <a:xfrm>
            <a:off x="3360438" y="175259"/>
            <a:ext cx="2615175" cy="3207850"/>
          </a:xfrm>
          <a:prstGeom prst="rect">
            <a:avLst/>
          </a:prstGeom>
          <a:noFill/>
          <a:ln>
            <a:noFill/>
          </a:ln>
        </p:spPr>
      </p:pic>
      <p:pic>
        <p:nvPicPr>
          <p:cNvPr id="132" name="Google Shape;132;p26"/>
          <p:cNvPicPr preferRelativeResize="0"/>
          <p:nvPr/>
        </p:nvPicPr>
        <p:blipFill>
          <a:blip r:embed="rId4">
            <a:alphaModFix/>
          </a:blip>
          <a:stretch>
            <a:fillRect/>
          </a:stretch>
        </p:blipFill>
        <p:spPr>
          <a:xfrm>
            <a:off x="6360900" y="251450"/>
            <a:ext cx="2733325" cy="2898650"/>
          </a:xfrm>
          <a:prstGeom prst="rect">
            <a:avLst/>
          </a:prstGeom>
          <a:noFill/>
          <a:ln>
            <a:noFill/>
          </a:ln>
        </p:spPr>
      </p:pic>
      <p:pic>
        <p:nvPicPr>
          <p:cNvPr id="133" name="Google Shape;133;p26"/>
          <p:cNvPicPr preferRelativeResize="0"/>
          <p:nvPr/>
        </p:nvPicPr>
        <p:blipFill>
          <a:blip r:embed="rId5">
            <a:alphaModFix/>
          </a:blip>
          <a:stretch>
            <a:fillRect/>
          </a:stretch>
        </p:blipFill>
        <p:spPr>
          <a:xfrm>
            <a:off x="97550" y="251450"/>
            <a:ext cx="3108368" cy="3207850"/>
          </a:xfrm>
          <a:prstGeom prst="rect">
            <a:avLst/>
          </a:prstGeom>
          <a:noFill/>
          <a:ln>
            <a:noFill/>
          </a:ln>
        </p:spPr>
      </p:pic>
      <p:sp>
        <p:nvSpPr>
          <p:cNvPr id="134" name="Google Shape;134;p26"/>
          <p:cNvSpPr txBox="1"/>
          <p:nvPr/>
        </p:nvSpPr>
        <p:spPr>
          <a:xfrm>
            <a:off x="6821423" y="2686300"/>
            <a:ext cx="539400" cy="46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a" sz="1800">
                <a:solidFill>
                  <a:schemeClr val="dk2"/>
                </a:solidFill>
              </a:rPr>
              <a:t>C</a:t>
            </a:r>
            <a:endParaRPr sz="1800">
              <a:solidFill>
                <a:schemeClr val="dk2"/>
              </a:solidFill>
            </a:endParaRPr>
          </a:p>
        </p:txBody>
      </p:sp>
      <p:sp>
        <p:nvSpPr>
          <p:cNvPr id="135" name="Google Shape;135;p26"/>
          <p:cNvSpPr txBox="1"/>
          <p:nvPr/>
        </p:nvSpPr>
        <p:spPr>
          <a:xfrm>
            <a:off x="97550" y="3355860"/>
            <a:ext cx="7242000" cy="102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a" sz="1800">
                <a:solidFill>
                  <a:schemeClr val="dk2"/>
                </a:solidFill>
              </a:rPr>
              <a:t>A: Sagittal view of  normal appearance of fetal kidneys at 18 w POG</a:t>
            </a:r>
            <a:endParaRPr sz="1800">
              <a:solidFill>
                <a:schemeClr val="dk2"/>
              </a:solidFill>
            </a:endParaRPr>
          </a:p>
          <a:p>
            <a:pPr marL="0" lvl="0" indent="0" algn="l" rtl="0">
              <a:spcBef>
                <a:spcPts val="0"/>
              </a:spcBef>
              <a:spcAft>
                <a:spcPts val="0"/>
              </a:spcAft>
              <a:buNone/>
            </a:pPr>
            <a:r>
              <a:rPr lang="pa" sz="1800">
                <a:solidFill>
                  <a:schemeClr val="dk2"/>
                </a:solidFill>
              </a:rPr>
              <a:t>B: Sagittal view showing presence of central calyceal dilation.</a:t>
            </a:r>
            <a:endParaRPr sz="1800">
              <a:solidFill>
                <a:schemeClr val="dk2"/>
              </a:solidFill>
            </a:endParaRPr>
          </a:p>
          <a:p>
            <a:pPr marL="0" lvl="0" indent="0" algn="l" rtl="0">
              <a:spcBef>
                <a:spcPts val="0"/>
              </a:spcBef>
              <a:spcAft>
                <a:spcPts val="0"/>
              </a:spcAft>
              <a:buNone/>
            </a:pPr>
            <a:r>
              <a:rPr lang="pa" sz="1800">
                <a:solidFill>
                  <a:schemeClr val="dk2"/>
                </a:solidFill>
              </a:rPr>
              <a:t>C: Sagittal view showing presence of …….</a:t>
            </a:r>
            <a:endParaRPr sz="1800">
              <a:solidFill>
                <a:schemeClr val="dk2"/>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Summing up Pelvicalyceal dilation</a:t>
            </a:r>
            <a:endParaRPr/>
          </a:p>
        </p:txBody>
      </p:sp>
      <p:pic>
        <p:nvPicPr>
          <p:cNvPr id="141" name="Google Shape;141;p27"/>
          <p:cNvPicPr preferRelativeResize="0"/>
          <p:nvPr/>
        </p:nvPicPr>
        <p:blipFill>
          <a:blip r:embed="rId3">
            <a:alphaModFix/>
          </a:blip>
          <a:stretch>
            <a:fillRect/>
          </a:stretch>
        </p:blipFill>
        <p:spPr>
          <a:xfrm>
            <a:off x="2502949" y="1017725"/>
            <a:ext cx="3381026" cy="3373525"/>
          </a:xfrm>
          <a:prstGeom prst="rect">
            <a:avLst/>
          </a:prstGeom>
          <a:noFill/>
          <a:ln>
            <a:noFill/>
          </a:ln>
        </p:spPr>
      </p:pic>
      <p:sp>
        <p:nvSpPr>
          <p:cNvPr id="142" name="Google Shape;142;p27"/>
          <p:cNvSpPr txBox="1"/>
          <p:nvPr/>
        </p:nvSpPr>
        <p:spPr>
          <a:xfrm>
            <a:off x="0" y="4679694"/>
            <a:ext cx="9144000" cy="46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a" sz="1800">
                <a:solidFill>
                  <a:schemeClr val="dk2"/>
                </a:solidFill>
              </a:rPr>
              <a:t>*Absence of Pelvicalyceal dilation precludes usage of UTD classification system</a:t>
            </a:r>
            <a:endParaRPr sz="1800">
              <a:solidFill>
                <a:schemeClr val="dk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Parenchymal thickness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Parenchymal appearance</a:t>
            </a:r>
            <a:endParaRPr/>
          </a:p>
        </p:txBody>
      </p:sp>
      <p:sp>
        <p:nvSpPr>
          <p:cNvPr id="153" name="Google Shape;153;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Normal vs hyperechoic (w.r.t.?)</a:t>
            </a:r>
            <a:endParaRPr/>
          </a:p>
          <a:p>
            <a:pPr marL="457200" lvl="0" indent="-342900" algn="l" rtl="0">
              <a:spcBef>
                <a:spcPts val="0"/>
              </a:spcBef>
              <a:spcAft>
                <a:spcPts val="0"/>
              </a:spcAft>
              <a:buSzPts val="1800"/>
              <a:buChar char="●"/>
            </a:pPr>
            <a:r>
              <a:rPr lang="pa"/>
              <a:t>Antenatal vs postnatal appearance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Google Shape;158;p30"/>
          <p:cNvPicPr preferRelativeResize="0"/>
          <p:nvPr/>
        </p:nvPicPr>
        <p:blipFill>
          <a:blip r:embed="rId3">
            <a:alphaModFix/>
          </a:blip>
          <a:stretch>
            <a:fillRect/>
          </a:stretch>
        </p:blipFill>
        <p:spPr>
          <a:xfrm rot="4">
            <a:off x="12" y="205769"/>
            <a:ext cx="3586725" cy="4282096"/>
          </a:xfrm>
          <a:prstGeom prst="rect">
            <a:avLst/>
          </a:prstGeom>
          <a:noFill/>
          <a:ln>
            <a:noFill/>
          </a:ln>
        </p:spPr>
      </p:pic>
      <p:pic>
        <p:nvPicPr>
          <p:cNvPr id="159" name="Google Shape;159;p30"/>
          <p:cNvPicPr preferRelativeResize="0"/>
          <p:nvPr/>
        </p:nvPicPr>
        <p:blipFill>
          <a:blip r:embed="rId4">
            <a:alphaModFix/>
          </a:blip>
          <a:stretch>
            <a:fillRect/>
          </a:stretch>
        </p:blipFill>
        <p:spPr>
          <a:xfrm>
            <a:off x="3586725" y="650500"/>
            <a:ext cx="5557275" cy="35867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Ureters</a:t>
            </a:r>
            <a:endParaRPr/>
          </a:p>
        </p:txBody>
      </p:sp>
      <p:sp>
        <p:nvSpPr>
          <p:cNvPr id="165" name="Google Shape;165;p3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Cutoff values for dilated/prominent/normal ureters </a:t>
            </a:r>
            <a:endParaRPr/>
          </a:p>
          <a:p>
            <a:pPr marL="457200" lvl="0" indent="-342900" algn="l" rtl="0">
              <a:spcBef>
                <a:spcPts val="0"/>
              </a:spcBef>
              <a:spcAft>
                <a:spcPts val="0"/>
              </a:spcAft>
              <a:buSzPts val="1800"/>
              <a:buChar char="●"/>
            </a:pPr>
            <a:r>
              <a:rPr lang="pa"/>
              <a:t>Bladder distension</a:t>
            </a:r>
            <a:endParaRPr/>
          </a:p>
        </p:txBody>
      </p:sp>
      <p:pic>
        <p:nvPicPr>
          <p:cNvPr id="166" name="Google Shape;166;p31"/>
          <p:cNvPicPr preferRelativeResize="0"/>
          <p:nvPr/>
        </p:nvPicPr>
        <p:blipFill>
          <a:blip r:embed="rId3">
            <a:alphaModFix/>
          </a:blip>
          <a:stretch>
            <a:fillRect/>
          </a:stretch>
        </p:blipFill>
        <p:spPr>
          <a:xfrm>
            <a:off x="583223" y="2141908"/>
            <a:ext cx="2876550" cy="2847975"/>
          </a:xfrm>
          <a:prstGeom prst="rect">
            <a:avLst/>
          </a:prstGeom>
          <a:noFill/>
          <a:ln>
            <a:noFill/>
          </a:ln>
        </p:spPr>
      </p:pic>
      <p:pic>
        <p:nvPicPr>
          <p:cNvPr id="167" name="Google Shape;167;p31"/>
          <p:cNvPicPr preferRelativeResize="0"/>
          <p:nvPr/>
        </p:nvPicPr>
        <p:blipFill>
          <a:blip r:embed="rId4">
            <a:alphaModFix/>
          </a:blip>
          <a:stretch>
            <a:fillRect/>
          </a:stretch>
        </p:blipFill>
        <p:spPr>
          <a:xfrm>
            <a:off x="5898600" y="2359751"/>
            <a:ext cx="2933700" cy="24122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In Antenatal scans:-</a:t>
            </a:r>
            <a:endParaRPr/>
          </a:p>
        </p:txBody>
      </p:sp>
      <p:sp>
        <p:nvSpPr>
          <p:cNvPr id="173" name="Google Shape;173;p3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Visualisation of ureter(s) is considered abnormal irrespective of the ureteric calibre</a:t>
            </a:r>
            <a:endParaRPr/>
          </a:p>
        </p:txBody>
      </p:sp>
      <p:pic>
        <p:nvPicPr>
          <p:cNvPr id="174" name="Google Shape;174;p32"/>
          <p:cNvPicPr preferRelativeResize="0"/>
          <p:nvPr/>
        </p:nvPicPr>
        <p:blipFill>
          <a:blip r:embed="rId3">
            <a:alphaModFix/>
          </a:blip>
          <a:stretch>
            <a:fillRect/>
          </a:stretch>
        </p:blipFill>
        <p:spPr>
          <a:xfrm>
            <a:off x="2413348" y="1849200"/>
            <a:ext cx="4071125" cy="3294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In postnatal patients:-</a:t>
            </a:r>
            <a:endParaRPr/>
          </a:p>
        </p:txBody>
      </p:sp>
      <p:sp>
        <p:nvSpPr>
          <p:cNvPr id="180" name="Google Shape;180;p3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“Normal ureters are distended by urine, and visualizing this does not mean that the ureter is abnormally dilated”</a:t>
            </a:r>
            <a:endParaRPr/>
          </a:p>
          <a:p>
            <a:pPr marL="457200" lvl="0" indent="-342900" algn="l" rtl="0">
              <a:spcBef>
                <a:spcPts val="0"/>
              </a:spcBef>
              <a:spcAft>
                <a:spcPts val="0"/>
              </a:spcAft>
              <a:buSzPts val="1800"/>
              <a:buChar char="●"/>
            </a:pPr>
            <a:r>
              <a:rPr lang="pa"/>
              <a:t>Ureters should be evaluated in both prevoid as well as postvoid states</a:t>
            </a:r>
            <a:endParaRPr/>
          </a:p>
          <a:p>
            <a:pPr marL="457200" lvl="0" indent="-342900" algn="l" rtl="0">
              <a:spcBef>
                <a:spcPts val="0"/>
              </a:spcBef>
              <a:spcAft>
                <a:spcPts val="0"/>
              </a:spcAft>
              <a:buSzPts val="1800"/>
              <a:buChar char="●"/>
            </a:pPr>
            <a:r>
              <a:rPr lang="pa"/>
              <a:t>Distal ureter calibre &gt;4 mm is considered abnormal</a:t>
            </a:r>
            <a:endParaRPr/>
          </a:p>
          <a:p>
            <a:pPr marL="0" lvl="0" indent="0" algn="l" rtl="0">
              <a:spcBef>
                <a:spcPts val="1200"/>
              </a:spcBef>
              <a:spcAft>
                <a:spcPts val="120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Urinary Bladder</a:t>
            </a:r>
            <a:endParaRPr/>
          </a:p>
        </p:txBody>
      </p:sp>
      <p:sp>
        <p:nvSpPr>
          <p:cNvPr id="186" name="Google Shape;186;p34"/>
          <p:cNvSpPr txBox="1">
            <a:spLocks noGrp="1"/>
          </p:cNvSpPr>
          <p:nvPr>
            <p:ph type="body" idx="1"/>
          </p:nvPr>
        </p:nvSpPr>
        <p:spPr>
          <a:xfrm>
            <a:off x="311700" y="909825"/>
            <a:ext cx="8520600" cy="36591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Normally distended (Cutoff values)</a:t>
            </a:r>
            <a:endParaRPr/>
          </a:p>
          <a:p>
            <a:pPr marL="457200" lvl="0" indent="-342900" algn="l" rtl="0">
              <a:spcBef>
                <a:spcPts val="0"/>
              </a:spcBef>
              <a:spcAft>
                <a:spcPts val="0"/>
              </a:spcAft>
              <a:buSzPts val="1800"/>
              <a:buChar char="●"/>
            </a:pPr>
            <a:r>
              <a:rPr lang="pa"/>
              <a:t>Normal voiding cycle in antenatal UBs</a:t>
            </a:r>
            <a:endParaRPr/>
          </a:p>
          <a:p>
            <a:pPr marL="457200" lvl="0" indent="-342900" algn="l" rtl="0">
              <a:spcBef>
                <a:spcPts val="0"/>
              </a:spcBef>
              <a:spcAft>
                <a:spcPts val="0"/>
              </a:spcAft>
              <a:buSzPts val="1800"/>
              <a:buChar char="●"/>
            </a:pPr>
            <a:r>
              <a:rPr lang="pa"/>
              <a:t>Abnormal (Megacystis/Thickened wall/Ureterocoele)</a:t>
            </a:r>
            <a:endParaRPr/>
          </a:p>
        </p:txBody>
      </p:sp>
      <p:pic>
        <p:nvPicPr>
          <p:cNvPr id="187" name="Google Shape;187;p34"/>
          <p:cNvPicPr preferRelativeResize="0"/>
          <p:nvPr/>
        </p:nvPicPr>
        <p:blipFill>
          <a:blip r:embed="rId3">
            <a:alphaModFix/>
          </a:blip>
          <a:stretch>
            <a:fillRect/>
          </a:stretch>
        </p:blipFill>
        <p:spPr>
          <a:xfrm>
            <a:off x="2519363" y="2112264"/>
            <a:ext cx="4105275" cy="2884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5"/>
          <p:cNvSpPr txBox="1"/>
          <p:nvPr/>
        </p:nvSpPr>
        <p:spPr>
          <a:xfrm>
            <a:off x="192024" y="496519"/>
            <a:ext cx="7242000" cy="18585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Clr>
                <a:schemeClr val="dk2"/>
              </a:buClr>
              <a:buSzPts val="1800"/>
              <a:buChar char="●"/>
            </a:pPr>
            <a:r>
              <a:rPr lang="pa" sz="1800">
                <a:solidFill>
                  <a:schemeClr val="dk2"/>
                </a:solidFill>
              </a:rPr>
              <a:t>In the first trimester, megacystis is defined as a urinary bladder measuring greater than 7 mm in diameter</a:t>
            </a:r>
            <a:endParaRPr sz="1800">
              <a:solidFill>
                <a:schemeClr val="dk2"/>
              </a:solidFill>
            </a:endParaRPr>
          </a:p>
          <a:p>
            <a:pPr marL="457200" lvl="0" indent="-342900" algn="l" rtl="0">
              <a:spcBef>
                <a:spcPts val="0"/>
              </a:spcBef>
              <a:spcAft>
                <a:spcPts val="0"/>
              </a:spcAft>
              <a:buClr>
                <a:schemeClr val="dk2"/>
              </a:buClr>
              <a:buSzPts val="1800"/>
              <a:buChar char="●"/>
            </a:pPr>
            <a:r>
              <a:rPr lang="pa" sz="1800">
                <a:solidFill>
                  <a:schemeClr val="dk2"/>
                </a:solidFill>
              </a:rPr>
              <a:t>Beyond the first trimester sagittal bladder dimension (in millimeters) greater than gestational age (in weeks) plus 12 may be used to define megacystis </a:t>
            </a:r>
            <a:endParaRPr sz="1800">
              <a:solidFill>
                <a:schemeClr val="dk2"/>
              </a:solidFill>
            </a:endParaRPr>
          </a:p>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pic>
        <p:nvPicPr>
          <p:cNvPr id="197" name="Google Shape;197;p36"/>
          <p:cNvPicPr preferRelativeResize="0"/>
          <p:nvPr/>
        </p:nvPicPr>
        <p:blipFill>
          <a:blip r:embed="rId3">
            <a:alphaModFix/>
          </a:blip>
          <a:stretch>
            <a:fillRect/>
          </a:stretch>
        </p:blipFill>
        <p:spPr>
          <a:xfrm>
            <a:off x="585788" y="365602"/>
            <a:ext cx="7972425" cy="4562475"/>
          </a:xfrm>
          <a:prstGeom prst="rect">
            <a:avLst/>
          </a:prstGeom>
          <a:noFill/>
          <a:ln>
            <a:noFill/>
          </a:ln>
        </p:spPr>
      </p:pic>
      <p:pic>
        <p:nvPicPr>
          <p:cNvPr id="198" name="Google Shape;198;p36"/>
          <p:cNvPicPr preferRelativeResize="0"/>
          <p:nvPr/>
        </p:nvPicPr>
        <p:blipFill>
          <a:blip r:embed="rId4">
            <a:alphaModFix/>
          </a:blip>
          <a:stretch>
            <a:fillRect/>
          </a:stretch>
        </p:blipFill>
        <p:spPr>
          <a:xfrm>
            <a:off x="5478100" y="0"/>
            <a:ext cx="2955225"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Unexplained Oligohydramnios</a:t>
            </a:r>
            <a:endParaRPr/>
          </a:p>
        </p:txBody>
      </p:sp>
      <p:sp>
        <p:nvSpPr>
          <p:cNvPr id="204" name="Google Shape;204;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That is oligohydramnios suspected from fetal GU cause</a:t>
            </a:r>
            <a:endParaRPr/>
          </a:p>
          <a:p>
            <a:pPr marL="457200" lvl="0" indent="-342900" algn="l" rtl="0">
              <a:spcBef>
                <a:spcPts val="0"/>
              </a:spcBef>
              <a:spcAft>
                <a:spcPts val="0"/>
              </a:spcAft>
              <a:buSzPts val="1800"/>
              <a:buChar char="●"/>
            </a:pPr>
            <a:r>
              <a:rPr lang="pa"/>
              <a:t>Amniotic fluid production (switches over from placenta to fetal kidneys at around 15-16 weeks POG)</a:t>
            </a:r>
            <a:endParaRPr/>
          </a:p>
          <a:p>
            <a:pPr marL="457200" lvl="0" indent="-342900" algn="l" rtl="0">
              <a:spcBef>
                <a:spcPts val="0"/>
              </a:spcBef>
              <a:spcAft>
                <a:spcPts val="0"/>
              </a:spcAft>
              <a:buSzPts val="1800"/>
              <a:buChar char="●"/>
            </a:pPr>
            <a:r>
              <a:rPr lang="pa"/>
              <a:t>Causes of oligohydramnios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8"/>
          <p:cNvPicPr preferRelativeResize="0"/>
          <p:nvPr/>
        </p:nvPicPr>
        <p:blipFill>
          <a:blip r:embed="rId3">
            <a:alphaModFix/>
          </a:blip>
          <a:stretch>
            <a:fillRect/>
          </a:stretch>
        </p:blipFill>
        <p:spPr>
          <a:xfrm>
            <a:off x="152400" y="471925"/>
            <a:ext cx="8839199" cy="419965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pic>
        <p:nvPicPr>
          <p:cNvPr id="214" name="Google Shape;214;p39"/>
          <p:cNvPicPr preferRelativeResize="0"/>
          <p:nvPr/>
        </p:nvPicPr>
        <p:blipFill>
          <a:blip r:embed="rId3">
            <a:alphaModFix/>
          </a:blip>
          <a:stretch>
            <a:fillRect/>
          </a:stretch>
        </p:blipFill>
        <p:spPr>
          <a:xfrm>
            <a:off x="1838165" y="314337"/>
            <a:ext cx="4705350" cy="45148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pic>
        <p:nvPicPr>
          <p:cNvPr id="219" name="Google Shape;219;p40"/>
          <p:cNvPicPr preferRelativeResize="0"/>
          <p:nvPr/>
        </p:nvPicPr>
        <p:blipFill>
          <a:blip r:embed="rId3">
            <a:alphaModFix/>
          </a:blip>
          <a:stretch>
            <a:fillRect/>
          </a:stretch>
        </p:blipFill>
        <p:spPr>
          <a:xfrm>
            <a:off x="152400" y="568899"/>
            <a:ext cx="8839199" cy="4574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Sample report</a:t>
            </a:r>
            <a:endParaRPr/>
          </a:p>
        </p:txBody>
      </p:sp>
      <p:sp>
        <p:nvSpPr>
          <p:cNvPr id="225" name="Google Shape;225;p4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pa"/>
              <a:t>APRPD in mm</a:t>
            </a:r>
            <a:endParaRPr/>
          </a:p>
          <a:p>
            <a:pPr marL="457200" lvl="0" indent="-342900" algn="l" rtl="0">
              <a:spcBef>
                <a:spcPts val="0"/>
              </a:spcBef>
              <a:spcAft>
                <a:spcPts val="0"/>
              </a:spcAft>
              <a:buSzPts val="1800"/>
              <a:buChar char="●"/>
            </a:pPr>
            <a:r>
              <a:rPr lang="pa"/>
              <a:t>Calyceal dilation (central or peripheral)</a:t>
            </a:r>
            <a:endParaRPr/>
          </a:p>
          <a:p>
            <a:pPr marL="457200" lvl="0" indent="-342900" algn="l" rtl="0">
              <a:spcBef>
                <a:spcPts val="0"/>
              </a:spcBef>
              <a:spcAft>
                <a:spcPts val="0"/>
              </a:spcAft>
              <a:buSzPts val="1800"/>
              <a:buChar char="●"/>
            </a:pPr>
            <a:r>
              <a:rPr lang="pa"/>
              <a:t>Renal parenchymal thickness (normal or abnormal)</a:t>
            </a:r>
            <a:endParaRPr/>
          </a:p>
          <a:p>
            <a:pPr marL="457200" lvl="0" indent="-342900" algn="l" rtl="0">
              <a:spcBef>
                <a:spcPts val="0"/>
              </a:spcBef>
              <a:spcAft>
                <a:spcPts val="0"/>
              </a:spcAft>
              <a:buSzPts val="1800"/>
              <a:buChar char="●"/>
            </a:pPr>
            <a:r>
              <a:rPr lang="pa"/>
              <a:t>Renal parenchymal echogenicity (normal or abnormal)</a:t>
            </a:r>
            <a:endParaRPr/>
          </a:p>
          <a:p>
            <a:pPr marL="457200" lvl="0" indent="-342900" algn="l" rtl="0">
              <a:spcBef>
                <a:spcPts val="0"/>
              </a:spcBef>
              <a:spcAft>
                <a:spcPts val="0"/>
              </a:spcAft>
              <a:buSzPts val="1800"/>
              <a:buChar char="●"/>
            </a:pPr>
            <a:r>
              <a:rPr lang="pa"/>
              <a:t>Ureteral dilation (present or absent) and</a:t>
            </a:r>
            <a:endParaRPr/>
          </a:p>
          <a:p>
            <a:pPr marL="457200" lvl="0" indent="-342900" algn="l" rtl="0">
              <a:spcBef>
                <a:spcPts val="0"/>
              </a:spcBef>
              <a:spcAft>
                <a:spcPts val="0"/>
              </a:spcAft>
              <a:buSzPts val="1800"/>
              <a:buChar char="●"/>
            </a:pPr>
            <a:r>
              <a:rPr lang="pa"/>
              <a:t>Bladder abnormality (present or absent)</a:t>
            </a:r>
            <a:endParaRPr/>
          </a:p>
          <a:p>
            <a:pPr marL="457200" lvl="0" indent="-342900" algn="l" rtl="0">
              <a:spcBef>
                <a:spcPts val="0"/>
              </a:spcBef>
              <a:spcAft>
                <a:spcPts val="0"/>
              </a:spcAft>
              <a:buSzPts val="1800"/>
              <a:buChar char="●"/>
            </a:pPr>
            <a:r>
              <a:rPr lang="pa"/>
              <a:t>Unexplained Oligohydramnios</a:t>
            </a:r>
            <a:endParaRPr/>
          </a:p>
          <a:p>
            <a:pPr marL="457200" lvl="0" indent="-342900" algn="l" rtl="0">
              <a:spcBef>
                <a:spcPts val="0"/>
              </a:spcBef>
              <a:spcAft>
                <a:spcPts val="0"/>
              </a:spcAft>
              <a:buSzPts val="1800"/>
              <a:buChar char="●"/>
            </a:pPr>
            <a:r>
              <a:rPr lang="pa" b="1"/>
              <a:t>IMPRESSION : UTD A/P</a:t>
            </a:r>
            <a:endParaRPr b="1"/>
          </a:p>
          <a:p>
            <a:pPr marL="457200" lvl="0" indent="-342900" algn="l" rtl="0">
              <a:spcBef>
                <a:spcPts val="0"/>
              </a:spcBef>
              <a:spcAft>
                <a:spcPts val="0"/>
              </a:spcAft>
              <a:buSzPts val="1800"/>
              <a:buChar char="●"/>
            </a:pPr>
            <a:r>
              <a:rPr lang="pa"/>
              <a:t>Advised Clinical correlation and (enumerate management strategy)</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4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a"/>
              <a:t>Sources/Further reading</a:t>
            </a:r>
            <a:endParaRPr/>
          </a:p>
        </p:txBody>
      </p:sp>
      <p:sp>
        <p:nvSpPr>
          <p:cNvPr id="231" name="Google Shape;231;p42"/>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lnSpcReduction="20000"/>
          </a:bodyPr>
          <a:lstStyle/>
          <a:p>
            <a:pPr marL="457200" lvl="0" indent="-334327" algn="l" rtl="0">
              <a:spcBef>
                <a:spcPts val="0"/>
              </a:spcBef>
              <a:spcAft>
                <a:spcPts val="0"/>
              </a:spcAft>
              <a:buSzPct val="100000"/>
              <a:buAutoNum type="arabicPeriod"/>
            </a:pPr>
            <a:r>
              <a:rPr lang="pa"/>
              <a:t>Nguyen HT, Benson CB, Bromley B, Campbell JB, Chow J, Coleman B, et al. Multidisciplinary consensus on the classification of prenatal and postnatal urinary tract dilation (UTD classification system). Journal of Pediatric Urology [Internet]. 2014 Nov 17;10(6):982–98</a:t>
            </a:r>
            <a:endParaRPr/>
          </a:p>
          <a:p>
            <a:pPr marL="457200" lvl="0" indent="-334327" algn="l" rtl="0">
              <a:spcBef>
                <a:spcPts val="0"/>
              </a:spcBef>
              <a:spcAft>
                <a:spcPts val="0"/>
              </a:spcAft>
              <a:buSzPct val="100000"/>
              <a:buAutoNum type="arabicPeriod"/>
            </a:pPr>
            <a:r>
              <a:rPr lang="pa"/>
              <a:t>Nguyen HT, Phelps A, Coley B, Darge K, Rhee A, Chow JS. 2021 update on the urinary tract dilation (UTD) classification system: clarifications, review of the literature, and practical suggestions. Pediatric Radiology [Internet]. 2022 Jan 4;52(4):740–51.</a:t>
            </a:r>
            <a:endParaRPr/>
          </a:p>
          <a:p>
            <a:pPr marL="457200" lvl="0" indent="-334327" algn="l" rtl="0">
              <a:spcBef>
                <a:spcPts val="0"/>
              </a:spcBef>
              <a:spcAft>
                <a:spcPts val="0"/>
              </a:spcAft>
              <a:buSzPct val="100000"/>
              <a:buAutoNum type="arabicPeriod"/>
            </a:pPr>
            <a:r>
              <a:rPr lang="pa"/>
              <a:t>Griffith AM, Woodward PJ, Kennedy AM. Troubleshooting tips for diagnosing complex fetal genitourinary malformations. Radiographics [Internet]. 2023 Dec 21;44(1):e230084. </a:t>
            </a:r>
            <a:endParaRPr/>
          </a:p>
          <a:p>
            <a:pPr marL="457200" lvl="0" indent="-334327" algn="l" rtl="0">
              <a:spcBef>
                <a:spcPts val="0"/>
              </a:spcBef>
              <a:spcAft>
                <a:spcPts val="0"/>
              </a:spcAft>
              <a:buSzPct val="100000"/>
              <a:buAutoNum type="arabicPeriod"/>
            </a:pPr>
            <a:r>
              <a:rPr lang="pa"/>
              <a:t>Carol M. Rumack and Deborah Levine: Diagnostic Ultrasound, 2-Volumes, 6th edition. 2024 Jan 11;51(7):1799.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4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pa"/>
              <a:t>THANK YOU !</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626</Words>
  <Application>Microsoft Office PowerPoint</Application>
  <PresentationFormat>On-screen Show (16:9)</PresentationFormat>
  <Paragraphs>63</Paragraphs>
  <Slides>31</Slides>
  <Notes>31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31</vt:i4>
      </vt:variant>
    </vt:vector>
  </HeadingPairs>
  <TitlesOfParts>
    <vt:vector size="33" baseType="lpstr">
      <vt:lpstr>Arial</vt:lpstr>
      <vt:lpstr>Simple Light</vt:lpstr>
      <vt:lpstr>ANTENATAL &amp; POSTNATAL HYDRONEPHROSIS</vt:lpstr>
      <vt:lpstr>NOMENCLATURE</vt:lpstr>
      <vt:lpstr>PowerPoint Presentation</vt:lpstr>
      <vt:lpstr>PowerPoint Presentation</vt:lpstr>
      <vt:lpstr>PowerPoint Presentation</vt:lpstr>
      <vt:lpstr>Sonographic appearance of the normal fetal kidneys in 2nd trimester  </vt:lpstr>
      <vt:lpstr>Sonographic appearance of the normal fetal kidneys in 3rd trimester  </vt:lpstr>
      <vt:lpstr>PowerPoint Presentation</vt:lpstr>
      <vt:lpstr>PowerPoint Presentation</vt:lpstr>
      <vt:lpstr>Measuring the APRPD</vt:lpstr>
      <vt:lpstr>Calyceal dilatation</vt:lpstr>
      <vt:lpstr>Calyceal dilation : Central or peripheral ?</vt:lpstr>
      <vt:lpstr>PowerPoint Presentation</vt:lpstr>
      <vt:lpstr>PowerPoint Presentation</vt:lpstr>
      <vt:lpstr>Summing up Pelvicalyceal dilation</vt:lpstr>
      <vt:lpstr>Parenchymal thickness  </vt:lpstr>
      <vt:lpstr>Parenchymal appearance</vt:lpstr>
      <vt:lpstr>PowerPoint Presentation</vt:lpstr>
      <vt:lpstr>Ureters</vt:lpstr>
      <vt:lpstr>In Antenatal scans:-</vt:lpstr>
      <vt:lpstr>In postnatal patients:-</vt:lpstr>
      <vt:lpstr>Urinary Bladder</vt:lpstr>
      <vt:lpstr>PowerPoint Presentation</vt:lpstr>
      <vt:lpstr>PowerPoint Presentation</vt:lpstr>
      <vt:lpstr>Unexplained Oligohydramnios</vt:lpstr>
      <vt:lpstr>PowerPoint Presentation</vt:lpstr>
      <vt:lpstr>PowerPoint Presentation</vt:lpstr>
      <vt:lpstr>PowerPoint Presentation</vt:lpstr>
      <vt:lpstr>Sample report</vt:lpstr>
      <vt:lpstr>Sources/Further reading</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Dr Pawanpreet Singh</dc:creator>
  <cp:lastModifiedBy>Dr Pawanpreet Singh</cp:lastModifiedBy>
  <cp:revision>1</cp:revision>
  <dcterms:modified xsi:type="dcterms:W3CDTF">2026-06-14T16:06:33Z</dcterms:modified>
</cp:coreProperties>
</file>