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3.jpg" ContentType="image/jpeg"/>
  <Override PartName="/ppt/media/image4.jpg" ContentType="image/jpeg"/>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6" r:id="rId1"/>
  </p:sldMasterIdLst>
  <p:notesMasterIdLst>
    <p:notesMasterId r:id="rId45"/>
  </p:notesMasterIdLst>
  <p:sldIdLst>
    <p:sldId id="256" r:id="rId2"/>
    <p:sldId id="257" r:id="rId3"/>
    <p:sldId id="258" r:id="rId4"/>
    <p:sldId id="259" r:id="rId5"/>
    <p:sldId id="298"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73" autoAdjust="0"/>
    <p:restoredTop sz="86430" autoAdjust="0"/>
  </p:normalViewPr>
  <p:slideViewPr>
    <p:cSldViewPr snapToGrid="0" snapToObjects="1">
      <p:cViewPr varScale="1">
        <p:scale>
          <a:sx n="63" d="100"/>
          <a:sy n="63" d="100"/>
        </p:scale>
        <p:origin x="57" y="75"/>
      </p:cViewPr>
      <p:guideLst/>
    </p:cSldViewPr>
  </p:slideViewPr>
  <p:outlineViewPr>
    <p:cViewPr>
      <p:scale>
        <a:sx n="33" d="100"/>
        <a:sy n="33" d="100"/>
      </p:scale>
      <p:origin x="0" y="-2112"/>
    </p:cViewPr>
    <p:sldLst>
      <p:sld r:id="rId1" collapse="1"/>
    </p:sldLst>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1"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5477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image: J. Heilman MD, CC BY-SA 3.0 (Wikimedia Commons). Full credits on the last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approximate and vary between series. The key message: a young, working-age, high-energy injury with a poor natural history when the subtalar joint is malreduced.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Böhler: from the highest point of the anterior process to the highest point of the posterior facet, then on to the highest point of the posterior tuberosity. Normal 20 to 40 degrees. Gissane: the two cortical struts (lateral process of the talus sits in the notch) meeting at the sulcus.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lateral calcaneal artery (branch of the peroneal artery) supplies the lateral flap; the corner of the L incision is the most vulnerable point. Full-thickness flap, no-touch technique, K-wire retraction rather than forceps.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Superior view of a right calcaneum. The oblique primary fracture line is produced by the lateral process of the talus acting as a wedge at the crucial angle. The sustentacular fragment is the constant fragment.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treat the patient first: ATLS. A fall from height should prompt a full spine and pelvis survey.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 the sagittal reformat shows facet depression and tuberosity position; coronal (perpendicular to the posterior facet) is the one used for Sanders; axial shows the calcaneocuboid joint, sustentaculum and lateral wall.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secondary fracture line decides the pattern. Tongue-type: the line exits through the posterior cortex, so the facet and tuberosity move as one piece pulled upward by the Achilles. This tents the skin and is urgent.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Sanders: choose the coronal CT slice where the posterior facet is widest. Divide the facet into three columns A, B, C from lateral to medial. Count the articular pieces. Type II is IIA, IIB or IIC by the column of the fracture line. Type III has a centrally depressed piece: IIIAB, IIIAC, IIIBC. Type IV has four or more pieces.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arrows: display, assess soft tissues and host, decide. Emergency branches are shown in red.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Selection matters more than dogma. The Canadian trial showed subgroup benefit; the UK trial questioned routine surgery.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Extensile L: vertical limb midway between the fibula and Achilles, then along the skin/sole junction toward the fifth metatarsal base. Full-thickness flap, no-touch. Sinus tarsi: from the tip of the fibula toward the fourth metatarsal base.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position, exposure, height and varus first (Schanz pin), then the facet, then fix. Confirm with Broden, lateral and axial images before closing.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Stephens-Sanders classification of calcaneal malunion. Match the operation to the lesion: exostectomy, in-situ fusion, or bone-block distraction fusion.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DA2CEDE-2AB4-4FB8-9551-E0AA4222B1A3}" type="datetime1">
              <a:rPr lang="en-US" smtClean="0"/>
              <a:pPr/>
              <a:t>9/26/2026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15932845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A2CEDE-2AB4-4FB8-9551-E0AA4222B1A3}" type="datetime1">
              <a:rPr lang="en-US" smtClean="0"/>
              <a:pPr/>
              <a:t>9/26/2026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3668070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2CEDE-2AB4-4FB8-9551-E0AA4222B1A3}" type="datetime1">
              <a:rPr lang="en-US" smtClean="0"/>
              <a:pPr/>
              <a:t>9/26/2026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50740987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A2CEDE-2AB4-4FB8-9551-E0AA4222B1A3}" type="datetime1">
              <a:rPr lang="en-US" smtClean="0"/>
              <a:pPr/>
              <a:t>9/26/2026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55715907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A2CEDE-2AB4-4FB8-9551-E0AA4222B1A3}" type="datetime1">
              <a:rPr lang="en-US" smtClean="0"/>
              <a:pPr/>
              <a:t>9/26/2026</a:t>
            </a:fld>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25061578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A2CEDE-2AB4-4FB8-9551-E0AA4222B1A3}" type="datetime1">
              <a:rPr lang="en-US" smtClean="0"/>
              <a:pPr/>
              <a:t>9/26/2026</a:t>
            </a:fld>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10647032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A2CEDE-2AB4-4FB8-9551-E0AA4222B1A3}" type="datetime1">
              <a:rPr lang="en-US" smtClean="0"/>
              <a:pPr/>
              <a:t>9/26/2026</a:t>
            </a:fld>
            <a:endParaRPr lang="en-US" dirty="0"/>
          </a:p>
        </p:txBody>
      </p:sp>
      <p:sp>
        <p:nvSpPr>
          <p:cNvPr id="3" name="Footer Placeholder 2"/>
          <p:cNvSpPr>
            <a:spLocks noGrp="1"/>
          </p:cNvSpPr>
          <p:nvPr>
            <p:ph type="ftr" sz="quarter" idx="11"/>
          </p:nvPr>
        </p:nvSpPr>
        <p:spPr/>
        <p:txBody>
          <a:bodyPr/>
          <a:lstStyle/>
          <a:p>
            <a:r>
              <a:rPr lang="en-US"/>
              <a:t>Sample Footer Text</a:t>
            </a:r>
            <a:endParaRPr lang="en-US" dirty="0"/>
          </a:p>
        </p:txBody>
      </p:sp>
      <p:sp>
        <p:nvSpPr>
          <p:cNvPr id="4" name="Slide Number Placeholder 3"/>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40221613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A2CEDE-2AB4-4FB8-9551-E0AA4222B1A3}" type="datetime1">
              <a:rPr lang="en-US" smtClean="0"/>
              <a:pPr/>
              <a:t>9/26/2026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74095975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7DA2CEDE-2AB4-4FB8-9551-E0AA4222B1A3}" type="datetime1">
              <a:rPr lang="en-US" smtClean="0"/>
              <a:pPr/>
              <a:t>9/26/2026</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r>
              <a:rPr lang="en-US"/>
              <a:t>Sample Footer Text</a:t>
            </a:r>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22710767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A2CEDE-2AB4-4FB8-9551-E0AA4222B1A3}" type="datetime1">
              <a:rPr lang="en-US" smtClean="0"/>
              <a:pPr/>
              <a:t>9/26/2026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35060275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2CEDE-2AB4-4FB8-9551-E0AA4222B1A3}" type="datetime1">
              <a:rPr lang="en-US" smtClean="0"/>
              <a:pPr/>
              <a:t>9/26/2026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72738551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7DA2CEDE-2AB4-4FB8-9551-E0AA4222B1A3}" type="datetime1">
              <a:rPr lang="en-US" smtClean="0"/>
              <a:pPr/>
              <a:t>9/26/2026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60121516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7DA2CEDE-2AB4-4FB8-9551-E0AA4222B1A3}" type="datetime1">
              <a:rPr lang="en-US" smtClean="0"/>
              <a:pPr/>
              <a:t>9/26/2026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32870687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2CEDE-2AB4-4FB8-9551-E0AA4222B1A3}" type="datetime1">
              <a:rPr lang="en-US" smtClean="0"/>
              <a:pPr/>
              <a:t>9/26/2026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60432987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2CEDE-2AB4-4FB8-9551-E0AA4222B1A3}" type="datetime1">
              <a:rPr lang="en-US" smtClean="0"/>
              <a:pPr/>
              <a:t>9/26/2026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404625546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A2CEDE-2AB4-4FB8-9551-E0AA4222B1A3}" type="datetime1">
              <a:rPr lang="en-US" smtClean="0"/>
              <a:pPr/>
              <a:t>9/26/2026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98215028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A2CEDE-2AB4-4FB8-9551-E0AA4222B1A3}" type="datetime1">
              <a:rPr lang="en-US" smtClean="0"/>
              <a:pPr/>
              <a:t>9/26/2026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466257928"/>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7980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7DA2CEDE-2AB4-4FB8-9551-E0AA4222B1A3}" type="datetime1">
              <a:rPr lang="en-US" smtClean="0"/>
              <a:pPr/>
              <a:t>9/26/2026</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r>
              <a:rPr lang="en-US"/>
              <a:t>Sample Footer Text</a:t>
            </a:r>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040746450"/>
      </p:ext>
    </p:extLst>
  </p:cSld>
  <p:clrMap bg1="dk1" tx1="lt1" bg2="dk2" tx2="lt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 id="2147483879" r:id="rId13"/>
    <p:sldLayoutId id="2147483880" r:id="rId14"/>
    <p:sldLayoutId id="2147483881" r:id="rId15"/>
    <p:sldLayoutId id="2147483882" r:id="rId16"/>
    <p:sldLayoutId id="2147483883" r:id="rId17"/>
    <p:sldLayoutId id="2147483884" r:id="rId18"/>
  </p:sldLayoutIdLst>
  <p:hf sldNum="0" hdr="0" ftr="0" dt="0"/>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8.xml"/><Relationship Id="rId5" Type="http://schemas.openxmlformats.org/officeDocument/2006/relationships/image" Target="../media/image7.jpe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18.xml"/><Relationship Id="rId5" Type="http://schemas.openxmlformats.org/officeDocument/2006/relationships/image" Target="../media/image9.png"/><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8.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jpg"/></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image" Target="../media/image17.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7.xml"/><Relationship Id="rId1" Type="http://schemas.openxmlformats.org/officeDocument/2006/relationships/slideLayout" Target="../slideLayouts/slideLayout18.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6.xml"/><Relationship Id="rId1" Type="http://schemas.openxmlformats.org/officeDocument/2006/relationships/slideLayout" Target="../slideLayouts/slideLayout18.xml"/><Relationship Id="rId4" Type="http://schemas.openxmlformats.org/officeDocument/2006/relationships/image" Target="../media/image26.jp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4"/>
        </a:solidFill>
        <a:effectLst/>
      </p:bgPr>
    </p:bg>
    <p:spTree>
      <p:nvGrpSpPr>
        <p:cNvPr id="1" name=""/>
        <p:cNvGrpSpPr/>
        <p:nvPr/>
      </p:nvGrpSpPr>
      <p:grpSpPr>
        <a:xfrm>
          <a:off x="0" y="0"/>
          <a:ext cx="0" cy="0"/>
          <a:chOff x="0" y="0"/>
          <a:chExt cx="0" cy="0"/>
        </a:xfrm>
      </p:grpSpPr>
      <p:pic>
        <p:nvPicPr>
          <p:cNvPr id="2" name="Image 0" descr="C:\Users\pawan\Documents\GitHub\ortho-chronicles\slides\img_calc\hero.jpg"/>
          <p:cNvPicPr>
            <a:picLocks noChangeAspect="1"/>
          </p:cNvPicPr>
          <p:nvPr/>
        </p:nvPicPr>
        <p:blipFill>
          <a:blip r:embed="rId3"/>
          <a:stretch>
            <a:fillRect/>
          </a:stretch>
        </p:blipFill>
        <p:spPr>
          <a:xfrm>
            <a:off x="6675120" y="0"/>
            <a:ext cx="5516575" cy="6858000"/>
          </a:xfrm>
          <a:prstGeom prst="rect">
            <a:avLst/>
          </a:prstGeom>
        </p:spPr>
      </p:pic>
      <p:sp>
        <p:nvSpPr>
          <p:cNvPr id="3" name="Shape 0"/>
          <p:cNvSpPr/>
          <p:nvPr/>
        </p:nvSpPr>
        <p:spPr>
          <a:xfrm>
            <a:off x="6675120" y="0"/>
            <a:ext cx="5516575" cy="6858000"/>
          </a:xfrm>
          <a:prstGeom prst="rect">
            <a:avLst/>
          </a:prstGeom>
          <a:solidFill>
            <a:srgbClr val="0D1B24">
              <a:alpha val="22000"/>
            </a:srgbClr>
          </a:solidFill>
          <a:ln w="12700">
            <a:solidFill>
              <a:srgbClr val="0D1B24"/>
            </a:solidFill>
            <a:prstDash val="solid"/>
          </a:ln>
        </p:spPr>
      </p:sp>
      <p:sp>
        <p:nvSpPr>
          <p:cNvPr id="4" name="Text 1"/>
          <p:cNvSpPr txBox="1"/>
          <p:nvPr/>
        </p:nvSpPr>
        <p:spPr>
          <a:xfrm>
            <a:off x="685800" y="1371600"/>
            <a:ext cx="5852160" cy="320040"/>
          </a:xfrm>
          <a:prstGeom prst="rect">
            <a:avLst/>
          </a:prstGeom>
          <a:noFill/>
          <a:ln/>
        </p:spPr>
        <p:txBody>
          <a:bodyPr wrap="square" lIns="0" tIns="0" rIns="0" bIns="0" rtlCol="0" anchor="ctr"/>
          <a:lstStyle/>
          <a:p>
            <a:pPr marL="0" indent="0">
              <a:buNone/>
            </a:pPr>
            <a:r>
              <a:rPr lang="en-US" sz="1400" b="1" kern="0" spc="400" dirty="0">
                <a:solidFill>
                  <a:srgbClr val="FBBF24"/>
                </a:solidFill>
                <a:latin typeface="Calibri" pitchFamily="34" charset="0"/>
                <a:ea typeface="Calibri" pitchFamily="34" charset="-122"/>
                <a:cs typeface="Calibri" pitchFamily="34" charset="-120"/>
              </a:rPr>
              <a:t>ORTHOPAEDICS  ·  PG SEMINAR</a:t>
            </a:r>
            <a:endParaRPr lang="en-US" sz="1400" dirty="0"/>
          </a:p>
        </p:txBody>
      </p:sp>
      <p:sp>
        <p:nvSpPr>
          <p:cNvPr id="5" name="Text 2"/>
          <p:cNvSpPr txBox="1"/>
          <p:nvPr/>
        </p:nvSpPr>
        <p:spPr>
          <a:xfrm>
            <a:off x="658368" y="1828800"/>
            <a:ext cx="6035040" cy="1005840"/>
          </a:xfrm>
          <a:prstGeom prst="rect">
            <a:avLst/>
          </a:prstGeom>
          <a:noFill/>
          <a:ln/>
        </p:spPr>
        <p:txBody>
          <a:bodyPr wrap="square" lIns="0" tIns="0" rIns="0" bIns="0" rtlCol="0" anchor="ctr"/>
          <a:lstStyle/>
          <a:p>
            <a:pPr marL="0" indent="0">
              <a:buNone/>
            </a:pPr>
            <a:r>
              <a:rPr lang="en-US" sz="6400" b="1" dirty="0">
                <a:solidFill>
                  <a:srgbClr val="F4F1EA"/>
                </a:solidFill>
                <a:latin typeface="Cambria" pitchFamily="34" charset="0"/>
                <a:ea typeface="Cambria" pitchFamily="34" charset="-122"/>
                <a:cs typeface="Cambria" pitchFamily="34" charset="-120"/>
              </a:rPr>
              <a:t>Calcaneum</a:t>
            </a:r>
            <a:endParaRPr lang="en-US" sz="6400" dirty="0"/>
          </a:p>
        </p:txBody>
      </p:sp>
      <p:sp>
        <p:nvSpPr>
          <p:cNvPr id="6" name="Text 3"/>
          <p:cNvSpPr txBox="1"/>
          <p:nvPr/>
        </p:nvSpPr>
        <p:spPr>
          <a:xfrm>
            <a:off x="658368" y="2743200"/>
            <a:ext cx="6035040" cy="822960"/>
          </a:xfrm>
          <a:prstGeom prst="rect">
            <a:avLst/>
          </a:prstGeom>
          <a:noFill/>
          <a:ln/>
        </p:spPr>
        <p:txBody>
          <a:bodyPr wrap="square" lIns="0" tIns="0" rIns="0" bIns="0" rtlCol="0" anchor="ctr"/>
          <a:lstStyle/>
          <a:p>
            <a:pPr marL="0" indent="0">
              <a:buNone/>
            </a:pPr>
            <a:r>
              <a:rPr lang="en-US" sz="4400" dirty="0">
                <a:solidFill>
                  <a:srgbClr val="FF7A45"/>
                </a:solidFill>
                <a:latin typeface="Cambria" pitchFamily="34" charset="0"/>
                <a:ea typeface="Cambria" pitchFamily="34" charset="-122"/>
                <a:cs typeface="Cambria" pitchFamily="34" charset="-120"/>
              </a:rPr>
              <a:t>Fractures</a:t>
            </a:r>
            <a:endParaRPr lang="en-US" sz="4400" dirty="0"/>
          </a:p>
        </p:txBody>
      </p:sp>
      <p:sp>
        <p:nvSpPr>
          <p:cNvPr id="7" name="Text 4"/>
          <p:cNvSpPr txBox="1"/>
          <p:nvPr/>
        </p:nvSpPr>
        <p:spPr>
          <a:xfrm>
            <a:off x="672465" y="3341370"/>
            <a:ext cx="5760720" cy="731520"/>
          </a:xfrm>
          <a:prstGeom prst="rect">
            <a:avLst/>
          </a:prstGeom>
          <a:noFill/>
          <a:ln/>
        </p:spPr>
        <p:txBody>
          <a:bodyPr wrap="square" lIns="0" tIns="0" rIns="0" bIns="0" rtlCol="0" anchor="ctr"/>
          <a:lstStyle/>
          <a:p>
            <a:pPr marL="0" indent="0">
              <a:buNone/>
            </a:pPr>
            <a:r>
              <a:rPr lang="en-US" sz="1800" dirty="0">
                <a:solidFill>
                  <a:srgbClr val="E9DCC0"/>
                </a:solidFill>
                <a:latin typeface="Calibri" pitchFamily="34" charset="0"/>
                <a:ea typeface="Calibri" pitchFamily="34" charset="-122"/>
                <a:cs typeface="Calibri" pitchFamily="34" charset="-120"/>
              </a:rPr>
              <a:t>Applied anatomy  ·  Classifications  ·  Management  ·  Complications</a:t>
            </a:r>
            <a:endParaRPr lang="en-US" sz="1800" dirty="0"/>
          </a:p>
        </p:txBody>
      </p:sp>
      <p:sp>
        <p:nvSpPr>
          <p:cNvPr id="8" name="Text 5"/>
          <p:cNvSpPr txBox="1"/>
          <p:nvPr/>
        </p:nvSpPr>
        <p:spPr>
          <a:xfrm>
            <a:off x="658368" y="5311140"/>
            <a:ext cx="5683250" cy="952500"/>
          </a:xfrm>
          <a:prstGeom prst="rect">
            <a:avLst/>
          </a:prstGeom>
          <a:noFill/>
          <a:ln/>
        </p:spPr>
        <p:txBody>
          <a:bodyPr wrap="square" lIns="0" tIns="0" rIns="0" bIns="0" rtlCol="0" anchor="ctr"/>
          <a:lstStyle/>
          <a:p>
            <a:pPr marL="0" indent="0">
              <a:buNone/>
            </a:pPr>
            <a:r>
              <a:rPr lang="en-US" sz="2000" i="1" dirty="0">
                <a:solidFill>
                  <a:srgbClr val="9FB3BD"/>
                </a:solidFill>
                <a:latin typeface="Calibri" pitchFamily="34" charset="0"/>
                <a:ea typeface="Calibri" pitchFamily="34" charset="-122"/>
                <a:cs typeface="Calibri" pitchFamily="34" charset="-120"/>
              </a:rPr>
              <a:t>Presented by :</a:t>
            </a:r>
          </a:p>
          <a:p>
            <a:pPr marL="0" indent="0">
              <a:buNone/>
            </a:pPr>
            <a:r>
              <a:rPr lang="en-US" sz="2000" i="1" dirty="0">
                <a:solidFill>
                  <a:srgbClr val="9FB3BD"/>
                </a:solidFill>
                <a:latin typeface="Calibri" pitchFamily="34" charset="0"/>
                <a:ea typeface="Calibri" pitchFamily="34" charset="-122"/>
                <a:cs typeface="Calibri" pitchFamily="34" charset="-120"/>
              </a:rPr>
              <a:t>Dr Pawanpreet Singh </a:t>
            </a:r>
          </a:p>
          <a:p>
            <a:pPr marL="0" indent="0">
              <a:buNone/>
            </a:pPr>
            <a:r>
              <a:rPr lang="en-US" sz="2000" i="1" dirty="0">
                <a:solidFill>
                  <a:srgbClr val="9FB3BD"/>
                </a:solidFill>
                <a:latin typeface="Calibri" pitchFamily="34" charset="0"/>
                <a:ea typeface="Calibri" pitchFamily="34" charset="-122"/>
                <a:cs typeface="Calibri" pitchFamily="34" charset="-120"/>
              </a:rPr>
              <a:t>Junior Resident </a:t>
            </a:r>
          </a:p>
          <a:p>
            <a:pPr marL="0" indent="0">
              <a:buNone/>
            </a:pPr>
            <a:r>
              <a:rPr lang="en-US" sz="2000" i="1" dirty="0" err="1">
                <a:solidFill>
                  <a:srgbClr val="9FB3BD"/>
                </a:solidFill>
                <a:latin typeface="Calibri" pitchFamily="34" charset="0"/>
                <a:ea typeface="Calibri" pitchFamily="34" charset="-122"/>
                <a:cs typeface="Calibri" pitchFamily="34" charset="-120"/>
              </a:rPr>
              <a:t>Orthopaedics</a:t>
            </a:r>
            <a:r>
              <a:rPr lang="en-US" sz="2000" i="1" dirty="0">
                <a:solidFill>
                  <a:srgbClr val="9FB3BD"/>
                </a:solidFill>
                <a:latin typeface="Calibri" pitchFamily="34" charset="0"/>
                <a:ea typeface="Calibri" pitchFamily="34" charset="-122"/>
                <a:cs typeface="Calibri" pitchFamily="34" charset="-120"/>
              </a:rPr>
              <a:t> </a:t>
            </a:r>
            <a:r>
              <a:rPr lang="en-US" sz="2000" i="1" dirty="0" err="1">
                <a:solidFill>
                  <a:srgbClr val="9FB3BD"/>
                </a:solidFill>
                <a:latin typeface="Calibri" pitchFamily="34" charset="0"/>
                <a:ea typeface="Calibri" pitchFamily="34" charset="-122"/>
                <a:cs typeface="Calibri" pitchFamily="34" charset="-120"/>
              </a:rPr>
              <a:t>deptt</a:t>
            </a:r>
            <a:r>
              <a:rPr lang="en-US" sz="2000" i="1" dirty="0">
                <a:solidFill>
                  <a:srgbClr val="9FB3BD"/>
                </a:solidFill>
                <a:latin typeface="Calibri" pitchFamily="34" charset="0"/>
                <a:ea typeface="Calibri" pitchFamily="34" charset="-122"/>
                <a:cs typeface="Calibri" pitchFamily="34" charset="-120"/>
              </a:rPr>
              <a:t>.</a:t>
            </a:r>
          </a:p>
          <a:p>
            <a:pPr marL="0" indent="0">
              <a:buNone/>
            </a:pPr>
            <a:r>
              <a:rPr lang="en-US" sz="2000" i="1" dirty="0">
                <a:solidFill>
                  <a:srgbClr val="9FB3BD"/>
                </a:solidFill>
                <a:latin typeface="Calibri" pitchFamily="34" charset="0"/>
                <a:ea typeface="Calibri" pitchFamily="34" charset="-122"/>
                <a:cs typeface="Calibri" pitchFamily="34" charset="-120"/>
              </a:rPr>
              <a:t>GMC Amritsar</a:t>
            </a:r>
          </a:p>
          <a:p>
            <a:pPr marL="0" indent="0">
              <a:buNone/>
            </a:pPr>
            <a:r>
              <a:rPr lang="en-US" sz="2000" dirty="0"/>
              <a:t>G</a:t>
            </a:r>
          </a:p>
        </p:txBody>
      </p:sp>
      <p:sp>
        <p:nvSpPr>
          <p:cNvPr id="9" name="Text 6"/>
          <p:cNvSpPr txBox="1"/>
          <p:nvPr/>
        </p:nvSpPr>
        <p:spPr>
          <a:xfrm>
            <a:off x="6949440" y="6263640"/>
            <a:ext cx="4937760" cy="274320"/>
          </a:xfrm>
          <a:prstGeom prst="rect">
            <a:avLst/>
          </a:prstGeom>
          <a:noFill/>
          <a:ln/>
        </p:spPr>
        <p:txBody>
          <a:bodyPr wrap="square" lIns="0" tIns="0" rIns="0" bIns="0" rtlCol="0" anchor="ctr"/>
          <a:lstStyle/>
          <a:p>
            <a:pPr marL="0" indent="0">
              <a:buNone/>
            </a:pPr>
            <a:r>
              <a:rPr lang="en-US" sz="1000" i="1" dirty="0">
                <a:solidFill>
                  <a:srgbClr val="F4F1EA"/>
                </a:solidFill>
                <a:latin typeface="Calibri" pitchFamily="34" charset="0"/>
                <a:ea typeface="Calibri" pitchFamily="34" charset="-122"/>
                <a:cs typeface="Calibri" pitchFamily="34" charset="-120"/>
              </a:rPr>
              <a:t>Lateral radiograph: intra-articular calcaneal fracture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ROADMAP</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What we will cover</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48640" y="1691640"/>
            <a:ext cx="3520440" cy="2011680"/>
          </a:xfrm>
          <a:prstGeom prst="roundRect">
            <a:avLst>
              <a:gd name="adj" fmla="val 3636"/>
            </a:avLst>
          </a:prstGeom>
          <a:solidFill>
            <a:srgbClr val="132A36"/>
          </a:solidFill>
          <a:ln w="9525">
            <a:solidFill>
              <a:srgbClr val="2C4756"/>
            </a:solidFill>
            <a:prstDash val="solid"/>
          </a:ln>
        </p:spPr>
      </p:sp>
      <p:sp>
        <p:nvSpPr>
          <p:cNvPr id="7" name="Shape 5"/>
          <p:cNvSpPr/>
          <p:nvPr/>
        </p:nvSpPr>
        <p:spPr>
          <a:xfrm>
            <a:off x="777240" y="1920240"/>
            <a:ext cx="502920" cy="502920"/>
          </a:xfrm>
          <a:prstGeom prst="ellipse">
            <a:avLst/>
          </a:prstGeom>
          <a:solidFill>
            <a:srgbClr val="2DD4BF"/>
          </a:solidFill>
          <a:ln w="12700">
            <a:solidFill>
              <a:srgbClr val="2DD4BF"/>
            </a:solidFill>
            <a:prstDash val="solid"/>
          </a:ln>
        </p:spPr>
      </p:sp>
      <p:sp>
        <p:nvSpPr>
          <p:cNvPr id="8" name="Text 6"/>
          <p:cNvSpPr txBox="1"/>
          <p:nvPr/>
        </p:nvSpPr>
        <p:spPr>
          <a:xfrm>
            <a:off x="777240" y="1920240"/>
            <a:ext cx="502920" cy="502920"/>
          </a:xfrm>
          <a:prstGeom prst="rect">
            <a:avLst/>
          </a:prstGeom>
          <a:noFill/>
          <a:ln/>
        </p:spPr>
        <p:txBody>
          <a:bodyPr wrap="square" lIns="0" tIns="0" rIns="0" bIns="0" rtlCol="0" anchor="ctr"/>
          <a:lstStyle/>
          <a:p>
            <a:pPr marL="0" indent="0" algn="ctr">
              <a:buNone/>
            </a:pPr>
            <a:r>
              <a:rPr lang="en-US" sz="1800" b="1" dirty="0">
                <a:solidFill>
                  <a:srgbClr val="0D1B24"/>
                </a:solidFill>
                <a:latin typeface="Calibri" pitchFamily="34" charset="0"/>
                <a:ea typeface="Calibri" pitchFamily="34" charset="-122"/>
                <a:cs typeface="Calibri" pitchFamily="34" charset="-120"/>
              </a:rPr>
              <a:t>1</a:t>
            </a:r>
            <a:endParaRPr lang="en-US" sz="1800" dirty="0"/>
          </a:p>
        </p:txBody>
      </p:sp>
      <p:sp>
        <p:nvSpPr>
          <p:cNvPr id="9" name="Text 7"/>
          <p:cNvSpPr txBox="1"/>
          <p:nvPr/>
        </p:nvSpPr>
        <p:spPr>
          <a:xfrm>
            <a:off x="777240" y="2560320"/>
            <a:ext cx="3108960" cy="411480"/>
          </a:xfrm>
          <a:prstGeom prst="rect">
            <a:avLst/>
          </a:prstGeom>
          <a:noFill/>
          <a:ln/>
        </p:spPr>
        <p:txBody>
          <a:bodyPr wrap="square" lIns="0" tIns="0" rIns="0" bIns="0" rtlCol="0" anchor="t"/>
          <a:lstStyle/>
          <a:p>
            <a:pPr marL="0" indent="0" algn="l">
              <a:buNone/>
            </a:pPr>
            <a:r>
              <a:rPr lang="en-US" sz="2000" b="1" dirty="0">
                <a:solidFill>
                  <a:srgbClr val="F4F1EA"/>
                </a:solidFill>
                <a:latin typeface="Cambria" pitchFamily="34" charset="0"/>
                <a:ea typeface="Cambria" pitchFamily="34" charset="-122"/>
                <a:cs typeface="Cambria" pitchFamily="34" charset="-120"/>
              </a:rPr>
              <a:t>Applied anatomy</a:t>
            </a:r>
            <a:endParaRPr lang="en-US" sz="2000" dirty="0"/>
          </a:p>
        </p:txBody>
      </p:sp>
      <p:sp>
        <p:nvSpPr>
          <p:cNvPr id="10" name="Text 8"/>
          <p:cNvSpPr txBox="1"/>
          <p:nvPr/>
        </p:nvSpPr>
        <p:spPr>
          <a:xfrm>
            <a:off x="777240" y="2990088"/>
            <a:ext cx="3108960" cy="640080"/>
          </a:xfrm>
          <a:prstGeom prst="rect">
            <a:avLst/>
          </a:prstGeom>
          <a:noFill/>
          <a:ln/>
        </p:spPr>
        <p:txBody>
          <a:bodyPr wrap="square" lIns="0" tIns="0" rIns="0" bIns="0" rtlCol="0" anchor="t"/>
          <a:lstStyle/>
          <a:p>
            <a:pPr marL="0" indent="0" algn="l">
              <a:buNone/>
            </a:pPr>
            <a:r>
              <a:rPr lang="en-US" sz="1485" dirty="0">
                <a:solidFill>
                  <a:srgbClr val="9FB3BD"/>
                </a:solidFill>
                <a:latin typeface="Calibri" pitchFamily="34" charset="0"/>
                <a:ea typeface="Calibri" pitchFamily="34" charset="-122"/>
                <a:cs typeface="Calibri" pitchFamily="34" charset="-120"/>
              </a:rPr>
              <a:t>Osteology, radiographic angles, soft-tissue envelope, function</a:t>
            </a:r>
            <a:endParaRPr lang="en-US" sz="1485" dirty="0"/>
          </a:p>
        </p:txBody>
      </p:sp>
      <p:sp>
        <p:nvSpPr>
          <p:cNvPr id="11" name="Shape 9"/>
          <p:cNvSpPr/>
          <p:nvPr/>
        </p:nvSpPr>
        <p:spPr>
          <a:xfrm>
            <a:off x="4297680" y="1691640"/>
            <a:ext cx="3520440" cy="2011680"/>
          </a:xfrm>
          <a:prstGeom prst="roundRect">
            <a:avLst>
              <a:gd name="adj" fmla="val 3636"/>
            </a:avLst>
          </a:prstGeom>
          <a:solidFill>
            <a:srgbClr val="132A36"/>
          </a:solidFill>
          <a:ln w="9525">
            <a:solidFill>
              <a:srgbClr val="2C4756"/>
            </a:solidFill>
            <a:prstDash val="solid"/>
          </a:ln>
        </p:spPr>
      </p:sp>
      <p:sp>
        <p:nvSpPr>
          <p:cNvPr id="12" name="Shape 10"/>
          <p:cNvSpPr/>
          <p:nvPr/>
        </p:nvSpPr>
        <p:spPr>
          <a:xfrm>
            <a:off x="4526280" y="1920240"/>
            <a:ext cx="502920" cy="502920"/>
          </a:xfrm>
          <a:prstGeom prst="ellipse">
            <a:avLst/>
          </a:prstGeom>
          <a:solidFill>
            <a:srgbClr val="FF7A45"/>
          </a:solidFill>
          <a:ln w="12700">
            <a:solidFill>
              <a:srgbClr val="FF7A45"/>
            </a:solidFill>
            <a:prstDash val="solid"/>
          </a:ln>
        </p:spPr>
      </p:sp>
      <p:sp>
        <p:nvSpPr>
          <p:cNvPr id="13" name="Text 11"/>
          <p:cNvSpPr txBox="1"/>
          <p:nvPr/>
        </p:nvSpPr>
        <p:spPr>
          <a:xfrm>
            <a:off x="4526280" y="1920240"/>
            <a:ext cx="502920" cy="502920"/>
          </a:xfrm>
          <a:prstGeom prst="rect">
            <a:avLst/>
          </a:prstGeom>
          <a:noFill/>
          <a:ln/>
        </p:spPr>
        <p:txBody>
          <a:bodyPr wrap="square" lIns="0" tIns="0" rIns="0" bIns="0" rtlCol="0" anchor="ctr"/>
          <a:lstStyle/>
          <a:p>
            <a:pPr marL="0" indent="0" algn="ctr">
              <a:buNone/>
            </a:pPr>
            <a:r>
              <a:rPr lang="en-US" sz="1800" b="1" dirty="0">
                <a:solidFill>
                  <a:srgbClr val="0D1B24"/>
                </a:solidFill>
                <a:latin typeface="Calibri" pitchFamily="34" charset="0"/>
                <a:ea typeface="Calibri" pitchFamily="34" charset="-122"/>
                <a:cs typeface="Calibri" pitchFamily="34" charset="-120"/>
              </a:rPr>
              <a:t>2</a:t>
            </a:r>
            <a:endParaRPr lang="en-US" sz="1800" dirty="0"/>
          </a:p>
        </p:txBody>
      </p:sp>
      <p:sp>
        <p:nvSpPr>
          <p:cNvPr id="14" name="Text 12"/>
          <p:cNvSpPr txBox="1"/>
          <p:nvPr/>
        </p:nvSpPr>
        <p:spPr>
          <a:xfrm>
            <a:off x="4526280" y="2560320"/>
            <a:ext cx="3108960" cy="411480"/>
          </a:xfrm>
          <a:prstGeom prst="rect">
            <a:avLst/>
          </a:prstGeom>
          <a:noFill/>
          <a:ln/>
        </p:spPr>
        <p:txBody>
          <a:bodyPr wrap="square" lIns="0" tIns="0" rIns="0" bIns="0" rtlCol="0" anchor="t"/>
          <a:lstStyle/>
          <a:p>
            <a:pPr marL="0" indent="0" algn="l">
              <a:buNone/>
            </a:pPr>
            <a:r>
              <a:rPr lang="en-US" sz="2000" b="1" dirty="0">
                <a:solidFill>
                  <a:srgbClr val="F4F1EA"/>
                </a:solidFill>
                <a:latin typeface="Cambria" pitchFamily="34" charset="0"/>
                <a:ea typeface="Cambria" pitchFamily="34" charset="-122"/>
                <a:cs typeface="Cambria" pitchFamily="34" charset="-120"/>
              </a:rPr>
              <a:t>Pathoanatomy</a:t>
            </a:r>
            <a:endParaRPr lang="en-US" sz="2000" dirty="0"/>
          </a:p>
        </p:txBody>
      </p:sp>
      <p:sp>
        <p:nvSpPr>
          <p:cNvPr id="15" name="Text 13"/>
          <p:cNvSpPr txBox="1"/>
          <p:nvPr/>
        </p:nvSpPr>
        <p:spPr>
          <a:xfrm>
            <a:off x="4526280" y="2990088"/>
            <a:ext cx="3108960" cy="640080"/>
          </a:xfrm>
          <a:prstGeom prst="rect">
            <a:avLst/>
          </a:prstGeom>
          <a:noFill/>
          <a:ln/>
        </p:spPr>
        <p:txBody>
          <a:bodyPr wrap="square" lIns="0" tIns="0" rIns="0" bIns="0" rtlCol="0" anchor="t"/>
          <a:lstStyle/>
          <a:p>
            <a:pPr marL="0" indent="0" algn="l">
              <a:buNone/>
            </a:pPr>
            <a:r>
              <a:rPr lang="en-US" sz="1485" dirty="0">
                <a:solidFill>
                  <a:srgbClr val="9FB3BD"/>
                </a:solidFill>
                <a:latin typeface="Calibri" pitchFamily="34" charset="0"/>
                <a:ea typeface="Calibri" pitchFamily="34" charset="-122"/>
                <a:cs typeface="Calibri" pitchFamily="34" charset="-120"/>
              </a:rPr>
              <a:t>Mechanism, primary &amp; secondary fracture lines, associated injuries</a:t>
            </a:r>
            <a:endParaRPr lang="en-US" sz="1485" dirty="0"/>
          </a:p>
        </p:txBody>
      </p:sp>
      <p:sp>
        <p:nvSpPr>
          <p:cNvPr id="16" name="Shape 14"/>
          <p:cNvSpPr/>
          <p:nvPr/>
        </p:nvSpPr>
        <p:spPr>
          <a:xfrm>
            <a:off x="8046720" y="1691640"/>
            <a:ext cx="3520440" cy="2011680"/>
          </a:xfrm>
          <a:prstGeom prst="roundRect">
            <a:avLst>
              <a:gd name="adj" fmla="val 3636"/>
            </a:avLst>
          </a:prstGeom>
          <a:solidFill>
            <a:srgbClr val="132A36"/>
          </a:solidFill>
          <a:ln w="9525">
            <a:solidFill>
              <a:srgbClr val="2C4756"/>
            </a:solidFill>
            <a:prstDash val="solid"/>
          </a:ln>
        </p:spPr>
      </p:sp>
      <p:sp>
        <p:nvSpPr>
          <p:cNvPr id="17" name="Shape 15"/>
          <p:cNvSpPr/>
          <p:nvPr/>
        </p:nvSpPr>
        <p:spPr>
          <a:xfrm>
            <a:off x="8275320" y="1920240"/>
            <a:ext cx="502920" cy="502920"/>
          </a:xfrm>
          <a:prstGeom prst="ellipse">
            <a:avLst/>
          </a:prstGeom>
          <a:solidFill>
            <a:srgbClr val="FBBF24"/>
          </a:solidFill>
          <a:ln w="12700">
            <a:solidFill>
              <a:srgbClr val="FBBF24"/>
            </a:solidFill>
            <a:prstDash val="solid"/>
          </a:ln>
        </p:spPr>
      </p:sp>
      <p:sp>
        <p:nvSpPr>
          <p:cNvPr id="18" name="Text 16"/>
          <p:cNvSpPr txBox="1"/>
          <p:nvPr/>
        </p:nvSpPr>
        <p:spPr>
          <a:xfrm>
            <a:off x="8275320" y="1920240"/>
            <a:ext cx="502920" cy="502920"/>
          </a:xfrm>
          <a:prstGeom prst="rect">
            <a:avLst/>
          </a:prstGeom>
          <a:noFill/>
          <a:ln/>
        </p:spPr>
        <p:txBody>
          <a:bodyPr wrap="square" lIns="0" tIns="0" rIns="0" bIns="0" rtlCol="0" anchor="ctr"/>
          <a:lstStyle/>
          <a:p>
            <a:pPr marL="0" indent="0" algn="ctr">
              <a:buNone/>
            </a:pPr>
            <a:r>
              <a:rPr lang="en-US" sz="1800" b="1" dirty="0">
                <a:solidFill>
                  <a:srgbClr val="0D1B24"/>
                </a:solidFill>
                <a:latin typeface="Calibri" pitchFamily="34" charset="0"/>
                <a:ea typeface="Calibri" pitchFamily="34" charset="-122"/>
                <a:cs typeface="Calibri" pitchFamily="34" charset="-120"/>
              </a:rPr>
              <a:t>3</a:t>
            </a:r>
            <a:endParaRPr lang="en-US" sz="1800" dirty="0"/>
          </a:p>
        </p:txBody>
      </p:sp>
      <p:sp>
        <p:nvSpPr>
          <p:cNvPr id="19" name="Text 17"/>
          <p:cNvSpPr txBox="1"/>
          <p:nvPr/>
        </p:nvSpPr>
        <p:spPr>
          <a:xfrm>
            <a:off x="8275320" y="2560320"/>
            <a:ext cx="3108960" cy="411480"/>
          </a:xfrm>
          <a:prstGeom prst="rect">
            <a:avLst/>
          </a:prstGeom>
          <a:noFill/>
          <a:ln/>
        </p:spPr>
        <p:txBody>
          <a:bodyPr wrap="square" lIns="0" tIns="0" rIns="0" bIns="0" rtlCol="0" anchor="t"/>
          <a:lstStyle/>
          <a:p>
            <a:pPr marL="0" indent="0" algn="l">
              <a:buNone/>
            </a:pPr>
            <a:r>
              <a:rPr lang="en-US" sz="2000" b="1" dirty="0">
                <a:solidFill>
                  <a:srgbClr val="F4F1EA"/>
                </a:solidFill>
                <a:latin typeface="Cambria" pitchFamily="34" charset="0"/>
                <a:ea typeface="Cambria" pitchFamily="34" charset="-122"/>
                <a:cs typeface="Cambria" pitchFamily="34" charset="-120"/>
              </a:rPr>
              <a:t>Assessment &amp; imaging</a:t>
            </a:r>
            <a:endParaRPr lang="en-US" sz="2000" dirty="0"/>
          </a:p>
        </p:txBody>
      </p:sp>
      <p:sp>
        <p:nvSpPr>
          <p:cNvPr id="20" name="Text 18"/>
          <p:cNvSpPr txBox="1"/>
          <p:nvPr/>
        </p:nvSpPr>
        <p:spPr>
          <a:xfrm>
            <a:off x="8275320" y="2990088"/>
            <a:ext cx="3108960" cy="640080"/>
          </a:xfrm>
          <a:prstGeom prst="rect">
            <a:avLst/>
          </a:prstGeom>
          <a:noFill/>
          <a:ln/>
        </p:spPr>
        <p:txBody>
          <a:bodyPr wrap="square" lIns="0" tIns="0" rIns="0" bIns="0" rtlCol="0" anchor="t"/>
          <a:lstStyle/>
          <a:p>
            <a:pPr marL="0" indent="0" algn="l">
              <a:buNone/>
            </a:pPr>
            <a:r>
              <a:rPr lang="en-US" sz="1485" dirty="0">
                <a:solidFill>
                  <a:srgbClr val="9FB3BD"/>
                </a:solidFill>
                <a:latin typeface="Calibri" pitchFamily="34" charset="0"/>
                <a:ea typeface="Calibri" pitchFamily="34" charset="-122"/>
                <a:cs typeface="Calibri" pitchFamily="34" charset="-120"/>
              </a:rPr>
              <a:t>Clinical exam, radiographic views, CT, MRI</a:t>
            </a:r>
            <a:endParaRPr lang="en-US" sz="1485" dirty="0"/>
          </a:p>
        </p:txBody>
      </p:sp>
      <p:sp>
        <p:nvSpPr>
          <p:cNvPr id="21" name="Shape 19"/>
          <p:cNvSpPr/>
          <p:nvPr/>
        </p:nvSpPr>
        <p:spPr>
          <a:xfrm>
            <a:off x="548640" y="3931920"/>
            <a:ext cx="3520440" cy="2011680"/>
          </a:xfrm>
          <a:prstGeom prst="roundRect">
            <a:avLst>
              <a:gd name="adj" fmla="val 3636"/>
            </a:avLst>
          </a:prstGeom>
          <a:solidFill>
            <a:srgbClr val="132A36"/>
          </a:solidFill>
          <a:ln w="9525">
            <a:solidFill>
              <a:srgbClr val="2C4756"/>
            </a:solidFill>
            <a:prstDash val="solid"/>
          </a:ln>
        </p:spPr>
      </p:sp>
      <p:sp>
        <p:nvSpPr>
          <p:cNvPr id="22" name="Shape 20"/>
          <p:cNvSpPr/>
          <p:nvPr/>
        </p:nvSpPr>
        <p:spPr>
          <a:xfrm>
            <a:off x="777240" y="4160520"/>
            <a:ext cx="502920" cy="502920"/>
          </a:xfrm>
          <a:prstGeom prst="ellipse">
            <a:avLst/>
          </a:prstGeom>
          <a:solidFill>
            <a:srgbClr val="2DD4BF"/>
          </a:solidFill>
          <a:ln w="12700">
            <a:solidFill>
              <a:srgbClr val="2DD4BF"/>
            </a:solidFill>
            <a:prstDash val="solid"/>
          </a:ln>
        </p:spPr>
      </p:sp>
      <p:sp>
        <p:nvSpPr>
          <p:cNvPr id="23" name="Text 21"/>
          <p:cNvSpPr txBox="1"/>
          <p:nvPr/>
        </p:nvSpPr>
        <p:spPr>
          <a:xfrm>
            <a:off x="777240" y="4160520"/>
            <a:ext cx="502920" cy="502920"/>
          </a:xfrm>
          <a:prstGeom prst="rect">
            <a:avLst/>
          </a:prstGeom>
          <a:noFill/>
          <a:ln/>
        </p:spPr>
        <p:txBody>
          <a:bodyPr wrap="square" lIns="0" tIns="0" rIns="0" bIns="0" rtlCol="0" anchor="ctr"/>
          <a:lstStyle/>
          <a:p>
            <a:pPr marL="0" indent="0" algn="ctr">
              <a:buNone/>
            </a:pPr>
            <a:r>
              <a:rPr lang="en-US" sz="1800" b="1" dirty="0">
                <a:solidFill>
                  <a:srgbClr val="0D1B24"/>
                </a:solidFill>
                <a:latin typeface="Calibri" pitchFamily="34" charset="0"/>
                <a:ea typeface="Calibri" pitchFamily="34" charset="-122"/>
                <a:cs typeface="Calibri" pitchFamily="34" charset="-120"/>
              </a:rPr>
              <a:t>4</a:t>
            </a:r>
            <a:endParaRPr lang="en-US" sz="1800" dirty="0"/>
          </a:p>
        </p:txBody>
      </p:sp>
      <p:sp>
        <p:nvSpPr>
          <p:cNvPr id="24" name="Text 22"/>
          <p:cNvSpPr txBox="1"/>
          <p:nvPr/>
        </p:nvSpPr>
        <p:spPr>
          <a:xfrm>
            <a:off x="777240" y="4800600"/>
            <a:ext cx="3108960" cy="411480"/>
          </a:xfrm>
          <a:prstGeom prst="rect">
            <a:avLst/>
          </a:prstGeom>
          <a:noFill/>
          <a:ln/>
        </p:spPr>
        <p:txBody>
          <a:bodyPr wrap="square" lIns="0" tIns="0" rIns="0" bIns="0" rtlCol="0" anchor="t"/>
          <a:lstStyle/>
          <a:p>
            <a:pPr marL="0" indent="0" algn="l">
              <a:buNone/>
            </a:pPr>
            <a:r>
              <a:rPr lang="en-US" sz="2000" b="1" dirty="0">
                <a:solidFill>
                  <a:srgbClr val="F4F1EA"/>
                </a:solidFill>
                <a:latin typeface="Cambria" pitchFamily="34" charset="0"/>
                <a:ea typeface="Cambria" pitchFamily="34" charset="-122"/>
                <a:cs typeface="Cambria" pitchFamily="34" charset="-120"/>
              </a:rPr>
              <a:t>Classifications</a:t>
            </a:r>
            <a:endParaRPr lang="en-US" sz="2000" dirty="0"/>
          </a:p>
        </p:txBody>
      </p:sp>
      <p:sp>
        <p:nvSpPr>
          <p:cNvPr id="25" name="Text 23"/>
          <p:cNvSpPr txBox="1"/>
          <p:nvPr/>
        </p:nvSpPr>
        <p:spPr>
          <a:xfrm>
            <a:off x="777240" y="5230368"/>
            <a:ext cx="3108960" cy="640080"/>
          </a:xfrm>
          <a:prstGeom prst="rect">
            <a:avLst/>
          </a:prstGeom>
          <a:noFill/>
          <a:ln/>
        </p:spPr>
        <p:txBody>
          <a:bodyPr wrap="square" lIns="0" tIns="0" rIns="0" bIns="0" rtlCol="0" anchor="t"/>
          <a:lstStyle/>
          <a:p>
            <a:pPr marL="0" indent="0" algn="l">
              <a:buNone/>
            </a:pPr>
            <a:r>
              <a:rPr lang="en-US" sz="1485" dirty="0">
                <a:solidFill>
                  <a:srgbClr val="9FB3BD"/>
                </a:solidFill>
                <a:latin typeface="Calibri" pitchFamily="34" charset="0"/>
                <a:ea typeface="Calibri" pitchFamily="34" charset="-122"/>
                <a:cs typeface="Calibri" pitchFamily="34" charset="-120"/>
              </a:rPr>
              <a:t>Rowe, Essex-Lopresti, Sanders, Crosby-Fitzgibbons, AO/OTA</a:t>
            </a:r>
            <a:endParaRPr lang="en-US" sz="1485" dirty="0"/>
          </a:p>
        </p:txBody>
      </p:sp>
      <p:sp>
        <p:nvSpPr>
          <p:cNvPr id="26" name="Shape 24"/>
          <p:cNvSpPr/>
          <p:nvPr/>
        </p:nvSpPr>
        <p:spPr>
          <a:xfrm>
            <a:off x="4297680" y="3931920"/>
            <a:ext cx="3520440" cy="2011680"/>
          </a:xfrm>
          <a:prstGeom prst="roundRect">
            <a:avLst>
              <a:gd name="adj" fmla="val 3636"/>
            </a:avLst>
          </a:prstGeom>
          <a:solidFill>
            <a:srgbClr val="132A36"/>
          </a:solidFill>
          <a:ln w="9525">
            <a:solidFill>
              <a:srgbClr val="2C4756"/>
            </a:solidFill>
            <a:prstDash val="solid"/>
          </a:ln>
        </p:spPr>
      </p:sp>
      <p:sp>
        <p:nvSpPr>
          <p:cNvPr id="27" name="Shape 25"/>
          <p:cNvSpPr/>
          <p:nvPr/>
        </p:nvSpPr>
        <p:spPr>
          <a:xfrm>
            <a:off x="4526280" y="4160520"/>
            <a:ext cx="502920" cy="502920"/>
          </a:xfrm>
          <a:prstGeom prst="ellipse">
            <a:avLst/>
          </a:prstGeom>
          <a:solidFill>
            <a:srgbClr val="FF7A45"/>
          </a:solidFill>
          <a:ln w="12700">
            <a:solidFill>
              <a:srgbClr val="FF7A45"/>
            </a:solidFill>
            <a:prstDash val="solid"/>
          </a:ln>
        </p:spPr>
      </p:sp>
      <p:sp>
        <p:nvSpPr>
          <p:cNvPr id="28" name="Text 26"/>
          <p:cNvSpPr txBox="1"/>
          <p:nvPr/>
        </p:nvSpPr>
        <p:spPr>
          <a:xfrm>
            <a:off x="4526280" y="4160520"/>
            <a:ext cx="502920" cy="502920"/>
          </a:xfrm>
          <a:prstGeom prst="rect">
            <a:avLst/>
          </a:prstGeom>
          <a:noFill/>
          <a:ln/>
        </p:spPr>
        <p:txBody>
          <a:bodyPr wrap="square" lIns="0" tIns="0" rIns="0" bIns="0" rtlCol="0" anchor="ctr"/>
          <a:lstStyle/>
          <a:p>
            <a:pPr marL="0" indent="0" algn="ctr">
              <a:buNone/>
            </a:pPr>
            <a:r>
              <a:rPr lang="en-US" sz="1800" b="1" dirty="0">
                <a:solidFill>
                  <a:srgbClr val="0D1B24"/>
                </a:solidFill>
                <a:latin typeface="Calibri" pitchFamily="34" charset="0"/>
                <a:ea typeface="Calibri" pitchFamily="34" charset="-122"/>
                <a:cs typeface="Calibri" pitchFamily="34" charset="-120"/>
              </a:rPr>
              <a:t>5</a:t>
            </a:r>
            <a:endParaRPr lang="en-US" sz="1800" dirty="0"/>
          </a:p>
        </p:txBody>
      </p:sp>
      <p:sp>
        <p:nvSpPr>
          <p:cNvPr id="29" name="Text 27"/>
          <p:cNvSpPr txBox="1"/>
          <p:nvPr/>
        </p:nvSpPr>
        <p:spPr>
          <a:xfrm>
            <a:off x="4526280" y="4800600"/>
            <a:ext cx="3108960" cy="411480"/>
          </a:xfrm>
          <a:prstGeom prst="rect">
            <a:avLst/>
          </a:prstGeom>
          <a:noFill/>
          <a:ln/>
        </p:spPr>
        <p:txBody>
          <a:bodyPr wrap="square" lIns="0" tIns="0" rIns="0" bIns="0" rtlCol="0" anchor="t"/>
          <a:lstStyle/>
          <a:p>
            <a:pPr marL="0" indent="0" algn="l">
              <a:buNone/>
            </a:pPr>
            <a:r>
              <a:rPr lang="en-US" sz="2000" b="1" dirty="0">
                <a:solidFill>
                  <a:srgbClr val="F4F1EA"/>
                </a:solidFill>
                <a:latin typeface="Cambria" pitchFamily="34" charset="0"/>
                <a:ea typeface="Cambria" pitchFamily="34" charset="-122"/>
                <a:cs typeface="Cambria" pitchFamily="34" charset="-120"/>
              </a:rPr>
              <a:t>Management</a:t>
            </a:r>
            <a:endParaRPr lang="en-US" sz="2000" dirty="0"/>
          </a:p>
        </p:txBody>
      </p:sp>
      <p:sp>
        <p:nvSpPr>
          <p:cNvPr id="30" name="Text 28"/>
          <p:cNvSpPr txBox="1"/>
          <p:nvPr/>
        </p:nvSpPr>
        <p:spPr>
          <a:xfrm>
            <a:off x="4526280" y="5230368"/>
            <a:ext cx="3108960" cy="640080"/>
          </a:xfrm>
          <a:prstGeom prst="rect">
            <a:avLst/>
          </a:prstGeom>
          <a:noFill/>
          <a:ln/>
        </p:spPr>
        <p:txBody>
          <a:bodyPr wrap="square" lIns="0" tIns="0" rIns="0" bIns="0" rtlCol="0" anchor="t"/>
          <a:lstStyle/>
          <a:p>
            <a:pPr marL="0" indent="0" algn="l">
              <a:buNone/>
            </a:pPr>
            <a:r>
              <a:rPr lang="en-US" sz="1485" dirty="0">
                <a:solidFill>
                  <a:srgbClr val="9FB3BD"/>
                </a:solidFill>
                <a:latin typeface="Calibri" pitchFamily="34" charset="0"/>
                <a:ea typeface="Calibri" pitchFamily="34" charset="-122"/>
                <a:cs typeface="Calibri" pitchFamily="34" charset="-120"/>
              </a:rPr>
              <a:t>Non-operative, ORIF, minimally invasive, primary fusion, rehab</a:t>
            </a:r>
            <a:endParaRPr lang="en-US" sz="1485" dirty="0"/>
          </a:p>
        </p:txBody>
      </p:sp>
      <p:sp>
        <p:nvSpPr>
          <p:cNvPr id="31" name="Shape 29"/>
          <p:cNvSpPr/>
          <p:nvPr/>
        </p:nvSpPr>
        <p:spPr>
          <a:xfrm>
            <a:off x="8046720" y="3931920"/>
            <a:ext cx="3520440" cy="2011680"/>
          </a:xfrm>
          <a:prstGeom prst="roundRect">
            <a:avLst>
              <a:gd name="adj" fmla="val 3636"/>
            </a:avLst>
          </a:prstGeom>
          <a:solidFill>
            <a:srgbClr val="132A36"/>
          </a:solidFill>
          <a:ln w="9525">
            <a:solidFill>
              <a:srgbClr val="2C4756"/>
            </a:solidFill>
            <a:prstDash val="solid"/>
          </a:ln>
        </p:spPr>
      </p:sp>
      <p:sp>
        <p:nvSpPr>
          <p:cNvPr id="32" name="Shape 30"/>
          <p:cNvSpPr/>
          <p:nvPr/>
        </p:nvSpPr>
        <p:spPr>
          <a:xfrm>
            <a:off x="8275320" y="4160520"/>
            <a:ext cx="502920" cy="502920"/>
          </a:xfrm>
          <a:prstGeom prst="ellipse">
            <a:avLst/>
          </a:prstGeom>
          <a:solidFill>
            <a:srgbClr val="FBBF24"/>
          </a:solidFill>
          <a:ln w="12700">
            <a:solidFill>
              <a:srgbClr val="FBBF24"/>
            </a:solidFill>
            <a:prstDash val="solid"/>
          </a:ln>
        </p:spPr>
      </p:sp>
      <p:sp>
        <p:nvSpPr>
          <p:cNvPr id="33" name="Text 31"/>
          <p:cNvSpPr txBox="1"/>
          <p:nvPr/>
        </p:nvSpPr>
        <p:spPr>
          <a:xfrm>
            <a:off x="8275320" y="4160520"/>
            <a:ext cx="502920" cy="502920"/>
          </a:xfrm>
          <a:prstGeom prst="rect">
            <a:avLst/>
          </a:prstGeom>
          <a:noFill/>
          <a:ln/>
        </p:spPr>
        <p:txBody>
          <a:bodyPr wrap="square" lIns="0" tIns="0" rIns="0" bIns="0" rtlCol="0" anchor="ctr"/>
          <a:lstStyle/>
          <a:p>
            <a:pPr marL="0" indent="0" algn="ctr">
              <a:buNone/>
            </a:pPr>
            <a:r>
              <a:rPr lang="en-US" sz="1800" b="1" dirty="0">
                <a:solidFill>
                  <a:srgbClr val="0D1B24"/>
                </a:solidFill>
                <a:latin typeface="Calibri" pitchFamily="34" charset="0"/>
                <a:ea typeface="Calibri" pitchFamily="34" charset="-122"/>
                <a:cs typeface="Calibri" pitchFamily="34" charset="-120"/>
              </a:rPr>
              <a:t>6</a:t>
            </a:r>
            <a:endParaRPr lang="en-US" sz="1800" dirty="0"/>
          </a:p>
        </p:txBody>
      </p:sp>
      <p:sp>
        <p:nvSpPr>
          <p:cNvPr id="34" name="Text 32"/>
          <p:cNvSpPr txBox="1"/>
          <p:nvPr/>
        </p:nvSpPr>
        <p:spPr>
          <a:xfrm>
            <a:off x="8275320" y="4800600"/>
            <a:ext cx="3108960" cy="411480"/>
          </a:xfrm>
          <a:prstGeom prst="rect">
            <a:avLst/>
          </a:prstGeom>
          <a:noFill/>
          <a:ln/>
        </p:spPr>
        <p:txBody>
          <a:bodyPr wrap="square" lIns="0" tIns="0" rIns="0" bIns="0" rtlCol="0" anchor="t"/>
          <a:lstStyle/>
          <a:p>
            <a:pPr marL="0" indent="0" algn="l">
              <a:buNone/>
            </a:pPr>
            <a:r>
              <a:rPr lang="en-US" sz="2000" b="1" dirty="0">
                <a:solidFill>
                  <a:srgbClr val="F4F1EA"/>
                </a:solidFill>
                <a:latin typeface="Cambria" pitchFamily="34" charset="0"/>
                <a:ea typeface="Cambria" pitchFamily="34" charset="-122"/>
                <a:cs typeface="Cambria" pitchFamily="34" charset="-120"/>
              </a:rPr>
              <a:t>Complications &amp; outcome</a:t>
            </a:r>
            <a:endParaRPr lang="en-US" sz="2000" dirty="0"/>
          </a:p>
        </p:txBody>
      </p:sp>
      <p:sp>
        <p:nvSpPr>
          <p:cNvPr id="35" name="Text 33"/>
          <p:cNvSpPr txBox="1"/>
          <p:nvPr/>
        </p:nvSpPr>
        <p:spPr>
          <a:xfrm>
            <a:off x="8275320" y="5230368"/>
            <a:ext cx="3108960" cy="640080"/>
          </a:xfrm>
          <a:prstGeom prst="rect">
            <a:avLst/>
          </a:prstGeom>
          <a:noFill/>
          <a:ln/>
        </p:spPr>
        <p:txBody>
          <a:bodyPr wrap="square" lIns="0" tIns="0" rIns="0" bIns="0" rtlCol="0" anchor="t"/>
          <a:lstStyle/>
          <a:p>
            <a:pPr marL="0" indent="0" algn="l">
              <a:buNone/>
            </a:pPr>
            <a:r>
              <a:rPr lang="en-US" sz="1485" dirty="0">
                <a:solidFill>
                  <a:srgbClr val="9FB3BD"/>
                </a:solidFill>
                <a:latin typeface="Calibri" pitchFamily="34" charset="0"/>
                <a:ea typeface="Calibri" pitchFamily="34" charset="-122"/>
                <a:cs typeface="Calibri" pitchFamily="34" charset="-120"/>
              </a:rPr>
              <a:t>Wound, infection, malunion, arthritis, evidence, viva points</a:t>
            </a:r>
            <a:endParaRPr lang="en-US" sz="148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4"/>
        </a:solidFill>
        <a:effectLst/>
      </p:bgPr>
    </p:bg>
    <p:spTree>
      <p:nvGrpSpPr>
        <p:cNvPr id="1" name=""/>
        <p:cNvGrpSpPr/>
        <p:nvPr/>
      </p:nvGrpSpPr>
      <p:grpSpPr>
        <a:xfrm>
          <a:off x="0" y="0"/>
          <a:ext cx="0" cy="0"/>
          <a:chOff x="0" y="0"/>
          <a:chExt cx="0" cy="0"/>
        </a:xfrm>
      </p:grpSpPr>
      <p:sp>
        <p:nvSpPr>
          <p:cNvPr id="3"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WHY IT MATTERS</a:t>
            </a:r>
            <a:endParaRPr lang="en-US" sz="1200" dirty="0"/>
          </a:p>
        </p:txBody>
      </p:sp>
      <p:sp>
        <p:nvSpPr>
          <p:cNvPr id="4"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The commonest tarsal fracture, a disabling one</a:t>
            </a:r>
            <a:endParaRPr lang="en-US" sz="3200" dirty="0"/>
          </a:p>
        </p:txBody>
      </p:sp>
      <p:sp>
        <p:nvSpPr>
          <p:cNvPr id="5"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6"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600200"/>
            <a:ext cx="2651760" cy="2103120"/>
          </a:xfrm>
          <a:prstGeom prst="roundRect">
            <a:avLst>
              <a:gd name="adj" fmla="val 3478"/>
            </a:avLst>
          </a:prstGeom>
          <a:solidFill>
            <a:srgbClr val="132A36"/>
          </a:solidFill>
          <a:ln w="9525">
            <a:solidFill>
              <a:srgbClr val="2C4756"/>
            </a:solidFill>
            <a:prstDash val="solid"/>
          </a:ln>
        </p:spPr>
      </p:sp>
      <p:sp>
        <p:nvSpPr>
          <p:cNvPr id="8" name="Text 5"/>
          <p:cNvSpPr txBox="1"/>
          <p:nvPr/>
        </p:nvSpPr>
        <p:spPr>
          <a:xfrm>
            <a:off x="548640" y="1783080"/>
            <a:ext cx="2651760" cy="1005840"/>
          </a:xfrm>
          <a:prstGeom prst="rect">
            <a:avLst/>
          </a:prstGeom>
          <a:noFill/>
          <a:ln/>
        </p:spPr>
        <p:txBody>
          <a:bodyPr wrap="square" lIns="0" tIns="0" rIns="0" bIns="0" rtlCol="0" anchor="t"/>
          <a:lstStyle/>
          <a:p>
            <a:pPr marL="0" indent="0" algn="ctr">
              <a:buNone/>
            </a:pPr>
            <a:r>
              <a:rPr lang="en-US" sz="5800" b="1" dirty="0">
                <a:solidFill>
                  <a:srgbClr val="2DD4BF"/>
                </a:solidFill>
                <a:latin typeface="Cambria" pitchFamily="34" charset="0"/>
                <a:ea typeface="Cambria" pitchFamily="34" charset="-122"/>
                <a:cs typeface="Cambria" pitchFamily="34" charset="-120"/>
              </a:rPr>
              <a:t>~2%</a:t>
            </a:r>
            <a:endParaRPr lang="en-US" sz="5800" dirty="0"/>
          </a:p>
        </p:txBody>
      </p:sp>
      <p:sp>
        <p:nvSpPr>
          <p:cNvPr id="9" name="Text 6"/>
          <p:cNvSpPr txBox="1"/>
          <p:nvPr/>
        </p:nvSpPr>
        <p:spPr>
          <a:xfrm>
            <a:off x="731520" y="2834640"/>
            <a:ext cx="2286000" cy="731520"/>
          </a:xfrm>
          <a:prstGeom prst="rect">
            <a:avLst/>
          </a:prstGeom>
          <a:noFill/>
          <a:ln/>
        </p:spPr>
        <p:txBody>
          <a:bodyPr wrap="square" lIns="0" tIns="0" rIns="0" bIns="0" rtlCol="0" anchor="t"/>
          <a:lstStyle/>
          <a:p>
            <a:pPr marL="0" indent="0" algn="ctr">
              <a:buNone/>
            </a:pPr>
            <a:r>
              <a:rPr lang="en-US" sz="1500" dirty="0">
                <a:solidFill>
                  <a:srgbClr val="F4F1EA"/>
                </a:solidFill>
                <a:latin typeface="Calibri" pitchFamily="34" charset="0"/>
                <a:ea typeface="Calibri" pitchFamily="34" charset="-122"/>
                <a:cs typeface="Calibri" pitchFamily="34" charset="-120"/>
              </a:rPr>
              <a:t>of all fractures</a:t>
            </a:r>
            <a:endParaRPr lang="en-US" sz="1500" dirty="0"/>
          </a:p>
        </p:txBody>
      </p:sp>
      <p:sp>
        <p:nvSpPr>
          <p:cNvPr id="10" name="Shape 7"/>
          <p:cNvSpPr/>
          <p:nvPr/>
        </p:nvSpPr>
        <p:spPr>
          <a:xfrm>
            <a:off x="3364992" y="1600200"/>
            <a:ext cx="2651760" cy="2103120"/>
          </a:xfrm>
          <a:prstGeom prst="roundRect">
            <a:avLst>
              <a:gd name="adj" fmla="val 3478"/>
            </a:avLst>
          </a:prstGeom>
          <a:solidFill>
            <a:srgbClr val="132A36"/>
          </a:solidFill>
          <a:ln w="9525">
            <a:solidFill>
              <a:srgbClr val="2C4756"/>
            </a:solidFill>
            <a:prstDash val="solid"/>
          </a:ln>
        </p:spPr>
      </p:sp>
      <p:sp>
        <p:nvSpPr>
          <p:cNvPr id="11" name="Text 8"/>
          <p:cNvSpPr txBox="1"/>
          <p:nvPr/>
        </p:nvSpPr>
        <p:spPr>
          <a:xfrm>
            <a:off x="3364992" y="1783080"/>
            <a:ext cx="2651760" cy="1005840"/>
          </a:xfrm>
          <a:prstGeom prst="rect">
            <a:avLst/>
          </a:prstGeom>
          <a:noFill/>
          <a:ln/>
        </p:spPr>
        <p:txBody>
          <a:bodyPr wrap="square" lIns="0" tIns="0" rIns="0" bIns="0" rtlCol="0" anchor="t"/>
          <a:lstStyle/>
          <a:p>
            <a:pPr marL="0" indent="0" algn="ctr">
              <a:buNone/>
            </a:pPr>
            <a:r>
              <a:rPr lang="en-US" sz="5800" b="1" dirty="0">
                <a:solidFill>
                  <a:srgbClr val="FBBF24"/>
                </a:solidFill>
                <a:latin typeface="Cambria" pitchFamily="34" charset="0"/>
                <a:ea typeface="Cambria" pitchFamily="34" charset="-122"/>
                <a:cs typeface="Cambria" pitchFamily="34" charset="-120"/>
              </a:rPr>
              <a:t>~60%</a:t>
            </a:r>
            <a:endParaRPr lang="en-US" sz="5800" dirty="0"/>
          </a:p>
        </p:txBody>
      </p:sp>
      <p:sp>
        <p:nvSpPr>
          <p:cNvPr id="12" name="Text 9"/>
          <p:cNvSpPr txBox="1"/>
          <p:nvPr/>
        </p:nvSpPr>
        <p:spPr>
          <a:xfrm>
            <a:off x="3547872" y="2834640"/>
            <a:ext cx="2286000" cy="731520"/>
          </a:xfrm>
          <a:prstGeom prst="rect">
            <a:avLst/>
          </a:prstGeom>
          <a:noFill/>
          <a:ln/>
        </p:spPr>
        <p:txBody>
          <a:bodyPr wrap="square" lIns="0" tIns="0" rIns="0" bIns="0" rtlCol="0" anchor="t"/>
          <a:lstStyle/>
          <a:p>
            <a:pPr marL="0" indent="0" algn="ctr">
              <a:buNone/>
            </a:pPr>
            <a:r>
              <a:rPr lang="en-US" sz="1500" dirty="0">
                <a:solidFill>
                  <a:srgbClr val="F4F1EA"/>
                </a:solidFill>
                <a:latin typeface="Calibri" pitchFamily="34" charset="0"/>
                <a:ea typeface="Calibri" pitchFamily="34" charset="-122"/>
                <a:cs typeface="Calibri" pitchFamily="34" charset="-120"/>
              </a:rPr>
              <a:t>of all tarsal fractures</a:t>
            </a:r>
            <a:endParaRPr lang="en-US" sz="1500" dirty="0"/>
          </a:p>
        </p:txBody>
      </p:sp>
      <p:sp>
        <p:nvSpPr>
          <p:cNvPr id="13" name="Shape 10"/>
          <p:cNvSpPr/>
          <p:nvPr/>
        </p:nvSpPr>
        <p:spPr>
          <a:xfrm>
            <a:off x="6181344" y="1600200"/>
            <a:ext cx="2651760" cy="2103120"/>
          </a:xfrm>
          <a:prstGeom prst="roundRect">
            <a:avLst>
              <a:gd name="adj" fmla="val 3478"/>
            </a:avLst>
          </a:prstGeom>
          <a:solidFill>
            <a:srgbClr val="132A36"/>
          </a:solidFill>
          <a:ln w="9525">
            <a:solidFill>
              <a:srgbClr val="2C4756"/>
            </a:solidFill>
            <a:prstDash val="solid"/>
          </a:ln>
        </p:spPr>
      </p:sp>
      <p:sp>
        <p:nvSpPr>
          <p:cNvPr id="14" name="Text 11"/>
          <p:cNvSpPr txBox="1"/>
          <p:nvPr/>
        </p:nvSpPr>
        <p:spPr>
          <a:xfrm>
            <a:off x="6181344" y="1783080"/>
            <a:ext cx="2651760" cy="1005840"/>
          </a:xfrm>
          <a:prstGeom prst="rect">
            <a:avLst/>
          </a:prstGeom>
          <a:noFill/>
          <a:ln/>
        </p:spPr>
        <p:txBody>
          <a:bodyPr wrap="square" lIns="0" tIns="0" rIns="0" bIns="0" rtlCol="0" anchor="t"/>
          <a:lstStyle/>
          <a:p>
            <a:pPr marL="0" indent="0" algn="ctr">
              <a:buNone/>
            </a:pPr>
            <a:r>
              <a:rPr lang="en-US" sz="5800" b="1" dirty="0">
                <a:solidFill>
                  <a:srgbClr val="FF7A45"/>
                </a:solidFill>
                <a:latin typeface="Cambria" pitchFamily="34" charset="0"/>
                <a:ea typeface="Cambria" pitchFamily="34" charset="-122"/>
                <a:cs typeface="Cambria" pitchFamily="34" charset="-120"/>
              </a:rPr>
              <a:t>~75%</a:t>
            </a:r>
            <a:endParaRPr lang="en-US" sz="5800" dirty="0"/>
          </a:p>
        </p:txBody>
      </p:sp>
      <p:sp>
        <p:nvSpPr>
          <p:cNvPr id="15" name="Text 12"/>
          <p:cNvSpPr txBox="1"/>
          <p:nvPr/>
        </p:nvSpPr>
        <p:spPr>
          <a:xfrm>
            <a:off x="6364224" y="2834640"/>
            <a:ext cx="2286000" cy="731520"/>
          </a:xfrm>
          <a:prstGeom prst="rect">
            <a:avLst/>
          </a:prstGeom>
          <a:noFill/>
          <a:ln/>
        </p:spPr>
        <p:txBody>
          <a:bodyPr wrap="square" lIns="0" tIns="0" rIns="0" bIns="0" rtlCol="0" anchor="t"/>
          <a:lstStyle/>
          <a:p>
            <a:pPr marL="0" indent="0" algn="ctr">
              <a:buNone/>
            </a:pPr>
            <a:r>
              <a:rPr lang="en-US" sz="1500" dirty="0">
                <a:solidFill>
                  <a:srgbClr val="F4F1EA"/>
                </a:solidFill>
                <a:latin typeface="Calibri" pitchFamily="34" charset="0"/>
                <a:ea typeface="Calibri" pitchFamily="34" charset="-122"/>
                <a:cs typeface="Calibri" pitchFamily="34" charset="-120"/>
              </a:rPr>
              <a:t>are intra-articular</a:t>
            </a:r>
            <a:endParaRPr lang="en-US" sz="1500" dirty="0"/>
          </a:p>
        </p:txBody>
      </p:sp>
      <p:sp>
        <p:nvSpPr>
          <p:cNvPr id="16" name="Shape 13"/>
          <p:cNvSpPr/>
          <p:nvPr/>
        </p:nvSpPr>
        <p:spPr>
          <a:xfrm>
            <a:off x="8997696" y="1600200"/>
            <a:ext cx="2651760" cy="2103120"/>
          </a:xfrm>
          <a:prstGeom prst="roundRect">
            <a:avLst>
              <a:gd name="adj" fmla="val 3478"/>
            </a:avLst>
          </a:prstGeom>
          <a:solidFill>
            <a:srgbClr val="132A36"/>
          </a:solidFill>
          <a:ln w="9525">
            <a:solidFill>
              <a:srgbClr val="2C4756"/>
            </a:solidFill>
            <a:prstDash val="solid"/>
          </a:ln>
        </p:spPr>
      </p:sp>
      <p:sp>
        <p:nvSpPr>
          <p:cNvPr id="17" name="Text 14"/>
          <p:cNvSpPr txBox="1"/>
          <p:nvPr/>
        </p:nvSpPr>
        <p:spPr>
          <a:xfrm>
            <a:off x="8997696" y="1783080"/>
            <a:ext cx="2651760" cy="1005840"/>
          </a:xfrm>
          <a:prstGeom prst="rect">
            <a:avLst/>
          </a:prstGeom>
          <a:noFill/>
          <a:ln/>
        </p:spPr>
        <p:txBody>
          <a:bodyPr wrap="square" lIns="0" tIns="0" rIns="0" bIns="0" rtlCol="0" anchor="t"/>
          <a:lstStyle/>
          <a:p>
            <a:pPr marL="0" indent="0" algn="ctr">
              <a:buNone/>
            </a:pPr>
            <a:r>
              <a:rPr lang="en-US" sz="5800" b="1" dirty="0">
                <a:solidFill>
                  <a:srgbClr val="F87171"/>
                </a:solidFill>
                <a:latin typeface="Cambria" pitchFamily="34" charset="0"/>
                <a:ea typeface="Cambria" pitchFamily="34" charset="-122"/>
                <a:cs typeface="Cambria" pitchFamily="34" charset="-120"/>
              </a:rPr>
              <a:t>~10%</a:t>
            </a:r>
            <a:endParaRPr lang="en-US" sz="5800" dirty="0"/>
          </a:p>
        </p:txBody>
      </p:sp>
      <p:sp>
        <p:nvSpPr>
          <p:cNvPr id="18" name="Text 15"/>
          <p:cNvSpPr txBox="1"/>
          <p:nvPr/>
        </p:nvSpPr>
        <p:spPr>
          <a:xfrm>
            <a:off x="9180576" y="2834640"/>
            <a:ext cx="2286000" cy="731520"/>
          </a:xfrm>
          <a:prstGeom prst="rect">
            <a:avLst/>
          </a:prstGeom>
          <a:noFill/>
          <a:ln/>
        </p:spPr>
        <p:txBody>
          <a:bodyPr wrap="square" lIns="0" tIns="0" rIns="0" bIns="0" rtlCol="0" anchor="t"/>
          <a:lstStyle/>
          <a:p>
            <a:pPr marL="0" indent="0" algn="ctr">
              <a:buNone/>
            </a:pPr>
            <a:r>
              <a:rPr lang="en-US" sz="1500" dirty="0">
                <a:solidFill>
                  <a:srgbClr val="F4F1EA"/>
                </a:solidFill>
                <a:latin typeface="Calibri" pitchFamily="34" charset="0"/>
                <a:ea typeface="Calibri" pitchFamily="34" charset="-122"/>
                <a:cs typeface="Calibri" pitchFamily="34" charset="-120"/>
              </a:rPr>
              <a:t>bilateral; a similar share have a spine injury</a:t>
            </a:r>
            <a:endParaRPr lang="en-US" sz="1500" dirty="0"/>
          </a:p>
        </p:txBody>
      </p:sp>
      <p:sp>
        <p:nvSpPr>
          <p:cNvPr id="19" name="Shape 16"/>
          <p:cNvSpPr/>
          <p:nvPr/>
        </p:nvSpPr>
        <p:spPr>
          <a:xfrm>
            <a:off x="548640" y="3977640"/>
            <a:ext cx="5532120" cy="2194560"/>
          </a:xfrm>
          <a:prstGeom prst="roundRect">
            <a:avLst>
              <a:gd name="adj" fmla="val 3333"/>
            </a:avLst>
          </a:prstGeom>
          <a:solidFill>
            <a:srgbClr val="132A36"/>
          </a:solidFill>
          <a:ln w="9525">
            <a:solidFill>
              <a:srgbClr val="2C4756"/>
            </a:solidFill>
            <a:prstDash val="solid"/>
          </a:ln>
        </p:spPr>
      </p:sp>
      <p:sp>
        <p:nvSpPr>
          <p:cNvPr id="20" name="Text 17"/>
          <p:cNvSpPr txBox="1"/>
          <p:nvPr/>
        </p:nvSpPr>
        <p:spPr>
          <a:xfrm>
            <a:off x="777240" y="4114800"/>
            <a:ext cx="5029200" cy="365760"/>
          </a:xfrm>
          <a:prstGeom prst="rect">
            <a:avLst/>
          </a:prstGeom>
          <a:noFill/>
          <a:ln/>
        </p:spPr>
        <p:txBody>
          <a:bodyPr wrap="square" lIns="0" tIns="0" rIns="0" bIns="0" rtlCol="0" anchor="t"/>
          <a:lstStyle/>
          <a:p>
            <a:pPr marL="0" indent="0" algn="l">
              <a:buNone/>
            </a:pPr>
            <a:r>
              <a:rPr lang="en-US" sz="1900" b="1" dirty="0">
                <a:solidFill>
                  <a:srgbClr val="2DD4BF"/>
                </a:solidFill>
                <a:latin typeface="Cambria" pitchFamily="34" charset="0"/>
                <a:ea typeface="Cambria" pitchFamily="34" charset="-122"/>
                <a:cs typeface="Cambria" pitchFamily="34" charset="-120"/>
              </a:rPr>
              <a:t>Typical patient</a:t>
            </a:r>
            <a:endParaRPr lang="en-US" sz="1900" dirty="0"/>
          </a:p>
        </p:txBody>
      </p:sp>
      <p:sp>
        <p:nvSpPr>
          <p:cNvPr id="21" name="Text 18"/>
          <p:cNvSpPr txBox="1"/>
          <p:nvPr/>
        </p:nvSpPr>
        <p:spPr>
          <a:xfrm>
            <a:off x="777240" y="4572000"/>
            <a:ext cx="5120640" cy="14630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4F1EA"/>
                </a:solidFill>
                <a:latin typeface="Calibri" pitchFamily="34" charset="0"/>
                <a:ea typeface="Calibri" pitchFamily="34" charset="-122"/>
                <a:cs typeface="Calibri" pitchFamily="34" charset="-120"/>
              </a:rPr>
              <a:t>Men aged 20 to 45, manual workers</a:t>
            </a:r>
            <a:endParaRPr lang="en-US" sz="1500" dirty="0"/>
          </a:p>
          <a:p>
            <a:pPr marL="203200" indent="-203200">
              <a:spcAft>
                <a:spcPts val="600"/>
              </a:spcAft>
              <a:buSzPct val="100000"/>
              <a:buChar char="•"/>
            </a:pPr>
            <a:r>
              <a:rPr lang="en-US" sz="1500" dirty="0">
                <a:solidFill>
                  <a:srgbClr val="F4F1EA"/>
                </a:solidFill>
                <a:latin typeface="Calibri" pitchFamily="34" charset="0"/>
                <a:ea typeface="Calibri" pitchFamily="34" charset="-122"/>
                <a:cs typeface="Calibri" pitchFamily="34" charset="-120"/>
              </a:rPr>
              <a:t>Fall from height or road-traffic accident</a:t>
            </a:r>
            <a:endParaRPr lang="en-US" sz="1500" dirty="0"/>
          </a:p>
          <a:p>
            <a:pPr marL="203200" indent="-203200">
              <a:spcAft>
                <a:spcPts val="600"/>
              </a:spcAft>
              <a:buSzPct val="100000"/>
              <a:buChar char="•"/>
            </a:pPr>
            <a:r>
              <a:rPr lang="en-US" sz="1500" dirty="0">
                <a:solidFill>
                  <a:srgbClr val="F4F1EA"/>
                </a:solidFill>
                <a:latin typeface="Calibri" pitchFamily="34" charset="0"/>
                <a:ea typeface="Calibri" pitchFamily="34" charset="-122"/>
                <a:cs typeface="Calibri" pitchFamily="34" charset="-120"/>
              </a:rPr>
              <a:t>Axial load: the talus is driven into the heel</a:t>
            </a:r>
            <a:endParaRPr lang="en-US" sz="1500" dirty="0"/>
          </a:p>
        </p:txBody>
      </p:sp>
      <p:sp>
        <p:nvSpPr>
          <p:cNvPr id="22" name="Shape 19"/>
          <p:cNvSpPr/>
          <p:nvPr/>
        </p:nvSpPr>
        <p:spPr>
          <a:xfrm>
            <a:off x="6263640" y="3977640"/>
            <a:ext cx="5376672" cy="2194560"/>
          </a:xfrm>
          <a:prstGeom prst="roundRect">
            <a:avLst>
              <a:gd name="adj" fmla="val 3333"/>
            </a:avLst>
          </a:prstGeom>
          <a:solidFill>
            <a:srgbClr val="132A36"/>
          </a:solidFill>
          <a:ln w="9525">
            <a:solidFill>
              <a:srgbClr val="2C4756"/>
            </a:solidFill>
            <a:prstDash val="solid"/>
          </a:ln>
        </p:spPr>
      </p:sp>
      <p:sp>
        <p:nvSpPr>
          <p:cNvPr id="23" name="Text 20"/>
          <p:cNvSpPr txBox="1"/>
          <p:nvPr/>
        </p:nvSpPr>
        <p:spPr>
          <a:xfrm>
            <a:off x="6492240" y="4114800"/>
            <a:ext cx="4937760" cy="365760"/>
          </a:xfrm>
          <a:prstGeom prst="rect">
            <a:avLst/>
          </a:prstGeom>
          <a:noFill/>
          <a:ln/>
        </p:spPr>
        <p:txBody>
          <a:bodyPr wrap="square" lIns="0" tIns="0" rIns="0" bIns="0" rtlCol="0" anchor="t"/>
          <a:lstStyle/>
          <a:p>
            <a:pPr marL="0" indent="0" algn="l">
              <a:buNone/>
            </a:pPr>
            <a:r>
              <a:rPr lang="en-US" sz="1900" b="1" dirty="0">
                <a:solidFill>
                  <a:srgbClr val="FF7A45"/>
                </a:solidFill>
                <a:latin typeface="Cambria" pitchFamily="34" charset="0"/>
                <a:ea typeface="Cambria" pitchFamily="34" charset="-122"/>
                <a:cs typeface="Cambria" pitchFamily="34" charset="-120"/>
              </a:rPr>
              <a:t>Why we worry</a:t>
            </a:r>
            <a:endParaRPr lang="en-US" sz="1900" dirty="0"/>
          </a:p>
        </p:txBody>
      </p:sp>
      <p:sp>
        <p:nvSpPr>
          <p:cNvPr id="24" name="Text 21"/>
          <p:cNvSpPr txBox="1"/>
          <p:nvPr/>
        </p:nvSpPr>
        <p:spPr>
          <a:xfrm>
            <a:off x="6492240" y="4572000"/>
            <a:ext cx="4937760" cy="14630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4F1EA"/>
                </a:solidFill>
                <a:latin typeface="Calibri" pitchFamily="34" charset="0"/>
                <a:ea typeface="Calibri" pitchFamily="34" charset="-122"/>
                <a:cs typeface="Calibri" pitchFamily="34" charset="-120"/>
              </a:rPr>
              <a:t>Thin soft-tissue envelope, so wound problems are common</a:t>
            </a:r>
            <a:endParaRPr lang="en-US" sz="1500" dirty="0"/>
          </a:p>
          <a:p>
            <a:pPr marL="203200" indent="-203200">
              <a:spcAft>
                <a:spcPts val="600"/>
              </a:spcAft>
              <a:buSzPct val="100000"/>
              <a:buChar char="•"/>
            </a:pPr>
            <a:r>
              <a:rPr lang="en-US" sz="1500" dirty="0">
                <a:solidFill>
                  <a:srgbClr val="F4F1EA"/>
                </a:solidFill>
                <a:latin typeface="Calibri" pitchFamily="34" charset="0"/>
                <a:ea typeface="Calibri" pitchFamily="34" charset="-122"/>
                <a:cs typeface="Calibri" pitchFamily="34" charset="-120"/>
              </a:rPr>
              <a:t>Subtalar joint is easily damaged; post-traumatic arthritis follows</a:t>
            </a:r>
            <a:endParaRPr lang="en-US" sz="1500" dirty="0"/>
          </a:p>
          <a:p>
            <a:pPr marL="203200" indent="-203200">
              <a:spcAft>
                <a:spcPts val="600"/>
              </a:spcAft>
              <a:buSzPct val="100000"/>
              <a:buChar char="•"/>
            </a:pPr>
            <a:r>
              <a:rPr lang="en-US" sz="1500" dirty="0">
                <a:solidFill>
                  <a:srgbClr val="F4F1EA"/>
                </a:solidFill>
                <a:latin typeface="Calibri" pitchFamily="34" charset="0"/>
                <a:ea typeface="Calibri" pitchFamily="34" charset="-122"/>
                <a:cs typeface="Calibri" pitchFamily="34" charset="-120"/>
              </a:rPr>
              <a:t>Long disability: many patients are off work for 6 to 12 months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APPLIED ANATOMY</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Osteology: </a:t>
            </a:r>
            <a:endParaRPr lang="en-US" sz="32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4</a:t>
            </a:r>
            <a:endParaRPr lang="en-US" sz="1000" dirty="0"/>
          </a:p>
        </p:txBody>
      </p:sp>
      <p:sp>
        <p:nvSpPr>
          <p:cNvPr id="8" name="Text 5"/>
          <p:cNvSpPr txBox="1"/>
          <p:nvPr/>
        </p:nvSpPr>
        <p:spPr>
          <a:xfrm>
            <a:off x="548640" y="6080760"/>
            <a:ext cx="3931920" cy="274320"/>
          </a:xfrm>
          <a:prstGeom prst="rect">
            <a:avLst/>
          </a:prstGeom>
          <a:noFill/>
          <a:ln/>
        </p:spPr>
        <p:txBody>
          <a:bodyPr wrap="square" lIns="0" tIns="0" rIns="0" bIns="0" rtlCol="0" anchor="t"/>
          <a:lstStyle/>
          <a:p>
            <a:pPr marL="0" indent="0" algn="l">
              <a:buNone/>
            </a:pPr>
            <a:endParaRPr lang="en-US" sz="950" dirty="0"/>
          </a:p>
        </p:txBody>
      </p:sp>
      <p:sp>
        <p:nvSpPr>
          <p:cNvPr id="10" name="Text 7"/>
          <p:cNvSpPr txBox="1"/>
          <p:nvPr/>
        </p:nvSpPr>
        <p:spPr>
          <a:xfrm>
            <a:off x="4937760" y="1600200"/>
            <a:ext cx="5943600" cy="320040"/>
          </a:xfrm>
          <a:prstGeom prst="rect">
            <a:avLst/>
          </a:prstGeom>
          <a:noFill/>
          <a:ln/>
        </p:spPr>
        <p:txBody>
          <a:bodyPr wrap="square" lIns="0" tIns="0" rIns="0" bIns="0" rtlCol="0" anchor="t"/>
          <a:lstStyle/>
          <a:p>
            <a:pPr marL="0" indent="0" algn="l">
              <a:buNone/>
            </a:pPr>
            <a:endParaRPr lang="en-US" sz="1700" dirty="0"/>
          </a:p>
        </p:txBody>
      </p:sp>
      <p:pic>
        <p:nvPicPr>
          <p:cNvPr id="14" name="Picture 13" descr="The image depicts a detailed anatomical illustration of the calcaneus (heel bone) with various anatomical structures, such as the anterior and posterior articulating surfaces, ligaments, and grooves for tendons, highlighting both the superior and inferior (lower) views.&#10;&#10;AI-generated content may be incorrect.">
            <a:extLst>
              <a:ext uri="{FF2B5EF4-FFF2-40B4-BE49-F238E27FC236}">
                <a16:creationId xmlns:a16="http://schemas.microsoft.com/office/drawing/2014/main" id="{CB2F3170-B849-A946-9569-AF92A6A6B8F3}"/>
              </a:ext>
            </a:extLst>
          </p:cNvPr>
          <p:cNvPicPr>
            <a:picLocks noChangeAspect="1"/>
          </p:cNvPicPr>
          <p:nvPr/>
        </p:nvPicPr>
        <p:blipFill>
          <a:blip r:embed="rId3"/>
          <a:stretch>
            <a:fillRect/>
          </a:stretch>
        </p:blipFill>
        <p:spPr>
          <a:xfrm>
            <a:off x="196850" y="1252728"/>
            <a:ext cx="5727699" cy="4671822"/>
          </a:xfrm>
          <a:prstGeom prst="rect">
            <a:avLst/>
          </a:prstGeom>
        </p:spPr>
      </p:pic>
      <p:pic>
        <p:nvPicPr>
          <p:cNvPr id="16" name="Picture 15" descr="The image displays a lateral and medial anatomical illustration of the calcaneum, highlighting its various articulating surfaces and processes, including the sustentaculum tali, anterior and posterior articular surfaces, tuberosity, trochlear process, and groove for the peroneus longus.&#10;&#10;AI-generated content may be incorrect.">
            <a:extLst>
              <a:ext uri="{FF2B5EF4-FFF2-40B4-BE49-F238E27FC236}">
                <a16:creationId xmlns:a16="http://schemas.microsoft.com/office/drawing/2014/main" id="{13ABDD4E-3CF4-B715-A31F-4C9616E2274C}"/>
              </a:ext>
            </a:extLst>
          </p:cNvPr>
          <p:cNvPicPr>
            <a:picLocks noChangeAspect="1"/>
          </p:cNvPicPr>
          <p:nvPr/>
        </p:nvPicPr>
        <p:blipFill>
          <a:blip r:embed="rId4"/>
          <a:stretch>
            <a:fillRect/>
          </a:stretch>
        </p:blipFill>
        <p:spPr>
          <a:xfrm>
            <a:off x="6096000" y="1252728"/>
            <a:ext cx="5981700" cy="467182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361D24-2626-B5C9-F97B-C93C9FBE5185}"/>
              </a:ext>
            </a:extLst>
          </p:cNvPr>
          <p:cNvSpPr txBox="1"/>
          <p:nvPr/>
        </p:nvSpPr>
        <p:spPr>
          <a:xfrm>
            <a:off x="-79789" y="1669919"/>
            <a:ext cx="9181616" cy="3416320"/>
          </a:xfrm>
          <a:prstGeom prst="rect">
            <a:avLst/>
          </a:prstGeom>
          <a:noFill/>
        </p:spPr>
        <p:txBody>
          <a:bodyPr wrap="none" rtlCol="0">
            <a:spAutoFit/>
          </a:bodyPr>
          <a:lstStyle/>
          <a:p>
            <a:pPr marL="203200" indent="-203200">
              <a:buSzPct val="100000"/>
              <a:buChar char="•"/>
            </a:pPr>
            <a:r>
              <a:rPr lang="en-US" sz="2400" b="1" dirty="0">
                <a:solidFill>
                  <a:srgbClr val="FBBF24"/>
                </a:solidFill>
                <a:latin typeface="Calibri" pitchFamily="34" charset="0"/>
                <a:ea typeface="Calibri" pitchFamily="34" charset="-122"/>
                <a:cs typeface="Calibri" pitchFamily="34" charset="-120"/>
              </a:rPr>
              <a:t>Largest tarsal bone </a:t>
            </a:r>
            <a:r>
              <a:rPr lang="en-US" sz="2400" dirty="0">
                <a:solidFill>
                  <a:srgbClr val="F4F1EA"/>
                </a:solidFill>
                <a:latin typeface="Calibri" pitchFamily="34" charset="0"/>
                <a:ea typeface="Calibri" pitchFamily="34" charset="-122"/>
                <a:cs typeface="Calibri" pitchFamily="34" charset="-120"/>
              </a:rPr>
              <a:t>and the keystone of the lateral column; </a:t>
            </a:r>
          </a:p>
          <a:p>
            <a:pPr marL="203200" indent="-203200">
              <a:buSzPct val="100000"/>
              <a:buChar char="•"/>
            </a:pPr>
            <a:r>
              <a:rPr lang="en-US" sz="2400" dirty="0">
                <a:solidFill>
                  <a:srgbClr val="F4F1EA"/>
                </a:solidFill>
                <a:latin typeface="Calibri" pitchFamily="34" charset="0"/>
                <a:ea typeface="Calibri" pitchFamily="34" charset="-122"/>
                <a:cs typeface="Calibri" pitchFamily="34" charset="-120"/>
              </a:rPr>
              <a:t>it carries body weight to the ground</a:t>
            </a:r>
            <a:endParaRPr lang="en-US" sz="2400" dirty="0"/>
          </a:p>
          <a:p>
            <a:pPr marL="203200" indent="-203200">
              <a:buSzPct val="100000"/>
              <a:buChar char="•"/>
            </a:pPr>
            <a:r>
              <a:rPr lang="en-US" sz="2400" b="1" dirty="0">
                <a:solidFill>
                  <a:srgbClr val="FBBF24"/>
                </a:solidFill>
                <a:latin typeface="Calibri" pitchFamily="34" charset="0"/>
                <a:ea typeface="Calibri" pitchFamily="34" charset="-122"/>
                <a:cs typeface="Calibri" pitchFamily="34" charset="-120"/>
              </a:rPr>
              <a:t>Posterior facet </a:t>
            </a:r>
            <a:r>
              <a:rPr lang="en-US" sz="2400" dirty="0">
                <a:solidFill>
                  <a:srgbClr val="F4F1EA"/>
                </a:solidFill>
                <a:latin typeface="Calibri" pitchFamily="34" charset="0"/>
                <a:ea typeface="Calibri" pitchFamily="34" charset="-122"/>
                <a:cs typeface="Calibri" pitchFamily="34" charset="-120"/>
              </a:rPr>
              <a:t>articulates with the talus: the subtalar joint, </a:t>
            </a:r>
          </a:p>
          <a:p>
            <a:pPr marL="203200" indent="-203200">
              <a:buSzPct val="100000"/>
              <a:buChar char="•"/>
            </a:pPr>
            <a:r>
              <a:rPr lang="en-US" sz="2400" dirty="0">
                <a:solidFill>
                  <a:srgbClr val="F4F1EA"/>
                </a:solidFill>
                <a:latin typeface="Calibri" pitchFamily="34" charset="0"/>
                <a:ea typeface="Calibri" pitchFamily="34" charset="-122"/>
                <a:cs typeface="Calibri" pitchFamily="34" charset="-120"/>
              </a:rPr>
              <a:t>key to inversion and eversion</a:t>
            </a:r>
            <a:endParaRPr lang="en-US" sz="2400" dirty="0"/>
          </a:p>
          <a:p>
            <a:pPr marL="203200" indent="-203200">
              <a:buSzPct val="100000"/>
              <a:buChar char="•"/>
            </a:pPr>
            <a:r>
              <a:rPr lang="en-US" sz="2400" b="1" dirty="0">
                <a:solidFill>
                  <a:srgbClr val="FBBF24"/>
                </a:solidFill>
                <a:latin typeface="Calibri" pitchFamily="34" charset="0"/>
                <a:ea typeface="Calibri" pitchFamily="34" charset="-122"/>
                <a:cs typeface="Calibri" pitchFamily="34" charset="-120"/>
              </a:rPr>
              <a:t>Thin cortex, cancellous body </a:t>
            </a:r>
            <a:r>
              <a:rPr lang="en-US" sz="2400" dirty="0">
                <a:solidFill>
                  <a:srgbClr val="F4F1EA"/>
                </a:solidFill>
                <a:latin typeface="Calibri" pitchFamily="34" charset="0"/>
                <a:ea typeface="Calibri" pitchFamily="34" charset="-122"/>
                <a:cs typeface="Calibri" pitchFamily="34" charset="-120"/>
              </a:rPr>
              <a:t>with a sparse "neutral triangle" beneath </a:t>
            </a:r>
          </a:p>
          <a:p>
            <a:pPr marL="203200" indent="-203200">
              <a:buSzPct val="100000"/>
              <a:buChar char="•"/>
            </a:pPr>
            <a:r>
              <a:rPr lang="en-US" sz="2400" dirty="0">
                <a:solidFill>
                  <a:srgbClr val="F4F1EA"/>
                </a:solidFill>
                <a:latin typeface="Calibri" pitchFamily="34" charset="0"/>
                <a:ea typeface="Calibri" pitchFamily="34" charset="-122"/>
                <a:cs typeface="Calibri" pitchFamily="34" charset="-120"/>
              </a:rPr>
              <a:t>the angle of </a:t>
            </a:r>
            <a:r>
              <a:rPr lang="en-US" sz="2400" dirty="0" err="1">
                <a:solidFill>
                  <a:srgbClr val="F4F1EA"/>
                </a:solidFill>
                <a:latin typeface="Calibri" pitchFamily="34" charset="0"/>
                <a:ea typeface="Calibri" pitchFamily="34" charset="-122"/>
                <a:cs typeface="Calibri" pitchFamily="34" charset="-120"/>
              </a:rPr>
              <a:t>Gissane</a:t>
            </a:r>
            <a:endParaRPr lang="en-US" sz="2400" dirty="0"/>
          </a:p>
          <a:p>
            <a:pPr marL="203200" indent="-203200">
              <a:buSzPct val="100000"/>
              <a:buChar char="•"/>
            </a:pPr>
            <a:r>
              <a:rPr lang="en-US" sz="2400" b="1" dirty="0">
                <a:solidFill>
                  <a:srgbClr val="FBBF24"/>
                </a:solidFill>
                <a:latin typeface="Calibri" pitchFamily="34" charset="0"/>
                <a:ea typeface="Calibri" pitchFamily="34" charset="-122"/>
                <a:cs typeface="Calibri" pitchFamily="34" charset="-120"/>
              </a:rPr>
              <a:t>Ossification: </a:t>
            </a:r>
            <a:r>
              <a:rPr lang="en-US" sz="2400" dirty="0">
                <a:solidFill>
                  <a:srgbClr val="F4F1EA"/>
                </a:solidFill>
                <a:latin typeface="Calibri" pitchFamily="34" charset="0"/>
                <a:ea typeface="Calibri" pitchFamily="34" charset="-122"/>
                <a:cs typeface="Calibri" pitchFamily="34" charset="-120"/>
              </a:rPr>
              <a:t>primary </a:t>
            </a:r>
            <a:r>
              <a:rPr lang="en-US" sz="2400" dirty="0" err="1">
                <a:solidFill>
                  <a:srgbClr val="F4F1EA"/>
                </a:solidFill>
                <a:latin typeface="Calibri" pitchFamily="34" charset="0"/>
                <a:ea typeface="Calibri" pitchFamily="34" charset="-122"/>
                <a:cs typeface="Calibri" pitchFamily="34" charset="-120"/>
              </a:rPr>
              <a:t>centre</a:t>
            </a:r>
            <a:r>
              <a:rPr lang="en-US" sz="2400" dirty="0">
                <a:solidFill>
                  <a:srgbClr val="F4F1EA"/>
                </a:solidFill>
                <a:latin typeface="Calibri" pitchFamily="34" charset="0"/>
                <a:ea typeface="Calibri" pitchFamily="34" charset="-122"/>
                <a:cs typeface="Calibri" pitchFamily="34" charset="-120"/>
              </a:rPr>
              <a:t> before birth; posterior apophysis appears </a:t>
            </a:r>
          </a:p>
          <a:p>
            <a:pPr marL="203200" indent="-203200">
              <a:buSzPct val="100000"/>
              <a:buChar char="•"/>
            </a:pPr>
            <a:r>
              <a:rPr lang="en-US" sz="2400" dirty="0">
                <a:solidFill>
                  <a:srgbClr val="F4F1EA"/>
                </a:solidFill>
                <a:latin typeface="Calibri" pitchFamily="34" charset="0"/>
                <a:ea typeface="Calibri" pitchFamily="34" charset="-122"/>
                <a:cs typeface="Calibri" pitchFamily="34" charset="-120"/>
              </a:rPr>
              <a:t>about 7 to 9 years (Sever's disease)</a:t>
            </a:r>
            <a:endParaRPr lang="en-US" sz="2400" dirty="0"/>
          </a:p>
          <a:p>
            <a:endParaRPr lang="en-IN" sz="2400" dirty="0"/>
          </a:p>
        </p:txBody>
      </p:sp>
      <p:sp>
        <p:nvSpPr>
          <p:cNvPr id="5" name="Text 0">
            <a:extLst>
              <a:ext uri="{FF2B5EF4-FFF2-40B4-BE49-F238E27FC236}">
                <a16:creationId xmlns:a16="http://schemas.microsoft.com/office/drawing/2014/main" id="{49AB6CAC-6A2B-9569-698A-EF4EC08B5A45}"/>
              </a:ext>
            </a:extLst>
          </p:cNvPr>
          <p:cNvSpPr txBox="1"/>
          <p:nvPr/>
        </p:nvSpPr>
        <p:spPr>
          <a:xfrm>
            <a:off x="548640" y="358140"/>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APPLIED ANATOMY</a:t>
            </a:r>
            <a:endParaRPr lang="en-US" sz="1200" dirty="0"/>
          </a:p>
        </p:txBody>
      </p:sp>
      <p:sp>
        <p:nvSpPr>
          <p:cNvPr id="8" name="Text 0">
            <a:extLst>
              <a:ext uri="{FF2B5EF4-FFF2-40B4-BE49-F238E27FC236}">
                <a16:creationId xmlns:a16="http://schemas.microsoft.com/office/drawing/2014/main" id="{5ECECABD-1F6D-0FFC-C5E9-BF608F9F09C1}"/>
              </a:ext>
            </a:extLst>
          </p:cNvPr>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APPLIED ANATOMY</a:t>
            </a:r>
            <a:endParaRPr lang="en-US" sz="1200" dirty="0"/>
          </a:p>
        </p:txBody>
      </p:sp>
      <p:sp>
        <p:nvSpPr>
          <p:cNvPr id="10" name="TextBox 9">
            <a:extLst>
              <a:ext uri="{FF2B5EF4-FFF2-40B4-BE49-F238E27FC236}">
                <a16:creationId xmlns:a16="http://schemas.microsoft.com/office/drawing/2014/main" id="{FEBA84D3-7B81-F9F4-E327-75FCA085992E}"/>
              </a:ext>
            </a:extLst>
          </p:cNvPr>
          <p:cNvSpPr txBox="1"/>
          <p:nvPr/>
        </p:nvSpPr>
        <p:spPr>
          <a:xfrm>
            <a:off x="127000" y="6423549"/>
            <a:ext cx="2757486" cy="246221"/>
          </a:xfrm>
          <a:prstGeom prst="rect">
            <a:avLst/>
          </a:prstGeom>
          <a:noFill/>
        </p:spPr>
        <p:txBody>
          <a:bodyPr wrap="none" rtlCol="0">
            <a:spAutoFit/>
          </a:bodyPr>
          <a:lstStyle/>
          <a:p>
            <a:r>
              <a:rPr lang="en-US" sz="1000" dirty="0">
                <a:solidFill>
                  <a:srgbClr val="9FB3BD"/>
                </a:solidFill>
                <a:latin typeface="Calibri" pitchFamily="34" charset="0"/>
                <a:ea typeface="Calibri" pitchFamily="34" charset="-122"/>
                <a:cs typeface="Calibri" pitchFamily="34" charset="-120"/>
              </a:rPr>
              <a:t>Calcaneum Fractures  ·  </a:t>
            </a:r>
            <a:r>
              <a:rPr lang="en-US" sz="1000" dirty="0" err="1">
                <a:solidFill>
                  <a:srgbClr val="9FB3BD"/>
                </a:solidFill>
                <a:latin typeface="Calibri" pitchFamily="34" charset="0"/>
                <a:ea typeface="Calibri" pitchFamily="34" charset="-122"/>
                <a:cs typeface="Calibri" pitchFamily="34" charset="-120"/>
              </a:rPr>
              <a:t>Orthopaedics</a:t>
            </a:r>
            <a:r>
              <a:rPr lang="en-US" sz="1000" dirty="0">
                <a:solidFill>
                  <a:srgbClr val="9FB3BD"/>
                </a:solidFill>
                <a:latin typeface="Calibri" pitchFamily="34" charset="0"/>
                <a:ea typeface="Calibri" pitchFamily="34" charset="-122"/>
                <a:cs typeface="Calibri" pitchFamily="34" charset="-120"/>
              </a:rPr>
              <a:t> PG Seminar</a:t>
            </a:r>
            <a:endParaRPr lang="en-US" sz="1000" dirty="0"/>
          </a:p>
        </p:txBody>
      </p:sp>
    </p:spTree>
    <p:extLst>
      <p:ext uri="{BB962C8B-B14F-4D97-AF65-F5344CB8AC3E}">
        <p14:creationId xmlns:p14="http://schemas.microsoft.com/office/powerpoint/2010/main" val="1153308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D1B24"/>
        </a:solidFill>
        <a:effectLst/>
      </p:bgPr>
    </p:bg>
    <p:spTree>
      <p:nvGrpSpPr>
        <p:cNvPr id="1" name=""/>
        <p:cNvGrpSpPr/>
        <p:nvPr/>
      </p:nvGrpSpPr>
      <p:grpSpPr>
        <a:xfrm>
          <a:off x="0" y="0"/>
          <a:ext cx="0" cy="0"/>
          <a:chOff x="0" y="0"/>
          <a:chExt cx="0" cy="0"/>
        </a:xfrm>
      </p:grpSpPr>
      <p:sp>
        <p:nvSpPr>
          <p:cNvPr id="3"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APPLIED ANATOMY</a:t>
            </a:r>
            <a:endParaRPr lang="en-US" sz="1200" dirty="0"/>
          </a:p>
        </p:txBody>
      </p:sp>
      <p:sp>
        <p:nvSpPr>
          <p:cNvPr id="4"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Radiographic anatomy: Böhler and Gissane</a:t>
            </a:r>
            <a:endParaRPr lang="en-US" sz="3200" dirty="0"/>
          </a:p>
        </p:txBody>
      </p:sp>
      <p:sp>
        <p:nvSpPr>
          <p:cNvPr id="5"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6"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508760"/>
            <a:ext cx="5943600" cy="4114800"/>
          </a:xfrm>
          <a:prstGeom prst="roundRect">
            <a:avLst>
              <a:gd name="adj" fmla="val 1333"/>
            </a:avLst>
          </a:prstGeom>
          <a:solidFill>
            <a:srgbClr val="0D1B24"/>
          </a:solidFill>
          <a:ln w="9525">
            <a:solidFill>
              <a:srgbClr val="2C4756"/>
            </a:solidFill>
            <a:prstDash val="solid"/>
          </a:ln>
        </p:spPr>
      </p:sp>
      <p:sp>
        <p:nvSpPr>
          <p:cNvPr id="10" name="Shape 6"/>
          <p:cNvSpPr/>
          <p:nvPr/>
        </p:nvSpPr>
        <p:spPr>
          <a:xfrm>
            <a:off x="6720840" y="1508760"/>
            <a:ext cx="2468880" cy="2331720"/>
          </a:xfrm>
          <a:prstGeom prst="roundRect">
            <a:avLst>
              <a:gd name="adj" fmla="val 2353"/>
            </a:avLst>
          </a:prstGeom>
          <a:solidFill>
            <a:srgbClr val="070F14"/>
          </a:solidFill>
          <a:ln w="9525">
            <a:solidFill>
              <a:srgbClr val="2C4756"/>
            </a:solidFill>
            <a:prstDash val="solid"/>
          </a:ln>
        </p:spPr>
      </p:sp>
      <p:pic>
        <p:nvPicPr>
          <p:cNvPr id="11" name="Image 1" descr="C:\Users\pawan\Documents\GitHub\ortho-chronicles\slides\img_calc\c14_norm.png"/>
          <p:cNvPicPr>
            <a:picLocks noChangeAspect="1"/>
          </p:cNvPicPr>
          <p:nvPr/>
        </p:nvPicPr>
        <p:blipFill>
          <a:blip r:embed="rId3"/>
          <a:stretch>
            <a:fillRect/>
          </a:stretch>
        </p:blipFill>
        <p:spPr>
          <a:xfrm>
            <a:off x="6775704" y="1608154"/>
            <a:ext cx="2359152" cy="2132932"/>
          </a:xfrm>
          <a:prstGeom prst="rect">
            <a:avLst/>
          </a:prstGeom>
        </p:spPr>
      </p:pic>
      <p:sp>
        <p:nvSpPr>
          <p:cNvPr id="12" name="Shape 7"/>
          <p:cNvSpPr/>
          <p:nvPr/>
        </p:nvSpPr>
        <p:spPr>
          <a:xfrm>
            <a:off x="9281160" y="1508760"/>
            <a:ext cx="2377440" cy="2331720"/>
          </a:xfrm>
          <a:prstGeom prst="roundRect">
            <a:avLst>
              <a:gd name="adj" fmla="val 2353"/>
            </a:avLst>
          </a:prstGeom>
          <a:solidFill>
            <a:srgbClr val="070F14"/>
          </a:solidFill>
          <a:ln w="9525">
            <a:solidFill>
              <a:srgbClr val="2C4756"/>
            </a:solidFill>
            <a:prstDash val="solid"/>
          </a:ln>
        </p:spPr>
      </p:sp>
      <p:pic>
        <p:nvPicPr>
          <p:cNvPr id="13" name="Image 2" descr="C:\Users\pawan\Documents\GitHub\ortho-chronicles\slides\img_calc\c14_frac.png"/>
          <p:cNvPicPr>
            <a:picLocks noChangeAspect="1"/>
          </p:cNvPicPr>
          <p:nvPr/>
        </p:nvPicPr>
        <p:blipFill>
          <a:blip r:embed="rId4"/>
          <a:stretch>
            <a:fillRect/>
          </a:stretch>
        </p:blipFill>
        <p:spPr>
          <a:xfrm>
            <a:off x="9336024" y="1683143"/>
            <a:ext cx="2267712" cy="1982954"/>
          </a:xfrm>
          <a:prstGeom prst="rect">
            <a:avLst/>
          </a:prstGeom>
        </p:spPr>
      </p:pic>
      <p:sp>
        <p:nvSpPr>
          <p:cNvPr id="14" name="Text 8"/>
          <p:cNvSpPr txBox="1"/>
          <p:nvPr/>
        </p:nvSpPr>
        <p:spPr>
          <a:xfrm>
            <a:off x="6720840" y="3886200"/>
            <a:ext cx="2468880" cy="274320"/>
          </a:xfrm>
          <a:prstGeom prst="rect">
            <a:avLst/>
          </a:prstGeom>
          <a:noFill/>
          <a:ln/>
        </p:spPr>
        <p:txBody>
          <a:bodyPr wrap="square" lIns="0" tIns="0" rIns="0" bIns="0" rtlCol="0" anchor="t"/>
          <a:lstStyle/>
          <a:p>
            <a:pPr marL="0" indent="0" algn="l">
              <a:buNone/>
            </a:pPr>
            <a:r>
              <a:rPr lang="en-US" sz="1100" dirty="0">
                <a:solidFill>
                  <a:srgbClr val="2DD4BF"/>
                </a:solidFill>
                <a:latin typeface="Calibri" pitchFamily="34" charset="0"/>
                <a:ea typeface="Calibri" pitchFamily="34" charset="-122"/>
                <a:cs typeface="Calibri" pitchFamily="34" charset="-120"/>
              </a:rPr>
              <a:t>Normal: Böhler 36.7°</a:t>
            </a:r>
            <a:endParaRPr lang="en-US" sz="1100" dirty="0"/>
          </a:p>
        </p:txBody>
      </p:sp>
      <p:sp>
        <p:nvSpPr>
          <p:cNvPr id="15" name="Text 9"/>
          <p:cNvSpPr txBox="1"/>
          <p:nvPr/>
        </p:nvSpPr>
        <p:spPr>
          <a:xfrm>
            <a:off x="9281160" y="3886200"/>
            <a:ext cx="2377440" cy="274320"/>
          </a:xfrm>
          <a:prstGeom prst="rect">
            <a:avLst/>
          </a:prstGeom>
          <a:noFill/>
          <a:ln/>
        </p:spPr>
        <p:txBody>
          <a:bodyPr wrap="square" lIns="0" tIns="0" rIns="0" bIns="0" rtlCol="0" anchor="t"/>
          <a:lstStyle/>
          <a:p>
            <a:pPr marL="0" indent="0" algn="l">
              <a:buNone/>
            </a:pPr>
            <a:r>
              <a:rPr lang="en-US" sz="1100" dirty="0">
                <a:solidFill>
                  <a:srgbClr val="FF7A45"/>
                </a:solidFill>
                <a:latin typeface="Calibri" pitchFamily="34" charset="0"/>
                <a:ea typeface="Calibri" pitchFamily="34" charset="-122"/>
                <a:cs typeface="Calibri" pitchFamily="34" charset="-120"/>
              </a:rPr>
              <a:t>Fracture: Böhler 18.8°</a:t>
            </a:r>
            <a:endParaRPr lang="en-US" sz="1100" dirty="0"/>
          </a:p>
        </p:txBody>
      </p:sp>
      <p:sp>
        <p:nvSpPr>
          <p:cNvPr id="16" name="Text 10"/>
          <p:cNvSpPr txBox="1"/>
          <p:nvPr/>
        </p:nvSpPr>
        <p:spPr>
          <a:xfrm>
            <a:off x="6720840" y="4160520"/>
            <a:ext cx="4937760" cy="274320"/>
          </a:xfrm>
          <a:prstGeom prst="rect">
            <a:avLst/>
          </a:prstGeom>
          <a:noFill/>
          <a:ln/>
        </p:spPr>
        <p:txBody>
          <a:bodyPr wrap="square" lIns="0" tIns="0" rIns="0" bIns="0" rtlCol="0" anchor="t"/>
          <a:lstStyle/>
          <a:p>
            <a:pPr marL="0" indent="0" algn="l">
              <a:buNone/>
            </a:pPr>
            <a:r>
              <a:rPr lang="en-US" sz="950" i="1" dirty="0">
                <a:solidFill>
                  <a:srgbClr val="9FB3BD"/>
                </a:solidFill>
                <a:latin typeface="Calibri" pitchFamily="34" charset="0"/>
                <a:ea typeface="Calibri" pitchFamily="34" charset="-122"/>
                <a:cs typeface="Calibri" pitchFamily="34" charset="-120"/>
              </a:rPr>
              <a:t>Real radiographs · Gilo1969 · CC BY-SA 3.0</a:t>
            </a:r>
            <a:endParaRPr lang="en-US" sz="950" dirty="0"/>
          </a:p>
        </p:txBody>
      </p:sp>
      <p:sp>
        <p:nvSpPr>
          <p:cNvPr id="17" name="Shape 11"/>
          <p:cNvSpPr/>
          <p:nvPr/>
        </p:nvSpPr>
        <p:spPr>
          <a:xfrm>
            <a:off x="6720840" y="4526280"/>
            <a:ext cx="4937760" cy="1783080"/>
          </a:xfrm>
          <a:prstGeom prst="roundRect">
            <a:avLst>
              <a:gd name="adj" fmla="val 4103"/>
            </a:avLst>
          </a:prstGeom>
          <a:solidFill>
            <a:srgbClr val="132A36"/>
          </a:solidFill>
          <a:ln w="9525">
            <a:solidFill>
              <a:srgbClr val="2C4756"/>
            </a:solidFill>
            <a:prstDash val="solid"/>
          </a:ln>
        </p:spPr>
      </p:sp>
      <p:sp>
        <p:nvSpPr>
          <p:cNvPr id="18" name="Text 12"/>
          <p:cNvSpPr txBox="1"/>
          <p:nvPr/>
        </p:nvSpPr>
        <p:spPr>
          <a:xfrm>
            <a:off x="6583680" y="4379976"/>
            <a:ext cx="4937760" cy="2214038"/>
          </a:xfrm>
          <a:prstGeom prst="rect">
            <a:avLst/>
          </a:prstGeom>
          <a:noFill/>
          <a:ln/>
        </p:spPr>
        <p:txBody>
          <a:bodyPr wrap="square" lIns="0" tIns="0" rIns="0" bIns="0" rtlCol="0" anchor="t"/>
          <a:lstStyle/>
          <a:p>
            <a:pPr marL="203200" indent="-203200">
              <a:buSzPct val="100000"/>
              <a:buChar char="•"/>
            </a:pPr>
            <a:r>
              <a:rPr lang="en-US" b="1" dirty="0">
                <a:solidFill>
                  <a:srgbClr val="FBBF24"/>
                </a:solidFill>
                <a:latin typeface="Calibri" pitchFamily="34" charset="0"/>
                <a:ea typeface="Calibri" pitchFamily="34" charset="-122"/>
                <a:cs typeface="Calibri" pitchFamily="34" charset="-120"/>
              </a:rPr>
              <a:t>Böhler &lt;20° </a:t>
            </a:r>
            <a:r>
              <a:rPr lang="en-US" dirty="0">
                <a:solidFill>
                  <a:srgbClr val="F4F1EA"/>
                </a:solidFill>
                <a:latin typeface="Calibri" pitchFamily="34" charset="0"/>
                <a:ea typeface="Calibri" pitchFamily="34" charset="-122"/>
                <a:cs typeface="Calibri" pitchFamily="34" charset="-120"/>
              </a:rPr>
              <a:t>means the posterior facet has collapsed and the heel has lost height</a:t>
            </a:r>
            <a:endParaRPr lang="en-US" dirty="0"/>
          </a:p>
          <a:p>
            <a:pPr marL="203200" indent="-203200">
              <a:buSzPct val="100000"/>
              <a:buChar char="•"/>
            </a:pPr>
            <a:r>
              <a:rPr lang="en-US" b="1" dirty="0">
                <a:solidFill>
                  <a:srgbClr val="FBBF24"/>
                </a:solidFill>
                <a:latin typeface="Calibri" pitchFamily="34" charset="0"/>
                <a:ea typeface="Calibri" pitchFamily="34" charset="-122"/>
                <a:cs typeface="Calibri" pitchFamily="34" charset="-120"/>
              </a:rPr>
              <a:t>Gissane &gt;145° </a:t>
            </a:r>
            <a:r>
              <a:rPr lang="en-US" dirty="0">
                <a:solidFill>
                  <a:srgbClr val="F4F1EA"/>
                </a:solidFill>
                <a:latin typeface="Calibri" pitchFamily="34" charset="0"/>
                <a:ea typeface="Calibri" pitchFamily="34" charset="-122"/>
                <a:cs typeface="Calibri" pitchFamily="34" charset="-120"/>
              </a:rPr>
              <a:t>or disrupted means the facet is depressed into the body</a:t>
            </a:r>
            <a:endParaRPr lang="en-US" dirty="0"/>
          </a:p>
          <a:p>
            <a:pPr marL="203200" indent="-203200">
              <a:buSzPct val="100000"/>
              <a:buChar char="•"/>
            </a:pPr>
            <a:r>
              <a:rPr lang="en-US" b="1" dirty="0">
                <a:solidFill>
                  <a:srgbClr val="FBBF24"/>
                </a:solidFill>
                <a:latin typeface="Calibri" pitchFamily="34" charset="0"/>
                <a:ea typeface="Calibri" pitchFamily="34" charset="-122"/>
                <a:cs typeface="Calibri" pitchFamily="34" charset="-120"/>
              </a:rPr>
              <a:t>Compare with the other foot </a:t>
            </a:r>
            <a:r>
              <a:rPr lang="en-US" dirty="0">
                <a:solidFill>
                  <a:srgbClr val="F4F1EA"/>
                </a:solidFill>
                <a:latin typeface="Calibri" pitchFamily="34" charset="0"/>
                <a:ea typeface="Calibri" pitchFamily="34" charset="-122"/>
                <a:cs typeface="Calibri" pitchFamily="34" charset="-120"/>
              </a:rPr>
              <a:t>when the fracture is bilateral</a:t>
            </a:r>
            <a:endParaRPr lang="en-US" dirty="0"/>
          </a:p>
        </p:txBody>
      </p:sp>
      <p:pic>
        <p:nvPicPr>
          <p:cNvPr id="19" name="Picture 18" descr="The image depicts various anatomical angles and structures in the human skull, including the Thalamic, Gissane's, Bchler's, Sustentaculum Tali, and Tuberosity Angles.&#10;&#10;AI-generated content may be incorrect.">
            <a:extLst>
              <a:ext uri="{FF2B5EF4-FFF2-40B4-BE49-F238E27FC236}">
                <a16:creationId xmlns:a16="http://schemas.microsoft.com/office/drawing/2014/main" id="{55CC7ABD-83D6-91B0-4C6F-01979AEE3A7A}"/>
              </a:ext>
            </a:extLst>
          </p:cNvPr>
          <p:cNvPicPr>
            <a:picLocks noChangeAspect="1"/>
          </p:cNvPicPr>
          <p:nvPr/>
        </p:nvPicPr>
        <p:blipFill>
          <a:blip r:embed="rId5"/>
          <a:stretch>
            <a:fillRect/>
          </a:stretch>
        </p:blipFill>
        <p:spPr>
          <a:xfrm>
            <a:off x="548639" y="1532763"/>
            <a:ext cx="5939709" cy="402983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D1B24"/>
        </a:solidFill>
        <a:effectLst/>
      </p:bgPr>
    </p:bg>
    <p:spTree>
      <p:nvGrpSpPr>
        <p:cNvPr id="1" name=""/>
        <p:cNvGrpSpPr/>
        <p:nvPr/>
      </p:nvGrpSpPr>
      <p:grpSpPr>
        <a:xfrm>
          <a:off x="0" y="0"/>
          <a:ext cx="0" cy="0"/>
          <a:chOff x="0" y="0"/>
          <a:chExt cx="0" cy="0"/>
        </a:xfrm>
      </p:grpSpPr>
      <p:sp>
        <p:nvSpPr>
          <p:cNvPr id="3"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APPLIED ANATOMY</a:t>
            </a:r>
            <a:endParaRPr lang="en-US" sz="1200" dirty="0"/>
          </a:p>
        </p:txBody>
      </p:sp>
      <p:sp>
        <p:nvSpPr>
          <p:cNvPr id="4"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Soft-tissue envelope and relations</a:t>
            </a:r>
            <a:endParaRPr lang="en-US" sz="3200" dirty="0"/>
          </a:p>
        </p:txBody>
      </p:sp>
      <p:sp>
        <p:nvSpPr>
          <p:cNvPr id="5"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6"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548640" y="1508760"/>
            <a:ext cx="5440680" cy="2286000"/>
          </a:xfrm>
          <a:prstGeom prst="roundRect">
            <a:avLst>
              <a:gd name="adj" fmla="val 3200"/>
            </a:avLst>
          </a:prstGeom>
          <a:solidFill>
            <a:srgbClr val="132A36"/>
          </a:solidFill>
          <a:ln w="9525">
            <a:solidFill>
              <a:srgbClr val="2C4756"/>
            </a:solidFill>
            <a:prstDash val="solid"/>
          </a:ln>
        </p:spPr>
      </p:sp>
      <p:sp>
        <p:nvSpPr>
          <p:cNvPr id="8" name="Shape 5"/>
          <p:cNvSpPr/>
          <p:nvPr/>
        </p:nvSpPr>
        <p:spPr>
          <a:xfrm>
            <a:off x="731520" y="1673352"/>
            <a:ext cx="384048" cy="384048"/>
          </a:xfrm>
          <a:prstGeom prst="ellipse">
            <a:avLst/>
          </a:prstGeom>
          <a:solidFill>
            <a:srgbClr val="2DD4BF"/>
          </a:solidFill>
          <a:ln w="12700">
            <a:solidFill>
              <a:srgbClr val="2DD4BF"/>
            </a:solidFill>
            <a:prstDash val="solid"/>
          </a:ln>
        </p:spPr>
      </p:sp>
      <p:sp>
        <p:nvSpPr>
          <p:cNvPr id="9" name="Text 6"/>
          <p:cNvSpPr txBox="1"/>
          <p:nvPr/>
        </p:nvSpPr>
        <p:spPr>
          <a:xfrm>
            <a:off x="731520" y="167335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1</a:t>
            </a:r>
            <a:endParaRPr lang="en-US" sz="1500" dirty="0"/>
          </a:p>
        </p:txBody>
      </p:sp>
      <p:sp>
        <p:nvSpPr>
          <p:cNvPr id="10" name="Text 7"/>
          <p:cNvSpPr txBox="1"/>
          <p:nvPr/>
        </p:nvSpPr>
        <p:spPr>
          <a:xfrm>
            <a:off x="1234440" y="1691640"/>
            <a:ext cx="4389120" cy="365760"/>
          </a:xfrm>
          <a:prstGeom prst="rect">
            <a:avLst/>
          </a:prstGeom>
          <a:noFill/>
          <a:ln/>
        </p:spPr>
        <p:txBody>
          <a:bodyPr wrap="square" lIns="0" tIns="0" rIns="0" bIns="0" rtlCol="0" anchor="t"/>
          <a:lstStyle/>
          <a:p>
            <a:pPr marL="0" indent="0" algn="l">
              <a:buNone/>
            </a:pPr>
            <a:r>
              <a:rPr lang="en-US" sz="1800" b="1" dirty="0">
                <a:solidFill>
                  <a:srgbClr val="F4F1EA"/>
                </a:solidFill>
                <a:latin typeface="Cambria" pitchFamily="34" charset="0"/>
                <a:ea typeface="Cambria" pitchFamily="34" charset="-122"/>
                <a:cs typeface="Cambria" pitchFamily="34" charset="-120"/>
              </a:rPr>
              <a:t>Lateral wall</a:t>
            </a:r>
            <a:endParaRPr lang="en-US" sz="1800" dirty="0"/>
          </a:p>
        </p:txBody>
      </p:sp>
      <p:sp>
        <p:nvSpPr>
          <p:cNvPr id="11" name="Text 8"/>
          <p:cNvSpPr txBox="1"/>
          <p:nvPr/>
        </p:nvSpPr>
        <p:spPr>
          <a:xfrm>
            <a:off x="777240" y="2194560"/>
            <a:ext cx="5029200" cy="1554480"/>
          </a:xfrm>
          <a:prstGeom prst="rect">
            <a:avLst/>
          </a:prstGeom>
          <a:noFill/>
          <a:ln/>
        </p:spPr>
        <p:txBody>
          <a:bodyPr wrap="square" lIns="0" tIns="0" rIns="0" bIns="0" rtlCol="0" anchor="t"/>
          <a:lstStyle/>
          <a:p>
            <a:pPr marL="203200" indent="-203200">
              <a:buSzPct val="100000"/>
              <a:buChar char="•"/>
            </a:pPr>
            <a:r>
              <a:rPr lang="en-US" sz="1350" b="1" dirty="0">
                <a:solidFill>
                  <a:srgbClr val="2DD4BF"/>
                </a:solidFill>
                <a:latin typeface="Calibri" pitchFamily="34" charset="0"/>
                <a:ea typeface="Calibri" pitchFamily="34" charset="-122"/>
                <a:cs typeface="Calibri" pitchFamily="34" charset="-120"/>
              </a:rPr>
              <a:t>Skin is thin </a:t>
            </a:r>
            <a:r>
              <a:rPr lang="en-US" sz="1350" dirty="0">
                <a:solidFill>
                  <a:srgbClr val="F4F1EA"/>
                </a:solidFill>
                <a:latin typeface="Calibri" pitchFamily="34" charset="0"/>
                <a:ea typeface="Calibri" pitchFamily="34" charset="-122"/>
                <a:cs typeface="Calibri" pitchFamily="34" charset="-120"/>
              </a:rPr>
              <a:t>with almost no muscle cover</a:t>
            </a:r>
            <a:endParaRPr lang="en-US" sz="1350" dirty="0"/>
          </a:p>
          <a:p>
            <a:pPr marL="203200" indent="-203200">
              <a:buSzPct val="100000"/>
              <a:buChar char="•"/>
            </a:pPr>
            <a:r>
              <a:rPr lang="en-US" sz="1350" b="1" dirty="0">
                <a:solidFill>
                  <a:srgbClr val="2DD4BF"/>
                </a:solidFill>
                <a:latin typeface="Calibri" pitchFamily="34" charset="0"/>
                <a:ea typeface="Calibri" pitchFamily="34" charset="-122"/>
                <a:cs typeface="Calibri" pitchFamily="34" charset="-120"/>
              </a:rPr>
              <a:t>Sural nerve </a:t>
            </a:r>
            <a:r>
              <a:rPr lang="en-US" sz="1350" dirty="0">
                <a:solidFill>
                  <a:srgbClr val="F4F1EA"/>
                </a:solidFill>
                <a:latin typeface="Calibri" pitchFamily="34" charset="0"/>
                <a:ea typeface="Calibri" pitchFamily="34" charset="-122"/>
                <a:cs typeface="Calibri" pitchFamily="34" charset="-120"/>
              </a:rPr>
              <a:t>lies just behind the malleolus and is at risk in the vertical limb</a:t>
            </a:r>
            <a:endParaRPr lang="en-US" sz="1350" dirty="0"/>
          </a:p>
          <a:p>
            <a:pPr marL="203200" indent="-203200">
              <a:buSzPct val="100000"/>
              <a:buChar char="•"/>
            </a:pPr>
            <a:r>
              <a:rPr lang="en-US" sz="1350" b="1" dirty="0">
                <a:solidFill>
                  <a:srgbClr val="2DD4BF"/>
                </a:solidFill>
                <a:latin typeface="Calibri" pitchFamily="34" charset="0"/>
                <a:ea typeface="Calibri" pitchFamily="34" charset="-122"/>
                <a:cs typeface="Calibri" pitchFamily="34" charset="-120"/>
              </a:rPr>
              <a:t>Peroneal tendons </a:t>
            </a:r>
            <a:r>
              <a:rPr lang="en-US" sz="1350" dirty="0">
                <a:solidFill>
                  <a:srgbClr val="F4F1EA"/>
                </a:solidFill>
                <a:latin typeface="Calibri" pitchFamily="34" charset="0"/>
                <a:ea typeface="Calibri" pitchFamily="34" charset="-122"/>
                <a:cs typeface="Calibri" pitchFamily="34" charset="-120"/>
              </a:rPr>
              <a:t>run in the retinaculum over the lateral wall and can be trapped</a:t>
            </a:r>
            <a:endParaRPr lang="en-US" sz="1350" dirty="0"/>
          </a:p>
          <a:p>
            <a:pPr marL="203200" indent="-203200">
              <a:buSzPct val="100000"/>
              <a:buChar char="•"/>
            </a:pPr>
            <a:r>
              <a:rPr lang="en-US" sz="1350" b="1" dirty="0">
                <a:solidFill>
                  <a:srgbClr val="2DD4BF"/>
                </a:solidFill>
                <a:latin typeface="Calibri" pitchFamily="34" charset="0"/>
                <a:ea typeface="Calibri" pitchFamily="34" charset="-122"/>
                <a:cs typeface="Calibri" pitchFamily="34" charset="-120"/>
              </a:rPr>
              <a:t>Lateral calcaneal artery </a:t>
            </a:r>
            <a:r>
              <a:rPr lang="en-US" sz="1350" dirty="0">
                <a:solidFill>
                  <a:srgbClr val="F4F1EA"/>
                </a:solidFill>
                <a:latin typeface="Calibri" pitchFamily="34" charset="0"/>
                <a:ea typeface="Calibri" pitchFamily="34" charset="-122"/>
                <a:cs typeface="Calibri" pitchFamily="34" charset="-120"/>
              </a:rPr>
              <a:t>(peroneal branch) feeds the lateral flap</a:t>
            </a:r>
            <a:endParaRPr lang="en-US" sz="1350" dirty="0"/>
          </a:p>
        </p:txBody>
      </p:sp>
      <p:sp>
        <p:nvSpPr>
          <p:cNvPr id="12" name="Shape 9"/>
          <p:cNvSpPr/>
          <p:nvPr/>
        </p:nvSpPr>
        <p:spPr>
          <a:xfrm>
            <a:off x="6172200" y="1508760"/>
            <a:ext cx="5440680" cy="2286000"/>
          </a:xfrm>
          <a:prstGeom prst="roundRect">
            <a:avLst>
              <a:gd name="adj" fmla="val 3200"/>
            </a:avLst>
          </a:prstGeom>
          <a:solidFill>
            <a:srgbClr val="132A36"/>
          </a:solidFill>
          <a:ln w="9525">
            <a:solidFill>
              <a:srgbClr val="2C4756"/>
            </a:solidFill>
            <a:prstDash val="solid"/>
          </a:ln>
        </p:spPr>
      </p:sp>
      <p:sp>
        <p:nvSpPr>
          <p:cNvPr id="13" name="Shape 10"/>
          <p:cNvSpPr/>
          <p:nvPr/>
        </p:nvSpPr>
        <p:spPr>
          <a:xfrm>
            <a:off x="6355080" y="1673352"/>
            <a:ext cx="384048" cy="384048"/>
          </a:xfrm>
          <a:prstGeom prst="ellipse">
            <a:avLst/>
          </a:prstGeom>
          <a:solidFill>
            <a:srgbClr val="FF7A45"/>
          </a:solidFill>
          <a:ln w="12700">
            <a:solidFill>
              <a:srgbClr val="FF7A45"/>
            </a:solidFill>
            <a:prstDash val="solid"/>
          </a:ln>
        </p:spPr>
      </p:sp>
      <p:sp>
        <p:nvSpPr>
          <p:cNvPr id="14" name="Text 11"/>
          <p:cNvSpPr txBox="1"/>
          <p:nvPr/>
        </p:nvSpPr>
        <p:spPr>
          <a:xfrm>
            <a:off x="6355080" y="167335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2</a:t>
            </a:r>
            <a:endParaRPr lang="en-US" sz="1500" dirty="0"/>
          </a:p>
        </p:txBody>
      </p:sp>
      <p:sp>
        <p:nvSpPr>
          <p:cNvPr id="15" name="Text 12"/>
          <p:cNvSpPr txBox="1"/>
          <p:nvPr/>
        </p:nvSpPr>
        <p:spPr>
          <a:xfrm>
            <a:off x="6858000" y="1691640"/>
            <a:ext cx="4389120" cy="365760"/>
          </a:xfrm>
          <a:prstGeom prst="rect">
            <a:avLst/>
          </a:prstGeom>
          <a:noFill/>
          <a:ln/>
        </p:spPr>
        <p:txBody>
          <a:bodyPr wrap="square" lIns="0" tIns="0" rIns="0" bIns="0" rtlCol="0" anchor="t"/>
          <a:lstStyle/>
          <a:p>
            <a:pPr marL="0" indent="0" algn="l">
              <a:buNone/>
            </a:pPr>
            <a:r>
              <a:rPr lang="en-US" sz="1800" b="1" dirty="0">
                <a:solidFill>
                  <a:srgbClr val="F4F1EA"/>
                </a:solidFill>
                <a:latin typeface="Cambria" pitchFamily="34" charset="0"/>
                <a:ea typeface="Cambria" pitchFamily="34" charset="-122"/>
                <a:cs typeface="Cambria" pitchFamily="34" charset="-120"/>
              </a:rPr>
              <a:t>Medial side</a:t>
            </a:r>
            <a:endParaRPr lang="en-US" sz="1800" dirty="0"/>
          </a:p>
        </p:txBody>
      </p:sp>
      <p:sp>
        <p:nvSpPr>
          <p:cNvPr id="16" name="Text 13"/>
          <p:cNvSpPr txBox="1"/>
          <p:nvPr/>
        </p:nvSpPr>
        <p:spPr>
          <a:xfrm>
            <a:off x="6400800" y="2194560"/>
            <a:ext cx="5029200" cy="1554480"/>
          </a:xfrm>
          <a:prstGeom prst="rect">
            <a:avLst/>
          </a:prstGeom>
          <a:noFill/>
          <a:ln/>
        </p:spPr>
        <p:txBody>
          <a:bodyPr wrap="square" lIns="0" tIns="0" rIns="0" bIns="0" rtlCol="0" anchor="t"/>
          <a:lstStyle/>
          <a:p>
            <a:pPr marL="203200" indent="-203200">
              <a:buSzPct val="100000"/>
              <a:buChar char="•"/>
            </a:pPr>
            <a:r>
              <a:rPr lang="en-US" sz="1350" b="1" dirty="0">
                <a:solidFill>
                  <a:srgbClr val="FF7A45"/>
                </a:solidFill>
                <a:latin typeface="Calibri" pitchFamily="34" charset="0"/>
                <a:ea typeface="Calibri" pitchFamily="34" charset="-122"/>
                <a:cs typeface="Calibri" pitchFamily="34" charset="-120"/>
              </a:rPr>
              <a:t>Tarsal tunnel: </a:t>
            </a:r>
            <a:r>
              <a:rPr lang="en-US" sz="1350" dirty="0">
                <a:solidFill>
                  <a:srgbClr val="F4F1EA"/>
                </a:solidFill>
                <a:latin typeface="Calibri" pitchFamily="34" charset="0"/>
                <a:ea typeface="Calibri" pitchFamily="34" charset="-122"/>
                <a:cs typeface="Calibri" pitchFamily="34" charset="-120"/>
              </a:rPr>
              <a:t>tibial nerve, posterior tibial vessels, FDL, FHL</a:t>
            </a:r>
            <a:endParaRPr lang="en-US" sz="1350" dirty="0"/>
          </a:p>
          <a:p>
            <a:pPr marL="203200" indent="-203200">
              <a:buSzPct val="100000"/>
              <a:buChar char="•"/>
            </a:pPr>
            <a:r>
              <a:rPr lang="en-US" sz="1350" b="1" dirty="0">
                <a:solidFill>
                  <a:srgbClr val="FF7A45"/>
                </a:solidFill>
                <a:latin typeface="Calibri" pitchFamily="34" charset="0"/>
                <a:ea typeface="Calibri" pitchFamily="34" charset="-122"/>
                <a:cs typeface="Calibri" pitchFamily="34" charset="-120"/>
              </a:rPr>
              <a:t>FHL </a:t>
            </a:r>
            <a:r>
              <a:rPr lang="en-US" sz="1350" dirty="0">
                <a:solidFill>
                  <a:srgbClr val="F4F1EA"/>
                </a:solidFill>
                <a:latin typeface="Calibri" pitchFamily="34" charset="0"/>
                <a:ea typeface="Calibri" pitchFamily="34" charset="-122"/>
                <a:cs typeface="Calibri" pitchFamily="34" charset="-120"/>
              </a:rPr>
              <a:t>runs beneath the sustentaculum tali</a:t>
            </a:r>
            <a:endParaRPr lang="en-US" sz="1350" dirty="0"/>
          </a:p>
          <a:p>
            <a:pPr marL="203200" indent="-203200">
              <a:buSzPct val="100000"/>
              <a:buChar char="•"/>
            </a:pPr>
            <a:r>
              <a:rPr lang="en-US" sz="1350" b="1" dirty="0">
                <a:solidFill>
                  <a:srgbClr val="FF7A45"/>
                </a:solidFill>
                <a:latin typeface="Calibri" pitchFamily="34" charset="0"/>
                <a:ea typeface="Calibri" pitchFamily="34" charset="-122"/>
                <a:cs typeface="Calibri" pitchFamily="34" charset="-120"/>
              </a:rPr>
              <a:t>Sustentaculum </a:t>
            </a:r>
            <a:r>
              <a:rPr lang="en-US" sz="1350" dirty="0">
                <a:solidFill>
                  <a:srgbClr val="F4F1EA"/>
                </a:solidFill>
                <a:latin typeface="Calibri" pitchFamily="34" charset="0"/>
                <a:ea typeface="Calibri" pitchFamily="34" charset="-122"/>
                <a:cs typeface="Calibri" pitchFamily="34" charset="-120"/>
              </a:rPr>
              <a:t>stays tied to the talus by deltoid and interosseous ligaments</a:t>
            </a:r>
            <a:endParaRPr lang="en-US" sz="1350" dirty="0"/>
          </a:p>
          <a:p>
            <a:pPr marL="203200" indent="-203200">
              <a:buSzPct val="100000"/>
              <a:buChar char="•"/>
            </a:pPr>
            <a:r>
              <a:rPr lang="en-US" sz="1350" b="1" dirty="0">
                <a:solidFill>
                  <a:srgbClr val="FF7A45"/>
                </a:solidFill>
                <a:latin typeface="Calibri" pitchFamily="34" charset="0"/>
                <a:ea typeface="Calibri" pitchFamily="34" charset="-122"/>
                <a:cs typeface="Calibri" pitchFamily="34" charset="-120"/>
              </a:rPr>
              <a:t>Open wounds </a:t>
            </a:r>
            <a:r>
              <a:rPr lang="en-US" sz="1350" dirty="0">
                <a:solidFill>
                  <a:srgbClr val="F4F1EA"/>
                </a:solidFill>
                <a:latin typeface="Calibri" pitchFamily="34" charset="0"/>
                <a:ea typeface="Calibri" pitchFamily="34" charset="-122"/>
                <a:cs typeface="Calibri" pitchFamily="34" charset="-120"/>
              </a:rPr>
              <a:t>are usually medial</a:t>
            </a:r>
            <a:endParaRPr lang="en-US" sz="1350" dirty="0"/>
          </a:p>
        </p:txBody>
      </p:sp>
      <p:sp>
        <p:nvSpPr>
          <p:cNvPr id="17" name="Shape 14"/>
          <p:cNvSpPr/>
          <p:nvPr/>
        </p:nvSpPr>
        <p:spPr>
          <a:xfrm>
            <a:off x="548640" y="3931920"/>
            <a:ext cx="5440680" cy="2286000"/>
          </a:xfrm>
          <a:prstGeom prst="roundRect">
            <a:avLst>
              <a:gd name="adj" fmla="val 3200"/>
            </a:avLst>
          </a:prstGeom>
          <a:solidFill>
            <a:srgbClr val="132A36"/>
          </a:solidFill>
          <a:ln w="9525">
            <a:solidFill>
              <a:srgbClr val="2C4756"/>
            </a:solidFill>
            <a:prstDash val="solid"/>
          </a:ln>
        </p:spPr>
      </p:sp>
      <p:sp>
        <p:nvSpPr>
          <p:cNvPr id="18" name="Shape 15"/>
          <p:cNvSpPr/>
          <p:nvPr/>
        </p:nvSpPr>
        <p:spPr>
          <a:xfrm>
            <a:off x="731520" y="4096512"/>
            <a:ext cx="384048" cy="384048"/>
          </a:xfrm>
          <a:prstGeom prst="ellipse">
            <a:avLst/>
          </a:prstGeom>
          <a:solidFill>
            <a:srgbClr val="FBBF24"/>
          </a:solidFill>
          <a:ln w="12700">
            <a:solidFill>
              <a:srgbClr val="FBBF24"/>
            </a:solidFill>
            <a:prstDash val="solid"/>
          </a:ln>
        </p:spPr>
      </p:sp>
      <p:sp>
        <p:nvSpPr>
          <p:cNvPr id="19" name="Text 16"/>
          <p:cNvSpPr txBox="1"/>
          <p:nvPr/>
        </p:nvSpPr>
        <p:spPr>
          <a:xfrm>
            <a:off x="731520" y="409651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3</a:t>
            </a:r>
            <a:endParaRPr lang="en-US" sz="1500" dirty="0"/>
          </a:p>
        </p:txBody>
      </p:sp>
      <p:sp>
        <p:nvSpPr>
          <p:cNvPr id="20" name="Text 17"/>
          <p:cNvSpPr txBox="1"/>
          <p:nvPr/>
        </p:nvSpPr>
        <p:spPr>
          <a:xfrm>
            <a:off x="1234440" y="4114800"/>
            <a:ext cx="4389120" cy="365760"/>
          </a:xfrm>
          <a:prstGeom prst="rect">
            <a:avLst/>
          </a:prstGeom>
          <a:noFill/>
          <a:ln/>
        </p:spPr>
        <p:txBody>
          <a:bodyPr wrap="square" lIns="0" tIns="0" rIns="0" bIns="0" rtlCol="0" anchor="t"/>
          <a:lstStyle/>
          <a:p>
            <a:pPr marL="0" indent="0" algn="l">
              <a:buNone/>
            </a:pPr>
            <a:r>
              <a:rPr lang="en-US" sz="1800" b="1" dirty="0">
                <a:solidFill>
                  <a:srgbClr val="F4F1EA"/>
                </a:solidFill>
                <a:latin typeface="Cambria" pitchFamily="34" charset="0"/>
                <a:ea typeface="Cambria" pitchFamily="34" charset="-122"/>
                <a:cs typeface="Cambria" pitchFamily="34" charset="-120"/>
              </a:rPr>
              <a:t>Plantar and posterior</a:t>
            </a:r>
            <a:endParaRPr lang="en-US" sz="1800" dirty="0"/>
          </a:p>
        </p:txBody>
      </p:sp>
      <p:sp>
        <p:nvSpPr>
          <p:cNvPr id="21" name="Text 18"/>
          <p:cNvSpPr txBox="1"/>
          <p:nvPr/>
        </p:nvSpPr>
        <p:spPr>
          <a:xfrm>
            <a:off x="777240" y="4617720"/>
            <a:ext cx="5029200" cy="1554480"/>
          </a:xfrm>
          <a:prstGeom prst="rect">
            <a:avLst/>
          </a:prstGeom>
          <a:noFill/>
          <a:ln/>
        </p:spPr>
        <p:txBody>
          <a:bodyPr wrap="square" lIns="0" tIns="0" rIns="0" bIns="0" rtlCol="0" anchor="t"/>
          <a:lstStyle/>
          <a:p>
            <a:pPr marL="203200" indent="-203200">
              <a:buSzPct val="100000"/>
              <a:buChar char="•"/>
            </a:pPr>
            <a:r>
              <a:rPr lang="en-US" sz="1350" b="1" dirty="0">
                <a:solidFill>
                  <a:srgbClr val="FBBF24"/>
                </a:solidFill>
                <a:latin typeface="Calibri" pitchFamily="34" charset="0"/>
                <a:ea typeface="Calibri" pitchFamily="34" charset="-122"/>
                <a:cs typeface="Calibri" pitchFamily="34" charset="-120"/>
              </a:rPr>
              <a:t>Achilles </a:t>
            </a:r>
            <a:r>
              <a:rPr lang="en-US" sz="1350" dirty="0">
                <a:solidFill>
                  <a:srgbClr val="F4F1EA"/>
                </a:solidFill>
                <a:latin typeface="Calibri" pitchFamily="34" charset="0"/>
                <a:ea typeface="Calibri" pitchFamily="34" charset="-122"/>
                <a:cs typeface="Calibri" pitchFamily="34" charset="-120"/>
              </a:rPr>
              <a:t>inserts on the posterior tuberosity</a:t>
            </a:r>
            <a:endParaRPr lang="en-US" sz="1350" dirty="0"/>
          </a:p>
          <a:p>
            <a:pPr marL="203200" indent="-203200">
              <a:buSzPct val="100000"/>
              <a:buChar char="•"/>
            </a:pPr>
            <a:r>
              <a:rPr lang="en-US" sz="1350" b="1" dirty="0">
                <a:solidFill>
                  <a:srgbClr val="FBBF24"/>
                </a:solidFill>
                <a:latin typeface="Calibri" pitchFamily="34" charset="0"/>
                <a:ea typeface="Calibri" pitchFamily="34" charset="-122"/>
                <a:cs typeface="Calibri" pitchFamily="34" charset="-120"/>
              </a:rPr>
              <a:t>Plantar fascia </a:t>
            </a:r>
            <a:r>
              <a:rPr lang="en-US" sz="1350" dirty="0">
                <a:solidFill>
                  <a:srgbClr val="F4F1EA"/>
                </a:solidFill>
                <a:latin typeface="Calibri" pitchFamily="34" charset="0"/>
                <a:ea typeface="Calibri" pitchFamily="34" charset="-122"/>
                <a:cs typeface="Calibri" pitchFamily="34" charset="-120"/>
              </a:rPr>
              <a:t>arises from the medial tubercle</a:t>
            </a:r>
            <a:endParaRPr lang="en-US" sz="1350" dirty="0"/>
          </a:p>
          <a:p>
            <a:pPr marL="203200" indent="-203200">
              <a:buSzPct val="100000"/>
              <a:buChar char="•"/>
            </a:pPr>
            <a:r>
              <a:rPr lang="en-US" sz="1350" b="1" dirty="0">
                <a:solidFill>
                  <a:srgbClr val="FBBF24"/>
                </a:solidFill>
                <a:latin typeface="Calibri" pitchFamily="34" charset="0"/>
                <a:ea typeface="Calibri" pitchFamily="34" charset="-122"/>
                <a:cs typeface="Calibri" pitchFamily="34" charset="-120"/>
              </a:rPr>
              <a:t>Heel pad </a:t>
            </a:r>
            <a:r>
              <a:rPr lang="en-US" sz="1350" dirty="0">
                <a:solidFill>
                  <a:srgbClr val="F4F1EA"/>
                </a:solidFill>
                <a:latin typeface="Calibri" pitchFamily="34" charset="0"/>
                <a:ea typeface="Calibri" pitchFamily="34" charset="-122"/>
                <a:cs typeface="Calibri" pitchFamily="34" charset="-120"/>
              </a:rPr>
              <a:t>is a fibrofatty shock absorber; damage causes chronic heel pain</a:t>
            </a:r>
            <a:endParaRPr lang="en-US" sz="1350" dirty="0"/>
          </a:p>
          <a:p>
            <a:pPr marL="203200" indent="-203200">
              <a:buSzPct val="100000"/>
              <a:buChar char="•"/>
            </a:pPr>
            <a:r>
              <a:rPr lang="en-US" sz="1350" b="1" dirty="0">
                <a:solidFill>
                  <a:srgbClr val="FBBF24"/>
                </a:solidFill>
                <a:latin typeface="Calibri" pitchFamily="34" charset="0"/>
                <a:ea typeface="Calibri" pitchFamily="34" charset="-122"/>
                <a:cs typeface="Calibri" pitchFamily="34" charset="-120"/>
              </a:rPr>
              <a:t>Compartments: </a:t>
            </a:r>
            <a:r>
              <a:rPr lang="en-US" sz="1350" dirty="0">
                <a:solidFill>
                  <a:srgbClr val="F4F1EA"/>
                </a:solidFill>
                <a:latin typeface="Calibri" pitchFamily="34" charset="0"/>
                <a:ea typeface="Calibri" pitchFamily="34" charset="-122"/>
                <a:cs typeface="Calibri" pitchFamily="34" charset="-120"/>
              </a:rPr>
              <a:t>the calcaneal compartment can bleed and tense</a:t>
            </a:r>
            <a:endParaRPr lang="en-US" sz="1350" dirty="0"/>
          </a:p>
        </p:txBody>
      </p:sp>
      <p:sp>
        <p:nvSpPr>
          <p:cNvPr id="22" name="Shape 19"/>
          <p:cNvSpPr/>
          <p:nvPr/>
        </p:nvSpPr>
        <p:spPr>
          <a:xfrm>
            <a:off x="6172200" y="3931920"/>
            <a:ext cx="5440680" cy="2286000"/>
          </a:xfrm>
          <a:prstGeom prst="roundRect">
            <a:avLst>
              <a:gd name="adj" fmla="val 3200"/>
            </a:avLst>
          </a:prstGeom>
          <a:solidFill>
            <a:srgbClr val="132A36"/>
          </a:solidFill>
          <a:ln w="9525">
            <a:solidFill>
              <a:srgbClr val="2C4756"/>
            </a:solidFill>
            <a:prstDash val="solid"/>
          </a:ln>
        </p:spPr>
      </p:sp>
      <p:sp>
        <p:nvSpPr>
          <p:cNvPr id="23" name="Shape 20"/>
          <p:cNvSpPr/>
          <p:nvPr/>
        </p:nvSpPr>
        <p:spPr>
          <a:xfrm>
            <a:off x="6355080" y="4096512"/>
            <a:ext cx="384048" cy="384048"/>
          </a:xfrm>
          <a:prstGeom prst="ellipse">
            <a:avLst/>
          </a:prstGeom>
          <a:solidFill>
            <a:srgbClr val="F87171"/>
          </a:solidFill>
          <a:ln w="12700">
            <a:solidFill>
              <a:srgbClr val="F87171"/>
            </a:solidFill>
            <a:prstDash val="solid"/>
          </a:ln>
        </p:spPr>
      </p:sp>
      <p:sp>
        <p:nvSpPr>
          <p:cNvPr id="24" name="Text 21"/>
          <p:cNvSpPr txBox="1"/>
          <p:nvPr/>
        </p:nvSpPr>
        <p:spPr>
          <a:xfrm>
            <a:off x="6355080" y="409651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4</a:t>
            </a:r>
            <a:endParaRPr lang="en-US" sz="1500" dirty="0"/>
          </a:p>
        </p:txBody>
      </p:sp>
      <p:sp>
        <p:nvSpPr>
          <p:cNvPr id="25" name="Text 22"/>
          <p:cNvSpPr txBox="1"/>
          <p:nvPr/>
        </p:nvSpPr>
        <p:spPr>
          <a:xfrm>
            <a:off x="6858000" y="4114800"/>
            <a:ext cx="4389120" cy="365760"/>
          </a:xfrm>
          <a:prstGeom prst="rect">
            <a:avLst/>
          </a:prstGeom>
          <a:noFill/>
          <a:ln/>
        </p:spPr>
        <p:txBody>
          <a:bodyPr wrap="square" lIns="0" tIns="0" rIns="0" bIns="0" rtlCol="0" anchor="t"/>
          <a:lstStyle/>
          <a:p>
            <a:pPr marL="0" indent="0" algn="l">
              <a:buNone/>
            </a:pPr>
            <a:r>
              <a:rPr lang="en-US" sz="1800" b="1" dirty="0">
                <a:solidFill>
                  <a:srgbClr val="F4F1EA"/>
                </a:solidFill>
                <a:latin typeface="Cambria" pitchFamily="34" charset="0"/>
                <a:ea typeface="Cambria" pitchFamily="34" charset="-122"/>
                <a:cs typeface="Cambria" pitchFamily="34" charset="-120"/>
              </a:rPr>
              <a:t>Sinus tarsi</a:t>
            </a:r>
            <a:endParaRPr lang="en-US" sz="1800" dirty="0"/>
          </a:p>
        </p:txBody>
      </p:sp>
      <p:sp>
        <p:nvSpPr>
          <p:cNvPr id="26" name="Text 23"/>
          <p:cNvSpPr txBox="1"/>
          <p:nvPr/>
        </p:nvSpPr>
        <p:spPr>
          <a:xfrm>
            <a:off x="6400800" y="4617720"/>
            <a:ext cx="5029200" cy="1554480"/>
          </a:xfrm>
          <a:prstGeom prst="rect">
            <a:avLst/>
          </a:prstGeom>
          <a:noFill/>
          <a:ln/>
        </p:spPr>
        <p:txBody>
          <a:bodyPr wrap="square" lIns="0" tIns="0" rIns="0" bIns="0" rtlCol="0" anchor="t"/>
          <a:lstStyle/>
          <a:p>
            <a:pPr marL="203200" indent="-203200">
              <a:buSzPct val="100000"/>
              <a:buChar char="•"/>
            </a:pPr>
            <a:r>
              <a:rPr lang="en-US" sz="1350" b="1" dirty="0">
                <a:solidFill>
                  <a:srgbClr val="F87171"/>
                </a:solidFill>
                <a:latin typeface="Calibri" pitchFamily="34" charset="0"/>
                <a:ea typeface="Calibri" pitchFamily="34" charset="-122"/>
                <a:cs typeface="Calibri" pitchFamily="34" charset="-120"/>
              </a:rPr>
              <a:t>Interosseous and cervical ligaments </a:t>
            </a:r>
            <a:r>
              <a:rPr lang="en-US" sz="1350" dirty="0">
                <a:solidFill>
                  <a:srgbClr val="F4F1EA"/>
                </a:solidFill>
                <a:latin typeface="Calibri" pitchFamily="34" charset="0"/>
                <a:ea typeface="Calibri" pitchFamily="34" charset="-122"/>
                <a:cs typeface="Calibri" pitchFamily="34" charset="-120"/>
              </a:rPr>
              <a:t>hold talus to calcaneum</a:t>
            </a:r>
            <a:endParaRPr lang="en-US" sz="1350" dirty="0"/>
          </a:p>
          <a:p>
            <a:pPr marL="203200" indent="-203200">
              <a:buSzPct val="100000"/>
              <a:buChar char="•"/>
            </a:pPr>
            <a:r>
              <a:rPr lang="en-US" sz="1350" b="1" dirty="0">
                <a:solidFill>
                  <a:srgbClr val="F87171"/>
                </a:solidFill>
                <a:latin typeface="Calibri" pitchFamily="34" charset="0"/>
                <a:ea typeface="Calibri" pitchFamily="34" charset="-122"/>
                <a:cs typeface="Calibri" pitchFamily="34" charset="-120"/>
              </a:rPr>
              <a:t>Calcaneofibular ligament </a:t>
            </a:r>
            <a:r>
              <a:rPr lang="en-US" sz="1350" dirty="0">
                <a:solidFill>
                  <a:srgbClr val="F4F1EA"/>
                </a:solidFill>
                <a:latin typeface="Calibri" pitchFamily="34" charset="0"/>
                <a:ea typeface="Calibri" pitchFamily="34" charset="-122"/>
                <a:cs typeface="Calibri" pitchFamily="34" charset="-120"/>
              </a:rPr>
              <a:t>and the peroneal tubercle sit laterally</a:t>
            </a:r>
            <a:endParaRPr lang="en-US" sz="1350" dirty="0"/>
          </a:p>
          <a:p>
            <a:pPr marL="203200" indent="-203200">
              <a:buSzPct val="100000"/>
              <a:buChar char="•"/>
            </a:pPr>
            <a:r>
              <a:rPr lang="en-US" sz="1350" b="1" dirty="0">
                <a:solidFill>
                  <a:srgbClr val="F87171"/>
                </a:solidFill>
                <a:latin typeface="Calibri" pitchFamily="34" charset="0"/>
                <a:ea typeface="Calibri" pitchFamily="34" charset="-122"/>
                <a:cs typeface="Calibri" pitchFamily="34" charset="-120"/>
              </a:rPr>
              <a:t>Sinus tarsi window </a:t>
            </a:r>
            <a:r>
              <a:rPr lang="en-US" sz="1350" dirty="0">
                <a:solidFill>
                  <a:srgbClr val="F4F1EA"/>
                </a:solidFill>
                <a:latin typeface="Calibri" pitchFamily="34" charset="0"/>
                <a:ea typeface="Calibri" pitchFamily="34" charset="-122"/>
                <a:cs typeface="Calibri" pitchFamily="34" charset="-120"/>
              </a:rPr>
              <a:t>shows the posterior facet through a small incision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APPLIED ANATOMY</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What the calcaneum does, and what its loss costs</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1554480"/>
            <a:ext cx="11109960" cy="786384"/>
          </a:xfrm>
          <a:prstGeom prst="roundRect">
            <a:avLst>
              <a:gd name="adj" fmla="val 9302"/>
            </a:avLst>
          </a:prstGeom>
          <a:solidFill>
            <a:srgbClr val="132A36"/>
          </a:solidFill>
          <a:ln w="9525">
            <a:solidFill>
              <a:srgbClr val="2C4756"/>
            </a:solidFill>
            <a:prstDash val="solid"/>
          </a:ln>
        </p:spPr>
      </p:sp>
      <p:sp>
        <p:nvSpPr>
          <p:cNvPr id="7" name="Shape 5"/>
          <p:cNvSpPr/>
          <p:nvPr/>
        </p:nvSpPr>
        <p:spPr>
          <a:xfrm>
            <a:off x="731520" y="1737360"/>
            <a:ext cx="420624" cy="420624"/>
          </a:xfrm>
          <a:prstGeom prst="ellipse">
            <a:avLst/>
          </a:prstGeom>
          <a:solidFill>
            <a:srgbClr val="2DD4BF"/>
          </a:solidFill>
          <a:ln w="12700">
            <a:solidFill>
              <a:srgbClr val="2DD4BF"/>
            </a:solidFill>
            <a:prstDash val="solid"/>
          </a:ln>
        </p:spPr>
      </p:sp>
      <p:sp>
        <p:nvSpPr>
          <p:cNvPr id="8" name="Text 6"/>
          <p:cNvSpPr txBox="1"/>
          <p:nvPr/>
        </p:nvSpPr>
        <p:spPr>
          <a:xfrm>
            <a:off x="731520" y="1737360"/>
            <a:ext cx="420624" cy="420624"/>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371600" y="1600200"/>
            <a:ext cx="2651760" cy="694944"/>
          </a:xfrm>
          <a:prstGeom prst="rect">
            <a:avLst/>
          </a:prstGeom>
          <a:noFill/>
          <a:ln/>
        </p:spPr>
        <p:txBody>
          <a:bodyPr wrap="square" lIns="0" tIns="0" rIns="0" bIns="0" rtlCol="0" anchor="ctr"/>
          <a:lstStyle/>
          <a:p>
            <a:pPr marL="0" indent="0" algn="l">
              <a:buNone/>
            </a:pPr>
            <a:r>
              <a:rPr lang="en-US" sz="1700" b="1" dirty="0">
                <a:solidFill>
                  <a:srgbClr val="F4F1EA"/>
                </a:solidFill>
                <a:latin typeface="Cambria" pitchFamily="34" charset="0"/>
                <a:ea typeface="Cambria" pitchFamily="34" charset="-122"/>
                <a:cs typeface="Cambria" pitchFamily="34" charset="-120"/>
              </a:rPr>
              <a:t>Heel height</a:t>
            </a:r>
            <a:endParaRPr lang="en-US" sz="1700" dirty="0"/>
          </a:p>
        </p:txBody>
      </p:sp>
      <p:sp>
        <p:nvSpPr>
          <p:cNvPr id="10" name="Text 8"/>
          <p:cNvSpPr txBox="1"/>
          <p:nvPr/>
        </p:nvSpPr>
        <p:spPr>
          <a:xfrm>
            <a:off x="4114800" y="1600200"/>
            <a:ext cx="3749040" cy="694944"/>
          </a:xfrm>
          <a:prstGeom prst="rect">
            <a:avLst/>
          </a:prstGeom>
          <a:noFill/>
          <a:ln/>
        </p:spPr>
        <p:txBody>
          <a:bodyPr wrap="square" lIns="0" tIns="0" rIns="0" bIns="0" rtlCol="0" anchor="ctr"/>
          <a:lstStyle/>
          <a:p>
            <a:pPr marL="0" indent="0" algn="l">
              <a:buNone/>
            </a:pPr>
            <a:r>
              <a:rPr lang="en-US" sz="1485" dirty="0">
                <a:solidFill>
                  <a:srgbClr val="F4F1EA"/>
                </a:solidFill>
                <a:latin typeface="Calibri" pitchFamily="34" charset="0"/>
                <a:ea typeface="Calibri" pitchFamily="34" charset="-122"/>
                <a:cs typeface="Calibri" pitchFamily="34" charset="-120"/>
              </a:rPr>
              <a:t>Keeps the talus tilted upwards (talar declination)</a:t>
            </a:r>
            <a:endParaRPr lang="en-US" sz="1485" dirty="0"/>
          </a:p>
        </p:txBody>
      </p:sp>
      <p:sp>
        <p:nvSpPr>
          <p:cNvPr id="11" name="Text 9"/>
          <p:cNvSpPr txBox="1"/>
          <p:nvPr/>
        </p:nvSpPr>
        <p:spPr>
          <a:xfrm>
            <a:off x="8001000" y="1600200"/>
            <a:ext cx="3566160" cy="694944"/>
          </a:xfrm>
          <a:prstGeom prst="rect">
            <a:avLst/>
          </a:prstGeom>
          <a:noFill/>
          <a:ln/>
        </p:spPr>
        <p:txBody>
          <a:bodyPr wrap="square" lIns="0" tIns="0" rIns="0" bIns="0" rtlCol="0" anchor="ctr"/>
          <a:lstStyle/>
          <a:p>
            <a:pPr marL="0" indent="0" algn="l">
              <a:buNone/>
            </a:pPr>
            <a:r>
              <a:rPr lang="en-US" sz="1485" dirty="0">
                <a:solidFill>
                  <a:srgbClr val="2DD4BF"/>
                </a:solidFill>
                <a:latin typeface="Calibri" pitchFamily="34" charset="0"/>
                <a:ea typeface="Calibri" pitchFamily="34" charset="-122"/>
                <a:cs typeface="Calibri" pitchFamily="34" charset="-120"/>
              </a:rPr>
              <a:t>Loss: anterior ankle impingement, restricted dorsiflexion</a:t>
            </a:r>
            <a:endParaRPr lang="en-US" sz="1485" dirty="0"/>
          </a:p>
        </p:txBody>
      </p:sp>
      <p:sp>
        <p:nvSpPr>
          <p:cNvPr id="12" name="Shape 10"/>
          <p:cNvSpPr/>
          <p:nvPr/>
        </p:nvSpPr>
        <p:spPr>
          <a:xfrm>
            <a:off x="548640" y="2450592"/>
            <a:ext cx="11109960" cy="786384"/>
          </a:xfrm>
          <a:prstGeom prst="roundRect">
            <a:avLst>
              <a:gd name="adj" fmla="val 9302"/>
            </a:avLst>
          </a:prstGeom>
          <a:solidFill>
            <a:srgbClr val="132A36"/>
          </a:solidFill>
          <a:ln w="9525">
            <a:solidFill>
              <a:srgbClr val="2C4756"/>
            </a:solidFill>
            <a:prstDash val="solid"/>
          </a:ln>
        </p:spPr>
      </p:sp>
      <p:sp>
        <p:nvSpPr>
          <p:cNvPr id="13" name="Shape 11"/>
          <p:cNvSpPr/>
          <p:nvPr/>
        </p:nvSpPr>
        <p:spPr>
          <a:xfrm>
            <a:off x="731520" y="2633472"/>
            <a:ext cx="420624" cy="420624"/>
          </a:xfrm>
          <a:prstGeom prst="ellipse">
            <a:avLst/>
          </a:prstGeom>
          <a:solidFill>
            <a:srgbClr val="FBBF24"/>
          </a:solidFill>
          <a:ln w="12700">
            <a:solidFill>
              <a:srgbClr val="FBBF24"/>
            </a:solidFill>
            <a:prstDash val="solid"/>
          </a:ln>
        </p:spPr>
      </p:sp>
      <p:sp>
        <p:nvSpPr>
          <p:cNvPr id="14" name="Text 12"/>
          <p:cNvSpPr txBox="1"/>
          <p:nvPr/>
        </p:nvSpPr>
        <p:spPr>
          <a:xfrm>
            <a:off x="731520" y="2633472"/>
            <a:ext cx="420624" cy="420624"/>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2</a:t>
            </a:r>
            <a:endParaRPr lang="en-US" sz="1500" dirty="0"/>
          </a:p>
        </p:txBody>
      </p:sp>
      <p:sp>
        <p:nvSpPr>
          <p:cNvPr id="15" name="Text 13"/>
          <p:cNvSpPr txBox="1"/>
          <p:nvPr/>
        </p:nvSpPr>
        <p:spPr>
          <a:xfrm>
            <a:off x="1371600" y="2496312"/>
            <a:ext cx="2651760" cy="694944"/>
          </a:xfrm>
          <a:prstGeom prst="rect">
            <a:avLst/>
          </a:prstGeom>
          <a:noFill/>
          <a:ln/>
        </p:spPr>
        <p:txBody>
          <a:bodyPr wrap="square" lIns="0" tIns="0" rIns="0" bIns="0" rtlCol="0" anchor="ctr"/>
          <a:lstStyle/>
          <a:p>
            <a:pPr marL="0" indent="0" algn="l">
              <a:buNone/>
            </a:pPr>
            <a:r>
              <a:rPr lang="en-US" sz="1700" b="1" dirty="0">
                <a:solidFill>
                  <a:srgbClr val="F4F1EA"/>
                </a:solidFill>
                <a:latin typeface="Cambria" pitchFamily="34" charset="0"/>
                <a:ea typeface="Cambria" pitchFamily="34" charset="-122"/>
                <a:cs typeface="Cambria" pitchFamily="34" charset="-120"/>
              </a:rPr>
              <a:t>Tuberosity lever arm</a:t>
            </a:r>
            <a:endParaRPr lang="en-US" sz="1700" dirty="0"/>
          </a:p>
        </p:txBody>
      </p:sp>
      <p:sp>
        <p:nvSpPr>
          <p:cNvPr id="16" name="Text 14"/>
          <p:cNvSpPr txBox="1"/>
          <p:nvPr/>
        </p:nvSpPr>
        <p:spPr>
          <a:xfrm>
            <a:off x="4114800" y="2496312"/>
            <a:ext cx="3749040" cy="694944"/>
          </a:xfrm>
          <a:prstGeom prst="rect">
            <a:avLst/>
          </a:prstGeom>
          <a:noFill/>
          <a:ln/>
        </p:spPr>
        <p:txBody>
          <a:bodyPr wrap="square" lIns="0" tIns="0" rIns="0" bIns="0" rtlCol="0" anchor="ctr"/>
          <a:lstStyle/>
          <a:p>
            <a:pPr marL="0" indent="0" algn="l">
              <a:buNone/>
            </a:pPr>
            <a:r>
              <a:rPr lang="en-US" sz="1485" dirty="0">
                <a:solidFill>
                  <a:srgbClr val="F4F1EA"/>
                </a:solidFill>
                <a:latin typeface="Calibri" pitchFamily="34" charset="0"/>
                <a:ea typeface="Calibri" pitchFamily="34" charset="-122"/>
                <a:cs typeface="Calibri" pitchFamily="34" charset="-120"/>
              </a:rPr>
              <a:t>Gives the triceps surae its push-off</a:t>
            </a:r>
            <a:endParaRPr lang="en-US" sz="1485" dirty="0"/>
          </a:p>
        </p:txBody>
      </p:sp>
      <p:sp>
        <p:nvSpPr>
          <p:cNvPr id="17" name="Text 15"/>
          <p:cNvSpPr txBox="1"/>
          <p:nvPr/>
        </p:nvSpPr>
        <p:spPr>
          <a:xfrm>
            <a:off x="8001000" y="2496312"/>
            <a:ext cx="3566160" cy="694944"/>
          </a:xfrm>
          <a:prstGeom prst="rect">
            <a:avLst/>
          </a:prstGeom>
          <a:noFill/>
          <a:ln/>
        </p:spPr>
        <p:txBody>
          <a:bodyPr wrap="square" lIns="0" tIns="0" rIns="0" bIns="0" rtlCol="0" anchor="ctr"/>
          <a:lstStyle/>
          <a:p>
            <a:pPr marL="0" indent="0" algn="l">
              <a:buNone/>
            </a:pPr>
            <a:r>
              <a:rPr lang="en-US" sz="1485" dirty="0">
                <a:solidFill>
                  <a:srgbClr val="FBBF24"/>
                </a:solidFill>
                <a:latin typeface="Calibri" pitchFamily="34" charset="0"/>
                <a:ea typeface="Calibri" pitchFamily="34" charset="-122"/>
                <a:cs typeface="Calibri" pitchFamily="34" charset="-120"/>
              </a:rPr>
              <a:t>Loss: weak plantarflexion and limp</a:t>
            </a:r>
            <a:endParaRPr lang="en-US" sz="1485" dirty="0"/>
          </a:p>
        </p:txBody>
      </p:sp>
      <p:sp>
        <p:nvSpPr>
          <p:cNvPr id="18" name="Shape 16"/>
          <p:cNvSpPr/>
          <p:nvPr/>
        </p:nvSpPr>
        <p:spPr>
          <a:xfrm>
            <a:off x="548640" y="3346704"/>
            <a:ext cx="11109960" cy="786384"/>
          </a:xfrm>
          <a:prstGeom prst="roundRect">
            <a:avLst>
              <a:gd name="adj" fmla="val 9302"/>
            </a:avLst>
          </a:prstGeom>
          <a:solidFill>
            <a:srgbClr val="132A36"/>
          </a:solidFill>
          <a:ln w="9525">
            <a:solidFill>
              <a:srgbClr val="2C4756"/>
            </a:solidFill>
            <a:prstDash val="solid"/>
          </a:ln>
        </p:spPr>
      </p:sp>
      <p:sp>
        <p:nvSpPr>
          <p:cNvPr id="19" name="Shape 17"/>
          <p:cNvSpPr/>
          <p:nvPr/>
        </p:nvSpPr>
        <p:spPr>
          <a:xfrm>
            <a:off x="731520" y="3529584"/>
            <a:ext cx="420624" cy="420624"/>
          </a:xfrm>
          <a:prstGeom prst="ellipse">
            <a:avLst/>
          </a:prstGeom>
          <a:solidFill>
            <a:srgbClr val="FF7A45"/>
          </a:solidFill>
          <a:ln w="12700">
            <a:solidFill>
              <a:srgbClr val="FF7A45"/>
            </a:solidFill>
            <a:prstDash val="solid"/>
          </a:ln>
        </p:spPr>
      </p:sp>
      <p:sp>
        <p:nvSpPr>
          <p:cNvPr id="20" name="Text 18"/>
          <p:cNvSpPr txBox="1"/>
          <p:nvPr/>
        </p:nvSpPr>
        <p:spPr>
          <a:xfrm>
            <a:off x="731520" y="3529584"/>
            <a:ext cx="420624" cy="420624"/>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3</a:t>
            </a:r>
            <a:endParaRPr lang="en-US" sz="1500" dirty="0"/>
          </a:p>
        </p:txBody>
      </p:sp>
      <p:sp>
        <p:nvSpPr>
          <p:cNvPr id="21" name="Text 19"/>
          <p:cNvSpPr txBox="1"/>
          <p:nvPr/>
        </p:nvSpPr>
        <p:spPr>
          <a:xfrm>
            <a:off x="1371600" y="3392424"/>
            <a:ext cx="2651760" cy="694944"/>
          </a:xfrm>
          <a:prstGeom prst="rect">
            <a:avLst/>
          </a:prstGeom>
          <a:noFill/>
          <a:ln/>
        </p:spPr>
        <p:txBody>
          <a:bodyPr wrap="square" lIns="0" tIns="0" rIns="0" bIns="0" rtlCol="0" anchor="ctr"/>
          <a:lstStyle/>
          <a:p>
            <a:pPr marL="0" indent="0" algn="l">
              <a:buNone/>
            </a:pPr>
            <a:r>
              <a:rPr lang="en-US" sz="1700" b="1" dirty="0">
                <a:solidFill>
                  <a:srgbClr val="F4F1EA"/>
                </a:solidFill>
                <a:latin typeface="Cambria" pitchFamily="34" charset="0"/>
                <a:ea typeface="Cambria" pitchFamily="34" charset="-122"/>
                <a:cs typeface="Cambria" pitchFamily="34" charset="-120"/>
              </a:rPr>
              <a:t>Posterior facet</a:t>
            </a:r>
            <a:endParaRPr lang="en-US" sz="1700" dirty="0"/>
          </a:p>
        </p:txBody>
      </p:sp>
      <p:sp>
        <p:nvSpPr>
          <p:cNvPr id="22" name="Text 20"/>
          <p:cNvSpPr txBox="1"/>
          <p:nvPr/>
        </p:nvSpPr>
        <p:spPr>
          <a:xfrm>
            <a:off x="4114800" y="3392424"/>
            <a:ext cx="3749040" cy="694944"/>
          </a:xfrm>
          <a:prstGeom prst="rect">
            <a:avLst/>
          </a:prstGeom>
          <a:noFill/>
          <a:ln/>
        </p:spPr>
        <p:txBody>
          <a:bodyPr wrap="square" lIns="0" tIns="0" rIns="0" bIns="0" rtlCol="0" anchor="ctr"/>
          <a:lstStyle/>
          <a:p>
            <a:pPr marL="0" indent="0" algn="l">
              <a:buNone/>
            </a:pPr>
            <a:r>
              <a:rPr lang="en-US" sz="1485" dirty="0">
                <a:solidFill>
                  <a:srgbClr val="F4F1EA"/>
                </a:solidFill>
                <a:latin typeface="Calibri" pitchFamily="34" charset="0"/>
                <a:ea typeface="Calibri" pitchFamily="34" charset="-122"/>
                <a:cs typeface="Calibri" pitchFamily="34" charset="-120"/>
              </a:rPr>
              <a:t>Subtalar motion: inversion, eversion, adapts to uneven ground</a:t>
            </a:r>
            <a:endParaRPr lang="en-US" sz="1485" dirty="0"/>
          </a:p>
        </p:txBody>
      </p:sp>
      <p:sp>
        <p:nvSpPr>
          <p:cNvPr id="23" name="Text 21"/>
          <p:cNvSpPr txBox="1"/>
          <p:nvPr/>
        </p:nvSpPr>
        <p:spPr>
          <a:xfrm>
            <a:off x="8001000" y="3392424"/>
            <a:ext cx="3566160" cy="694944"/>
          </a:xfrm>
          <a:prstGeom prst="rect">
            <a:avLst/>
          </a:prstGeom>
          <a:noFill/>
          <a:ln/>
        </p:spPr>
        <p:txBody>
          <a:bodyPr wrap="square" lIns="0" tIns="0" rIns="0" bIns="0" rtlCol="0" anchor="ctr"/>
          <a:lstStyle/>
          <a:p>
            <a:pPr marL="0" indent="0" algn="l">
              <a:buNone/>
            </a:pPr>
            <a:r>
              <a:rPr lang="en-US" sz="1485" dirty="0">
                <a:solidFill>
                  <a:srgbClr val="FF7A45"/>
                </a:solidFill>
                <a:latin typeface="Calibri" pitchFamily="34" charset="0"/>
                <a:ea typeface="Calibri" pitchFamily="34" charset="-122"/>
                <a:cs typeface="Calibri" pitchFamily="34" charset="-120"/>
              </a:rPr>
              <a:t>Loss: stiff hindfoot, post-traumatic arthritis</a:t>
            </a:r>
            <a:endParaRPr lang="en-US" sz="1485" dirty="0"/>
          </a:p>
        </p:txBody>
      </p:sp>
      <p:sp>
        <p:nvSpPr>
          <p:cNvPr id="24" name="Shape 22"/>
          <p:cNvSpPr/>
          <p:nvPr/>
        </p:nvSpPr>
        <p:spPr>
          <a:xfrm>
            <a:off x="548640" y="4242816"/>
            <a:ext cx="11109960" cy="786384"/>
          </a:xfrm>
          <a:prstGeom prst="roundRect">
            <a:avLst>
              <a:gd name="adj" fmla="val 9302"/>
            </a:avLst>
          </a:prstGeom>
          <a:solidFill>
            <a:srgbClr val="132A36"/>
          </a:solidFill>
          <a:ln w="9525">
            <a:solidFill>
              <a:srgbClr val="2C4756"/>
            </a:solidFill>
            <a:prstDash val="solid"/>
          </a:ln>
        </p:spPr>
      </p:sp>
      <p:sp>
        <p:nvSpPr>
          <p:cNvPr id="25" name="Shape 23"/>
          <p:cNvSpPr/>
          <p:nvPr/>
        </p:nvSpPr>
        <p:spPr>
          <a:xfrm>
            <a:off x="731520" y="4425696"/>
            <a:ext cx="420624" cy="420624"/>
          </a:xfrm>
          <a:prstGeom prst="ellipse">
            <a:avLst/>
          </a:prstGeom>
          <a:solidFill>
            <a:srgbClr val="F87171"/>
          </a:solidFill>
          <a:ln w="12700">
            <a:solidFill>
              <a:srgbClr val="F87171"/>
            </a:solidFill>
            <a:prstDash val="solid"/>
          </a:ln>
        </p:spPr>
      </p:sp>
      <p:sp>
        <p:nvSpPr>
          <p:cNvPr id="26" name="Text 24"/>
          <p:cNvSpPr txBox="1"/>
          <p:nvPr/>
        </p:nvSpPr>
        <p:spPr>
          <a:xfrm>
            <a:off x="731520" y="4425696"/>
            <a:ext cx="420624" cy="420624"/>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4</a:t>
            </a:r>
            <a:endParaRPr lang="en-US" sz="1500" dirty="0"/>
          </a:p>
        </p:txBody>
      </p:sp>
      <p:sp>
        <p:nvSpPr>
          <p:cNvPr id="27" name="Text 25"/>
          <p:cNvSpPr txBox="1"/>
          <p:nvPr/>
        </p:nvSpPr>
        <p:spPr>
          <a:xfrm>
            <a:off x="1371600" y="4288536"/>
            <a:ext cx="2651760" cy="694944"/>
          </a:xfrm>
          <a:prstGeom prst="rect">
            <a:avLst/>
          </a:prstGeom>
          <a:noFill/>
          <a:ln/>
        </p:spPr>
        <p:txBody>
          <a:bodyPr wrap="square" lIns="0" tIns="0" rIns="0" bIns="0" rtlCol="0" anchor="ctr"/>
          <a:lstStyle/>
          <a:p>
            <a:pPr marL="0" indent="0" algn="l">
              <a:buNone/>
            </a:pPr>
            <a:r>
              <a:rPr lang="en-US" sz="1700" b="1" dirty="0">
                <a:solidFill>
                  <a:srgbClr val="F4F1EA"/>
                </a:solidFill>
                <a:latin typeface="Cambria" pitchFamily="34" charset="0"/>
                <a:ea typeface="Cambria" pitchFamily="34" charset="-122"/>
                <a:cs typeface="Cambria" pitchFamily="34" charset="-120"/>
              </a:rPr>
              <a:t>Heel width and lateral wall</a:t>
            </a:r>
            <a:endParaRPr lang="en-US" sz="1700" dirty="0"/>
          </a:p>
        </p:txBody>
      </p:sp>
      <p:sp>
        <p:nvSpPr>
          <p:cNvPr id="28" name="Text 26"/>
          <p:cNvSpPr txBox="1"/>
          <p:nvPr/>
        </p:nvSpPr>
        <p:spPr>
          <a:xfrm>
            <a:off x="4114800" y="4288536"/>
            <a:ext cx="3749040" cy="694944"/>
          </a:xfrm>
          <a:prstGeom prst="rect">
            <a:avLst/>
          </a:prstGeom>
          <a:noFill/>
          <a:ln/>
        </p:spPr>
        <p:txBody>
          <a:bodyPr wrap="square" lIns="0" tIns="0" rIns="0" bIns="0" rtlCol="0" anchor="ctr"/>
          <a:lstStyle/>
          <a:p>
            <a:pPr marL="0" indent="0" algn="l">
              <a:buNone/>
            </a:pPr>
            <a:r>
              <a:rPr lang="en-US" sz="1485" dirty="0">
                <a:solidFill>
                  <a:srgbClr val="F4F1EA"/>
                </a:solidFill>
                <a:latin typeface="Calibri" pitchFamily="34" charset="0"/>
                <a:ea typeface="Calibri" pitchFamily="34" charset="-122"/>
                <a:cs typeface="Calibri" pitchFamily="34" charset="-120"/>
              </a:rPr>
              <a:t>Clearance for the peroneal tendons and the fibula</a:t>
            </a:r>
            <a:endParaRPr lang="en-US" sz="1485" dirty="0"/>
          </a:p>
        </p:txBody>
      </p:sp>
      <p:sp>
        <p:nvSpPr>
          <p:cNvPr id="29" name="Text 27"/>
          <p:cNvSpPr txBox="1"/>
          <p:nvPr/>
        </p:nvSpPr>
        <p:spPr>
          <a:xfrm>
            <a:off x="8001000" y="4288536"/>
            <a:ext cx="3566160" cy="694944"/>
          </a:xfrm>
          <a:prstGeom prst="rect">
            <a:avLst/>
          </a:prstGeom>
          <a:noFill/>
          <a:ln/>
        </p:spPr>
        <p:txBody>
          <a:bodyPr wrap="square" lIns="0" tIns="0" rIns="0" bIns="0" rtlCol="0" anchor="ctr"/>
          <a:lstStyle/>
          <a:p>
            <a:pPr marL="0" indent="0" algn="l">
              <a:buNone/>
            </a:pPr>
            <a:r>
              <a:rPr lang="en-US" sz="1485" dirty="0">
                <a:solidFill>
                  <a:srgbClr val="F87171"/>
                </a:solidFill>
                <a:latin typeface="Calibri" pitchFamily="34" charset="0"/>
                <a:ea typeface="Calibri" pitchFamily="34" charset="-122"/>
                <a:cs typeface="Calibri" pitchFamily="34" charset="-120"/>
              </a:rPr>
              <a:t>Loss: peroneal impingement, shoe-fitting problems</a:t>
            </a:r>
            <a:endParaRPr lang="en-US" sz="1485" dirty="0"/>
          </a:p>
        </p:txBody>
      </p:sp>
      <p:sp>
        <p:nvSpPr>
          <p:cNvPr id="30" name="Shape 28"/>
          <p:cNvSpPr/>
          <p:nvPr/>
        </p:nvSpPr>
        <p:spPr>
          <a:xfrm>
            <a:off x="548640" y="5138928"/>
            <a:ext cx="11109960" cy="786384"/>
          </a:xfrm>
          <a:prstGeom prst="roundRect">
            <a:avLst>
              <a:gd name="adj" fmla="val 9302"/>
            </a:avLst>
          </a:prstGeom>
          <a:solidFill>
            <a:srgbClr val="132A36"/>
          </a:solidFill>
          <a:ln w="9525">
            <a:solidFill>
              <a:srgbClr val="2C4756"/>
            </a:solidFill>
            <a:prstDash val="solid"/>
          </a:ln>
        </p:spPr>
      </p:sp>
      <p:sp>
        <p:nvSpPr>
          <p:cNvPr id="31" name="Shape 29"/>
          <p:cNvSpPr/>
          <p:nvPr/>
        </p:nvSpPr>
        <p:spPr>
          <a:xfrm>
            <a:off x="731520" y="5321808"/>
            <a:ext cx="420624" cy="420624"/>
          </a:xfrm>
          <a:prstGeom prst="ellipse">
            <a:avLst/>
          </a:prstGeom>
          <a:solidFill>
            <a:srgbClr val="E9DCC0"/>
          </a:solidFill>
          <a:ln w="12700">
            <a:solidFill>
              <a:srgbClr val="E9DCC0"/>
            </a:solidFill>
            <a:prstDash val="solid"/>
          </a:ln>
        </p:spPr>
      </p:sp>
      <p:sp>
        <p:nvSpPr>
          <p:cNvPr id="32" name="Text 30"/>
          <p:cNvSpPr txBox="1"/>
          <p:nvPr/>
        </p:nvSpPr>
        <p:spPr>
          <a:xfrm>
            <a:off x="731520" y="5321808"/>
            <a:ext cx="420624" cy="420624"/>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5</a:t>
            </a:r>
            <a:endParaRPr lang="en-US" sz="1500" dirty="0"/>
          </a:p>
        </p:txBody>
      </p:sp>
      <p:sp>
        <p:nvSpPr>
          <p:cNvPr id="33" name="Text 31"/>
          <p:cNvSpPr txBox="1"/>
          <p:nvPr/>
        </p:nvSpPr>
        <p:spPr>
          <a:xfrm>
            <a:off x="1371600" y="5184648"/>
            <a:ext cx="2651760" cy="694944"/>
          </a:xfrm>
          <a:prstGeom prst="rect">
            <a:avLst/>
          </a:prstGeom>
          <a:noFill/>
          <a:ln/>
        </p:spPr>
        <p:txBody>
          <a:bodyPr wrap="square" lIns="0" tIns="0" rIns="0" bIns="0" rtlCol="0" anchor="ctr"/>
          <a:lstStyle/>
          <a:p>
            <a:pPr marL="0" indent="0" algn="l">
              <a:buNone/>
            </a:pPr>
            <a:r>
              <a:rPr lang="en-US" sz="1700" b="1" dirty="0">
                <a:solidFill>
                  <a:srgbClr val="F4F1EA"/>
                </a:solidFill>
                <a:latin typeface="Cambria" pitchFamily="34" charset="0"/>
                <a:ea typeface="Cambria" pitchFamily="34" charset="-122"/>
                <a:cs typeface="Cambria" pitchFamily="34" charset="-120"/>
              </a:rPr>
              <a:t>Hindfoot alignment</a:t>
            </a:r>
            <a:endParaRPr lang="en-US" sz="1700" dirty="0"/>
          </a:p>
        </p:txBody>
      </p:sp>
      <p:sp>
        <p:nvSpPr>
          <p:cNvPr id="34" name="Text 32"/>
          <p:cNvSpPr txBox="1"/>
          <p:nvPr/>
        </p:nvSpPr>
        <p:spPr>
          <a:xfrm>
            <a:off x="4114800" y="5184648"/>
            <a:ext cx="3749040" cy="694944"/>
          </a:xfrm>
          <a:prstGeom prst="rect">
            <a:avLst/>
          </a:prstGeom>
          <a:noFill/>
          <a:ln/>
        </p:spPr>
        <p:txBody>
          <a:bodyPr wrap="square" lIns="0" tIns="0" rIns="0" bIns="0" rtlCol="0" anchor="ctr"/>
          <a:lstStyle/>
          <a:p>
            <a:pPr marL="0" indent="0" algn="l">
              <a:buNone/>
            </a:pPr>
            <a:r>
              <a:rPr lang="en-US" sz="1485" dirty="0">
                <a:solidFill>
                  <a:srgbClr val="F4F1EA"/>
                </a:solidFill>
                <a:latin typeface="Calibri" pitchFamily="34" charset="0"/>
                <a:ea typeface="Calibri" pitchFamily="34" charset="-122"/>
                <a:cs typeface="Calibri" pitchFamily="34" charset="-120"/>
              </a:rPr>
              <a:t>Neutral to slight valgus under the tibia</a:t>
            </a:r>
            <a:endParaRPr lang="en-US" sz="1485" dirty="0"/>
          </a:p>
        </p:txBody>
      </p:sp>
      <p:sp>
        <p:nvSpPr>
          <p:cNvPr id="35" name="Text 33"/>
          <p:cNvSpPr txBox="1"/>
          <p:nvPr/>
        </p:nvSpPr>
        <p:spPr>
          <a:xfrm>
            <a:off x="8001000" y="5184648"/>
            <a:ext cx="3566160" cy="694944"/>
          </a:xfrm>
          <a:prstGeom prst="rect">
            <a:avLst/>
          </a:prstGeom>
          <a:noFill/>
          <a:ln/>
        </p:spPr>
        <p:txBody>
          <a:bodyPr wrap="square" lIns="0" tIns="0" rIns="0" bIns="0" rtlCol="0" anchor="ctr"/>
          <a:lstStyle/>
          <a:p>
            <a:pPr marL="0" indent="0" algn="l">
              <a:buNone/>
            </a:pPr>
            <a:r>
              <a:rPr lang="en-US" sz="1485" dirty="0">
                <a:solidFill>
                  <a:srgbClr val="E9DCC0"/>
                </a:solidFill>
                <a:latin typeface="Calibri" pitchFamily="34" charset="0"/>
                <a:ea typeface="Calibri" pitchFamily="34" charset="-122"/>
                <a:cs typeface="Calibri" pitchFamily="34" charset="-120"/>
              </a:rPr>
              <a:t>Loss: varus heel, lateral overload of the foot</a:t>
            </a:r>
            <a:endParaRPr lang="en-US" sz="1485" dirty="0"/>
          </a:p>
        </p:txBody>
      </p:sp>
      <p:sp>
        <p:nvSpPr>
          <p:cNvPr id="36" name="Text 34"/>
          <p:cNvSpPr txBox="1"/>
          <p:nvPr/>
        </p:nvSpPr>
        <p:spPr>
          <a:xfrm>
            <a:off x="548640" y="6108192"/>
            <a:ext cx="11064240" cy="320040"/>
          </a:xfrm>
          <a:prstGeom prst="rect">
            <a:avLst/>
          </a:prstGeom>
          <a:noFill/>
          <a:ln/>
        </p:spPr>
        <p:txBody>
          <a:bodyPr wrap="square" lIns="0" tIns="0" rIns="0" bIns="0" rtlCol="0" anchor="t"/>
          <a:lstStyle/>
          <a:p>
            <a:pPr marL="0" indent="0" algn="l">
              <a:buNone/>
            </a:pPr>
            <a:r>
              <a:rPr lang="en-US" sz="1540" i="1" dirty="0">
                <a:solidFill>
                  <a:srgbClr val="E9DCC0"/>
                </a:solidFill>
                <a:latin typeface="Calibri" pitchFamily="34" charset="0"/>
                <a:ea typeface="Calibri" pitchFamily="34" charset="-122"/>
                <a:cs typeface="Calibri" pitchFamily="34" charset="-120"/>
              </a:rPr>
              <a:t>Goal of treatment: restore height, width, alignment and a congruent posterior facet.</a:t>
            </a:r>
            <a:endParaRPr lang="en-US" sz="15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D1B24"/>
        </a:solidFill>
        <a:effectLst/>
      </p:bgPr>
    </p:bg>
    <p:spTree>
      <p:nvGrpSpPr>
        <p:cNvPr id="1" name=""/>
        <p:cNvGrpSpPr/>
        <p:nvPr/>
      </p:nvGrpSpPr>
      <p:grpSpPr>
        <a:xfrm>
          <a:off x="0" y="0"/>
          <a:ext cx="0" cy="0"/>
          <a:chOff x="0" y="0"/>
          <a:chExt cx="0" cy="0"/>
        </a:xfrm>
      </p:grpSpPr>
      <p:sp>
        <p:nvSpPr>
          <p:cNvPr id="3"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PATHOANATOMY</a:t>
            </a:r>
            <a:endParaRPr lang="en-US" sz="1200" dirty="0"/>
          </a:p>
        </p:txBody>
      </p:sp>
      <p:sp>
        <p:nvSpPr>
          <p:cNvPr id="4" name="Text 1"/>
          <p:cNvSpPr txBox="1"/>
          <p:nvPr/>
        </p:nvSpPr>
        <p:spPr>
          <a:xfrm>
            <a:off x="612648" y="694944"/>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Mechanism and the primary fracture line</a:t>
            </a:r>
            <a:endParaRPr lang="en-US" sz="3200" dirty="0"/>
          </a:p>
        </p:txBody>
      </p:sp>
      <p:sp>
        <p:nvSpPr>
          <p:cNvPr id="5"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6"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548640" y="1463040"/>
            <a:ext cx="5212080" cy="4846320"/>
          </a:xfrm>
          <a:prstGeom prst="roundRect">
            <a:avLst>
              <a:gd name="adj" fmla="val 1132"/>
            </a:avLst>
          </a:prstGeom>
          <a:solidFill>
            <a:srgbClr val="0D1B24"/>
          </a:solidFill>
          <a:ln w="9525">
            <a:solidFill>
              <a:srgbClr val="2C4756"/>
            </a:solidFill>
            <a:prstDash val="solid"/>
          </a:ln>
        </p:spPr>
      </p:sp>
      <p:sp>
        <p:nvSpPr>
          <p:cNvPr id="9" name="Shape 5"/>
          <p:cNvSpPr/>
          <p:nvPr/>
        </p:nvSpPr>
        <p:spPr>
          <a:xfrm>
            <a:off x="5989320" y="1463040"/>
            <a:ext cx="5669280" cy="1115568"/>
          </a:xfrm>
          <a:prstGeom prst="roundRect">
            <a:avLst>
              <a:gd name="adj" fmla="val 6557"/>
            </a:avLst>
          </a:prstGeom>
          <a:solidFill>
            <a:srgbClr val="132A36"/>
          </a:solidFill>
          <a:ln w="9525">
            <a:solidFill>
              <a:srgbClr val="2C4756"/>
            </a:solidFill>
            <a:prstDash val="solid"/>
          </a:ln>
        </p:spPr>
      </p:sp>
      <p:sp>
        <p:nvSpPr>
          <p:cNvPr id="10" name="Shape 6"/>
          <p:cNvSpPr/>
          <p:nvPr/>
        </p:nvSpPr>
        <p:spPr>
          <a:xfrm>
            <a:off x="6144768" y="1591056"/>
            <a:ext cx="384048" cy="384048"/>
          </a:xfrm>
          <a:prstGeom prst="ellipse">
            <a:avLst/>
          </a:prstGeom>
          <a:solidFill>
            <a:srgbClr val="2DD4BF"/>
          </a:solidFill>
          <a:ln w="12700">
            <a:solidFill>
              <a:srgbClr val="2DD4BF"/>
            </a:solidFill>
            <a:prstDash val="solid"/>
          </a:ln>
        </p:spPr>
      </p:sp>
      <p:sp>
        <p:nvSpPr>
          <p:cNvPr id="11" name="Text 7"/>
          <p:cNvSpPr txBox="1"/>
          <p:nvPr/>
        </p:nvSpPr>
        <p:spPr>
          <a:xfrm>
            <a:off x="6144768" y="1591056"/>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1</a:t>
            </a:r>
            <a:endParaRPr lang="en-US" sz="1500" dirty="0"/>
          </a:p>
        </p:txBody>
      </p:sp>
      <p:sp>
        <p:nvSpPr>
          <p:cNvPr id="12" name="Text 8"/>
          <p:cNvSpPr txBox="1"/>
          <p:nvPr/>
        </p:nvSpPr>
        <p:spPr>
          <a:xfrm>
            <a:off x="6675120" y="1554480"/>
            <a:ext cx="4846320" cy="320040"/>
          </a:xfrm>
          <a:prstGeom prst="rect">
            <a:avLst/>
          </a:prstGeom>
          <a:noFill/>
          <a:ln/>
        </p:spPr>
        <p:txBody>
          <a:bodyPr wrap="square" lIns="0" tIns="0" rIns="0" bIns="0" rtlCol="0" anchor="t"/>
          <a:lstStyle/>
          <a:p>
            <a:pPr marL="0" indent="0" algn="l">
              <a:buNone/>
            </a:pPr>
            <a:r>
              <a:rPr lang="en-US" sz="1700" b="1" dirty="0">
                <a:solidFill>
                  <a:srgbClr val="F4F1EA"/>
                </a:solidFill>
                <a:latin typeface="Cambria" pitchFamily="34" charset="0"/>
                <a:ea typeface="Cambria" pitchFamily="34" charset="-122"/>
                <a:cs typeface="Cambria" pitchFamily="34" charset="-120"/>
              </a:rPr>
              <a:t>Axial load</a:t>
            </a:r>
            <a:endParaRPr lang="en-US" sz="1700" dirty="0"/>
          </a:p>
        </p:txBody>
      </p:sp>
      <p:sp>
        <p:nvSpPr>
          <p:cNvPr id="13" name="Text 9"/>
          <p:cNvSpPr txBox="1"/>
          <p:nvPr/>
        </p:nvSpPr>
        <p:spPr>
          <a:xfrm>
            <a:off x="6675120" y="1883664"/>
            <a:ext cx="4892040" cy="685800"/>
          </a:xfrm>
          <a:prstGeom prst="rect">
            <a:avLst/>
          </a:prstGeom>
          <a:noFill/>
          <a:ln/>
        </p:spPr>
        <p:txBody>
          <a:bodyPr wrap="square" lIns="0" tIns="0" rIns="0" bIns="0" rtlCol="0" anchor="t"/>
          <a:lstStyle/>
          <a:p>
            <a:pPr marL="0" indent="0" algn="l">
              <a:buNone/>
            </a:pPr>
            <a:r>
              <a:rPr lang="en-US" sz="1350" dirty="0">
                <a:solidFill>
                  <a:srgbClr val="9FB3BD"/>
                </a:solidFill>
                <a:latin typeface="Calibri" pitchFamily="34" charset="0"/>
                <a:ea typeface="Calibri" pitchFamily="34" charset="-122"/>
                <a:cs typeface="Calibri" pitchFamily="34" charset="-120"/>
              </a:rPr>
              <a:t>A fall from height or a road-traffic accident drives the talus down into the calcaneum.</a:t>
            </a:r>
            <a:endParaRPr lang="en-US" sz="1350" dirty="0"/>
          </a:p>
        </p:txBody>
      </p:sp>
      <p:sp>
        <p:nvSpPr>
          <p:cNvPr id="14" name="Shape 10"/>
          <p:cNvSpPr/>
          <p:nvPr/>
        </p:nvSpPr>
        <p:spPr>
          <a:xfrm>
            <a:off x="5989320" y="2688336"/>
            <a:ext cx="5669280" cy="1115568"/>
          </a:xfrm>
          <a:prstGeom prst="roundRect">
            <a:avLst>
              <a:gd name="adj" fmla="val 6557"/>
            </a:avLst>
          </a:prstGeom>
          <a:solidFill>
            <a:srgbClr val="132A36"/>
          </a:solidFill>
          <a:ln w="9525">
            <a:solidFill>
              <a:srgbClr val="2C4756"/>
            </a:solidFill>
            <a:prstDash val="solid"/>
          </a:ln>
        </p:spPr>
      </p:sp>
      <p:sp>
        <p:nvSpPr>
          <p:cNvPr id="15" name="Shape 11"/>
          <p:cNvSpPr/>
          <p:nvPr/>
        </p:nvSpPr>
        <p:spPr>
          <a:xfrm>
            <a:off x="6144768" y="2816352"/>
            <a:ext cx="384048" cy="384048"/>
          </a:xfrm>
          <a:prstGeom prst="ellipse">
            <a:avLst/>
          </a:prstGeom>
          <a:solidFill>
            <a:srgbClr val="FF7A45"/>
          </a:solidFill>
          <a:ln w="12700">
            <a:solidFill>
              <a:srgbClr val="FF7A45"/>
            </a:solidFill>
            <a:prstDash val="solid"/>
          </a:ln>
        </p:spPr>
      </p:sp>
      <p:sp>
        <p:nvSpPr>
          <p:cNvPr id="16" name="Text 12"/>
          <p:cNvSpPr txBox="1"/>
          <p:nvPr/>
        </p:nvSpPr>
        <p:spPr>
          <a:xfrm>
            <a:off x="6144768" y="281635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2</a:t>
            </a:r>
            <a:endParaRPr lang="en-US" sz="1500" dirty="0"/>
          </a:p>
        </p:txBody>
      </p:sp>
      <p:sp>
        <p:nvSpPr>
          <p:cNvPr id="17" name="Text 13"/>
          <p:cNvSpPr txBox="1"/>
          <p:nvPr/>
        </p:nvSpPr>
        <p:spPr>
          <a:xfrm>
            <a:off x="6675120" y="2779776"/>
            <a:ext cx="4846320" cy="320040"/>
          </a:xfrm>
          <a:prstGeom prst="rect">
            <a:avLst/>
          </a:prstGeom>
          <a:noFill/>
          <a:ln/>
        </p:spPr>
        <p:txBody>
          <a:bodyPr wrap="square" lIns="0" tIns="0" rIns="0" bIns="0" rtlCol="0" anchor="t"/>
          <a:lstStyle/>
          <a:p>
            <a:pPr marL="0" indent="0" algn="l">
              <a:buNone/>
            </a:pPr>
            <a:r>
              <a:rPr lang="en-US" sz="1700" b="1" dirty="0">
                <a:solidFill>
                  <a:srgbClr val="F4F1EA"/>
                </a:solidFill>
                <a:latin typeface="Cambria" pitchFamily="34" charset="0"/>
                <a:ea typeface="Cambria" pitchFamily="34" charset="-122"/>
                <a:cs typeface="Cambria" pitchFamily="34" charset="-120"/>
              </a:rPr>
              <a:t>Primary fracture line</a:t>
            </a:r>
            <a:endParaRPr lang="en-US" sz="1700" dirty="0"/>
          </a:p>
        </p:txBody>
      </p:sp>
      <p:sp>
        <p:nvSpPr>
          <p:cNvPr id="18" name="Text 14"/>
          <p:cNvSpPr txBox="1"/>
          <p:nvPr/>
        </p:nvSpPr>
        <p:spPr>
          <a:xfrm>
            <a:off x="6675120" y="3108960"/>
            <a:ext cx="4892040" cy="685800"/>
          </a:xfrm>
          <a:prstGeom prst="rect">
            <a:avLst/>
          </a:prstGeom>
          <a:noFill/>
          <a:ln/>
        </p:spPr>
        <p:txBody>
          <a:bodyPr wrap="square" lIns="0" tIns="0" rIns="0" bIns="0" rtlCol="0" anchor="t"/>
          <a:lstStyle/>
          <a:p>
            <a:pPr marL="0" indent="0" algn="l">
              <a:buNone/>
            </a:pPr>
            <a:r>
              <a:rPr lang="en-US" sz="1350" dirty="0">
                <a:solidFill>
                  <a:srgbClr val="9FB3BD"/>
                </a:solidFill>
                <a:latin typeface="Calibri" pitchFamily="34" charset="0"/>
                <a:ea typeface="Calibri" pitchFamily="34" charset="-122"/>
                <a:cs typeface="Calibri" pitchFamily="34" charset="-120"/>
              </a:rPr>
              <a:t>The lateral process of the talus acts as a wedge at the crucial angle. The line runs obliquely from lateral to medial through the posterior facet.</a:t>
            </a:r>
            <a:endParaRPr lang="en-US" sz="1350" dirty="0"/>
          </a:p>
        </p:txBody>
      </p:sp>
      <p:sp>
        <p:nvSpPr>
          <p:cNvPr id="19" name="Shape 15"/>
          <p:cNvSpPr/>
          <p:nvPr/>
        </p:nvSpPr>
        <p:spPr>
          <a:xfrm>
            <a:off x="5989320" y="3913632"/>
            <a:ext cx="5669280" cy="1115568"/>
          </a:xfrm>
          <a:prstGeom prst="roundRect">
            <a:avLst>
              <a:gd name="adj" fmla="val 6557"/>
            </a:avLst>
          </a:prstGeom>
          <a:solidFill>
            <a:srgbClr val="132A36"/>
          </a:solidFill>
          <a:ln w="9525">
            <a:solidFill>
              <a:srgbClr val="2C4756"/>
            </a:solidFill>
            <a:prstDash val="solid"/>
          </a:ln>
        </p:spPr>
      </p:sp>
      <p:sp>
        <p:nvSpPr>
          <p:cNvPr id="20" name="Shape 16"/>
          <p:cNvSpPr/>
          <p:nvPr/>
        </p:nvSpPr>
        <p:spPr>
          <a:xfrm>
            <a:off x="6144768" y="4041648"/>
            <a:ext cx="384048" cy="384048"/>
          </a:xfrm>
          <a:prstGeom prst="ellipse">
            <a:avLst/>
          </a:prstGeom>
          <a:solidFill>
            <a:srgbClr val="FBBF24"/>
          </a:solidFill>
          <a:ln w="12700">
            <a:solidFill>
              <a:srgbClr val="FBBF24"/>
            </a:solidFill>
            <a:prstDash val="solid"/>
          </a:ln>
        </p:spPr>
      </p:sp>
      <p:sp>
        <p:nvSpPr>
          <p:cNvPr id="21" name="Text 17"/>
          <p:cNvSpPr txBox="1"/>
          <p:nvPr/>
        </p:nvSpPr>
        <p:spPr>
          <a:xfrm>
            <a:off x="6144768" y="4041648"/>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3</a:t>
            </a:r>
            <a:endParaRPr lang="en-US" sz="1500" dirty="0"/>
          </a:p>
        </p:txBody>
      </p:sp>
      <p:sp>
        <p:nvSpPr>
          <p:cNvPr id="22" name="Text 18"/>
          <p:cNvSpPr txBox="1"/>
          <p:nvPr/>
        </p:nvSpPr>
        <p:spPr>
          <a:xfrm>
            <a:off x="6675120" y="4005072"/>
            <a:ext cx="4846320" cy="320040"/>
          </a:xfrm>
          <a:prstGeom prst="rect">
            <a:avLst/>
          </a:prstGeom>
          <a:noFill/>
          <a:ln/>
        </p:spPr>
        <p:txBody>
          <a:bodyPr wrap="square" lIns="0" tIns="0" rIns="0" bIns="0" rtlCol="0" anchor="t"/>
          <a:lstStyle/>
          <a:p>
            <a:pPr marL="0" indent="0" algn="l">
              <a:buNone/>
            </a:pPr>
            <a:r>
              <a:rPr lang="en-US" sz="1700" b="1" dirty="0">
                <a:solidFill>
                  <a:srgbClr val="F4F1EA"/>
                </a:solidFill>
                <a:latin typeface="Cambria" pitchFamily="34" charset="0"/>
                <a:ea typeface="Cambria" pitchFamily="34" charset="-122"/>
                <a:cs typeface="Cambria" pitchFamily="34" charset="-120"/>
              </a:rPr>
              <a:t>Two main fragments</a:t>
            </a:r>
            <a:endParaRPr lang="en-US" sz="1700" dirty="0"/>
          </a:p>
        </p:txBody>
      </p:sp>
      <p:sp>
        <p:nvSpPr>
          <p:cNvPr id="23" name="Text 19"/>
          <p:cNvSpPr txBox="1"/>
          <p:nvPr/>
        </p:nvSpPr>
        <p:spPr>
          <a:xfrm>
            <a:off x="6675120" y="4334256"/>
            <a:ext cx="4892040" cy="685800"/>
          </a:xfrm>
          <a:prstGeom prst="rect">
            <a:avLst/>
          </a:prstGeom>
          <a:noFill/>
          <a:ln/>
        </p:spPr>
        <p:txBody>
          <a:bodyPr wrap="square" lIns="0" tIns="0" rIns="0" bIns="0" rtlCol="0" anchor="t"/>
          <a:lstStyle/>
          <a:p>
            <a:pPr marL="0" indent="0" algn="l">
              <a:buNone/>
            </a:pPr>
            <a:r>
              <a:rPr lang="en-US" sz="1350" dirty="0">
                <a:solidFill>
                  <a:srgbClr val="9FB3BD"/>
                </a:solidFill>
                <a:latin typeface="Calibri" pitchFamily="34" charset="0"/>
                <a:ea typeface="Calibri" pitchFamily="34" charset="-122"/>
                <a:cs typeface="Calibri" pitchFamily="34" charset="-120"/>
              </a:rPr>
              <a:t>The sustentacular (constant) fragment stays on the talus. The posterolateral fragment carries the tuberosity and lateral facet.</a:t>
            </a:r>
            <a:endParaRPr lang="en-US" sz="1350" dirty="0"/>
          </a:p>
        </p:txBody>
      </p:sp>
      <p:sp>
        <p:nvSpPr>
          <p:cNvPr id="24" name="Shape 20"/>
          <p:cNvSpPr/>
          <p:nvPr/>
        </p:nvSpPr>
        <p:spPr>
          <a:xfrm>
            <a:off x="5989320" y="5138928"/>
            <a:ext cx="5669280" cy="1115568"/>
          </a:xfrm>
          <a:prstGeom prst="roundRect">
            <a:avLst>
              <a:gd name="adj" fmla="val 6557"/>
            </a:avLst>
          </a:prstGeom>
          <a:solidFill>
            <a:srgbClr val="132A36"/>
          </a:solidFill>
          <a:ln w="9525">
            <a:solidFill>
              <a:srgbClr val="2C4756"/>
            </a:solidFill>
            <a:prstDash val="solid"/>
          </a:ln>
        </p:spPr>
      </p:sp>
      <p:sp>
        <p:nvSpPr>
          <p:cNvPr id="25" name="Shape 21"/>
          <p:cNvSpPr/>
          <p:nvPr/>
        </p:nvSpPr>
        <p:spPr>
          <a:xfrm>
            <a:off x="6144768" y="5266944"/>
            <a:ext cx="384048" cy="384048"/>
          </a:xfrm>
          <a:prstGeom prst="ellipse">
            <a:avLst/>
          </a:prstGeom>
          <a:solidFill>
            <a:srgbClr val="F87171"/>
          </a:solidFill>
          <a:ln w="12700">
            <a:solidFill>
              <a:srgbClr val="F87171"/>
            </a:solidFill>
            <a:prstDash val="solid"/>
          </a:ln>
        </p:spPr>
      </p:sp>
      <p:sp>
        <p:nvSpPr>
          <p:cNvPr id="26" name="Text 22"/>
          <p:cNvSpPr txBox="1"/>
          <p:nvPr/>
        </p:nvSpPr>
        <p:spPr>
          <a:xfrm>
            <a:off x="6144768" y="5266944"/>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4</a:t>
            </a:r>
            <a:endParaRPr lang="en-US" sz="1500" dirty="0"/>
          </a:p>
        </p:txBody>
      </p:sp>
      <p:sp>
        <p:nvSpPr>
          <p:cNvPr id="27" name="Text 23"/>
          <p:cNvSpPr txBox="1"/>
          <p:nvPr/>
        </p:nvSpPr>
        <p:spPr>
          <a:xfrm>
            <a:off x="6675120" y="5230368"/>
            <a:ext cx="4846320" cy="320040"/>
          </a:xfrm>
          <a:prstGeom prst="rect">
            <a:avLst/>
          </a:prstGeom>
          <a:noFill/>
          <a:ln/>
        </p:spPr>
        <p:txBody>
          <a:bodyPr wrap="square" lIns="0" tIns="0" rIns="0" bIns="0" rtlCol="0" anchor="t"/>
          <a:lstStyle/>
          <a:p>
            <a:pPr marL="0" indent="0" algn="l">
              <a:buNone/>
            </a:pPr>
            <a:r>
              <a:rPr lang="en-US" sz="1700" b="1" dirty="0">
                <a:solidFill>
                  <a:srgbClr val="F4F1EA"/>
                </a:solidFill>
                <a:latin typeface="Cambria" pitchFamily="34" charset="0"/>
                <a:ea typeface="Cambria" pitchFamily="34" charset="-122"/>
                <a:cs typeface="Cambria" pitchFamily="34" charset="-120"/>
              </a:rPr>
              <a:t>Secondary lines</a:t>
            </a:r>
            <a:endParaRPr lang="en-US" sz="1700" dirty="0"/>
          </a:p>
        </p:txBody>
      </p:sp>
      <p:sp>
        <p:nvSpPr>
          <p:cNvPr id="28" name="Text 24"/>
          <p:cNvSpPr txBox="1"/>
          <p:nvPr/>
        </p:nvSpPr>
        <p:spPr>
          <a:xfrm>
            <a:off x="6675120" y="5559552"/>
            <a:ext cx="4892040" cy="685800"/>
          </a:xfrm>
          <a:prstGeom prst="rect">
            <a:avLst/>
          </a:prstGeom>
          <a:noFill/>
          <a:ln/>
        </p:spPr>
        <p:txBody>
          <a:bodyPr wrap="square" lIns="0" tIns="0" rIns="0" bIns="0" rtlCol="0" anchor="t"/>
          <a:lstStyle/>
          <a:p>
            <a:pPr marL="0" indent="0" algn="l">
              <a:buNone/>
            </a:pPr>
            <a:r>
              <a:rPr lang="en-US" sz="1350" dirty="0">
                <a:solidFill>
                  <a:srgbClr val="9FB3BD"/>
                </a:solidFill>
                <a:latin typeface="Calibri" pitchFamily="34" charset="0"/>
                <a:ea typeface="Calibri" pitchFamily="34" charset="-122"/>
                <a:cs typeface="Calibri" pitchFamily="34" charset="-120"/>
              </a:rPr>
              <a:t>Continued force adds secondary lines (joint depression or tongue) and comminutes the facet.</a:t>
            </a:r>
            <a:endParaRPr lang="en-US" sz="1350" dirty="0"/>
          </a:p>
        </p:txBody>
      </p:sp>
      <p:pic>
        <p:nvPicPr>
          <p:cNvPr id="29" name="Picture 28" descr="The image depicts a diagram explaining the fracture mechanisms of the calcaneus, specifically focusing on the superomedial and suproulnar fragments.&#10;&#10;AI-generated content may be incorrect.">
            <a:extLst>
              <a:ext uri="{FF2B5EF4-FFF2-40B4-BE49-F238E27FC236}">
                <a16:creationId xmlns:a16="http://schemas.microsoft.com/office/drawing/2014/main" id="{78BA2D97-4112-0C85-3142-C30BCC73F522}"/>
              </a:ext>
            </a:extLst>
          </p:cNvPr>
          <p:cNvPicPr>
            <a:picLocks noChangeAspect="1"/>
          </p:cNvPicPr>
          <p:nvPr/>
        </p:nvPicPr>
        <p:blipFill>
          <a:blip r:embed="rId3"/>
          <a:stretch>
            <a:fillRect/>
          </a:stretch>
        </p:blipFill>
        <p:spPr>
          <a:xfrm>
            <a:off x="548640" y="1463040"/>
            <a:ext cx="5294376" cy="493341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D1B24"/>
        </a:solidFill>
        <a:effectLst/>
      </p:bgPr>
    </p:bg>
    <p:spTree>
      <p:nvGrpSpPr>
        <p:cNvPr id="1" name=""/>
        <p:cNvGrpSpPr/>
        <p:nvPr/>
      </p:nvGrpSpPr>
      <p:grpSpPr>
        <a:xfrm>
          <a:off x="0" y="0"/>
          <a:ext cx="0" cy="0"/>
          <a:chOff x="0" y="0"/>
          <a:chExt cx="0" cy="0"/>
        </a:xfrm>
      </p:grpSpPr>
      <p:sp>
        <p:nvSpPr>
          <p:cNvPr id="3"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ASSESSMENT</a:t>
            </a:r>
            <a:endParaRPr lang="en-US" sz="1200" dirty="0"/>
          </a:p>
        </p:txBody>
      </p:sp>
      <p:sp>
        <p:nvSpPr>
          <p:cNvPr id="4"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Clinical assessment and associated injuries</a:t>
            </a:r>
            <a:endParaRPr lang="en-US" sz="3200" dirty="0"/>
          </a:p>
        </p:txBody>
      </p:sp>
      <p:sp>
        <p:nvSpPr>
          <p:cNvPr id="5"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6"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1508760"/>
            <a:ext cx="5532120" cy="4800600"/>
          </a:xfrm>
          <a:prstGeom prst="roundRect">
            <a:avLst>
              <a:gd name="adj" fmla="val 1524"/>
            </a:avLst>
          </a:prstGeom>
          <a:solidFill>
            <a:srgbClr val="132A36"/>
          </a:solidFill>
          <a:ln w="9525">
            <a:solidFill>
              <a:srgbClr val="2C4756"/>
            </a:solidFill>
            <a:prstDash val="solid"/>
          </a:ln>
        </p:spPr>
      </p:sp>
      <p:sp>
        <p:nvSpPr>
          <p:cNvPr id="8" name="Text 5"/>
          <p:cNvSpPr txBox="1"/>
          <p:nvPr/>
        </p:nvSpPr>
        <p:spPr>
          <a:xfrm>
            <a:off x="777240" y="1627632"/>
            <a:ext cx="5029200" cy="365760"/>
          </a:xfrm>
          <a:prstGeom prst="rect">
            <a:avLst/>
          </a:prstGeom>
          <a:noFill/>
          <a:ln/>
        </p:spPr>
        <p:txBody>
          <a:bodyPr wrap="square" lIns="0" tIns="0" rIns="0" bIns="0" rtlCol="0" anchor="t"/>
          <a:lstStyle/>
          <a:p>
            <a:pPr marL="0" indent="0" algn="l">
              <a:buNone/>
            </a:pPr>
            <a:r>
              <a:rPr lang="en-US" sz="2000" b="1" dirty="0">
                <a:solidFill>
                  <a:srgbClr val="2DD4BF"/>
                </a:solidFill>
                <a:latin typeface="Cambria" pitchFamily="34" charset="0"/>
                <a:ea typeface="Cambria" pitchFamily="34" charset="-122"/>
                <a:cs typeface="Cambria" pitchFamily="34" charset="-120"/>
              </a:rPr>
              <a:t>Examine</a:t>
            </a:r>
            <a:endParaRPr lang="en-US" sz="2000" dirty="0"/>
          </a:p>
        </p:txBody>
      </p:sp>
      <p:sp>
        <p:nvSpPr>
          <p:cNvPr id="9" name="Text 6"/>
          <p:cNvSpPr txBox="1"/>
          <p:nvPr/>
        </p:nvSpPr>
        <p:spPr>
          <a:xfrm>
            <a:off x="777240" y="2103120"/>
            <a:ext cx="5120640" cy="4114800"/>
          </a:xfrm>
          <a:prstGeom prst="rect">
            <a:avLst/>
          </a:prstGeom>
          <a:noFill/>
          <a:ln/>
        </p:spPr>
        <p:txBody>
          <a:bodyPr wrap="square" lIns="0" tIns="0" rIns="0" bIns="0" rtlCol="0" anchor="t"/>
          <a:lstStyle/>
          <a:p>
            <a:pPr marL="203200" indent="-203200">
              <a:buSzPct val="100000"/>
              <a:buChar char="•"/>
            </a:pPr>
            <a:r>
              <a:rPr lang="en-US" sz="1610" b="1" dirty="0">
                <a:solidFill>
                  <a:srgbClr val="FBBF24"/>
                </a:solidFill>
                <a:latin typeface="Calibri" pitchFamily="34" charset="0"/>
                <a:ea typeface="Calibri" pitchFamily="34" charset="-122"/>
                <a:cs typeface="Calibri" pitchFamily="34" charset="-120"/>
              </a:rPr>
              <a:t>Look: </a:t>
            </a:r>
            <a:r>
              <a:rPr lang="en-US" sz="1610" dirty="0">
                <a:solidFill>
                  <a:srgbClr val="F4F1EA"/>
                </a:solidFill>
                <a:latin typeface="Calibri" pitchFamily="34" charset="0"/>
                <a:ea typeface="Calibri" pitchFamily="34" charset="-122"/>
                <a:cs typeface="Calibri" pitchFamily="34" charset="-120"/>
              </a:rPr>
              <a:t>swelling, heel widening and shortening, varus, loss of the normal heel contour</a:t>
            </a:r>
            <a:endParaRPr lang="en-US" sz="1610" dirty="0"/>
          </a:p>
          <a:p>
            <a:pPr marL="203200" indent="-203200">
              <a:buSzPct val="100000"/>
              <a:buChar char="•"/>
            </a:pPr>
            <a:r>
              <a:rPr lang="en-US" sz="1610" b="1" dirty="0">
                <a:solidFill>
                  <a:srgbClr val="FBBF24"/>
                </a:solidFill>
                <a:latin typeface="Calibri" pitchFamily="34" charset="0"/>
                <a:ea typeface="Calibri" pitchFamily="34" charset="-122"/>
                <a:cs typeface="Calibri" pitchFamily="34" charset="-120"/>
              </a:rPr>
              <a:t>Bruising: </a:t>
            </a:r>
            <a:r>
              <a:rPr lang="en-US" sz="1610" dirty="0">
                <a:solidFill>
                  <a:srgbClr val="F4F1EA"/>
                </a:solidFill>
                <a:latin typeface="Calibri" pitchFamily="34" charset="0"/>
                <a:ea typeface="Calibri" pitchFamily="34" charset="-122"/>
                <a:cs typeface="Calibri" pitchFamily="34" charset="-120"/>
              </a:rPr>
              <a:t>plantar arch ecchymosis (Mondor's sign) points to a calcaneal fracture</a:t>
            </a:r>
            <a:endParaRPr lang="en-US" sz="1610" dirty="0"/>
          </a:p>
          <a:p>
            <a:pPr marL="203200" indent="-203200">
              <a:buSzPct val="100000"/>
              <a:buChar char="•"/>
            </a:pPr>
            <a:r>
              <a:rPr lang="en-US" sz="1610" b="1" dirty="0">
                <a:solidFill>
                  <a:srgbClr val="FBBF24"/>
                </a:solidFill>
                <a:latin typeface="Calibri" pitchFamily="34" charset="0"/>
                <a:ea typeface="Calibri" pitchFamily="34" charset="-122"/>
                <a:cs typeface="Calibri" pitchFamily="34" charset="-120"/>
              </a:rPr>
              <a:t>Skin: </a:t>
            </a:r>
            <a:r>
              <a:rPr lang="en-US" sz="1610" dirty="0">
                <a:solidFill>
                  <a:srgbClr val="F4F1EA"/>
                </a:solidFill>
                <a:latin typeface="Calibri" pitchFamily="34" charset="0"/>
                <a:ea typeface="Calibri" pitchFamily="34" charset="-122"/>
                <a:cs typeface="Calibri" pitchFamily="34" charset="-120"/>
              </a:rPr>
              <a:t>fracture blisters (clear or blood-filled), open wounds (usually medial), the wrinkle test</a:t>
            </a:r>
            <a:endParaRPr lang="en-US" sz="1610" dirty="0"/>
          </a:p>
          <a:p>
            <a:pPr marL="203200" indent="-203200">
              <a:buSzPct val="100000"/>
              <a:buChar char="•"/>
            </a:pPr>
            <a:r>
              <a:rPr lang="en-US" sz="1610" b="1" dirty="0">
                <a:solidFill>
                  <a:srgbClr val="FBBF24"/>
                </a:solidFill>
                <a:latin typeface="Calibri" pitchFamily="34" charset="0"/>
                <a:ea typeface="Calibri" pitchFamily="34" charset="-122"/>
                <a:cs typeface="Calibri" pitchFamily="34" charset="-120"/>
              </a:rPr>
              <a:t>Feel and move: </a:t>
            </a:r>
            <a:r>
              <a:rPr lang="en-US" sz="1610" dirty="0">
                <a:solidFill>
                  <a:srgbClr val="F4F1EA"/>
                </a:solidFill>
                <a:latin typeface="Calibri" pitchFamily="34" charset="0"/>
                <a:ea typeface="Calibri" pitchFamily="34" charset="-122"/>
                <a:cs typeface="Calibri" pitchFamily="34" charset="-120"/>
              </a:rPr>
              <a:t>tenderness on heel squeeze, painful subtalar motion, foot compartments</a:t>
            </a:r>
            <a:endParaRPr lang="en-US" sz="1610" dirty="0"/>
          </a:p>
          <a:p>
            <a:pPr marL="203200" indent="-203200">
              <a:buSzPct val="100000"/>
              <a:buChar char="•"/>
            </a:pPr>
            <a:r>
              <a:rPr lang="en-US" sz="1610" b="1" dirty="0">
                <a:solidFill>
                  <a:srgbClr val="FBBF24"/>
                </a:solidFill>
                <a:latin typeface="Calibri" pitchFamily="34" charset="0"/>
                <a:ea typeface="Calibri" pitchFamily="34" charset="-122"/>
                <a:cs typeface="Calibri" pitchFamily="34" charset="-120"/>
              </a:rPr>
              <a:t>Neurovascular: </a:t>
            </a:r>
            <a:r>
              <a:rPr lang="en-US" sz="1610" dirty="0">
                <a:solidFill>
                  <a:srgbClr val="F4F1EA"/>
                </a:solidFill>
                <a:latin typeface="Calibri" pitchFamily="34" charset="0"/>
                <a:ea typeface="Calibri" pitchFamily="34" charset="-122"/>
                <a:cs typeface="Calibri" pitchFamily="34" charset="-120"/>
              </a:rPr>
              <a:t>sural and tibial nerve, dorsalis pedis and posterior tibial pulses</a:t>
            </a:r>
            <a:endParaRPr lang="en-US" sz="1610" dirty="0"/>
          </a:p>
        </p:txBody>
      </p:sp>
      <p:sp>
        <p:nvSpPr>
          <p:cNvPr id="10" name="Shape 7"/>
          <p:cNvSpPr/>
          <p:nvPr/>
        </p:nvSpPr>
        <p:spPr>
          <a:xfrm>
            <a:off x="6263640" y="1508760"/>
            <a:ext cx="5394960" cy="2514600"/>
          </a:xfrm>
          <a:prstGeom prst="roundRect">
            <a:avLst>
              <a:gd name="adj" fmla="val 2909"/>
            </a:avLst>
          </a:prstGeom>
          <a:solidFill>
            <a:srgbClr val="132A36"/>
          </a:solidFill>
          <a:ln w="9525">
            <a:solidFill>
              <a:srgbClr val="2C4756"/>
            </a:solidFill>
            <a:prstDash val="solid"/>
          </a:ln>
        </p:spPr>
      </p:sp>
      <p:sp>
        <p:nvSpPr>
          <p:cNvPr id="11" name="Text 8"/>
          <p:cNvSpPr txBox="1"/>
          <p:nvPr/>
        </p:nvSpPr>
        <p:spPr>
          <a:xfrm>
            <a:off x="6492240" y="1627632"/>
            <a:ext cx="4937760" cy="365760"/>
          </a:xfrm>
          <a:prstGeom prst="rect">
            <a:avLst/>
          </a:prstGeom>
          <a:noFill/>
          <a:ln/>
        </p:spPr>
        <p:txBody>
          <a:bodyPr wrap="square" lIns="0" tIns="0" rIns="0" bIns="0" rtlCol="0" anchor="t"/>
          <a:lstStyle/>
          <a:p>
            <a:pPr marL="0" indent="0" algn="l">
              <a:buNone/>
            </a:pPr>
            <a:r>
              <a:rPr lang="en-US" sz="2000" b="1" dirty="0">
                <a:solidFill>
                  <a:srgbClr val="FF7A45"/>
                </a:solidFill>
                <a:latin typeface="Cambria" pitchFamily="34" charset="0"/>
                <a:ea typeface="Cambria" pitchFamily="34" charset="-122"/>
                <a:cs typeface="Cambria" pitchFamily="34" charset="-120"/>
              </a:rPr>
              <a:t>Look for the associated injuries</a:t>
            </a:r>
            <a:endParaRPr lang="en-US" sz="2000" dirty="0"/>
          </a:p>
        </p:txBody>
      </p:sp>
      <p:sp>
        <p:nvSpPr>
          <p:cNvPr id="12" name="Text 9"/>
          <p:cNvSpPr txBox="1"/>
          <p:nvPr/>
        </p:nvSpPr>
        <p:spPr>
          <a:xfrm>
            <a:off x="6492240" y="2103120"/>
            <a:ext cx="4937760" cy="1828800"/>
          </a:xfrm>
          <a:prstGeom prst="rect">
            <a:avLst/>
          </a:prstGeom>
          <a:noFill/>
          <a:ln/>
        </p:spPr>
        <p:txBody>
          <a:bodyPr wrap="square" lIns="0" tIns="0" rIns="0" bIns="0" rtlCol="0" anchor="t"/>
          <a:lstStyle/>
          <a:p>
            <a:pPr marL="203200" indent="-203200">
              <a:spcAft>
                <a:spcPts val="500"/>
              </a:spcAft>
              <a:buSzPct val="100000"/>
              <a:buChar char="•"/>
            </a:pPr>
            <a:r>
              <a:rPr lang="en-US" sz="1610" dirty="0">
                <a:solidFill>
                  <a:srgbClr val="F4F1EA"/>
                </a:solidFill>
                <a:latin typeface="Calibri" pitchFamily="34" charset="0"/>
                <a:ea typeface="Calibri" pitchFamily="34" charset="-122"/>
                <a:cs typeface="Calibri" pitchFamily="34" charset="-120"/>
              </a:rPr>
              <a:t>Thoracolumbar spine: about 1 in 10</a:t>
            </a:r>
            <a:endParaRPr lang="en-US" sz="1610" dirty="0"/>
          </a:p>
          <a:p>
            <a:pPr marL="203200" indent="-203200">
              <a:spcAft>
                <a:spcPts val="500"/>
              </a:spcAft>
              <a:buSzPct val="100000"/>
              <a:buChar char="•"/>
            </a:pPr>
            <a:r>
              <a:rPr lang="en-US" sz="1610" dirty="0">
                <a:solidFill>
                  <a:srgbClr val="F4F1EA"/>
                </a:solidFill>
                <a:latin typeface="Calibri" pitchFamily="34" charset="0"/>
                <a:ea typeface="Calibri" pitchFamily="34" charset="-122"/>
                <a:cs typeface="Calibri" pitchFamily="34" charset="-120"/>
              </a:rPr>
              <a:t>Other lower-limb injuries: tibial plateau, pilon, ankle, talus</a:t>
            </a:r>
            <a:endParaRPr lang="en-US" sz="1610" dirty="0"/>
          </a:p>
          <a:p>
            <a:pPr marL="203200" indent="-203200">
              <a:spcAft>
                <a:spcPts val="500"/>
              </a:spcAft>
              <a:buSzPct val="100000"/>
              <a:buChar char="•"/>
            </a:pPr>
            <a:r>
              <a:rPr lang="en-US" sz="1610" dirty="0">
                <a:solidFill>
                  <a:srgbClr val="F4F1EA"/>
                </a:solidFill>
                <a:latin typeface="Calibri" pitchFamily="34" charset="0"/>
                <a:ea typeface="Calibri" pitchFamily="34" charset="-122"/>
                <a:cs typeface="Calibri" pitchFamily="34" charset="-120"/>
              </a:rPr>
              <a:t>Pelvis, acetabulum and hip after a fall</a:t>
            </a:r>
            <a:endParaRPr lang="en-US" sz="1610" dirty="0"/>
          </a:p>
          <a:p>
            <a:pPr marL="203200" indent="-203200">
              <a:spcAft>
                <a:spcPts val="500"/>
              </a:spcAft>
              <a:buSzPct val="100000"/>
              <a:buChar char="•"/>
            </a:pPr>
            <a:r>
              <a:rPr lang="en-US" sz="1610" dirty="0">
                <a:solidFill>
                  <a:srgbClr val="F4F1EA"/>
                </a:solidFill>
                <a:latin typeface="Calibri" pitchFamily="34" charset="0"/>
                <a:ea typeface="Calibri" pitchFamily="34" charset="-122"/>
                <a:cs typeface="Calibri" pitchFamily="34" charset="-120"/>
              </a:rPr>
              <a:t>Contralateral calcaneum: about 1 in 10</a:t>
            </a:r>
            <a:endParaRPr lang="en-US" sz="1610" dirty="0"/>
          </a:p>
        </p:txBody>
      </p:sp>
      <p:sp>
        <p:nvSpPr>
          <p:cNvPr id="13" name="Shape 10"/>
          <p:cNvSpPr/>
          <p:nvPr/>
        </p:nvSpPr>
        <p:spPr>
          <a:xfrm>
            <a:off x="6263640" y="4160520"/>
            <a:ext cx="5394960" cy="2148840"/>
          </a:xfrm>
          <a:prstGeom prst="roundRect">
            <a:avLst>
              <a:gd name="adj" fmla="val 3404"/>
            </a:avLst>
          </a:prstGeom>
          <a:solidFill>
            <a:srgbClr val="132A36"/>
          </a:solidFill>
          <a:ln w="9525">
            <a:solidFill>
              <a:srgbClr val="2C4756"/>
            </a:solidFill>
            <a:prstDash val="solid"/>
          </a:ln>
        </p:spPr>
      </p:sp>
      <p:sp>
        <p:nvSpPr>
          <p:cNvPr id="14" name="Text 11"/>
          <p:cNvSpPr txBox="1"/>
          <p:nvPr/>
        </p:nvSpPr>
        <p:spPr>
          <a:xfrm>
            <a:off x="6492240" y="4279392"/>
            <a:ext cx="4937760" cy="365760"/>
          </a:xfrm>
          <a:prstGeom prst="rect">
            <a:avLst/>
          </a:prstGeom>
          <a:noFill/>
          <a:ln/>
        </p:spPr>
        <p:txBody>
          <a:bodyPr wrap="square" lIns="0" tIns="0" rIns="0" bIns="0" rtlCol="0" anchor="t"/>
          <a:lstStyle/>
          <a:p>
            <a:pPr marL="0" indent="0" algn="l">
              <a:buNone/>
            </a:pPr>
            <a:r>
              <a:rPr lang="en-US" sz="2000" b="1" dirty="0">
                <a:solidFill>
                  <a:srgbClr val="F87171"/>
                </a:solidFill>
                <a:latin typeface="Cambria" pitchFamily="34" charset="0"/>
                <a:ea typeface="Cambria" pitchFamily="34" charset="-122"/>
                <a:cs typeface="Cambria" pitchFamily="34" charset="-120"/>
              </a:rPr>
              <a:t>Red flags</a:t>
            </a:r>
            <a:endParaRPr lang="en-US" sz="2000" dirty="0"/>
          </a:p>
        </p:txBody>
      </p:sp>
      <p:sp>
        <p:nvSpPr>
          <p:cNvPr id="15" name="Text 12"/>
          <p:cNvSpPr txBox="1"/>
          <p:nvPr/>
        </p:nvSpPr>
        <p:spPr>
          <a:xfrm>
            <a:off x="6492240" y="4754880"/>
            <a:ext cx="4937760" cy="1508760"/>
          </a:xfrm>
          <a:prstGeom prst="rect">
            <a:avLst/>
          </a:prstGeom>
          <a:noFill/>
          <a:ln/>
        </p:spPr>
        <p:txBody>
          <a:bodyPr wrap="square" lIns="0" tIns="0" rIns="0" bIns="0" rtlCol="0" anchor="t"/>
          <a:lstStyle/>
          <a:p>
            <a:pPr marL="203200" indent="-203200">
              <a:spcAft>
                <a:spcPts val="500"/>
              </a:spcAft>
              <a:buSzPct val="100000"/>
              <a:buChar char="•"/>
            </a:pPr>
            <a:r>
              <a:rPr lang="en-US" sz="1610" dirty="0">
                <a:solidFill>
                  <a:srgbClr val="F4F1EA"/>
                </a:solidFill>
                <a:latin typeface="Calibri" pitchFamily="34" charset="0"/>
                <a:ea typeface="Calibri" pitchFamily="34" charset="-122"/>
                <a:cs typeface="Calibri" pitchFamily="34" charset="-120"/>
              </a:rPr>
              <a:t>Tense swelling and pain on passive toe stretch: compartment syndrome</a:t>
            </a:r>
            <a:endParaRPr lang="en-US" sz="1610" dirty="0"/>
          </a:p>
          <a:p>
            <a:pPr marL="203200" indent="-203200">
              <a:spcAft>
                <a:spcPts val="500"/>
              </a:spcAft>
              <a:buSzPct val="100000"/>
              <a:buChar char="•"/>
            </a:pPr>
            <a:r>
              <a:rPr lang="en-US" sz="1610" dirty="0">
                <a:solidFill>
                  <a:srgbClr val="F4F1EA"/>
                </a:solidFill>
                <a:latin typeface="Calibri" pitchFamily="34" charset="0"/>
                <a:ea typeface="Calibri" pitchFamily="34" charset="-122"/>
                <a:cs typeface="Calibri" pitchFamily="34" charset="-120"/>
              </a:rPr>
              <a:t>Skin tenting over a posterior fragment: urgent</a:t>
            </a:r>
            <a:endParaRPr lang="en-US" sz="1610" dirty="0"/>
          </a:p>
          <a:p>
            <a:pPr marL="203200" indent="-203200">
              <a:spcAft>
                <a:spcPts val="500"/>
              </a:spcAft>
              <a:buSzPct val="100000"/>
              <a:buChar char="•"/>
            </a:pPr>
            <a:r>
              <a:rPr lang="en-US" sz="1610" dirty="0">
                <a:solidFill>
                  <a:srgbClr val="F4F1EA"/>
                </a:solidFill>
                <a:latin typeface="Calibri" pitchFamily="34" charset="0"/>
                <a:ea typeface="Calibri" pitchFamily="34" charset="-122"/>
                <a:cs typeface="Calibri" pitchFamily="34" charset="-120"/>
              </a:rPr>
              <a:t>Open wound: antibiotics and debridement</a:t>
            </a:r>
            <a:endParaRPr lang="en-US" sz="161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IMAGING</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Plain radiographs: views and what to look for</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035040" cy="2644140"/>
        </p:xfrm>
        <a:graphic>
          <a:graphicData uri="http://schemas.openxmlformats.org/drawingml/2006/table">
            <a:tbl>
              <a:tblPr/>
              <a:tblGrid>
                <a:gridCol w="128016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tblGrid>
              <a:tr h="0">
                <a:tc>
                  <a:txBody>
                    <a:bodyPr/>
                    <a:lstStyle/>
                    <a:p>
                      <a:pPr marL="0" indent="0">
                        <a:buNone/>
                      </a:pPr>
                      <a:r>
                        <a:rPr lang="en-US" sz="1250" b="1" dirty="0">
                          <a:solidFill>
                            <a:srgbClr val="FBBF24"/>
                          </a:solidFill>
                          <a:latin typeface="Calibri" pitchFamily="34" charset="0"/>
                          <a:ea typeface="Calibri" pitchFamily="34" charset="-122"/>
                          <a:cs typeface="Calibri" pitchFamily="34" charset="-120"/>
                        </a:rPr>
                        <a:t>View</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1250" b="1" dirty="0">
                          <a:solidFill>
                            <a:srgbClr val="FBBF24"/>
                          </a:solidFill>
                          <a:latin typeface="Calibri" pitchFamily="34" charset="0"/>
                          <a:ea typeface="Calibri" pitchFamily="34" charset="-122"/>
                          <a:cs typeface="Calibri" pitchFamily="34" charset="-120"/>
                        </a:rPr>
                        <a:t>How</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1250" b="1" dirty="0">
                          <a:solidFill>
                            <a:srgbClr val="FBBF24"/>
                          </a:solidFill>
                          <a:latin typeface="Calibri" pitchFamily="34" charset="0"/>
                          <a:ea typeface="Calibri" pitchFamily="34" charset="-122"/>
                          <a:cs typeface="Calibri" pitchFamily="34" charset="-120"/>
                        </a:rPr>
                        <a:t>What it shows</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extLst>
                  <a:ext uri="{0D108BD9-81ED-4DB2-BD59-A6C34878D82A}">
                    <a16:rowId xmlns:a16="http://schemas.microsoft.com/office/drawing/2014/main" val="10000"/>
                  </a:ext>
                </a:extLst>
              </a:tr>
              <a:tr h="0">
                <a:tc>
                  <a:txBody>
                    <a:bodyPr/>
                    <a:lstStyle/>
                    <a:p>
                      <a:pPr marL="0" indent="0">
                        <a:buNone/>
                      </a:pPr>
                      <a:r>
                        <a:rPr lang="en-US" sz="1250" b="1" dirty="0">
                          <a:solidFill>
                            <a:srgbClr val="2DD4BF"/>
                          </a:solidFill>
                          <a:latin typeface="Calibri" pitchFamily="34" charset="0"/>
                          <a:ea typeface="Calibri" pitchFamily="34" charset="-122"/>
                          <a:cs typeface="Calibri" pitchFamily="34" charset="-120"/>
                        </a:rPr>
                        <a:t>Lateral</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Foot neutral, beam on the heel</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Böhler and Gissane angles, heel height, facet depression, tongue fragment</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1"/>
                  </a:ext>
                </a:extLst>
              </a:tr>
              <a:tr h="0">
                <a:tc>
                  <a:txBody>
                    <a:bodyPr/>
                    <a:lstStyle/>
                    <a:p>
                      <a:pPr marL="0" indent="0">
                        <a:buNone/>
                      </a:pPr>
                      <a:r>
                        <a:rPr lang="en-US" sz="1250" b="1" dirty="0">
                          <a:solidFill>
                            <a:srgbClr val="2DD4BF"/>
                          </a:solidFill>
                          <a:latin typeface="Calibri" pitchFamily="34" charset="0"/>
                          <a:ea typeface="Calibri" pitchFamily="34" charset="-122"/>
                          <a:cs typeface="Calibri" pitchFamily="34" charset="-120"/>
                        </a:rPr>
                        <a:t>Harris axial</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Beam 45° cephalad, heel on the plate</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Heel width, varus, tuberosity displacement, lateral wall</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2"/>
                  </a:ext>
                </a:extLst>
              </a:tr>
              <a:tr h="0">
                <a:tc>
                  <a:txBody>
                    <a:bodyPr/>
                    <a:lstStyle/>
                    <a:p>
                      <a:pPr marL="0" indent="0">
                        <a:buNone/>
                      </a:pPr>
                      <a:r>
                        <a:rPr lang="en-US" sz="1250" b="1" dirty="0">
                          <a:solidFill>
                            <a:srgbClr val="2DD4BF"/>
                          </a:solidFill>
                          <a:latin typeface="Calibri" pitchFamily="34" charset="0"/>
                          <a:ea typeface="Calibri" pitchFamily="34" charset="-122"/>
                          <a:cs typeface="Calibri" pitchFamily="34" charset="-120"/>
                        </a:rPr>
                        <a:t>Broden</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Leg internally rotated, beam tilted 10° to 40°</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Posterior facet congruity, best used on the table</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3"/>
                  </a:ext>
                </a:extLst>
              </a:tr>
              <a:tr h="0">
                <a:tc>
                  <a:txBody>
                    <a:bodyPr/>
                    <a:lstStyle/>
                    <a:p>
                      <a:pPr marL="0" indent="0">
                        <a:buNone/>
                      </a:pPr>
                      <a:r>
                        <a:rPr lang="en-US" sz="1250" b="1" dirty="0">
                          <a:solidFill>
                            <a:srgbClr val="2DD4BF"/>
                          </a:solidFill>
                          <a:latin typeface="Calibri" pitchFamily="34" charset="0"/>
                          <a:ea typeface="Calibri" pitchFamily="34" charset="-122"/>
                          <a:cs typeface="Calibri" pitchFamily="34" charset="-120"/>
                        </a:rPr>
                        <a:t>Anthonsen</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Lateral oblique, beam tilted</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Sustentaculum and middle facet</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4"/>
                  </a:ext>
                </a:extLst>
              </a:tr>
              <a:tr h="0">
                <a:tc>
                  <a:txBody>
                    <a:bodyPr/>
                    <a:lstStyle/>
                    <a:p>
                      <a:pPr marL="0" indent="0">
                        <a:buNone/>
                      </a:pPr>
                      <a:r>
                        <a:rPr lang="en-US" sz="1250" b="1" dirty="0">
                          <a:solidFill>
                            <a:srgbClr val="2DD4BF"/>
                          </a:solidFill>
                          <a:latin typeface="Calibri" pitchFamily="34" charset="0"/>
                          <a:ea typeface="Calibri" pitchFamily="34" charset="-122"/>
                          <a:cs typeface="Calibri" pitchFamily="34" charset="-120"/>
                        </a:rPr>
                        <a:t>AP foot and ankle</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Standard views</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Calcaneocuboid joint, associated fractures</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5"/>
                  </a:ext>
                </a:extLst>
              </a:tr>
            </a:tbl>
          </a:graphicData>
        </a:graphic>
      </p:graphicFrame>
      <p:sp>
        <p:nvSpPr>
          <p:cNvPr id="7" name="Shape 4"/>
          <p:cNvSpPr/>
          <p:nvPr/>
        </p:nvSpPr>
        <p:spPr>
          <a:xfrm>
            <a:off x="6812280" y="1508760"/>
            <a:ext cx="2377440" cy="2286000"/>
          </a:xfrm>
          <a:prstGeom prst="roundRect">
            <a:avLst>
              <a:gd name="adj" fmla="val 2400"/>
            </a:avLst>
          </a:prstGeom>
          <a:solidFill>
            <a:srgbClr val="070F14"/>
          </a:solidFill>
          <a:ln w="9525">
            <a:solidFill>
              <a:srgbClr val="2C4756"/>
            </a:solidFill>
            <a:prstDash val="solid"/>
          </a:ln>
        </p:spPr>
      </p:sp>
      <p:pic>
        <p:nvPicPr>
          <p:cNvPr id="8" name="Image 0" descr="C:\Users\pawan\Documents\GitHub\ortho-chronicles\slides\img_calc\c05.png"/>
          <p:cNvPicPr>
            <a:picLocks noChangeAspect="1"/>
          </p:cNvPicPr>
          <p:nvPr/>
        </p:nvPicPr>
        <p:blipFill>
          <a:blip r:embed="rId3"/>
          <a:stretch>
            <a:fillRect/>
          </a:stretch>
        </p:blipFill>
        <p:spPr>
          <a:xfrm>
            <a:off x="6867144" y="1608316"/>
            <a:ext cx="2267712" cy="2086888"/>
          </a:xfrm>
          <a:prstGeom prst="rect">
            <a:avLst/>
          </a:prstGeom>
        </p:spPr>
      </p:pic>
      <p:sp>
        <p:nvSpPr>
          <p:cNvPr id="9" name="Shape 5"/>
          <p:cNvSpPr/>
          <p:nvPr/>
        </p:nvSpPr>
        <p:spPr>
          <a:xfrm>
            <a:off x="9281160" y="1508760"/>
            <a:ext cx="2377440" cy="2286000"/>
          </a:xfrm>
          <a:prstGeom prst="roundRect">
            <a:avLst>
              <a:gd name="adj" fmla="val 2400"/>
            </a:avLst>
          </a:prstGeom>
          <a:solidFill>
            <a:srgbClr val="070F14"/>
          </a:solidFill>
          <a:ln w="9525">
            <a:solidFill>
              <a:srgbClr val="2C4756"/>
            </a:solidFill>
            <a:prstDash val="solid"/>
          </a:ln>
        </p:spPr>
      </p:sp>
      <p:pic>
        <p:nvPicPr>
          <p:cNvPr id="10" name="Image 1" descr="C:\Users\pawan\Documents\GitHub\ortho-chronicles\slides\img_calc\c02.jpg"/>
          <p:cNvPicPr>
            <a:picLocks noChangeAspect="1"/>
          </p:cNvPicPr>
          <p:nvPr/>
        </p:nvPicPr>
        <p:blipFill>
          <a:blip r:embed="rId4"/>
          <a:stretch>
            <a:fillRect/>
          </a:stretch>
        </p:blipFill>
        <p:spPr>
          <a:xfrm>
            <a:off x="9336024" y="1801368"/>
            <a:ext cx="2267712" cy="1700784"/>
          </a:xfrm>
          <a:prstGeom prst="rect">
            <a:avLst/>
          </a:prstGeom>
        </p:spPr>
      </p:pic>
      <p:sp>
        <p:nvSpPr>
          <p:cNvPr id="6" name="Text 6"/>
          <p:cNvSpPr txBox="1"/>
          <p:nvPr/>
        </p:nvSpPr>
        <p:spPr>
          <a:xfrm>
            <a:off x="6812280" y="3840480"/>
            <a:ext cx="2377440" cy="502920"/>
          </a:xfrm>
          <a:prstGeom prst="rect">
            <a:avLst/>
          </a:prstGeom>
          <a:noFill/>
          <a:ln/>
        </p:spPr>
        <p:txBody>
          <a:bodyPr wrap="square" lIns="0" tIns="0" rIns="0" bIns="0" rtlCol="0" anchor="t"/>
          <a:lstStyle/>
          <a:p>
            <a:pPr marL="0" indent="0" algn="l">
              <a:buNone/>
            </a:pPr>
            <a:r>
              <a:rPr lang="en-US" sz="950" i="1" dirty="0">
                <a:solidFill>
                  <a:srgbClr val="9FB3BD"/>
                </a:solidFill>
                <a:latin typeface="Calibri" pitchFamily="34" charset="0"/>
                <a:ea typeface="Calibri" pitchFamily="34" charset="-122"/>
                <a:cs typeface="Calibri" pitchFamily="34" charset="-120"/>
              </a:rPr>
              <a:t>Lateral views. Arrow: step in the posterior tuberosity. James Heilman · CC BY-SA 4.0</a:t>
            </a:r>
            <a:endParaRPr lang="en-US" sz="950" dirty="0"/>
          </a:p>
        </p:txBody>
      </p:sp>
      <p:sp>
        <p:nvSpPr>
          <p:cNvPr id="12" name="Text 7"/>
          <p:cNvSpPr txBox="1"/>
          <p:nvPr/>
        </p:nvSpPr>
        <p:spPr>
          <a:xfrm>
            <a:off x="9281160" y="3840480"/>
            <a:ext cx="2377440" cy="502920"/>
          </a:xfrm>
          <a:prstGeom prst="rect">
            <a:avLst/>
          </a:prstGeom>
          <a:noFill/>
          <a:ln/>
        </p:spPr>
        <p:txBody>
          <a:bodyPr wrap="square" lIns="0" tIns="0" rIns="0" bIns="0" rtlCol="0" anchor="t"/>
          <a:lstStyle/>
          <a:p>
            <a:pPr marL="0" indent="0" algn="l">
              <a:buNone/>
            </a:pPr>
            <a:r>
              <a:rPr lang="en-US" sz="950" i="1" dirty="0">
                <a:solidFill>
                  <a:srgbClr val="9FB3BD"/>
                </a:solidFill>
                <a:latin typeface="Calibri" pitchFamily="34" charset="0"/>
                <a:ea typeface="Calibri" pitchFamily="34" charset="-122"/>
                <a:cs typeface="Calibri" pitchFamily="34" charset="-120"/>
              </a:rPr>
              <a:t>Portable lateral: comminuted, depressed facet, heel height lost. James Heilman · CC BY-SA 3.0</a:t>
            </a:r>
            <a:endParaRPr lang="en-US" sz="950" dirty="0"/>
          </a:p>
        </p:txBody>
      </p:sp>
      <p:sp>
        <p:nvSpPr>
          <p:cNvPr id="13" name="Shape 8"/>
          <p:cNvSpPr/>
          <p:nvPr/>
        </p:nvSpPr>
        <p:spPr>
          <a:xfrm>
            <a:off x="6812280" y="4617720"/>
            <a:ext cx="4846320" cy="1691640"/>
          </a:xfrm>
          <a:prstGeom prst="roundRect">
            <a:avLst>
              <a:gd name="adj" fmla="val 4324"/>
            </a:avLst>
          </a:prstGeom>
          <a:solidFill>
            <a:srgbClr val="132A36"/>
          </a:solidFill>
          <a:ln w="9525">
            <a:solidFill>
              <a:srgbClr val="2C4756"/>
            </a:solidFill>
            <a:prstDash val="solid"/>
          </a:ln>
        </p:spPr>
      </p:sp>
      <p:sp>
        <p:nvSpPr>
          <p:cNvPr id="14" name="Text 9"/>
          <p:cNvSpPr txBox="1"/>
          <p:nvPr/>
        </p:nvSpPr>
        <p:spPr>
          <a:xfrm>
            <a:off x="6995160" y="4736592"/>
            <a:ext cx="4526280" cy="1508760"/>
          </a:xfrm>
          <a:prstGeom prst="rect">
            <a:avLst/>
          </a:prstGeom>
          <a:noFill/>
          <a:ln/>
        </p:spPr>
        <p:txBody>
          <a:bodyPr wrap="square" lIns="0" tIns="0" rIns="0" bIns="0" rtlCol="0" anchor="t"/>
          <a:lstStyle/>
          <a:p>
            <a:pPr marL="203200" indent="-203200">
              <a:spcAft>
                <a:spcPts val="400"/>
              </a:spcAft>
              <a:buSzPct val="100000"/>
              <a:buChar char="•"/>
            </a:pPr>
            <a:r>
              <a:rPr lang="en-US" sz="1430" dirty="0">
                <a:solidFill>
                  <a:srgbClr val="F4F1EA"/>
                </a:solidFill>
                <a:latin typeface="Calibri" pitchFamily="34" charset="0"/>
                <a:ea typeface="Calibri" pitchFamily="34" charset="-122"/>
                <a:cs typeface="Calibri" pitchFamily="34" charset="-120"/>
              </a:rPr>
              <a:t>Always image the ankle and the whole foot</a:t>
            </a:r>
            <a:endParaRPr lang="en-US" sz="1430" dirty="0"/>
          </a:p>
          <a:p>
            <a:pPr marL="203200" indent="-203200">
              <a:spcAft>
                <a:spcPts val="400"/>
              </a:spcAft>
              <a:buSzPct val="100000"/>
              <a:buChar char="•"/>
            </a:pPr>
            <a:r>
              <a:rPr lang="en-US" sz="1430" dirty="0">
                <a:solidFill>
                  <a:srgbClr val="F4F1EA"/>
                </a:solidFill>
                <a:latin typeface="Calibri" pitchFamily="34" charset="0"/>
                <a:ea typeface="Calibri" pitchFamily="34" charset="-122"/>
                <a:cs typeface="Calibri" pitchFamily="34" charset="-120"/>
              </a:rPr>
              <a:t>Radiographs can under-call the injury, so get a CT for anything intra-articular</a:t>
            </a:r>
            <a:endParaRPr lang="en-US" sz="1430" dirty="0"/>
          </a:p>
          <a:p>
            <a:pPr marL="203200" indent="-203200">
              <a:spcAft>
                <a:spcPts val="400"/>
              </a:spcAft>
              <a:buSzPct val="100000"/>
              <a:buChar char="•"/>
            </a:pPr>
            <a:r>
              <a:rPr lang="en-US" sz="1430" dirty="0">
                <a:solidFill>
                  <a:srgbClr val="F4F1EA"/>
                </a:solidFill>
                <a:latin typeface="Calibri" pitchFamily="34" charset="0"/>
                <a:ea typeface="Calibri" pitchFamily="34" charset="-122"/>
                <a:cs typeface="Calibri" pitchFamily="34" charset="-120"/>
              </a:rPr>
              <a:t>Do the spine films for any fall from height</a:t>
            </a:r>
            <a:endParaRPr lang="en-US" sz="14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IMAGING</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Case gallery: what do you see?</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548640" y="1508760"/>
            <a:ext cx="3520440" cy="3063240"/>
          </a:xfrm>
          <a:prstGeom prst="roundRect">
            <a:avLst>
              <a:gd name="adj" fmla="val 1791"/>
            </a:avLst>
          </a:prstGeom>
          <a:solidFill>
            <a:srgbClr val="070F14"/>
          </a:solidFill>
          <a:ln w="9525">
            <a:solidFill>
              <a:srgbClr val="2C4756"/>
            </a:solidFill>
            <a:prstDash val="solid"/>
          </a:ln>
        </p:spPr>
      </p:sp>
      <p:pic>
        <p:nvPicPr>
          <p:cNvPr id="7" name="Image 0" descr="C:\Users\pawan\Documents\GitHub\ortho-chronicles\slides\img_calc\c01.jpg"/>
          <p:cNvPicPr>
            <a:picLocks noChangeAspect="1"/>
          </p:cNvPicPr>
          <p:nvPr/>
        </p:nvPicPr>
        <p:blipFill>
          <a:blip r:embed="rId3"/>
          <a:stretch>
            <a:fillRect/>
          </a:stretch>
        </p:blipFill>
        <p:spPr>
          <a:xfrm>
            <a:off x="603504" y="1882159"/>
            <a:ext cx="3410712" cy="2316442"/>
          </a:xfrm>
          <a:prstGeom prst="rect">
            <a:avLst/>
          </a:prstGeom>
        </p:spPr>
      </p:pic>
      <p:sp>
        <p:nvSpPr>
          <p:cNvPr id="8" name="Text 5"/>
          <p:cNvSpPr txBox="1"/>
          <p:nvPr/>
        </p:nvSpPr>
        <p:spPr>
          <a:xfrm>
            <a:off x="548640" y="4663440"/>
            <a:ext cx="3520440" cy="365760"/>
          </a:xfrm>
          <a:prstGeom prst="rect">
            <a:avLst/>
          </a:prstGeom>
          <a:noFill/>
          <a:ln/>
        </p:spPr>
        <p:txBody>
          <a:bodyPr wrap="square" lIns="0" tIns="0" rIns="0" bIns="0" rtlCol="0" anchor="t"/>
          <a:lstStyle/>
          <a:p>
            <a:pPr marL="0" indent="0" algn="l">
              <a:buNone/>
            </a:pPr>
            <a:r>
              <a:rPr lang="en-US" sz="1700" b="1" dirty="0">
                <a:solidFill>
                  <a:srgbClr val="2DD4BF"/>
                </a:solidFill>
                <a:latin typeface="Cambria" pitchFamily="34" charset="0"/>
                <a:ea typeface="Cambria" pitchFamily="34" charset="-122"/>
                <a:cs typeface="Cambria" pitchFamily="34" charset="-120"/>
              </a:rPr>
              <a:t>Case 1: posterior tuberosity</a:t>
            </a:r>
            <a:endParaRPr lang="en-US" sz="1700" dirty="0"/>
          </a:p>
        </p:txBody>
      </p:sp>
      <p:sp>
        <p:nvSpPr>
          <p:cNvPr id="9" name="Text 6"/>
          <p:cNvSpPr txBox="1"/>
          <p:nvPr/>
        </p:nvSpPr>
        <p:spPr>
          <a:xfrm>
            <a:off x="548640" y="5047488"/>
            <a:ext cx="3520440" cy="914400"/>
          </a:xfrm>
          <a:prstGeom prst="rect">
            <a:avLst/>
          </a:prstGeom>
          <a:noFill/>
          <a:ln/>
        </p:spPr>
        <p:txBody>
          <a:bodyPr wrap="square" lIns="0" tIns="0" rIns="0" bIns="0" rtlCol="0" anchor="t"/>
          <a:lstStyle/>
          <a:p>
            <a:pPr marL="0" indent="0" algn="l">
              <a:buNone/>
            </a:pPr>
            <a:r>
              <a:rPr lang="en-US" sz="1375" dirty="0">
                <a:solidFill>
                  <a:srgbClr val="F4F1EA"/>
                </a:solidFill>
                <a:latin typeface="Calibri" pitchFamily="34" charset="0"/>
                <a:ea typeface="Calibri" pitchFamily="34" charset="-122"/>
                <a:cs typeface="Calibri" pitchFamily="34" charset="-120"/>
              </a:rPr>
              <a:t>Lateral view. Irregular posterior and plantar tuberosity with the posterior facet largely preserved, an extra-articular pattern.</a:t>
            </a:r>
            <a:endParaRPr lang="en-US" sz="1375" dirty="0"/>
          </a:p>
        </p:txBody>
      </p:sp>
      <p:sp>
        <p:nvSpPr>
          <p:cNvPr id="10" name="Text 7"/>
          <p:cNvSpPr txBox="1"/>
          <p:nvPr/>
        </p:nvSpPr>
        <p:spPr>
          <a:xfrm>
            <a:off x="548640" y="6035040"/>
            <a:ext cx="3520440" cy="274320"/>
          </a:xfrm>
          <a:prstGeom prst="rect">
            <a:avLst/>
          </a:prstGeom>
          <a:noFill/>
          <a:ln/>
        </p:spPr>
        <p:txBody>
          <a:bodyPr wrap="square" lIns="0" tIns="0" rIns="0" bIns="0" rtlCol="0" anchor="t"/>
          <a:lstStyle/>
          <a:p>
            <a:pPr marL="0" indent="0" algn="l">
              <a:buNone/>
            </a:pPr>
            <a:r>
              <a:rPr lang="en-US" sz="950" i="1" dirty="0">
                <a:solidFill>
                  <a:srgbClr val="9FB3BD"/>
                </a:solidFill>
                <a:latin typeface="Calibri" pitchFamily="34" charset="0"/>
                <a:ea typeface="Calibri" pitchFamily="34" charset="-122"/>
                <a:cs typeface="Calibri" pitchFamily="34" charset="-120"/>
              </a:rPr>
              <a:t>Jojo · CC BY-SA 3.0</a:t>
            </a:r>
            <a:endParaRPr lang="en-US" sz="950" dirty="0"/>
          </a:p>
        </p:txBody>
      </p:sp>
      <p:sp>
        <p:nvSpPr>
          <p:cNvPr id="11" name="Shape 8"/>
          <p:cNvSpPr/>
          <p:nvPr/>
        </p:nvSpPr>
        <p:spPr>
          <a:xfrm>
            <a:off x="4297680" y="1508760"/>
            <a:ext cx="3520440" cy="3063240"/>
          </a:xfrm>
          <a:prstGeom prst="roundRect">
            <a:avLst>
              <a:gd name="adj" fmla="val 1791"/>
            </a:avLst>
          </a:prstGeom>
          <a:solidFill>
            <a:srgbClr val="070F14"/>
          </a:solidFill>
          <a:ln w="9525">
            <a:solidFill>
              <a:srgbClr val="2C4756"/>
            </a:solidFill>
            <a:prstDash val="solid"/>
          </a:ln>
        </p:spPr>
      </p:sp>
      <p:pic>
        <p:nvPicPr>
          <p:cNvPr id="12" name="Image 1" descr="C:\Users\pawan\Documents\GitHub\ortho-chronicles\slides\img_calc\c02.jpg"/>
          <p:cNvPicPr>
            <a:picLocks noChangeAspect="1"/>
          </p:cNvPicPr>
          <p:nvPr/>
        </p:nvPicPr>
        <p:blipFill>
          <a:blip r:embed="rId4"/>
          <a:stretch>
            <a:fillRect/>
          </a:stretch>
        </p:blipFill>
        <p:spPr>
          <a:xfrm>
            <a:off x="4352544" y="1761363"/>
            <a:ext cx="3410712" cy="2558034"/>
          </a:xfrm>
          <a:prstGeom prst="rect">
            <a:avLst/>
          </a:prstGeom>
        </p:spPr>
      </p:pic>
      <p:sp>
        <p:nvSpPr>
          <p:cNvPr id="13" name="Text 9"/>
          <p:cNvSpPr txBox="1"/>
          <p:nvPr/>
        </p:nvSpPr>
        <p:spPr>
          <a:xfrm>
            <a:off x="4297680" y="4663440"/>
            <a:ext cx="3520440" cy="365760"/>
          </a:xfrm>
          <a:prstGeom prst="rect">
            <a:avLst/>
          </a:prstGeom>
          <a:noFill/>
          <a:ln/>
        </p:spPr>
        <p:txBody>
          <a:bodyPr wrap="square" lIns="0" tIns="0" rIns="0" bIns="0" rtlCol="0" anchor="t"/>
          <a:lstStyle/>
          <a:p>
            <a:pPr marL="0" indent="0" algn="l">
              <a:buNone/>
            </a:pPr>
            <a:r>
              <a:rPr lang="en-US" sz="1700" b="1" dirty="0">
                <a:solidFill>
                  <a:srgbClr val="FF7A45"/>
                </a:solidFill>
                <a:latin typeface="Cambria" pitchFamily="34" charset="0"/>
                <a:ea typeface="Cambria" pitchFamily="34" charset="-122"/>
                <a:cs typeface="Cambria" pitchFamily="34" charset="-120"/>
              </a:rPr>
              <a:t>Case 2: intra-articular</a:t>
            </a:r>
            <a:endParaRPr lang="en-US" sz="1700" dirty="0"/>
          </a:p>
        </p:txBody>
      </p:sp>
      <p:sp>
        <p:nvSpPr>
          <p:cNvPr id="14" name="Text 10"/>
          <p:cNvSpPr txBox="1"/>
          <p:nvPr/>
        </p:nvSpPr>
        <p:spPr>
          <a:xfrm>
            <a:off x="4297680" y="5047488"/>
            <a:ext cx="3520440" cy="914400"/>
          </a:xfrm>
          <a:prstGeom prst="rect">
            <a:avLst/>
          </a:prstGeom>
          <a:noFill/>
          <a:ln/>
        </p:spPr>
        <p:txBody>
          <a:bodyPr wrap="square" lIns="0" tIns="0" rIns="0" bIns="0" rtlCol="0" anchor="t"/>
          <a:lstStyle/>
          <a:p>
            <a:pPr marL="0" indent="0" algn="l">
              <a:buNone/>
            </a:pPr>
            <a:r>
              <a:rPr lang="en-US" sz="1375" dirty="0">
                <a:solidFill>
                  <a:srgbClr val="F4F1EA"/>
                </a:solidFill>
                <a:latin typeface="Calibri" pitchFamily="34" charset="0"/>
                <a:ea typeface="Calibri" pitchFamily="34" charset="-122"/>
                <a:cs typeface="Calibri" pitchFamily="34" charset="-120"/>
              </a:rPr>
              <a:t>Lateral view. Comminuted fracture with a depressed, rotated facet fragment, a flat Böhler angle and shortened heel.</a:t>
            </a:r>
            <a:endParaRPr lang="en-US" sz="1375" dirty="0"/>
          </a:p>
        </p:txBody>
      </p:sp>
      <p:sp>
        <p:nvSpPr>
          <p:cNvPr id="15" name="Text 11"/>
          <p:cNvSpPr txBox="1"/>
          <p:nvPr/>
        </p:nvSpPr>
        <p:spPr>
          <a:xfrm>
            <a:off x="4297680" y="6035040"/>
            <a:ext cx="3520440" cy="274320"/>
          </a:xfrm>
          <a:prstGeom prst="rect">
            <a:avLst/>
          </a:prstGeom>
          <a:noFill/>
          <a:ln/>
        </p:spPr>
        <p:txBody>
          <a:bodyPr wrap="square" lIns="0" tIns="0" rIns="0" bIns="0" rtlCol="0" anchor="t"/>
          <a:lstStyle/>
          <a:p>
            <a:pPr marL="0" indent="0" algn="l">
              <a:buNone/>
            </a:pPr>
            <a:r>
              <a:rPr lang="en-US" sz="950" i="1" dirty="0">
                <a:solidFill>
                  <a:srgbClr val="9FB3BD"/>
                </a:solidFill>
                <a:latin typeface="Calibri" pitchFamily="34" charset="0"/>
                <a:ea typeface="Calibri" pitchFamily="34" charset="-122"/>
                <a:cs typeface="Calibri" pitchFamily="34" charset="-120"/>
              </a:rPr>
              <a:t>James Heilman · CC BY-SA 3.0</a:t>
            </a:r>
            <a:endParaRPr lang="en-US" sz="950" dirty="0"/>
          </a:p>
        </p:txBody>
      </p:sp>
      <p:sp>
        <p:nvSpPr>
          <p:cNvPr id="16" name="Shape 12"/>
          <p:cNvSpPr/>
          <p:nvPr/>
        </p:nvSpPr>
        <p:spPr>
          <a:xfrm>
            <a:off x="8046720" y="1508760"/>
            <a:ext cx="3520440" cy="3063240"/>
          </a:xfrm>
          <a:prstGeom prst="roundRect">
            <a:avLst>
              <a:gd name="adj" fmla="val 1791"/>
            </a:avLst>
          </a:prstGeom>
          <a:solidFill>
            <a:srgbClr val="070F14"/>
          </a:solidFill>
          <a:ln w="9525">
            <a:solidFill>
              <a:srgbClr val="2C4756"/>
            </a:solidFill>
            <a:prstDash val="solid"/>
          </a:ln>
        </p:spPr>
      </p:sp>
      <p:pic>
        <p:nvPicPr>
          <p:cNvPr id="17" name="Image 2" descr="C:\Users\pawan\Documents\GitHub\ortho-chronicles\slides\img_calc\c05.png"/>
          <p:cNvPicPr>
            <a:picLocks noChangeAspect="1"/>
          </p:cNvPicPr>
          <p:nvPr/>
        </p:nvPicPr>
        <p:blipFill>
          <a:blip r:embed="rId5"/>
          <a:stretch>
            <a:fillRect/>
          </a:stretch>
        </p:blipFill>
        <p:spPr>
          <a:xfrm>
            <a:off x="8202226" y="1563624"/>
            <a:ext cx="3209427" cy="2953512"/>
          </a:xfrm>
          <a:prstGeom prst="rect">
            <a:avLst/>
          </a:prstGeom>
        </p:spPr>
      </p:pic>
      <p:sp>
        <p:nvSpPr>
          <p:cNvPr id="18" name="Text 13"/>
          <p:cNvSpPr txBox="1"/>
          <p:nvPr/>
        </p:nvSpPr>
        <p:spPr>
          <a:xfrm>
            <a:off x="8046720" y="4663440"/>
            <a:ext cx="3520440" cy="365760"/>
          </a:xfrm>
          <a:prstGeom prst="rect">
            <a:avLst/>
          </a:prstGeom>
          <a:noFill/>
          <a:ln/>
        </p:spPr>
        <p:txBody>
          <a:bodyPr wrap="square" lIns="0" tIns="0" rIns="0" bIns="0" rtlCol="0" anchor="t"/>
          <a:lstStyle/>
          <a:p>
            <a:pPr marL="0" indent="0" algn="l">
              <a:buNone/>
            </a:pPr>
            <a:r>
              <a:rPr lang="en-US" sz="1700" b="1" dirty="0">
                <a:solidFill>
                  <a:srgbClr val="FBBF24"/>
                </a:solidFill>
                <a:latin typeface="Cambria" pitchFamily="34" charset="0"/>
                <a:ea typeface="Cambria" pitchFamily="34" charset="-122"/>
                <a:cs typeface="Cambria" pitchFamily="34" charset="-120"/>
              </a:rPr>
              <a:t>Case 3: joint depression</a:t>
            </a:r>
            <a:endParaRPr lang="en-US" sz="1700" dirty="0"/>
          </a:p>
        </p:txBody>
      </p:sp>
      <p:sp>
        <p:nvSpPr>
          <p:cNvPr id="19" name="Text 14"/>
          <p:cNvSpPr txBox="1"/>
          <p:nvPr/>
        </p:nvSpPr>
        <p:spPr>
          <a:xfrm>
            <a:off x="8046720" y="5047488"/>
            <a:ext cx="3520440" cy="914400"/>
          </a:xfrm>
          <a:prstGeom prst="rect">
            <a:avLst/>
          </a:prstGeom>
          <a:noFill/>
          <a:ln/>
        </p:spPr>
        <p:txBody>
          <a:bodyPr wrap="square" lIns="0" tIns="0" rIns="0" bIns="0" rtlCol="0" anchor="t"/>
          <a:lstStyle/>
          <a:p>
            <a:pPr marL="0" indent="0" algn="l">
              <a:buNone/>
            </a:pPr>
            <a:r>
              <a:rPr lang="en-US" sz="1375" dirty="0">
                <a:solidFill>
                  <a:srgbClr val="F4F1EA"/>
                </a:solidFill>
                <a:latin typeface="Calibri" pitchFamily="34" charset="0"/>
                <a:ea typeface="Calibri" pitchFamily="34" charset="-122"/>
                <a:cs typeface="Calibri" pitchFamily="34" charset="-120"/>
              </a:rPr>
              <a:t>Lateral view. Step-off at the posterior tuberosity (arrow) with the facet driven into the body.</a:t>
            </a:r>
            <a:endParaRPr lang="en-US" sz="1375" dirty="0"/>
          </a:p>
        </p:txBody>
      </p:sp>
      <p:sp>
        <p:nvSpPr>
          <p:cNvPr id="20" name="Text 15"/>
          <p:cNvSpPr txBox="1"/>
          <p:nvPr/>
        </p:nvSpPr>
        <p:spPr>
          <a:xfrm>
            <a:off x="8046720" y="6035040"/>
            <a:ext cx="3520440" cy="274320"/>
          </a:xfrm>
          <a:prstGeom prst="rect">
            <a:avLst/>
          </a:prstGeom>
          <a:noFill/>
          <a:ln/>
        </p:spPr>
        <p:txBody>
          <a:bodyPr wrap="square" lIns="0" tIns="0" rIns="0" bIns="0" rtlCol="0" anchor="t"/>
          <a:lstStyle/>
          <a:p>
            <a:pPr marL="0" indent="0" algn="l">
              <a:buNone/>
            </a:pPr>
            <a:r>
              <a:rPr lang="en-US" sz="950" i="1" dirty="0">
                <a:solidFill>
                  <a:srgbClr val="9FB3BD"/>
                </a:solidFill>
                <a:latin typeface="Calibri" pitchFamily="34" charset="0"/>
                <a:ea typeface="Calibri" pitchFamily="34" charset="-122"/>
                <a:cs typeface="Calibri" pitchFamily="34" charset="-120"/>
              </a:rPr>
              <a:t>James Heilman · CC BY-SA 4.0</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D1B24"/>
        </a:solidFill>
        <a:effectLst/>
      </p:bgPr>
    </p:bg>
    <p:spTree>
      <p:nvGrpSpPr>
        <p:cNvPr id="1" name=""/>
        <p:cNvGrpSpPr/>
        <p:nvPr/>
      </p:nvGrpSpPr>
      <p:grpSpPr>
        <a:xfrm>
          <a:off x="0" y="0"/>
          <a:ext cx="0" cy="0"/>
          <a:chOff x="0" y="0"/>
          <a:chExt cx="0" cy="0"/>
        </a:xfrm>
      </p:grpSpPr>
      <p:sp>
        <p:nvSpPr>
          <p:cNvPr id="3"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IMAGING</a:t>
            </a:r>
            <a:endParaRPr lang="en-US" sz="1200" dirty="0"/>
          </a:p>
        </p:txBody>
      </p:sp>
      <p:sp>
        <p:nvSpPr>
          <p:cNvPr id="4"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CT is the gold standard for intra-articular fractures</a:t>
            </a:r>
            <a:endParaRPr lang="en-US" sz="3200" dirty="0"/>
          </a:p>
        </p:txBody>
      </p:sp>
      <p:sp>
        <p:nvSpPr>
          <p:cNvPr id="5"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6"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12</a:t>
            </a:r>
            <a:endParaRPr lang="en-US" sz="1000" dirty="0"/>
          </a:p>
        </p:txBody>
      </p:sp>
      <p:sp>
        <p:nvSpPr>
          <p:cNvPr id="7" name="Shape 4"/>
          <p:cNvSpPr/>
          <p:nvPr/>
        </p:nvSpPr>
        <p:spPr>
          <a:xfrm>
            <a:off x="548640" y="1508760"/>
            <a:ext cx="5852160" cy="4251960"/>
          </a:xfrm>
          <a:prstGeom prst="roundRect">
            <a:avLst>
              <a:gd name="adj" fmla="val 1290"/>
            </a:avLst>
          </a:prstGeom>
          <a:solidFill>
            <a:srgbClr val="070F14"/>
          </a:solidFill>
          <a:ln w="9525">
            <a:solidFill>
              <a:srgbClr val="2C4756"/>
            </a:solidFill>
            <a:prstDash val="solid"/>
          </a:ln>
        </p:spPr>
      </p:sp>
      <p:pic>
        <p:nvPicPr>
          <p:cNvPr id="8" name="Image 0" descr="C:\Users\pawan\Documents\GitHub\ortho-chronicles\slides\img_calc\c04.png"/>
          <p:cNvPicPr>
            <a:picLocks noChangeAspect="1"/>
          </p:cNvPicPr>
          <p:nvPr/>
        </p:nvPicPr>
        <p:blipFill>
          <a:blip r:embed="rId3"/>
          <a:stretch>
            <a:fillRect/>
          </a:stretch>
        </p:blipFill>
        <p:spPr>
          <a:xfrm>
            <a:off x="633898" y="1563624"/>
            <a:ext cx="5681643" cy="4142232"/>
          </a:xfrm>
          <a:prstGeom prst="rect">
            <a:avLst/>
          </a:prstGeom>
        </p:spPr>
      </p:pic>
      <p:sp>
        <p:nvSpPr>
          <p:cNvPr id="9" name="Text 5"/>
          <p:cNvSpPr txBox="1"/>
          <p:nvPr/>
        </p:nvSpPr>
        <p:spPr>
          <a:xfrm>
            <a:off x="548640" y="5852160"/>
            <a:ext cx="5852160" cy="457200"/>
          </a:xfrm>
          <a:prstGeom prst="rect">
            <a:avLst/>
          </a:prstGeom>
          <a:noFill/>
          <a:ln/>
        </p:spPr>
        <p:txBody>
          <a:bodyPr wrap="square" lIns="0" tIns="0" rIns="0" bIns="0" rtlCol="0" anchor="t"/>
          <a:lstStyle/>
          <a:p>
            <a:pPr marL="0" indent="0" algn="l">
              <a:buNone/>
            </a:pPr>
            <a:r>
              <a:rPr lang="en-US" sz="1000" i="1" dirty="0">
                <a:solidFill>
                  <a:srgbClr val="9FB3BD"/>
                </a:solidFill>
                <a:latin typeface="Calibri" pitchFamily="34" charset="0"/>
                <a:ea typeface="Calibri" pitchFamily="34" charset="-122"/>
                <a:cs typeface="Calibri" pitchFamily="34" charset="-120"/>
              </a:rPr>
              <a:t>Sagittal CT: fracture through the posterior facet (circled). James Heilman · CC BY-SA 3.0</a:t>
            </a:r>
            <a:endParaRPr lang="en-US" sz="1000" dirty="0"/>
          </a:p>
        </p:txBody>
      </p:sp>
      <p:sp>
        <p:nvSpPr>
          <p:cNvPr id="10" name="Shape 6"/>
          <p:cNvSpPr/>
          <p:nvPr/>
        </p:nvSpPr>
        <p:spPr>
          <a:xfrm>
            <a:off x="6629400" y="1508760"/>
            <a:ext cx="1627632" cy="1627632"/>
          </a:xfrm>
          <a:prstGeom prst="roundRect">
            <a:avLst>
              <a:gd name="adj" fmla="val 3371"/>
            </a:avLst>
          </a:prstGeom>
          <a:solidFill>
            <a:srgbClr val="070F14"/>
          </a:solidFill>
          <a:ln w="9525">
            <a:solidFill>
              <a:srgbClr val="2C4756"/>
            </a:solidFill>
            <a:prstDash val="solid"/>
          </a:ln>
        </p:spPr>
      </p:sp>
      <p:pic>
        <p:nvPicPr>
          <p:cNvPr id="11" name="Image 1" descr="C:\Users\pawan\Documents\GitHub\ortho-chronicles\slides\img_calc\c11.jpg"/>
          <p:cNvPicPr>
            <a:picLocks noChangeAspect="1"/>
          </p:cNvPicPr>
          <p:nvPr/>
        </p:nvPicPr>
        <p:blipFill>
          <a:blip r:embed="rId4"/>
          <a:stretch>
            <a:fillRect/>
          </a:stretch>
        </p:blipFill>
        <p:spPr>
          <a:xfrm>
            <a:off x="6684264" y="1563624"/>
            <a:ext cx="1517904" cy="1517904"/>
          </a:xfrm>
          <a:prstGeom prst="rect">
            <a:avLst/>
          </a:prstGeom>
        </p:spPr>
      </p:pic>
      <p:sp>
        <p:nvSpPr>
          <p:cNvPr id="12" name="Shape 7"/>
          <p:cNvSpPr/>
          <p:nvPr/>
        </p:nvSpPr>
        <p:spPr>
          <a:xfrm>
            <a:off x="8330184" y="1508760"/>
            <a:ext cx="1627632" cy="1627632"/>
          </a:xfrm>
          <a:prstGeom prst="roundRect">
            <a:avLst>
              <a:gd name="adj" fmla="val 3371"/>
            </a:avLst>
          </a:prstGeom>
          <a:solidFill>
            <a:srgbClr val="070F14"/>
          </a:solidFill>
          <a:ln w="9525">
            <a:solidFill>
              <a:srgbClr val="2C4756"/>
            </a:solidFill>
            <a:prstDash val="solid"/>
          </a:ln>
        </p:spPr>
      </p:sp>
      <p:pic>
        <p:nvPicPr>
          <p:cNvPr id="13" name="Image 2" descr="C:\Users\pawan\Documents\GitHub\ortho-chronicles\slides\img_calc\c12.jpg"/>
          <p:cNvPicPr>
            <a:picLocks noChangeAspect="1"/>
          </p:cNvPicPr>
          <p:nvPr/>
        </p:nvPicPr>
        <p:blipFill>
          <a:blip r:embed="rId5"/>
          <a:stretch>
            <a:fillRect/>
          </a:stretch>
        </p:blipFill>
        <p:spPr>
          <a:xfrm>
            <a:off x="8385048" y="1563624"/>
            <a:ext cx="1517904" cy="1517904"/>
          </a:xfrm>
          <a:prstGeom prst="rect">
            <a:avLst/>
          </a:prstGeom>
        </p:spPr>
      </p:pic>
      <p:sp>
        <p:nvSpPr>
          <p:cNvPr id="14" name="Shape 8"/>
          <p:cNvSpPr/>
          <p:nvPr/>
        </p:nvSpPr>
        <p:spPr>
          <a:xfrm>
            <a:off x="10030968" y="1508760"/>
            <a:ext cx="1627632" cy="1627632"/>
          </a:xfrm>
          <a:prstGeom prst="roundRect">
            <a:avLst>
              <a:gd name="adj" fmla="val 3371"/>
            </a:avLst>
          </a:prstGeom>
          <a:solidFill>
            <a:srgbClr val="070F14"/>
          </a:solidFill>
          <a:ln w="9525">
            <a:solidFill>
              <a:srgbClr val="2C4756"/>
            </a:solidFill>
            <a:prstDash val="solid"/>
          </a:ln>
        </p:spPr>
      </p:sp>
      <p:pic>
        <p:nvPicPr>
          <p:cNvPr id="15" name="Image 3" descr="C:\Users\pawan\Documents\GitHub\ortho-chronicles\slides\img_calc\c13.jpg"/>
          <p:cNvPicPr>
            <a:picLocks noChangeAspect="1"/>
          </p:cNvPicPr>
          <p:nvPr/>
        </p:nvPicPr>
        <p:blipFill>
          <a:blip r:embed="rId6"/>
          <a:stretch>
            <a:fillRect/>
          </a:stretch>
        </p:blipFill>
        <p:spPr>
          <a:xfrm>
            <a:off x="10085832" y="1563624"/>
            <a:ext cx="1517904" cy="1517904"/>
          </a:xfrm>
          <a:prstGeom prst="rect">
            <a:avLst/>
          </a:prstGeom>
        </p:spPr>
      </p:pic>
      <p:sp>
        <p:nvSpPr>
          <p:cNvPr id="16" name="Text 9"/>
          <p:cNvSpPr txBox="1"/>
          <p:nvPr/>
        </p:nvSpPr>
        <p:spPr>
          <a:xfrm>
            <a:off x="6629400" y="3182112"/>
            <a:ext cx="5029200" cy="274320"/>
          </a:xfrm>
          <a:prstGeom prst="rect">
            <a:avLst/>
          </a:prstGeom>
          <a:noFill/>
          <a:ln/>
        </p:spPr>
        <p:txBody>
          <a:bodyPr wrap="square" lIns="0" tIns="0" rIns="0" bIns="0" rtlCol="0" anchor="t"/>
          <a:lstStyle/>
          <a:p>
            <a:pPr marL="0" indent="0" algn="l">
              <a:buNone/>
            </a:pPr>
            <a:r>
              <a:rPr lang="en-US" sz="1000" i="1" dirty="0">
                <a:solidFill>
                  <a:srgbClr val="9FB3BD"/>
                </a:solidFill>
                <a:latin typeface="Calibri" pitchFamily="34" charset="0"/>
                <a:ea typeface="Calibri" pitchFamily="34" charset="-122"/>
                <a:cs typeface="Calibri" pitchFamily="34" charset="-120"/>
              </a:rPr>
              <a:t>Axial CT at three levels, labelled. Cerevisae · CC BY-SA 4.0</a:t>
            </a:r>
            <a:endParaRPr lang="en-US" sz="1000" dirty="0"/>
          </a:p>
        </p:txBody>
      </p:sp>
      <p:sp>
        <p:nvSpPr>
          <p:cNvPr id="17" name="Shape 10"/>
          <p:cNvSpPr/>
          <p:nvPr/>
        </p:nvSpPr>
        <p:spPr>
          <a:xfrm>
            <a:off x="6629400" y="3611880"/>
            <a:ext cx="5029200" cy="2697480"/>
          </a:xfrm>
          <a:prstGeom prst="roundRect">
            <a:avLst>
              <a:gd name="adj" fmla="val 2712"/>
            </a:avLst>
          </a:prstGeom>
          <a:solidFill>
            <a:srgbClr val="132A36"/>
          </a:solidFill>
          <a:ln w="9525">
            <a:solidFill>
              <a:srgbClr val="2C4756"/>
            </a:solidFill>
            <a:prstDash val="solid"/>
          </a:ln>
        </p:spPr>
      </p:sp>
      <p:sp>
        <p:nvSpPr>
          <p:cNvPr id="18" name="Text 11"/>
          <p:cNvSpPr txBox="1"/>
          <p:nvPr/>
        </p:nvSpPr>
        <p:spPr>
          <a:xfrm>
            <a:off x="6812280" y="3730752"/>
            <a:ext cx="4709160" cy="2514600"/>
          </a:xfrm>
          <a:prstGeom prst="rect">
            <a:avLst/>
          </a:prstGeom>
          <a:noFill/>
          <a:ln/>
        </p:spPr>
        <p:txBody>
          <a:bodyPr wrap="square" lIns="0" tIns="0" rIns="0" bIns="0" rtlCol="0" anchor="t"/>
          <a:lstStyle/>
          <a:p>
            <a:pPr marL="203200" indent="-203200">
              <a:buSzPct val="100000"/>
              <a:buChar char="•"/>
            </a:pPr>
            <a:r>
              <a:rPr lang="en-US" sz="1485" b="1" dirty="0">
                <a:solidFill>
                  <a:srgbClr val="FBBF24"/>
                </a:solidFill>
                <a:latin typeface="Calibri" pitchFamily="34" charset="0"/>
                <a:ea typeface="Calibri" pitchFamily="34" charset="-122"/>
                <a:cs typeface="Calibri" pitchFamily="34" charset="-120"/>
              </a:rPr>
              <a:t>Coronal </a:t>
            </a:r>
            <a:r>
              <a:rPr lang="en-US" sz="1485" dirty="0">
                <a:solidFill>
                  <a:srgbClr val="F4F1EA"/>
                </a:solidFill>
                <a:latin typeface="Calibri" pitchFamily="34" charset="0"/>
                <a:ea typeface="Calibri" pitchFamily="34" charset="-122"/>
                <a:cs typeface="Calibri" pitchFamily="34" charset="-120"/>
              </a:rPr>
              <a:t>cuts through the posterior facet: needed for the Sanders class</a:t>
            </a:r>
            <a:endParaRPr lang="en-US" sz="1485" dirty="0"/>
          </a:p>
          <a:p>
            <a:pPr marL="203200" indent="-203200">
              <a:buSzPct val="100000"/>
              <a:buChar char="•"/>
            </a:pPr>
            <a:r>
              <a:rPr lang="en-US" sz="1485" b="1" dirty="0">
                <a:solidFill>
                  <a:srgbClr val="FBBF24"/>
                </a:solidFill>
                <a:latin typeface="Calibri" pitchFamily="34" charset="0"/>
                <a:ea typeface="Calibri" pitchFamily="34" charset="-122"/>
                <a:cs typeface="Calibri" pitchFamily="34" charset="-120"/>
              </a:rPr>
              <a:t>Axial </a:t>
            </a:r>
            <a:r>
              <a:rPr lang="en-US" sz="1485" dirty="0">
                <a:solidFill>
                  <a:srgbClr val="F4F1EA"/>
                </a:solidFill>
                <a:latin typeface="Calibri" pitchFamily="34" charset="0"/>
                <a:ea typeface="Calibri" pitchFamily="34" charset="-122"/>
                <a:cs typeface="Calibri" pitchFamily="34" charset="-120"/>
              </a:rPr>
              <a:t>shows the calcaneocuboid joint, sustentaculum, lateral wall blow-out</a:t>
            </a:r>
            <a:endParaRPr lang="en-US" sz="1485" dirty="0"/>
          </a:p>
          <a:p>
            <a:pPr marL="203200" indent="-203200">
              <a:buSzPct val="100000"/>
              <a:buChar char="•"/>
            </a:pPr>
            <a:r>
              <a:rPr lang="en-US" sz="1485" b="1" dirty="0">
                <a:solidFill>
                  <a:srgbClr val="FBBF24"/>
                </a:solidFill>
                <a:latin typeface="Calibri" pitchFamily="34" charset="0"/>
                <a:ea typeface="Calibri" pitchFamily="34" charset="-122"/>
                <a:cs typeface="Calibri" pitchFamily="34" charset="-120"/>
              </a:rPr>
              <a:t>Sagittal </a:t>
            </a:r>
            <a:r>
              <a:rPr lang="en-US" sz="1485" dirty="0">
                <a:solidFill>
                  <a:srgbClr val="F4F1EA"/>
                </a:solidFill>
                <a:latin typeface="Calibri" pitchFamily="34" charset="0"/>
                <a:ea typeface="Calibri" pitchFamily="34" charset="-122"/>
                <a:cs typeface="Calibri" pitchFamily="34" charset="-120"/>
              </a:rPr>
              <a:t>shows the tongue fragment and facet depression</a:t>
            </a:r>
            <a:endParaRPr lang="en-US" sz="1485" dirty="0"/>
          </a:p>
          <a:p>
            <a:pPr marL="203200" indent="-203200">
              <a:buSzPct val="100000"/>
              <a:buChar char="•"/>
            </a:pPr>
            <a:r>
              <a:rPr lang="en-US" sz="1485" b="1" dirty="0">
                <a:solidFill>
                  <a:srgbClr val="FBBF24"/>
                </a:solidFill>
                <a:latin typeface="Calibri" pitchFamily="34" charset="0"/>
                <a:ea typeface="Calibri" pitchFamily="34" charset="-122"/>
                <a:cs typeface="Calibri" pitchFamily="34" charset="-120"/>
              </a:rPr>
              <a:t>3D reconstruction </a:t>
            </a:r>
            <a:r>
              <a:rPr lang="en-US" sz="1485" dirty="0">
                <a:solidFill>
                  <a:srgbClr val="F4F1EA"/>
                </a:solidFill>
                <a:latin typeface="Calibri" pitchFamily="34" charset="0"/>
                <a:ea typeface="Calibri" pitchFamily="34" charset="-122"/>
                <a:cs typeface="Calibri" pitchFamily="34" charset="-120"/>
              </a:rPr>
              <a:t>helps the surgeon plan reduction</a:t>
            </a:r>
            <a:endParaRPr lang="en-US" sz="148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IMAGING</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MRI: the problem-solver</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48640" y="1508760"/>
            <a:ext cx="3566160" cy="3383280"/>
          </a:xfrm>
          <a:prstGeom prst="roundRect">
            <a:avLst>
              <a:gd name="adj" fmla="val 1622"/>
            </a:avLst>
          </a:prstGeom>
          <a:solidFill>
            <a:srgbClr val="070F14"/>
          </a:solidFill>
          <a:ln w="9525">
            <a:solidFill>
              <a:srgbClr val="2C4756"/>
            </a:solidFill>
            <a:prstDash val="solid"/>
          </a:ln>
        </p:spPr>
      </p:sp>
      <p:pic>
        <p:nvPicPr>
          <p:cNvPr id="7" name="Image 0" descr="C:\Users\pawan\Documents\GitHub\ortho-chronicles\slides\img_calc\c09.jpg"/>
          <p:cNvPicPr>
            <a:picLocks noChangeAspect="1"/>
          </p:cNvPicPr>
          <p:nvPr/>
        </p:nvPicPr>
        <p:blipFill>
          <a:blip r:embed="rId3"/>
          <a:stretch>
            <a:fillRect/>
          </a:stretch>
        </p:blipFill>
        <p:spPr>
          <a:xfrm>
            <a:off x="603504" y="1567236"/>
            <a:ext cx="3456432" cy="3266328"/>
          </a:xfrm>
          <a:prstGeom prst="rect">
            <a:avLst/>
          </a:prstGeom>
        </p:spPr>
      </p:pic>
      <p:sp>
        <p:nvSpPr>
          <p:cNvPr id="8" name="Shape 5"/>
          <p:cNvSpPr/>
          <p:nvPr/>
        </p:nvSpPr>
        <p:spPr>
          <a:xfrm>
            <a:off x="4251960" y="1508760"/>
            <a:ext cx="3566160" cy="3383280"/>
          </a:xfrm>
          <a:prstGeom prst="roundRect">
            <a:avLst>
              <a:gd name="adj" fmla="val 1622"/>
            </a:avLst>
          </a:prstGeom>
          <a:solidFill>
            <a:srgbClr val="070F14"/>
          </a:solidFill>
          <a:ln w="9525">
            <a:solidFill>
              <a:srgbClr val="2C4756"/>
            </a:solidFill>
            <a:prstDash val="solid"/>
          </a:ln>
        </p:spPr>
      </p:sp>
      <p:pic>
        <p:nvPicPr>
          <p:cNvPr id="9" name="Image 1" descr="C:\Users\pawan\Documents\GitHub\ortho-chronicles\slides\img_calc\c10.jpg"/>
          <p:cNvPicPr>
            <a:picLocks noChangeAspect="1"/>
          </p:cNvPicPr>
          <p:nvPr/>
        </p:nvPicPr>
        <p:blipFill>
          <a:blip r:embed="rId4"/>
          <a:stretch>
            <a:fillRect/>
          </a:stretch>
        </p:blipFill>
        <p:spPr>
          <a:xfrm>
            <a:off x="4306824" y="1567236"/>
            <a:ext cx="3456432" cy="3266328"/>
          </a:xfrm>
          <a:prstGeom prst="rect">
            <a:avLst/>
          </a:prstGeom>
        </p:spPr>
      </p:pic>
      <p:sp>
        <p:nvSpPr>
          <p:cNvPr id="10" name="Text 6"/>
          <p:cNvSpPr txBox="1"/>
          <p:nvPr/>
        </p:nvSpPr>
        <p:spPr>
          <a:xfrm>
            <a:off x="548640" y="4937760"/>
            <a:ext cx="3566160" cy="457200"/>
          </a:xfrm>
          <a:prstGeom prst="rect">
            <a:avLst/>
          </a:prstGeom>
          <a:noFill/>
          <a:ln/>
        </p:spPr>
        <p:txBody>
          <a:bodyPr wrap="square" lIns="0" tIns="0" rIns="0" bIns="0" rtlCol="0" anchor="t"/>
          <a:lstStyle/>
          <a:p>
            <a:pPr marL="0" indent="0" algn="l">
              <a:buNone/>
            </a:pPr>
            <a:r>
              <a:rPr lang="en-US" sz="1000" i="1" dirty="0">
                <a:solidFill>
                  <a:srgbClr val="9FB3BD"/>
                </a:solidFill>
                <a:latin typeface="Calibri" pitchFamily="34" charset="0"/>
                <a:ea typeface="Calibri" pitchFamily="34" charset="-122"/>
                <a:cs typeface="Calibri" pitchFamily="34" charset="-120"/>
              </a:rPr>
              <a:t>STIR: marrow oedema (arrowheads). Mohamed Jarraya · CC BY 3.0</a:t>
            </a:r>
            <a:endParaRPr lang="en-US" sz="1000" dirty="0"/>
          </a:p>
        </p:txBody>
      </p:sp>
      <p:sp>
        <p:nvSpPr>
          <p:cNvPr id="11" name="Text 7"/>
          <p:cNvSpPr txBox="1"/>
          <p:nvPr/>
        </p:nvSpPr>
        <p:spPr>
          <a:xfrm>
            <a:off x="4251960" y="4937760"/>
            <a:ext cx="3566160" cy="457200"/>
          </a:xfrm>
          <a:prstGeom prst="rect">
            <a:avLst/>
          </a:prstGeom>
          <a:noFill/>
          <a:ln/>
        </p:spPr>
        <p:txBody>
          <a:bodyPr wrap="square" lIns="0" tIns="0" rIns="0" bIns="0" rtlCol="0" anchor="t"/>
          <a:lstStyle/>
          <a:p>
            <a:pPr marL="0" indent="0" algn="l">
              <a:buNone/>
            </a:pPr>
            <a:r>
              <a:rPr lang="en-US" sz="1000" i="1" dirty="0">
                <a:solidFill>
                  <a:srgbClr val="9FB3BD"/>
                </a:solidFill>
                <a:latin typeface="Calibri" pitchFamily="34" charset="0"/>
                <a:ea typeface="Calibri" pitchFamily="34" charset="-122"/>
                <a:cs typeface="Calibri" pitchFamily="34" charset="-120"/>
              </a:rPr>
              <a:t>T1: low-signal fracture lines (arrows). Mohamed Jarraya · CC BY 3.0</a:t>
            </a:r>
            <a:endParaRPr lang="en-US" sz="1000" dirty="0"/>
          </a:p>
        </p:txBody>
      </p:sp>
      <p:sp>
        <p:nvSpPr>
          <p:cNvPr id="12" name="Shape 8"/>
          <p:cNvSpPr/>
          <p:nvPr/>
        </p:nvSpPr>
        <p:spPr>
          <a:xfrm>
            <a:off x="8046720" y="1508760"/>
            <a:ext cx="3611880" cy="4800600"/>
          </a:xfrm>
          <a:prstGeom prst="roundRect">
            <a:avLst>
              <a:gd name="adj" fmla="val 2025"/>
            </a:avLst>
          </a:prstGeom>
          <a:solidFill>
            <a:srgbClr val="132A36"/>
          </a:solidFill>
          <a:ln w="9525">
            <a:solidFill>
              <a:srgbClr val="2C4756"/>
            </a:solidFill>
            <a:prstDash val="solid"/>
          </a:ln>
        </p:spPr>
      </p:sp>
      <p:sp>
        <p:nvSpPr>
          <p:cNvPr id="13" name="Text 9"/>
          <p:cNvSpPr txBox="1"/>
          <p:nvPr/>
        </p:nvSpPr>
        <p:spPr>
          <a:xfrm>
            <a:off x="8275320" y="1627632"/>
            <a:ext cx="3200400" cy="365760"/>
          </a:xfrm>
          <a:prstGeom prst="rect">
            <a:avLst/>
          </a:prstGeom>
          <a:noFill/>
          <a:ln/>
        </p:spPr>
        <p:txBody>
          <a:bodyPr wrap="square" lIns="0" tIns="0" rIns="0" bIns="0" rtlCol="0" anchor="t"/>
          <a:lstStyle/>
          <a:p>
            <a:pPr marL="0" indent="0" algn="l">
              <a:buNone/>
            </a:pPr>
            <a:r>
              <a:rPr lang="en-US" sz="2000" b="1" dirty="0">
                <a:solidFill>
                  <a:srgbClr val="2DD4BF"/>
                </a:solidFill>
                <a:latin typeface="Cambria" pitchFamily="34" charset="0"/>
                <a:ea typeface="Cambria" pitchFamily="34" charset="-122"/>
                <a:cs typeface="Cambria" pitchFamily="34" charset="-120"/>
              </a:rPr>
              <a:t>When to use it</a:t>
            </a:r>
            <a:endParaRPr lang="en-US" sz="2000" dirty="0"/>
          </a:p>
        </p:txBody>
      </p:sp>
      <p:sp>
        <p:nvSpPr>
          <p:cNvPr id="14" name="Text 10"/>
          <p:cNvSpPr txBox="1"/>
          <p:nvPr/>
        </p:nvSpPr>
        <p:spPr>
          <a:xfrm>
            <a:off x="8275320" y="2103120"/>
            <a:ext cx="3200400" cy="4114800"/>
          </a:xfrm>
          <a:prstGeom prst="rect">
            <a:avLst/>
          </a:prstGeom>
          <a:noFill/>
          <a:ln/>
        </p:spPr>
        <p:txBody>
          <a:bodyPr wrap="square" lIns="0" tIns="0" rIns="0" bIns="0" rtlCol="0" anchor="t"/>
          <a:lstStyle/>
          <a:p>
            <a:pPr marL="203200" indent="-203200">
              <a:spcAft>
                <a:spcPts val="700"/>
              </a:spcAft>
              <a:buSzPct val="100000"/>
              <a:buChar char="•"/>
            </a:pPr>
            <a:r>
              <a:rPr lang="en-US" sz="1568" dirty="0">
                <a:solidFill>
                  <a:srgbClr val="F4F1EA"/>
                </a:solidFill>
                <a:latin typeface="Calibri" pitchFamily="34" charset="0"/>
                <a:ea typeface="Calibri" pitchFamily="34" charset="-122"/>
                <a:cs typeface="Calibri" pitchFamily="34" charset="-120"/>
              </a:rPr>
              <a:t>Occult or stress fracture with normal radiographs</a:t>
            </a:r>
            <a:endParaRPr lang="en-US" sz="1568" dirty="0"/>
          </a:p>
          <a:p>
            <a:pPr marL="203200" indent="-203200">
              <a:spcAft>
                <a:spcPts val="700"/>
              </a:spcAft>
              <a:buSzPct val="100000"/>
              <a:buChar char="•"/>
            </a:pPr>
            <a:r>
              <a:rPr lang="en-US" sz="1568" dirty="0">
                <a:solidFill>
                  <a:srgbClr val="F4F1EA"/>
                </a:solidFill>
                <a:latin typeface="Calibri" pitchFamily="34" charset="0"/>
                <a:ea typeface="Calibri" pitchFamily="34" charset="-122"/>
                <a:cs typeface="Calibri" pitchFamily="34" charset="-120"/>
              </a:rPr>
              <a:t>Insufficiency fracture in osteoporosis or diabetes</a:t>
            </a:r>
            <a:endParaRPr lang="en-US" sz="1568" dirty="0"/>
          </a:p>
          <a:p>
            <a:pPr marL="203200" indent="-203200">
              <a:spcAft>
                <a:spcPts val="700"/>
              </a:spcAft>
              <a:buSzPct val="100000"/>
              <a:buChar char="•"/>
            </a:pPr>
            <a:r>
              <a:rPr lang="en-US" sz="1568" dirty="0">
                <a:solidFill>
                  <a:srgbClr val="F4F1EA"/>
                </a:solidFill>
                <a:latin typeface="Calibri" pitchFamily="34" charset="0"/>
                <a:ea typeface="Calibri" pitchFamily="34" charset="-122"/>
                <a:cs typeface="Calibri" pitchFamily="34" charset="-120"/>
              </a:rPr>
              <a:t>Suspected osteomyelitis</a:t>
            </a:r>
            <a:endParaRPr lang="en-US" sz="1568" dirty="0"/>
          </a:p>
          <a:p>
            <a:pPr marL="203200" indent="-203200">
              <a:spcAft>
                <a:spcPts val="700"/>
              </a:spcAft>
              <a:buSzPct val="100000"/>
              <a:buChar char="•"/>
            </a:pPr>
            <a:r>
              <a:rPr lang="en-US" sz="1568" dirty="0">
                <a:solidFill>
                  <a:srgbClr val="F4F1EA"/>
                </a:solidFill>
                <a:latin typeface="Calibri" pitchFamily="34" charset="0"/>
                <a:ea typeface="Calibri" pitchFamily="34" charset="-122"/>
                <a:cs typeface="Calibri" pitchFamily="34" charset="-120"/>
              </a:rPr>
              <a:t>Peroneal, Achilles or plantar fascia injury</a:t>
            </a:r>
            <a:endParaRPr lang="en-US" sz="1568" dirty="0"/>
          </a:p>
          <a:p>
            <a:pPr marL="203200" indent="-203200">
              <a:spcAft>
                <a:spcPts val="700"/>
              </a:spcAft>
              <a:buSzPct val="100000"/>
              <a:buChar char="•"/>
            </a:pPr>
            <a:r>
              <a:rPr lang="en-US" sz="1568" dirty="0">
                <a:solidFill>
                  <a:srgbClr val="F4F1EA"/>
                </a:solidFill>
                <a:latin typeface="Calibri" pitchFamily="34" charset="0"/>
                <a:ea typeface="Calibri" pitchFamily="34" charset="-122"/>
                <a:cs typeface="Calibri" pitchFamily="34" charset="-120"/>
              </a:rPr>
              <a:t>Bone bruise around a talar injury</a:t>
            </a:r>
            <a:endParaRPr lang="en-US" sz="1568" dirty="0"/>
          </a:p>
        </p:txBody>
      </p:sp>
      <p:sp>
        <p:nvSpPr>
          <p:cNvPr id="15" name="Shape 11"/>
          <p:cNvSpPr/>
          <p:nvPr/>
        </p:nvSpPr>
        <p:spPr>
          <a:xfrm>
            <a:off x="548640" y="5486400"/>
            <a:ext cx="7269480" cy="822960"/>
          </a:xfrm>
          <a:prstGeom prst="roundRect">
            <a:avLst>
              <a:gd name="adj" fmla="val 8889"/>
            </a:avLst>
          </a:prstGeom>
          <a:solidFill>
            <a:srgbClr val="132A36"/>
          </a:solidFill>
          <a:ln w="9525">
            <a:solidFill>
              <a:srgbClr val="2C4756"/>
            </a:solidFill>
            <a:prstDash val="solid"/>
          </a:ln>
        </p:spPr>
      </p:sp>
      <p:sp>
        <p:nvSpPr>
          <p:cNvPr id="16" name="Text 12"/>
          <p:cNvSpPr txBox="1"/>
          <p:nvPr/>
        </p:nvSpPr>
        <p:spPr>
          <a:xfrm>
            <a:off x="777240" y="5577840"/>
            <a:ext cx="6858000" cy="640080"/>
          </a:xfrm>
          <a:prstGeom prst="rect">
            <a:avLst/>
          </a:prstGeom>
          <a:noFill/>
          <a:ln/>
        </p:spPr>
        <p:txBody>
          <a:bodyPr wrap="square" lIns="0" tIns="0" rIns="0" bIns="0" rtlCol="0" anchor="ctr"/>
          <a:lstStyle/>
          <a:p>
            <a:pPr marL="0" indent="0" algn="l">
              <a:buNone/>
            </a:pPr>
            <a:r>
              <a:rPr lang="en-US" sz="1568" i="1" dirty="0">
                <a:solidFill>
                  <a:srgbClr val="E9DCC0"/>
                </a:solidFill>
                <a:latin typeface="Calibri" pitchFamily="34" charset="0"/>
                <a:ea typeface="Calibri" pitchFamily="34" charset="-122"/>
                <a:cs typeface="Calibri" pitchFamily="34" charset="-120"/>
              </a:rPr>
              <a:t>Not used routinely for acute displaced fractures: CT answers the surgical question faster.</a:t>
            </a:r>
            <a:endParaRPr lang="en-US" sz="1568"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CLASSIFICATIONS</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Classification systems at a glance</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3401568"/>
        </p:xfrm>
        <a:graphic>
          <a:graphicData uri="http://schemas.openxmlformats.org/drawingml/2006/table">
            <a:tbl>
              <a:tblPr/>
              <a:tblGrid>
                <a:gridCol w="24688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566928">
                <a:tc>
                  <a:txBody>
                    <a:bodyPr/>
                    <a:lstStyle/>
                    <a:p>
                      <a:pPr marL="0" indent="0">
                        <a:buNone/>
                      </a:pPr>
                      <a:r>
                        <a:rPr lang="en-US" sz="1400" b="1" dirty="0">
                          <a:solidFill>
                            <a:srgbClr val="FBBF24"/>
                          </a:solidFill>
                          <a:latin typeface="Calibri" pitchFamily="34" charset="0"/>
                          <a:ea typeface="Calibri" pitchFamily="34" charset="-122"/>
                          <a:cs typeface="Calibri" pitchFamily="34" charset="-120"/>
                        </a:rPr>
                        <a:t>System</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1400" b="1" dirty="0">
                          <a:solidFill>
                            <a:srgbClr val="FBBF24"/>
                          </a:solidFill>
                          <a:latin typeface="Calibri" pitchFamily="34" charset="0"/>
                          <a:ea typeface="Calibri" pitchFamily="34" charset="-122"/>
                          <a:cs typeface="Calibri" pitchFamily="34" charset="-120"/>
                        </a:rPr>
                        <a:t>Based on</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1400" b="1" dirty="0">
                          <a:solidFill>
                            <a:srgbClr val="FBBF24"/>
                          </a:solidFill>
                          <a:latin typeface="Calibri" pitchFamily="34" charset="0"/>
                          <a:ea typeface="Calibri" pitchFamily="34" charset="-122"/>
                          <a:cs typeface="Calibri" pitchFamily="34" charset="-120"/>
                        </a:rPr>
                        <a:t>Best used for</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2DD4BF"/>
                          </a:solidFill>
                          <a:latin typeface="Calibri" pitchFamily="34" charset="0"/>
                          <a:ea typeface="Calibri" pitchFamily="34" charset="-122"/>
                          <a:cs typeface="Calibri" pitchFamily="34" charset="-120"/>
                        </a:rPr>
                        <a:t>Rowe (1963)</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Anatomy on radiographs: extra-articular vs intra-articular</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Extra-articular fractures</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2DD4BF"/>
                          </a:solidFill>
                          <a:latin typeface="Calibri" pitchFamily="34" charset="0"/>
                          <a:ea typeface="Calibri" pitchFamily="34" charset="-122"/>
                          <a:cs typeface="Calibri" pitchFamily="34" charset="-120"/>
                        </a:rPr>
                        <a:t>Essex-Lopresti (1952)</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Fracture pattern on the lateral view</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Mechanism: tongue vs joint depression</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2DD4BF"/>
                          </a:solidFill>
                          <a:latin typeface="Calibri" pitchFamily="34" charset="0"/>
                          <a:ea typeface="Calibri" pitchFamily="34" charset="-122"/>
                          <a:cs typeface="Calibri" pitchFamily="34" charset="-120"/>
                        </a:rPr>
                        <a:t>Sanders (1993)</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Coronal CT through the widest part of the posterior facet</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Intra-articular fractures; guides surgery and prognosis</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2DD4BF"/>
                          </a:solidFill>
                          <a:latin typeface="Calibri" pitchFamily="34" charset="0"/>
                          <a:ea typeface="Calibri" pitchFamily="34" charset="-122"/>
                          <a:cs typeface="Calibri" pitchFamily="34" charset="-120"/>
                        </a:rPr>
                        <a:t>Crosby-Fitzgibbons</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CT: displacement and comminution</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Simple three-type grouping</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4"/>
                  </a:ext>
                </a:extLst>
              </a:tr>
              <a:tr h="566928">
                <a:tc>
                  <a:txBody>
                    <a:bodyPr/>
                    <a:lstStyle/>
                    <a:p>
                      <a:pPr marL="0" indent="0">
                        <a:buNone/>
                      </a:pPr>
                      <a:r>
                        <a:rPr lang="en-US" sz="1400" b="1" dirty="0">
                          <a:solidFill>
                            <a:srgbClr val="2DD4BF"/>
                          </a:solidFill>
                          <a:latin typeface="Calibri" pitchFamily="34" charset="0"/>
                          <a:ea typeface="Calibri" pitchFamily="34" charset="-122"/>
                          <a:cs typeface="Calibri" pitchFamily="34" charset="-120"/>
                        </a:rPr>
                        <a:t>AO/OTA 82</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Extra-articular, partial or complete articular</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Research and registries</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5"/>
                  </a:ext>
                </a:extLst>
              </a:tr>
            </a:tbl>
          </a:graphicData>
        </a:graphic>
      </p:graphicFrame>
      <p:sp>
        <p:nvSpPr>
          <p:cNvPr id="7" name="Shape 4"/>
          <p:cNvSpPr/>
          <p:nvPr/>
        </p:nvSpPr>
        <p:spPr>
          <a:xfrm>
            <a:off x="548640" y="5166360"/>
            <a:ext cx="11109960" cy="1097280"/>
          </a:xfrm>
          <a:prstGeom prst="roundRect">
            <a:avLst>
              <a:gd name="adj" fmla="val 6667"/>
            </a:avLst>
          </a:prstGeom>
          <a:solidFill>
            <a:srgbClr val="132A36"/>
          </a:solidFill>
          <a:ln w="9525">
            <a:solidFill>
              <a:srgbClr val="2C4756"/>
            </a:solidFill>
            <a:prstDash val="solid"/>
          </a:ln>
        </p:spPr>
      </p:sp>
      <p:sp>
        <p:nvSpPr>
          <p:cNvPr id="8" name="Text 5"/>
          <p:cNvSpPr txBox="1"/>
          <p:nvPr/>
        </p:nvSpPr>
        <p:spPr>
          <a:xfrm>
            <a:off x="777240" y="5257800"/>
            <a:ext cx="10652760" cy="914400"/>
          </a:xfrm>
          <a:prstGeom prst="rect">
            <a:avLst/>
          </a:prstGeom>
          <a:noFill/>
          <a:ln/>
        </p:spPr>
        <p:txBody>
          <a:bodyPr wrap="square" lIns="0" tIns="0" rIns="0" bIns="0" rtlCol="0" anchor="ctr"/>
          <a:lstStyle/>
          <a:p>
            <a:pPr marL="0" indent="0" algn="l">
              <a:buNone/>
            </a:pPr>
            <a:r>
              <a:rPr lang="en-US" sz="1500" dirty="0">
                <a:solidFill>
                  <a:srgbClr val="E9DCC0"/>
                </a:solidFill>
                <a:latin typeface="Calibri" pitchFamily="34" charset="0"/>
                <a:ea typeface="Calibri" pitchFamily="34" charset="-122"/>
                <a:cs typeface="Calibri" pitchFamily="34" charset="-120"/>
              </a:rPr>
              <a:t>In practice: describe the fracture as extra-articular or intra-articular, name the pattern (tongue or joint depression), and grade the intra-articular fracture by Sanders.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CLASSIFICATIONS</a:t>
            </a:r>
            <a:endParaRPr lang="en-US" sz="1200" dirty="0"/>
          </a:p>
        </p:txBody>
      </p:sp>
      <p:sp>
        <p:nvSpPr>
          <p:cNvPr id="3" name="Text 1"/>
          <p:cNvSpPr txBox="1"/>
          <p:nvPr/>
        </p:nvSpPr>
        <p:spPr>
          <a:xfrm>
            <a:off x="56388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Rowe: extra-articular and intra-articular groups</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508760"/>
            <a:ext cx="5486400" cy="3657600"/>
          </a:xfrm>
          <a:prstGeom prst="roundRect">
            <a:avLst>
              <a:gd name="adj" fmla="val 1500"/>
            </a:avLst>
          </a:prstGeom>
          <a:solidFill>
            <a:srgbClr val="0D1B24"/>
          </a:solidFill>
          <a:ln w="9525">
            <a:solidFill>
              <a:srgbClr val="2C4756"/>
            </a:solidFill>
            <a:prstDash val="solid"/>
          </a:ln>
        </p:spPr>
      </p:sp>
      <p:pic>
        <p:nvPicPr>
          <p:cNvPr id="7" name="Image 0" descr="C:\Users\pawan\Documents\GitHub\ortho-chronicles\slides\img_calc\ill_rowe.png"/>
          <p:cNvPicPr>
            <a:picLocks noChangeAspect="1"/>
          </p:cNvPicPr>
          <p:nvPr/>
        </p:nvPicPr>
        <p:blipFill>
          <a:blip r:embed="rId3"/>
          <a:stretch>
            <a:fillRect/>
          </a:stretch>
        </p:blipFill>
        <p:spPr>
          <a:xfrm>
            <a:off x="630936" y="1563624"/>
            <a:ext cx="5321808" cy="3547872"/>
          </a:xfrm>
          <a:prstGeom prst="rect">
            <a:avLst/>
          </a:prstGeom>
        </p:spPr>
      </p:pic>
      <p:sp>
        <p:nvSpPr>
          <p:cNvPr id="8" name="Text 5"/>
          <p:cNvSpPr txBox="1"/>
          <p:nvPr/>
        </p:nvSpPr>
        <p:spPr>
          <a:xfrm>
            <a:off x="548640" y="5212080"/>
            <a:ext cx="5486400" cy="274320"/>
          </a:xfrm>
          <a:prstGeom prst="rect">
            <a:avLst/>
          </a:prstGeom>
          <a:noFill/>
          <a:ln/>
        </p:spPr>
        <p:txBody>
          <a:bodyPr wrap="square" lIns="0" tIns="0" rIns="0" bIns="0" rtlCol="0" anchor="t"/>
          <a:lstStyle/>
          <a:p>
            <a:pPr marL="0" indent="0" algn="l">
              <a:buNone/>
            </a:pPr>
            <a:r>
              <a:rPr lang="en-US" sz="1050" i="1" dirty="0">
                <a:solidFill>
                  <a:srgbClr val="9FB3BD"/>
                </a:solidFill>
                <a:latin typeface="Calibri" pitchFamily="34" charset="0"/>
                <a:ea typeface="Calibri" pitchFamily="34" charset="-122"/>
                <a:cs typeface="Calibri" pitchFamily="34" charset="-120"/>
              </a:rPr>
              <a:t>Lateral schematic. Tags match the rows of the table.</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4071076619"/>
              </p:ext>
            </p:extLst>
          </p:nvPr>
        </p:nvGraphicFramePr>
        <p:xfrm>
          <a:off x="6263640" y="1508760"/>
          <a:ext cx="5394960" cy="3337559"/>
        </p:xfrm>
        <a:graphic>
          <a:graphicData uri="http://schemas.openxmlformats.org/drawingml/2006/table">
            <a:tbl>
              <a:tblPr/>
              <a:tblGrid>
                <a:gridCol w="6400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85103">
                <a:tc>
                  <a:txBody>
                    <a:bodyPr/>
                    <a:lstStyle/>
                    <a:p>
                      <a:pPr marL="0" indent="0">
                        <a:buNone/>
                      </a:pPr>
                      <a:r>
                        <a:rPr lang="en-US" sz="1200" b="1" dirty="0">
                          <a:solidFill>
                            <a:srgbClr val="FBBF24"/>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1200" b="1" dirty="0">
                          <a:solidFill>
                            <a:srgbClr val="FBBF24"/>
                          </a:solidFill>
                          <a:latin typeface="Calibri" pitchFamily="34" charset="0"/>
                          <a:ea typeface="Calibri" pitchFamily="34" charset="-122"/>
                          <a:cs typeface="Calibri" pitchFamily="34" charset="-120"/>
                        </a:rPr>
                        <a:t>Fracture</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1200" b="1" dirty="0">
                          <a:solidFill>
                            <a:srgbClr val="FBBF24"/>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extLst>
                  <a:ext uri="{0D108BD9-81ED-4DB2-BD59-A6C34878D82A}">
                    <a16:rowId xmlns:a16="http://schemas.microsoft.com/office/drawing/2014/main" val="10000"/>
                  </a:ext>
                </a:extLst>
              </a:tr>
              <a:tr h="385103">
                <a:tc>
                  <a:txBody>
                    <a:bodyPr/>
                    <a:lstStyle/>
                    <a:p>
                      <a:pPr marL="0" indent="0">
                        <a:buNone/>
                      </a:pPr>
                      <a:r>
                        <a:rPr lang="en-US" sz="1200" b="1" dirty="0">
                          <a:solidFill>
                            <a:srgbClr val="2DD4BF"/>
                          </a:solidFill>
                          <a:latin typeface="Calibri" pitchFamily="34" charset="0"/>
                          <a:ea typeface="Calibri" pitchFamily="34" charset="-122"/>
                          <a:cs typeface="Calibri" pitchFamily="34" charset="-120"/>
                        </a:rPr>
                        <a:t>IA</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00" dirty="0">
                          <a:solidFill>
                            <a:srgbClr val="F4F1EA"/>
                          </a:solidFill>
                          <a:latin typeface="Calibri" pitchFamily="34" charset="0"/>
                          <a:ea typeface="Calibri" pitchFamily="34" charset="-122"/>
                          <a:cs typeface="Calibri" pitchFamily="34" charset="-120"/>
                        </a:rPr>
                        <a:t>Tuberosity</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00" dirty="0">
                          <a:solidFill>
                            <a:srgbClr val="F4F1EA"/>
                          </a:solidFill>
                          <a:latin typeface="Calibri" pitchFamily="34" charset="0"/>
                          <a:ea typeface="Calibri" pitchFamily="34" charset="-122"/>
                          <a:cs typeface="Calibri" pitchFamily="34" charset="-120"/>
                        </a:rPr>
                        <a:t>Beak and medial process fractures</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1"/>
                  </a:ext>
                </a:extLst>
              </a:tr>
              <a:tr h="385103">
                <a:tc>
                  <a:txBody>
                    <a:bodyPr/>
                    <a:lstStyle/>
                    <a:p>
                      <a:pPr marL="0" indent="0">
                        <a:buNone/>
                      </a:pPr>
                      <a:r>
                        <a:rPr lang="en-US" sz="1200" b="1" dirty="0">
                          <a:solidFill>
                            <a:srgbClr val="2DD4BF"/>
                          </a:solidFill>
                          <a:latin typeface="Calibri" pitchFamily="34" charset="0"/>
                          <a:ea typeface="Calibri" pitchFamily="34" charset="-122"/>
                          <a:cs typeface="Calibri" pitchFamily="34" charset="-120"/>
                        </a:rPr>
                        <a:t>IB</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200" dirty="0">
                          <a:solidFill>
                            <a:srgbClr val="F4F1EA"/>
                          </a:solidFill>
                          <a:latin typeface="Calibri" pitchFamily="34" charset="0"/>
                          <a:ea typeface="Calibri" pitchFamily="34" charset="-122"/>
                          <a:cs typeface="Calibri" pitchFamily="34" charset="-120"/>
                        </a:rPr>
                        <a:t>Sustentaculum tali</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200" dirty="0">
                          <a:solidFill>
                            <a:srgbClr val="F4F1EA"/>
                          </a:solidFill>
                          <a:latin typeface="Calibri" pitchFamily="34" charset="0"/>
                          <a:ea typeface="Calibri" pitchFamily="34" charset="-122"/>
                          <a:cs typeface="Calibri" pitchFamily="34" charset="-120"/>
                        </a:rPr>
                        <a:t>Medial; FHL and the tunnel at risk</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2"/>
                  </a:ext>
                </a:extLst>
              </a:tr>
              <a:tr h="385103">
                <a:tc>
                  <a:txBody>
                    <a:bodyPr/>
                    <a:lstStyle/>
                    <a:p>
                      <a:pPr marL="0" indent="0">
                        <a:buNone/>
                      </a:pPr>
                      <a:r>
                        <a:rPr lang="en-US" sz="1200" b="1" dirty="0">
                          <a:solidFill>
                            <a:srgbClr val="2DD4BF"/>
                          </a:solidFill>
                          <a:latin typeface="Calibri" pitchFamily="34" charset="0"/>
                          <a:ea typeface="Calibri" pitchFamily="34" charset="-122"/>
                          <a:cs typeface="Calibri" pitchFamily="34" charset="-120"/>
                        </a:rPr>
                        <a:t>IC</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00" dirty="0">
                          <a:solidFill>
                            <a:srgbClr val="F4F1EA"/>
                          </a:solidFill>
                          <a:latin typeface="Calibri" pitchFamily="34" charset="0"/>
                          <a:ea typeface="Calibri" pitchFamily="34" charset="-122"/>
                          <a:cs typeface="Calibri" pitchFamily="34" charset="-120"/>
                        </a:rPr>
                        <a:t>Anterior process</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00" dirty="0">
                          <a:solidFill>
                            <a:srgbClr val="F4F1EA"/>
                          </a:solidFill>
                          <a:latin typeface="Calibri" pitchFamily="34" charset="0"/>
                          <a:ea typeface="Calibri" pitchFamily="34" charset="-122"/>
                          <a:cs typeface="Calibri" pitchFamily="34" charset="-120"/>
                        </a:rPr>
                        <a:t>Inversion injury; mimics ankle sprain</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3"/>
                  </a:ext>
                </a:extLst>
              </a:tr>
              <a:tr h="385103">
                <a:tc>
                  <a:txBody>
                    <a:bodyPr/>
                    <a:lstStyle/>
                    <a:p>
                      <a:pPr marL="0" indent="0">
                        <a:buNone/>
                      </a:pPr>
                      <a:r>
                        <a:rPr lang="en-US" sz="1200" b="1" dirty="0">
                          <a:solidFill>
                            <a:srgbClr val="2DD4BF"/>
                          </a:solidFill>
                          <a:latin typeface="Calibri" pitchFamily="34" charset="0"/>
                          <a:ea typeface="Calibri" pitchFamily="34" charset="-122"/>
                          <a:cs typeface="Calibri" pitchFamily="34" charset="-120"/>
                        </a:rPr>
                        <a:t>II</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200" dirty="0">
                          <a:solidFill>
                            <a:srgbClr val="F4F1EA"/>
                          </a:solidFill>
                          <a:latin typeface="Calibri" pitchFamily="34" charset="0"/>
                          <a:ea typeface="Calibri" pitchFamily="34" charset="-122"/>
                          <a:cs typeface="Calibri" pitchFamily="34" charset="-120"/>
                        </a:rPr>
                        <a:t>Beak or Achilles avulsion</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200" dirty="0">
                          <a:solidFill>
                            <a:srgbClr val="F4F1EA"/>
                          </a:solidFill>
                          <a:latin typeface="Calibri" pitchFamily="34" charset="0"/>
                          <a:ea typeface="Calibri" pitchFamily="34" charset="-122"/>
                          <a:cs typeface="Calibri" pitchFamily="34" charset="-120"/>
                        </a:rPr>
                        <a:t>Skin threatened, urgent</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4"/>
                  </a:ext>
                </a:extLst>
              </a:tr>
              <a:tr h="385103">
                <a:tc>
                  <a:txBody>
                    <a:bodyPr/>
                    <a:lstStyle/>
                    <a:p>
                      <a:pPr marL="0" indent="0">
                        <a:buNone/>
                      </a:pPr>
                      <a:r>
                        <a:rPr lang="en-US" sz="1200" b="1" dirty="0">
                          <a:solidFill>
                            <a:srgbClr val="2DD4BF"/>
                          </a:solidFill>
                          <a:latin typeface="Calibri" pitchFamily="34" charset="0"/>
                          <a:ea typeface="Calibri" pitchFamily="34" charset="-122"/>
                          <a:cs typeface="Calibri" pitchFamily="34" charset="-120"/>
                        </a:rPr>
                        <a:t>III</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00" dirty="0">
                          <a:solidFill>
                            <a:srgbClr val="F4F1EA"/>
                          </a:solidFill>
                          <a:latin typeface="Calibri" pitchFamily="34" charset="0"/>
                          <a:ea typeface="Calibri" pitchFamily="34" charset="-122"/>
                          <a:cs typeface="Calibri" pitchFamily="34" charset="-120"/>
                        </a:rPr>
                        <a:t>Body without subtalar joint</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00" dirty="0">
                          <a:solidFill>
                            <a:srgbClr val="F4F1EA"/>
                          </a:solidFill>
                          <a:latin typeface="Calibri" pitchFamily="34" charset="0"/>
                          <a:ea typeface="Calibri" pitchFamily="34" charset="-122"/>
                          <a:cs typeface="Calibri" pitchFamily="34" charset="-120"/>
                        </a:rPr>
                        <a:t>Oblique body fracture</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5"/>
                  </a:ext>
                </a:extLst>
              </a:tr>
              <a:tr h="385103">
                <a:tc>
                  <a:txBody>
                    <a:bodyPr/>
                    <a:lstStyle/>
                    <a:p>
                      <a:pPr marL="0" indent="0">
                        <a:buNone/>
                      </a:pPr>
                      <a:r>
                        <a:rPr lang="en-US" sz="1200" b="1" dirty="0">
                          <a:solidFill>
                            <a:srgbClr val="2DD4BF"/>
                          </a:solidFill>
                          <a:latin typeface="Calibri" pitchFamily="34" charset="0"/>
                          <a:ea typeface="Calibri" pitchFamily="34" charset="-122"/>
                          <a:cs typeface="Calibri" pitchFamily="34" charset="-120"/>
                        </a:rPr>
                        <a:t>IV</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200" dirty="0">
                          <a:solidFill>
                            <a:srgbClr val="F4F1EA"/>
                          </a:solidFill>
                          <a:latin typeface="Calibri" pitchFamily="34" charset="0"/>
                          <a:ea typeface="Calibri" pitchFamily="34" charset="-122"/>
                          <a:cs typeface="Calibri" pitchFamily="34" charset="-120"/>
                        </a:rPr>
                        <a:t>Subtalar joint involved</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200" dirty="0">
                          <a:solidFill>
                            <a:srgbClr val="F4F1EA"/>
                          </a:solidFill>
                          <a:latin typeface="Calibri" pitchFamily="34" charset="0"/>
                          <a:ea typeface="Calibri" pitchFamily="34" charset="-122"/>
                          <a:cs typeface="Calibri" pitchFamily="34" charset="-120"/>
                        </a:rPr>
                        <a:t>Intra-articular</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6"/>
                  </a:ext>
                </a:extLst>
              </a:tr>
              <a:tr h="641838">
                <a:tc>
                  <a:txBody>
                    <a:bodyPr/>
                    <a:lstStyle/>
                    <a:p>
                      <a:pPr marL="0" indent="0">
                        <a:buNone/>
                      </a:pPr>
                      <a:r>
                        <a:rPr lang="en-US" sz="1200" b="1" dirty="0">
                          <a:solidFill>
                            <a:srgbClr val="2DD4BF"/>
                          </a:solidFill>
                          <a:latin typeface="Calibri" pitchFamily="34" charset="0"/>
                          <a:ea typeface="Calibri" pitchFamily="34" charset="-122"/>
                          <a:cs typeface="Calibri" pitchFamily="34" charset="-120"/>
                        </a:rPr>
                        <a:t>V</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00" dirty="0">
                          <a:solidFill>
                            <a:srgbClr val="F4F1EA"/>
                          </a:solidFill>
                          <a:latin typeface="Calibri" pitchFamily="34" charset="0"/>
                          <a:ea typeface="Calibri" pitchFamily="34" charset="-122"/>
                          <a:cs typeface="Calibri" pitchFamily="34" charset="-120"/>
                        </a:rPr>
                        <a:t>Central depression, comminuted</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00" dirty="0">
                          <a:solidFill>
                            <a:srgbClr val="F4F1EA"/>
                          </a:solidFill>
                          <a:latin typeface="Calibri" pitchFamily="34" charset="0"/>
                          <a:ea typeface="Calibri" pitchFamily="34" charset="-122"/>
                          <a:cs typeface="Calibri" pitchFamily="34" charset="-120"/>
                        </a:rPr>
                        <a:t>Worst pattern</a:t>
                      </a:r>
                      <a:endParaRPr lang="en-US" sz="12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7"/>
                  </a:ext>
                </a:extLst>
              </a:tr>
            </a:tbl>
          </a:graphicData>
        </a:graphic>
      </p:graphicFrame>
      <p:sp>
        <p:nvSpPr>
          <p:cNvPr id="10" name="Shape 6"/>
          <p:cNvSpPr/>
          <p:nvPr/>
        </p:nvSpPr>
        <p:spPr>
          <a:xfrm>
            <a:off x="548640" y="5532120"/>
            <a:ext cx="11109960" cy="777240"/>
          </a:xfrm>
          <a:prstGeom prst="roundRect">
            <a:avLst>
              <a:gd name="adj" fmla="val 9412"/>
            </a:avLst>
          </a:prstGeom>
          <a:solidFill>
            <a:srgbClr val="132A36"/>
          </a:solidFill>
          <a:ln w="9525">
            <a:solidFill>
              <a:srgbClr val="2C4756"/>
            </a:solidFill>
            <a:prstDash val="solid"/>
          </a:ln>
        </p:spPr>
      </p:sp>
      <p:sp>
        <p:nvSpPr>
          <p:cNvPr id="11" name="Text 7"/>
          <p:cNvSpPr txBox="1"/>
          <p:nvPr/>
        </p:nvSpPr>
        <p:spPr>
          <a:xfrm>
            <a:off x="777240" y="5577840"/>
            <a:ext cx="10652760" cy="685800"/>
          </a:xfrm>
          <a:prstGeom prst="rect">
            <a:avLst/>
          </a:prstGeom>
          <a:noFill/>
          <a:ln/>
        </p:spPr>
        <p:txBody>
          <a:bodyPr wrap="square" lIns="0" tIns="0" rIns="0" bIns="0" rtlCol="0" anchor="ctr"/>
          <a:lstStyle/>
          <a:p>
            <a:pPr marL="0" indent="0" algn="l">
              <a:buNone/>
            </a:pPr>
            <a:r>
              <a:rPr lang="en-US" sz="1350" dirty="0">
                <a:solidFill>
                  <a:srgbClr val="E9DCC0"/>
                </a:solidFill>
                <a:latin typeface="Calibri" pitchFamily="34" charset="0"/>
                <a:ea typeface="Calibri" pitchFamily="34" charset="-122"/>
                <a:cs typeface="Calibri" pitchFamily="34" charset="-120"/>
              </a:rPr>
              <a:t>Most extra-articular fractures with little displacement are treated without surgery. Displaced tuberosity and beak fractures are the exception.</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0D1B24"/>
        </a:solidFill>
        <a:effectLst/>
      </p:bgPr>
    </p:bg>
    <p:spTree>
      <p:nvGrpSpPr>
        <p:cNvPr id="1" name=""/>
        <p:cNvGrpSpPr/>
        <p:nvPr/>
      </p:nvGrpSpPr>
      <p:grpSpPr>
        <a:xfrm>
          <a:off x="0" y="0"/>
          <a:ext cx="0" cy="0"/>
          <a:chOff x="0" y="0"/>
          <a:chExt cx="0" cy="0"/>
        </a:xfrm>
      </p:grpSpPr>
      <p:sp>
        <p:nvSpPr>
          <p:cNvPr id="3"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CLASSIFICATIONS</a:t>
            </a:r>
            <a:endParaRPr lang="en-US" sz="1200" dirty="0"/>
          </a:p>
        </p:txBody>
      </p:sp>
      <p:sp>
        <p:nvSpPr>
          <p:cNvPr id="4"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Essex-Lopresti: joint depression vs tongue</a:t>
            </a:r>
            <a:endParaRPr lang="en-US" sz="3200" dirty="0"/>
          </a:p>
        </p:txBody>
      </p:sp>
      <p:sp>
        <p:nvSpPr>
          <p:cNvPr id="5"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6"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548640" y="1508760"/>
            <a:ext cx="6949440" cy="3913632"/>
          </a:xfrm>
          <a:prstGeom prst="roundRect">
            <a:avLst>
              <a:gd name="adj" fmla="val 1402"/>
            </a:avLst>
          </a:prstGeom>
          <a:solidFill>
            <a:srgbClr val="0D1B24"/>
          </a:solidFill>
          <a:ln w="9525">
            <a:solidFill>
              <a:srgbClr val="2C4756"/>
            </a:solidFill>
            <a:prstDash val="solid"/>
          </a:ln>
        </p:spPr>
      </p:sp>
      <p:pic>
        <p:nvPicPr>
          <p:cNvPr id="8" name="Image 0" descr="C:\Users\pawan\Documents\GitHub\ortho-chronicles\slides\img_calc\ill_essex.png"/>
          <p:cNvPicPr>
            <a:picLocks noChangeAspect="1"/>
          </p:cNvPicPr>
          <p:nvPr/>
        </p:nvPicPr>
        <p:blipFill>
          <a:blip r:embed="rId3"/>
          <a:stretch>
            <a:fillRect/>
          </a:stretch>
        </p:blipFill>
        <p:spPr>
          <a:xfrm>
            <a:off x="642112" y="1563624"/>
            <a:ext cx="6762496" cy="3803904"/>
          </a:xfrm>
          <a:prstGeom prst="rect">
            <a:avLst/>
          </a:prstGeom>
        </p:spPr>
      </p:pic>
      <p:sp>
        <p:nvSpPr>
          <p:cNvPr id="9" name="Shape 5"/>
          <p:cNvSpPr/>
          <p:nvPr/>
        </p:nvSpPr>
        <p:spPr>
          <a:xfrm>
            <a:off x="7726680" y="1508760"/>
            <a:ext cx="3931920" cy="2194560"/>
          </a:xfrm>
          <a:prstGeom prst="roundRect">
            <a:avLst>
              <a:gd name="adj" fmla="val 3333"/>
            </a:avLst>
          </a:prstGeom>
          <a:solidFill>
            <a:srgbClr val="132A36"/>
          </a:solidFill>
          <a:ln w="9525">
            <a:solidFill>
              <a:srgbClr val="2C4756"/>
            </a:solidFill>
            <a:prstDash val="solid"/>
          </a:ln>
        </p:spPr>
      </p:sp>
      <p:sp>
        <p:nvSpPr>
          <p:cNvPr id="10" name="Text 6"/>
          <p:cNvSpPr txBox="1"/>
          <p:nvPr/>
        </p:nvSpPr>
        <p:spPr>
          <a:xfrm>
            <a:off x="7955280" y="1600200"/>
            <a:ext cx="3474720" cy="320040"/>
          </a:xfrm>
          <a:prstGeom prst="rect">
            <a:avLst/>
          </a:prstGeom>
          <a:noFill/>
          <a:ln/>
        </p:spPr>
        <p:txBody>
          <a:bodyPr wrap="square" lIns="0" tIns="0" rIns="0" bIns="0" rtlCol="0" anchor="t"/>
          <a:lstStyle/>
          <a:p>
            <a:pPr marL="0" indent="0" algn="l">
              <a:buNone/>
            </a:pPr>
            <a:r>
              <a:rPr lang="en-US" sz="1800" b="1" dirty="0">
                <a:solidFill>
                  <a:srgbClr val="2DD4BF"/>
                </a:solidFill>
                <a:latin typeface="Cambria" pitchFamily="34" charset="0"/>
                <a:ea typeface="Cambria" pitchFamily="34" charset="-122"/>
                <a:cs typeface="Cambria" pitchFamily="34" charset="-120"/>
              </a:rPr>
              <a:t>Joint depression</a:t>
            </a:r>
            <a:endParaRPr lang="en-US" sz="1800" dirty="0"/>
          </a:p>
        </p:txBody>
      </p:sp>
      <p:sp>
        <p:nvSpPr>
          <p:cNvPr id="11" name="Text 7"/>
          <p:cNvSpPr txBox="1"/>
          <p:nvPr/>
        </p:nvSpPr>
        <p:spPr>
          <a:xfrm>
            <a:off x="7955280" y="2011680"/>
            <a:ext cx="3520440" cy="1645920"/>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rgbClr val="F4F1EA"/>
                </a:solidFill>
                <a:latin typeface="Calibri" pitchFamily="34" charset="0"/>
                <a:ea typeface="Calibri" pitchFamily="34" charset="-122"/>
                <a:cs typeface="Calibri" pitchFamily="34" charset="-120"/>
              </a:rPr>
              <a:t>Secondary line exits behind the facet</a:t>
            </a:r>
            <a:endParaRPr lang="en-US" sz="1300" dirty="0"/>
          </a:p>
          <a:p>
            <a:pPr marL="203200" indent="-203200">
              <a:spcAft>
                <a:spcPts val="400"/>
              </a:spcAft>
              <a:buSzPct val="100000"/>
              <a:buChar char="•"/>
            </a:pPr>
            <a:r>
              <a:rPr lang="en-US" sz="1300" dirty="0">
                <a:solidFill>
                  <a:srgbClr val="F4F1EA"/>
                </a:solidFill>
                <a:latin typeface="Calibri" pitchFamily="34" charset="0"/>
                <a:ea typeface="Calibri" pitchFamily="34" charset="-122"/>
                <a:cs typeface="Calibri" pitchFamily="34" charset="-120"/>
              </a:rPr>
              <a:t>Facet is impacted into the body</a:t>
            </a:r>
            <a:endParaRPr lang="en-US" sz="1300" dirty="0"/>
          </a:p>
          <a:p>
            <a:pPr marL="203200" indent="-203200">
              <a:spcAft>
                <a:spcPts val="400"/>
              </a:spcAft>
              <a:buSzPct val="100000"/>
              <a:buChar char="•"/>
            </a:pPr>
            <a:r>
              <a:rPr lang="en-US" sz="1300" dirty="0">
                <a:solidFill>
                  <a:srgbClr val="F4F1EA"/>
                </a:solidFill>
                <a:latin typeface="Calibri" pitchFamily="34" charset="0"/>
                <a:ea typeface="Calibri" pitchFamily="34" charset="-122"/>
                <a:cs typeface="Calibri" pitchFamily="34" charset="-120"/>
              </a:rPr>
              <a:t>Commoner; needs CT for the details</a:t>
            </a:r>
            <a:endParaRPr lang="en-US" sz="1300" dirty="0"/>
          </a:p>
        </p:txBody>
      </p:sp>
      <p:sp>
        <p:nvSpPr>
          <p:cNvPr id="12" name="Shape 8"/>
          <p:cNvSpPr/>
          <p:nvPr/>
        </p:nvSpPr>
        <p:spPr>
          <a:xfrm>
            <a:off x="7726680" y="3840480"/>
            <a:ext cx="3931920" cy="2468880"/>
          </a:xfrm>
          <a:prstGeom prst="roundRect">
            <a:avLst>
              <a:gd name="adj" fmla="val 2963"/>
            </a:avLst>
          </a:prstGeom>
          <a:solidFill>
            <a:srgbClr val="132A36"/>
          </a:solidFill>
          <a:ln w="9525">
            <a:solidFill>
              <a:srgbClr val="2C4756"/>
            </a:solidFill>
            <a:prstDash val="solid"/>
          </a:ln>
        </p:spPr>
      </p:sp>
      <p:sp>
        <p:nvSpPr>
          <p:cNvPr id="13" name="Text 9"/>
          <p:cNvSpPr txBox="1"/>
          <p:nvPr/>
        </p:nvSpPr>
        <p:spPr>
          <a:xfrm>
            <a:off x="7955280" y="3931920"/>
            <a:ext cx="3474720" cy="320040"/>
          </a:xfrm>
          <a:prstGeom prst="rect">
            <a:avLst/>
          </a:prstGeom>
          <a:noFill/>
          <a:ln/>
        </p:spPr>
        <p:txBody>
          <a:bodyPr wrap="square" lIns="0" tIns="0" rIns="0" bIns="0" rtlCol="0" anchor="t"/>
          <a:lstStyle/>
          <a:p>
            <a:pPr marL="0" indent="0" algn="l">
              <a:buNone/>
            </a:pPr>
            <a:r>
              <a:rPr lang="en-US" sz="1800" b="1" dirty="0">
                <a:solidFill>
                  <a:srgbClr val="FF7A45"/>
                </a:solidFill>
                <a:latin typeface="Cambria" pitchFamily="34" charset="0"/>
                <a:ea typeface="Cambria" pitchFamily="34" charset="-122"/>
                <a:cs typeface="Cambria" pitchFamily="34" charset="-120"/>
              </a:rPr>
              <a:t>Tongue type</a:t>
            </a:r>
            <a:endParaRPr lang="en-US" sz="1800" dirty="0"/>
          </a:p>
        </p:txBody>
      </p:sp>
      <p:sp>
        <p:nvSpPr>
          <p:cNvPr id="14" name="Text 10"/>
          <p:cNvSpPr txBox="1"/>
          <p:nvPr/>
        </p:nvSpPr>
        <p:spPr>
          <a:xfrm>
            <a:off x="7955280" y="4343400"/>
            <a:ext cx="3520440" cy="1920240"/>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rgbClr val="F4F1EA"/>
                </a:solidFill>
                <a:latin typeface="Calibri" pitchFamily="34" charset="0"/>
                <a:ea typeface="Calibri" pitchFamily="34" charset="-122"/>
                <a:cs typeface="Calibri" pitchFamily="34" charset="-120"/>
              </a:rPr>
              <a:t>Line runs out of the posterior cortex</a:t>
            </a:r>
            <a:endParaRPr lang="en-US" sz="1300" dirty="0"/>
          </a:p>
          <a:p>
            <a:pPr marL="203200" indent="-203200">
              <a:spcAft>
                <a:spcPts val="400"/>
              </a:spcAft>
              <a:buSzPct val="100000"/>
              <a:buChar char="•"/>
            </a:pPr>
            <a:r>
              <a:rPr lang="en-US" sz="1300" dirty="0">
                <a:solidFill>
                  <a:srgbClr val="F4F1EA"/>
                </a:solidFill>
                <a:latin typeface="Calibri" pitchFamily="34" charset="0"/>
                <a:ea typeface="Calibri" pitchFamily="34" charset="-122"/>
                <a:cs typeface="Calibri" pitchFamily="34" charset="-120"/>
              </a:rPr>
              <a:t>Facet and tuberosity tilt up as one tongue</a:t>
            </a:r>
            <a:endParaRPr lang="en-US" sz="1300" dirty="0"/>
          </a:p>
          <a:p>
            <a:pPr marL="203200" indent="-203200">
              <a:spcAft>
                <a:spcPts val="400"/>
              </a:spcAft>
              <a:buSzPct val="100000"/>
              <a:buChar char="•"/>
            </a:pPr>
            <a:r>
              <a:rPr lang="en-US" sz="1300" dirty="0">
                <a:solidFill>
                  <a:srgbClr val="F4F1EA"/>
                </a:solidFill>
                <a:latin typeface="Calibri" pitchFamily="34" charset="0"/>
                <a:ea typeface="Calibri" pitchFamily="34" charset="-122"/>
                <a:cs typeface="Calibri" pitchFamily="34" charset="-120"/>
              </a:rPr>
              <a:t>Achilles pull tents the posterior skin: an emergency when skin is at risk</a:t>
            </a:r>
            <a:endParaRPr lang="en-US" sz="1300" dirty="0"/>
          </a:p>
        </p:txBody>
      </p:sp>
      <p:sp>
        <p:nvSpPr>
          <p:cNvPr id="15" name="Shape 11"/>
          <p:cNvSpPr/>
          <p:nvPr/>
        </p:nvSpPr>
        <p:spPr>
          <a:xfrm>
            <a:off x="548640" y="5532120"/>
            <a:ext cx="6949440" cy="777240"/>
          </a:xfrm>
          <a:prstGeom prst="roundRect">
            <a:avLst>
              <a:gd name="adj" fmla="val 9412"/>
            </a:avLst>
          </a:prstGeom>
          <a:solidFill>
            <a:srgbClr val="132A36"/>
          </a:solidFill>
          <a:ln w="9525">
            <a:solidFill>
              <a:srgbClr val="2C4756"/>
            </a:solidFill>
            <a:prstDash val="solid"/>
          </a:ln>
        </p:spPr>
      </p:sp>
      <p:sp>
        <p:nvSpPr>
          <p:cNvPr id="16" name="Text 12"/>
          <p:cNvSpPr txBox="1"/>
          <p:nvPr/>
        </p:nvSpPr>
        <p:spPr>
          <a:xfrm>
            <a:off x="777240" y="5577840"/>
            <a:ext cx="6492240" cy="685800"/>
          </a:xfrm>
          <a:prstGeom prst="rect">
            <a:avLst/>
          </a:prstGeom>
          <a:noFill/>
          <a:ln/>
        </p:spPr>
        <p:txBody>
          <a:bodyPr wrap="square" lIns="0" tIns="0" rIns="0" bIns="0" rtlCol="0" anchor="ctr"/>
          <a:lstStyle/>
          <a:p>
            <a:pPr marL="0" indent="0" algn="l">
              <a:buNone/>
            </a:pPr>
            <a:r>
              <a:rPr lang="en-US" sz="1400" i="1" dirty="0">
                <a:solidFill>
                  <a:srgbClr val="E9DCC0"/>
                </a:solidFill>
                <a:latin typeface="Calibri" pitchFamily="34" charset="0"/>
                <a:ea typeface="Calibri" pitchFamily="34" charset="-122"/>
                <a:cs typeface="Calibri" pitchFamily="34" charset="-120"/>
              </a:rPr>
              <a:t>Same primary line in both; only the secondary line differs.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D1B24"/>
        </a:solidFill>
        <a:effectLst/>
      </p:bgPr>
    </p:bg>
    <p:spTree>
      <p:nvGrpSpPr>
        <p:cNvPr id="1" name=""/>
        <p:cNvGrpSpPr/>
        <p:nvPr/>
      </p:nvGrpSpPr>
      <p:grpSpPr>
        <a:xfrm>
          <a:off x="0" y="0"/>
          <a:ext cx="0" cy="0"/>
          <a:chOff x="0" y="0"/>
          <a:chExt cx="0" cy="0"/>
        </a:xfrm>
      </p:grpSpPr>
      <p:sp>
        <p:nvSpPr>
          <p:cNvPr id="3"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CLASSIFICATIONS</a:t>
            </a:r>
            <a:endParaRPr lang="en-US" sz="1200" dirty="0"/>
          </a:p>
        </p:txBody>
      </p:sp>
      <p:sp>
        <p:nvSpPr>
          <p:cNvPr id="4"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Sanders classification (coronal CT)</a:t>
            </a:r>
            <a:endParaRPr lang="en-US" sz="3200" dirty="0"/>
          </a:p>
        </p:txBody>
      </p:sp>
      <p:sp>
        <p:nvSpPr>
          <p:cNvPr id="5"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6"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17</a:t>
            </a:r>
            <a:endParaRPr lang="en-US" sz="1000" dirty="0"/>
          </a:p>
        </p:txBody>
      </p:sp>
      <p:sp>
        <p:nvSpPr>
          <p:cNvPr id="7" name="Shape 4"/>
          <p:cNvSpPr/>
          <p:nvPr/>
        </p:nvSpPr>
        <p:spPr>
          <a:xfrm>
            <a:off x="548640" y="1508760"/>
            <a:ext cx="11109960" cy="2468880"/>
          </a:xfrm>
          <a:prstGeom prst="roundRect">
            <a:avLst>
              <a:gd name="adj" fmla="val 2222"/>
            </a:avLst>
          </a:prstGeom>
          <a:solidFill>
            <a:srgbClr val="0D1B24"/>
          </a:solidFill>
          <a:ln w="9525">
            <a:solidFill>
              <a:srgbClr val="2C4756"/>
            </a:solidFill>
            <a:prstDash val="solid"/>
          </a:ln>
        </p:spPr>
      </p:sp>
      <p:pic>
        <p:nvPicPr>
          <p:cNvPr id="8" name="Image 0" descr="C:\Users\pawan\Documents\GitHub\ortho-chronicles\slides\img_calc\ill_sanders.png"/>
          <p:cNvPicPr>
            <a:picLocks noChangeAspect="1"/>
          </p:cNvPicPr>
          <p:nvPr/>
        </p:nvPicPr>
        <p:blipFill>
          <a:blip r:embed="rId3"/>
          <a:stretch>
            <a:fillRect/>
          </a:stretch>
        </p:blipFill>
        <p:spPr>
          <a:xfrm>
            <a:off x="773684" y="1563624"/>
            <a:ext cx="10659872" cy="2359152"/>
          </a:xfrm>
          <a:prstGeom prst="rect">
            <a:avLst/>
          </a:prstGeom>
        </p:spPr>
      </p:pic>
      <p:sp>
        <p:nvSpPr>
          <p:cNvPr id="9" name="Shape 5"/>
          <p:cNvSpPr/>
          <p:nvPr/>
        </p:nvSpPr>
        <p:spPr>
          <a:xfrm>
            <a:off x="548640" y="4114800"/>
            <a:ext cx="2697480" cy="2194560"/>
          </a:xfrm>
          <a:prstGeom prst="roundRect">
            <a:avLst>
              <a:gd name="adj" fmla="val 3333"/>
            </a:avLst>
          </a:prstGeom>
          <a:solidFill>
            <a:srgbClr val="132A36"/>
          </a:solidFill>
          <a:ln w="9525">
            <a:solidFill>
              <a:srgbClr val="2C4756"/>
            </a:solidFill>
            <a:prstDash val="solid"/>
          </a:ln>
        </p:spPr>
      </p:sp>
      <p:sp>
        <p:nvSpPr>
          <p:cNvPr id="10" name="Text 6"/>
          <p:cNvSpPr txBox="1"/>
          <p:nvPr/>
        </p:nvSpPr>
        <p:spPr>
          <a:xfrm>
            <a:off x="731520" y="4206240"/>
            <a:ext cx="2286000" cy="365760"/>
          </a:xfrm>
          <a:prstGeom prst="rect">
            <a:avLst/>
          </a:prstGeom>
          <a:noFill/>
          <a:ln/>
        </p:spPr>
        <p:txBody>
          <a:bodyPr wrap="square" lIns="0" tIns="0" rIns="0" bIns="0" rtlCol="0" anchor="t"/>
          <a:lstStyle/>
          <a:p>
            <a:pPr marL="0" indent="0" algn="l">
              <a:buNone/>
            </a:pPr>
            <a:r>
              <a:rPr lang="en-US" sz="2000" b="1" dirty="0">
                <a:solidFill>
                  <a:srgbClr val="2DD4BF"/>
                </a:solidFill>
                <a:latin typeface="Cambria" pitchFamily="34" charset="0"/>
                <a:ea typeface="Cambria" pitchFamily="34" charset="-122"/>
                <a:cs typeface="Cambria" pitchFamily="34" charset="-120"/>
              </a:rPr>
              <a:t>Type I</a:t>
            </a:r>
            <a:endParaRPr lang="en-US" sz="2000" dirty="0"/>
          </a:p>
        </p:txBody>
      </p:sp>
      <p:sp>
        <p:nvSpPr>
          <p:cNvPr id="11" name="Text 7"/>
          <p:cNvSpPr txBox="1"/>
          <p:nvPr/>
        </p:nvSpPr>
        <p:spPr>
          <a:xfrm>
            <a:off x="731520" y="4663440"/>
            <a:ext cx="2377440" cy="1554480"/>
          </a:xfrm>
          <a:prstGeom prst="rect">
            <a:avLst/>
          </a:prstGeom>
          <a:noFill/>
          <a:ln/>
        </p:spPr>
        <p:txBody>
          <a:bodyPr wrap="square" lIns="0" tIns="0" rIns="0" bIns="0" rtlCol="0" anchor="t"/>
          <a:lstStyle/>
          <a:p>
            <a:pPr marL="0" indent="0" algn="l">
              <a:buNone/>
            </a:pPr>
            <a:r>
              <a:rPr lang="en-US" sz="1552" dirty="0">
                <a:solidFill>
                  <a:srgbClr val="F4F1EA"/>
                </a:solidFill>
                <a:latin typeface="Calibri" pitchFamily="34" charset="0"/>
                <a:ea typeface="Calibri" pitchFamily="34" charset="-122"/>
                <a:cs typeface="Calibri" pitchFamily="34" charset="-120"/>
              </a:rPr>
              <a:t>All fractures &lt;2 mm displaced, however many lines</a:t>
            </a:r>
            <a:endParaRPr lang="en-US" sz="1552" dirty="0"/>
          </a:p>
        </p:txBody>
      </p:sp>
      <p:sp>
        <p:nvSpPr>
          <p:cNvPr id="12" name="Shape 8"/>
          <p:cNvSpPr/>
          <p:nvPr/>
        </p:nvSpPr>
        <p:spPr>
          <a:xfrm>
            <a:off x="3346704" y="4114800"/>
            <a:ext cx="2697480" cy="2194560"/>
          </a:xfrm>
          <a:prstGeom prst="roundRect">
            <a:avLst>
              <a:gd name="adj" fmla="val 3333"/>
            </a:avLst>
          </a:prstGeom>
          <a:solidFill>
            <a:srgbClr val="132A36"/>
          </a:solidFill>
          <a:ln w="9525">
            <a:solidFill>
              <a:srgbClr val="2C4756"/>
            </a:solidFill>
            <a:prstDash val="solid"/>
          </a:ln>
        </p:spPr>
      </p:sp>
      <p:sp>
        <p:nvSpPr>
          <p:cNvPr id="13" name="Text 9"/>
          <p:cNvSpPr txBox="1"/>
          <p:nvPr/>
        </p:nvSpPr>
        <p:spPr>
          <a:xfrm>
            <a:off x="3529584" y="4206240"/>
            <a:ext cx="2286000" cy="365760"/>
          </a:xfrm>
          <a:prstGeom prst="rect">
            <a:avLst/>
          </a:prstGeom>
          <a:noFill/>
          <a:ln/>
        </p:spPr>
        <p:txBody>
          <a:bodyPr wrap="square" lIns="0" tIns="0" rIns="0" bIns="0" rtlCol="0" anchor="t"/>
          <a:lstStyle/>
          <a:p>
            <a:pPr marL="0" indent="0" algn="l">
              <a:buNone/>
            </a:pPr>
            <a:r>
              <a:rPr lang="en-US" sz="2000" b="1" dirty="0">
                <a:solidFill>
                  <a:srgbClr val="FBBF24"/>
                </a:solidFill>
                <a:latin typeface="Cambria" pitchFamily="34" charset="0"/>
                <a:ea typeface="Cambria" pitchFamily="34" charset="-122"/>
                <a:cs typeface="Cambria" pitchFamily="34" charset="-120"/>
              </a:rPr>
              <a:t>Type II</a:t>
            </a:r>
            <a:endParaRPr lang="en-US" sz="2000" dirty="0"/>
          </a:p>
        </p:txBody>
      </p:sp>
      <p:sp>
        <p:nvSpPr>
          <p:cNvPr id="14" name="Text 10"/>
          <p:cNvSpPr txBox="1"/>
          <p:nvPr/>
        </p:nvSpPr>
        <p:spPr>
          <a:xfrm>
            <a:off x="3529584" y="4663440"/>
            <a:ext cx="2377440" cy="1554480"/>
          </a:xfrm>
          <a:prstGeom prst="rect">
            <a:avLst/>
          </a:prstGeom>
          <a:noFill/>
          <a:ln/>
        </p:spPr>
        <p:txBody>
          <a:bodyPr wrap="square" lIns="0" tIns="0" rIns="0" bIns="0" rtlCol="0" anchor="t"/>
          <a:lstStyle/>
          <a:p>
            <a:pPr marL="0" indent="0" algn="l">
              <a:buNone/>
            </a:pPr>
            <a:r>
              <a:rPr lang="en-US" sz="1552" dirty="0">
                <a:solidFill>
                  <a:srgbClr val="F4F1EA"/>
                </a:solidFill>
                <a:latin typeface="Calibri" pitchFamily="34" charset="0"/>
                <a:ea typeface="Calibri" pitchFamily="34" charset="-122"/>
                <a:cs typeface="Calibri" pitchFamily="34" charset="-120"/>
              </a:rPr>
              <a:t>Two-part fracture of the posterior facet: IIA lateral, IIB central, IIC medial</a:t>
            </a:r>
            <a:endParaRPr lang="en-US" sz="1552" dirty="0"/>
          </a:p>
        </p:txBody>
      </p:sp>
      <p:sp>
        <p:nvSpPr>
          <p:cNvPr id="15" name="Shape 11"/>
          <p:cNvSpPr/>
          <p:nvPr/>
        </p:nvSpPr>
        <p:spPr>
          <a:xfrm>
            <a:off x="6144768" y="4114800"/>
            <a:ext cx="2697480" cy="2194560"/>
          </a:xfrm>
          <a:prstGeom prst="roundRect">
            <a:avLst>
              <a:gd name="adj" fmla="val 3333"/>
            </a:avLst>
          </a:prstGeom>
          <a:solidFill>
            <a:srgbClr val="132A36"/>
          </a:solidFill>
          <a:ln w="9525">
            <a:solidFill>
              <a:srgbClr val="2C4756"/>
            </a:solidFill>
            <a:prstDash val="solid"/>
          </a:ln>
        </p:spPr>
      </p:sp>
      <p:sp>
        <p:nvSpPr>
          <p:cNvPr id="16" name="Text 12"/>
          <p:cNvSpPr txBox="1"/>
          <p:nvPr/>
        </p:nvSpPr>
        <p:spPr>
          <a:xfrm>
            <a:off x="6327648" y="4206240"/>
            <a:ext cx="2286000" cy="365760"/>
          </a:xfrm>
          <a:prstGeom prst="rect">
            <a:avLst/>
          </a:prstGeom>
          <a:noFill/>
          <a:ln/>
        </p:spPr>
        <p:txBody>
          <a:bodyPr wrap="square" lIns="0" tIns="0" rIns="0" bIns="0" rtlCol="0" anchor="t"/>
          <a:lstStyle/>
          <a:p>
            <a:pPr marL="0" indent="0" algn="l">
              <a:buNone/>
            </a:pPr>
            <a:r>
              <a:rPr lang="en-US" sz="2000" b="1" dirty="0">
                <a:solidFill>
                  <a:srgbClr val="FF7A45"/>
                </a:solidFill>
                <a:latin typeface="Cambria" pitchFamily="34" charset="0"/>
                <a:ea typeface="Cambria" pitchFamily="34" charset="-122"/>
                <a:cs typeface="Cambria" pitchFamily="34" charset="-120"/>
              </a:rPr>
              <a:t>Type III</a:t>
            </a:r>
            <a:endParaRPr lang="en-US" sz="2000" dirty="0"/>
          </a:p>
        </p:txBody>
      </p:sp>
      <p:sp>
        <p:nvSpPr>
          <p:cNvPr id="17" name="Text 13"/>
          <p:cNvSpPr txBox="1"/>
          <p:nvPr/>
        </p:nvSpPr>
        <p:spPr>
          <a:xfrm>
            <a:off x="6327648" y="4663440"/>
            <a:ext cx="2377440" cy="1554480"/>
          </a:xfrm>
          <a:prstGeom prst="rect">
            <a:avLst/>
          </a:prstGeom>
          <a:noFill/>
          <a:ln/>
        </p:spPr>
        <p:txBody>
          <a:bodyPr wrap="square" lIns="0" tIns="0" rIns="0" bIns="0" rtlCol="0" anchor="t"/>
          <a:lstStyle/>
          <a:p>
            <a:pPr marL="0" indent="0" algn="l">
              <a:buNone/>
            </a:pPr>
            <a:r>
              <a:rPr lang="en-US" sz="1552" dirty="0">
                <a:solidFill>
                  <a:srgbClr val="F4F1EA"/>
                </a:solidFill>
                <a:latin typeface="Calibri" pitchFamily="34" charset="0"/>
                <a:ea typeface="Calibri" pitchFamily="34" charset="-122"/>
                <a:cs typeface="Calibri" pitchFamily="34" charset="-120"/>
              </a:rPr>
              <a:t>Three-part with a centrally depressed piece: IIIAB, IIIAC, IIIBC</a:t>
            </a:r>
            <a:endParaRPr lang="en-US" sz="1552" dirty="0"/>
          </a:p>
        </p:txBody>
      </p:sp>
      <p:sp>
        <p:nvSpPr>
          <p:cNvPr id="18" name="Shape 14"/>
          <p:cNvSpPr/>
          <p:nvPr/>
        </p:nvSpPr>
        <p:spPr>
          <a:xfrm>
            <a:off x="8942832" y="4114800"/>
            <a:ext cx="2697480" cy="2194560"/>
          </a:xfrm>
          <a:prstGeom prst="roundRect">
            <a:avLst>
              <a:gd name="adj" fmla="val 3333"/>
            </a:avLst>
          </a:prstGeom>
          <a:solidFill>
            <a:srgbClr val="132A36"/>
          </a:solidFill>
          <a:ln w="9525">
            <a:solidFill>
              <a:srgbClr val="2C4756"/>
            </a:solidFill>
            <a:prstDash val="solid"/>
          </a:ln>
        </p:spPr>
      </p:sp>
      <p:sp>
        <p:nvSpPr>
          <p:cNvPr id="19" name="Text 15"/>
          <p:cNvSpPr txBox="1"/>
          <p:nvPr/>
        </p:nvSpPr>
        <p:spPr>
          <a:xfrm>
            <a:off x="9125712" y="4206240"/>
            <a:ext cx="2286000" cy="365760"/>
          </a:xfrm>
          <a:prstGeom prst="rect">
            <a:avLst/>
          </a:prstGeom>
          <a:noFill/>
          <a:ln/>
        </p:spPr>
        <p:txBody>
          <a:bodyPr wrap="square" lIns="0" tIns="0" rIns="0" bIns="0" rtlCol="0" anchor="t"/>
          <a:lstStyle/>
          <a:p>
            <a:pPr marL="0" indent="0" algn="l">
              <a:buNone/>
            </a:pPr>
            <a:r>
              <a:rPr lang="en-US" sz="2000" b="1" dirty="0">
                <a:solidFill>
                  <a:srgbClr val="F87171"/>
                </a:solidFill>
                <a:latin typeface="Cambria" pitchFamily="34" charset="0"/>
                <a:ea typeface="Cambria" pitchFamily="34" charset="-122"/>
                <a:cs typeface="Cambria" pitchFamily="34" charset="-120"/>
              </a:rPr>
              <a:t>Type IV</a:t>
            </a:r>
            <a:endParaRPr lang="en-US" sz="2000" dirty="0"/>
          </a:p>
        </p:txBody>
      </p:sp>
      <p:sp>
        <p:nvSpPr>
          <p:cNvPr id="20" name="Text 16"/>
          <p:cNvSpPr txBox="1"/>
          <p:nvPr/>
        </p:nvSpPr>
        <p:spPr>
          <a:xfrm>
            <a:off x="9125712" y="4663440"/>
            <a:ext cx="2377440" cy="1554480"/>
          </a:xfrm>
          <a:prstGeom prst="rect">
            <a:avLst/>
          </a:prstGeom>
          <a:noFill/>
          <a:ln/>
        </p:spPr>
        <p:txBody>
          <a:bodyPr wrap="square" lIns="0" tIns="0" rIns="0" bIns="0" rtlCol="0" anchor="t"/>
          <a:lstStyle/>
          <a:p>
            <a:pPr marL="0" indent="0" algn="l">
              <a:buNone/>
            </a:pPr>
            <a:r>
              <a:rPr lang="en-US" sz="1552" dirty="0">
                <a:solidFill>
                  <a:srgbClr val="F4F1EA"/>
                </a:solidFill>
                <a:latin typeface="Calibri" pitchFamily="34" charset="0"/>
                <a:ea typeface="Calibri" pitchFamily="34" charset="-122"/>
                <a:cs typeface="Calibri" pitchFamily="34" charset="-120"/>
              </a:rPr>
              <a:t>Four or more parts, comminuted articular surface</a:t>
            </a:r>
            <a:endParaRPr lang="en-US" sz="1552"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CLASSIFICATIONS</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Sanders type and what it means for management</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18</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3291840"/>
        </p:xfrm>
        <a:graphic>
          <a:graphicData uri="http://schemas.openxmlformats.org/drawingml/2006/table">
            <a:tbl>
              <a:tblPr/>
              <a:tblGrid>
                <a:gridCol w="109728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tblGrid>
              <a:tr h="658368">
                <a:tc>
                  <a:txBody>
                    <a:bodyPr/>
                    <a:lstStyle/>
                    <a:p>
                      <a:pPr marL="0" indent="0">
                        <a:buNone/>
                      </a:pPr>
                      <a:r>
                        <a:rPr lang="en-US" sz="1400" b="1" dirty="0">
                          <a:solidFill>
                            <a:srgbClr val="FBBF24"/>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1400" b="1" dirty="0">
                          <a:solidFill>
                            <a:srgbClr val="FBBF24"/>
                          </a:solidFill>
                          <a:latin typeface="Calibri" pitchFamily="34" charset="0"/>
                          <a:ea typeface="Calibri" pitchFamily="34" charset="-122"/>
                          <a:cs typeface="Calibri" pitchFamily="34" charset="-120"/>
                        </a:rPr>
                        <a:t>Typical plan</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1400" b="1" dirty="0">
                          <a:solidFill>
                            <a:srgbClr val="FBBF24"/>
                          </a:solidFill>
                          <a:latin typeface="Calibri" pitchFamily="34" charset="0"/>
                          <a:ea typeface="Calibri" pitchFamily="34" charset="-122"/>
                          <a:cs typeface="Calibri" pitchFamily="34" charset="-120"/>
                        </a:rPr>
                        <a:t>Prognosis</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rgbClr val="2DD4BF"/>
                          </a:solidFill>
                          <a:latin typeface="Calibri" pitchFamily="34" charset="0"/>
                          <a:ea typeface="Calibri" pitchFamily="34" charset="-122"/>
                          <a:cs typeface="Calibri" pitchFamily="34" charset="-120"/>
                        </a:rPr>
                        <a:t>I</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Non-operative; functional protocol</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Good if the facet is truly undisplaced</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1"/>
                  </a:ext>
                </a:extLst>
              </a:tr>
              <a:tr h="658368">
                <a:tc>
                  <a:txBody>
                    <a:bodyPr/>
                    <a:lstStyle/>
                    <a:p>
                      <a:pPr marL="0" indent="0">
                        <a:buNone/>
                      </a:pPr>
                      <a:r>
                        <a:rPr lang="en-US" sz="1400" b="1" dirty="0">
                          <a:solidFill>
                            <a:srgbClr val="2DD4BF"/>
                          </a:solidFill>
                          <a:latin typeface="Calibri" pitchFamily="34" charset="0"/>
                          <a:ea typeface="Calibri" pitchFamily="34" charset="-122"/>
                          <a:cs typeface="Calibri" pitchFamily="34" charset="-120"/>
                        </a:rPr>
                        <a:t>II</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ORIF if displaced &gt;2 mm (lateral, sinus tarsi or percutaneous)</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Best results after anatomic reduction</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2"/>
                  </a:ext>
                </a:extLst>
              </a:tr>
              <a:tr h="658368">
                <a:tc>
                  <a:txBody>
                    <a:bodyPr/>
                    <a:lstStyle/>
                    <a:p>
                      <a:pPr marL="0" indent="0">
                        <a:buNone/>
                      </a:pPr>
                      <a:r>
                        <a:rPr lang="en-US" sz="1400" b="1" dirty="0">
                          <a:solidFill>
                            <a:srgbClr val="2DD4BF"/>
                          </a:solidFill>
                          <a:latin typeface="Calibri" pitchFamily="34" charset="0"/>
                          <a:ea typeface="Calibri" pitchFamily="34" charset="-122"/>
                          <a:cs typeface="Calibri" pitchFamily="34" charset="-120"/>
                        </a:rPr>
                        <a:t>III</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ORIF; expect a depressed central piece to lift and graft</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Fair; depends on the quality of the reduction</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3"/>
                  </a:ext>
                </a:extLst>
              </a:tr>
              <a:tr h="658368">
                <a:tc>
                  <a:txBody>
                    <a:bodyPr/>
                    <a:lstStyle/>
                    <a:p>
                      <a:pPr marL="0" indent="0">
                        <a:buNone/>
                      </a:pPr>
                      <a:r>
                        <a:rPr lang="en-US" sz="1400" b="1" dirty="0">
                          <a:solidFill>
                            <a:srgbClr val="2DD4BF"/>
                          </a:solidFill>
                          <a:latin typeface="Calibri" pitchFamily="34" charset="0"/>
                          <a:ea typeface="Calibri" pitchFamily="34" charset="-122"/>
                          <a:cs typeface="Calibri" pitchFamily="34" charset="-120"/>
                        </a:rPr>
                        <a:t>IV</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Consider primary subtalar fusion, or ORIF for height and width</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Poorest; late fusion is frequent</a:t>
                      </a:r>
                      <a:endParaRPr lang="en-US" sz="14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4"/>
                  </a:ext>
                </a:extLst>
              </a:tr>
            </a:tbl>
          </a:graphicData>
        </a:graphic>
      </p:graphicFrame>
      <p:sp>
        <p:nvSpPr>
          <p:cNvPr id="7" name="Shape 4"/>
          <p:cNvSpPr/>
          <p:nvPr/>
        </p:nvSpPr>
        <p:spPr>
          <a:xfrm>
            <a:off x="548640" y="5074920"/>
            <a:ext cx="5440680" cy="1234440"/>
          </a:xfrm>
          <a:prstGeom prst="roundRect">
            <a:avLst>
              <a:gd name="adj" fmla="val 5926"/>
            </a:avLst>
          </a:prstGeom>
          <a:solidFill>
            <a:srgbClr val="132A36"/>
          </a:solidFill>
          <a:ln w="9525">
            <a:solidFill>
              <a:srgbClr val="2C4756"/>
            </a:solidFill>
            <a:prstDash val="solid"/>
          </a:ln>
        </p:spPr>
      </p:sp>
      <p:sp>
        <p:nvSpPr>
          <p:cNvPr id="8" name="Text 5"/>
          <p:cNvSpPr txBox="1"/>
          <p:nvPr/>
        </p:nvSpPr>
        <p:spPr>
          <a:xfrm>
            <a:off x="777240" y="5138928"/>
            <a:ext cx="4937760" cy="320040"/>
          </a:xfrm>
          <a:prstGeom prst="rect">
            <a:avLst/>
          </a:prstGeom>
          <a:noFill/>
          <a:ln/>
        </p:spPr>
        <p:txBody>
          <a:bodyPr wrap="square" lIns="0" tIns="0" rIns="0" bIns="0" rtlCol="0" anchor="t"/>
          <a:lstStyle/>
          <a:p>
            <a:pPr marL="0" indent="0" algn="l">
              <a:buNone/>
            </a:pPr>
            <a:r>
              <a:rPr lang="en-US" sz="1700" b="1" dirty="0">
                <a:solidFill>
                  <a:srgbClr val="2DD4BF"/>
                </a:solidFill>
                <a:latin typeface="Cambria" pitchFamily="34" charset="0"/>
                <a:ea typeface="Cambria" pitchFamily="34" charset="-122"/>
                <a:cs typeface="Cambria" pitchFamily="34" charset="-120"/>
              </a:rPr>
              <a:t>Strengths</a:t>
            </a:r>
            <a:endParaRPr lang="en-US" sz="1700" dirty="0"/>
          </a:p>
        </p:txBody>
      </p:sp>
      <p:sp>
        <p:nvSpPr>
          <p:cNvPr id="9" name="Text 6"/>
          <p:cNvSpPr txBox="1"/>
          <p:nvPr/>
        </p:nvSpPr>
        <p:spPr>
          <a:xfrm>
            <a:off x="777240" y="5504688"/>
            <a:ext cx="5029200" cy="777240"/>
          </a:xfrm>
          <a:prstGeom prst="rect">
            <a:avLst/>
          </a:prstGeom>
          <a:noFill/>
          <a:ln/>
        </p:spPr>
        <p:txBody>
          <a:bodyPr wrap="square" lIns="0" tIns="0" rIns="0" bIns="0" rtlCol="0" anchor="t"/>
          <a:lstStyle/>
          <a:p>
            <a:pPr marL="0" indent="0" algn="l">
              <a:buNone/>
            </a:pPr>
            <a:r>
              <a:rPr lang="en-US" sz="1300" dirty="0">
                <a:solidFill>
                  <a:srgbClr val="F4F1EA"/>
                </a:solidFill>
                <a:latin typeface="Calibri" pitchFamily="34" charset="0"/>
                <a:ea typeface="Calibri" pitchFamily="34" charset="-122"/>
                <a:cs typeface="Calibri" pitchFamily="34" charset="-120"/>
              </a:rPr>
              <a:t>Prognostic, reproducible enough to guide surgery, and ties the class to the joint surface.</a:t>
            </a:r>
            <a:endParaRPr lang="en-US" sz="1300" dirty="0"/>
          </a:p>
        </p:txBody>
      </p:sp>
      <p:sp>
        <p:nvSpPr>
          <p:cNvPr id="10" name="Shape 7"/>
          <p:cNvSpPr/>
          <p:nvPr/>
        </p:nvSpPr>
        <p:spPr>
          <a:xfrm>
            <a:off x="6217920" y="5074920"/>
            <a:ext cx="5440680" cy="1234440"/>
          </a:xfrm>
          <a:prstGeom prst="roundRect">
            <a:avLst>
              <a:gd name="adj" fmla="val 5926"/>
            </a:avLst>
          </a:prstGeom>
          <a:solidFill>
            <a:srgbClr val="132A36"/>
          </a:solidFill>
          <a:ln w="9525">
            <a:solidFill>
              <a:srgbClr val="2C4756"/>
            </a:solidFill>
            <a:prstDash val="solid"/>
          </a:ln>
        </p:spPr>
      </p:sp>
      <p:sp>
        <p:nvSpPr>
          <p:cNvPr id="11" name="Text 8"/>
          <p:cNvSpPr txBox="1"/>
          <p:nvPr/>
        </p:nvSpPr>
        <p:spPr>
          <a:xfrm>
            <a:off x="6446520" y="5138928"/>
            <a:ext cx="4937760" cy="320040"/>
          </a:xfrm>
          <a:prstGeom prst="rect">
            <a:avLst/>
          </a:prstGeom>
          <a:noFill/>
          <a:ln/>
        </p:spPr>
        <p:txBody>
          <a:bodyPr wrap="square" lIns="0" tIns="0" rIns="0" bIns="0" rtlCol="0" anchor="t"/>
          <a:lstStyle/>
          <a:p>
            <a:pPr marL="0" indent="0" algn="l">
              <a:buNone/>
            </a:pPr>
            <a:r>
              <a:rPr lang="en-US" sz="1700" b="1" dirty="0">
                <a:solidFill>
                  <a:srgbClr val="FF7A45"/>
                </a:solidFill>
                <a:latin typeface="Cambria" pitchFamily="34" charset="0"/>
                <a:ea typeface="Cambria" pitchFamily="34" charset="-122"/>
                <a:cs typeface="Cambria" pitchFamily="34" charset="-120"/>
              </a:rPr>
              <a:t>Limits</a:t>
            </a:r>
            <a:endParaRPr lang="en-US" sz="1700" dirty="0"/>
          </a:p>
        </p:txBody>
      </p:sp>
      <p:sp>
        <p:nvSpPr>
          <p:cNvPr id="12" name="Text 9"/>
          <p:cNvSpPr txBox="1"/>
          <p:nvPr/>
        </p:nvSpPr>
        <p:spPr>
          <a:xfrm>
            <a:off x="6446520" y="5504688"/>
            <a:ext cx="5029200" cy="777240"/>
          </a:xfrm>
          <a:prstGeom prst="rect">
            <a:avLst/>
          </a:prstGeom>
          <a:noFill/>
          <a:ln/>
        </p:spPr>
        <p:txBody>
          <a:bodyPr wrap="square" lIns="0" tIns="0" rIns="0" bIns="0" rtlCol="0" anchor="t"/>
          <a:lstStyle/>
          <a:p>
            <a:pPr marL="0" indent="0" algn="l">
              <a:buNone/>
            </a:pPr>
            <a:r>
              <a:rPr lang="en-US" sz="1300" dirty="0">
                <a:solidFill>
                  <a:srgbClr val="F4F1EA"/>
                </a:solidFill>
                <a:latin typeface="Calibri" pitchFamily="34" charset="0"/>
                <a:ea typeface="Calibri" pitchFamily="34" charset="-122"/>
                <a:cs typeface="Calibri" pitchFamily="34" charset="-120"/>
              </a:rPr>
              <a:t>Ignores the tuberosity, calcaneocuboid joint and lateral wall; inter-observer agreement is only moderate.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CLASSIFICATIONS</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Other systems</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19</a:t>
            </a:r>
            <a:endParaRPr lang="en-US" sz="1000" dirty="0"/>
          </a:p>
        </p:txBody>
      </p:sp>
      <p:sp>
        <p:nvSpPr>
          <p:cNvPr id="6" name="Shape 4"/>
          <p:cNvSpPr/>
          <p:nvPr/>
        </p:nvSpPr>
        <p:spPr>
          <a:xfrm>
            <a:off x="548640" y="1508760"/>
            <a:ext cx="8679180" cy="4800600"/>
          </a:xfrm>
          <a:prstGeom prst="roundRect">
            <a:avLst>
              <a:gd name="adj" fmla="val 1524"/>
            </a:avLst>
          </a:prstGeom>
          <a:solidFill>
            <a:srgbClr val="132A36"/>
          </a:solidFill>
          <a:ln w="9525">
            <a:solidFill>
              <a:srgbClr val="2C4756"/>
            </a:solidFill>
            <a:prstDash val="solid"/>
          </a:ln>
        </p:spPr>
      </p:sp>
      <p:sp>
        <p:nvSpPr>
          <p:cNvPr id="7" name="Text 5"/>
          <p:cNvSpPr txBox="1"/>
          <p:nvPr/>
        </p:nvSpPr>
        <p:spPr>
          <a:xfrm>
            <a:off x="777240" y="1627632"/>
            <a:ext cx="4937760" cy="365760"/>
          </a:xfrm>
          <a:prstGeom prst="rect">
            <a:avLst/>
          </a:prstGeom>
          <a:noFill/>
          <a:ln/>
        </p:spPr>
        <p:txBody>
          <a:bodyPr wrap="square" lIns="0" tIns="0" rIns="0" bIns="0" rtlCol="0" anchor="t"/>
          <a:lstStyle/>
          <a:p>
            <a:pPr marL="0" indent="0" algn="l">
              <a:buNone/>
            </a:pPr>
            <a:r>
              <a:rPr lang="en-US" sz="2000" b="1" dirty="0">
                <a:solidFill>
                  <a:srgbClr val="FBBF24"/>
                </a:solidFill>
                <a:latin typeface="Cambria" pitchFamily="34" charset="0"/>
                <a:ea typeface="Cambria" pitchFamily="34" charset="-122"/>
                <a:cs typeface="Cambria" pitchFamily="34" charset="-120"/>
              </a:rPr>
              <a:t>Other systems</a:t>
            </a:r>
            <a:endParaRPr lang="en-US" sz="2000" dirty="0"/>
          </a:p>
        </p:txBody>
      </p:sp>
      <p:sp>
        <p:nvSpPr>
          <p:cNvPr id="8" name="Text 6"/>
          <p:cNvSpPr txBox="1"/>
          <p:nvPr/>
        </p:nvSpPr>
        <p:spPr>
          <a:xfrm>
            <a:off x="777240" y="2103120"/>
            <a:ext cx="8450580" cy="4114800"/>
          </a:xfrm>
          <a:prstGeom prst="rect">
            <a:avLst/>
          </a:prstGeom>
          <a:noFill/>
          <a:ln/>
        </p:spPr>
        <p:txBody>
          <a:bodyPr wrap="square" lIns="0" tIns="0" rIns="0" bIns="0" rtlCol="0" anchor="t"/>
          <a:lstStyle/>
          <a:p>
            <a:pPr marL="203200" indent="-203200">
              <a:buSzPct val="100000"/>
              <a:buChar char="•"/>
            </a:pPr>
            <a:r>
              <a:rPr lang="en-US" sz="1680" b="1" dirty="0">
                <a:solidFill>
                  <a:srgbClr val="FBBF24"/>
                </a:solidFill>
                <a:latin typeface="Calibri" pitchFamily="34" charset="0"/>
                <a:ea typeface="Calibri" pitchFamily="34" charset="-122"/>
                <a:cs typeface="Calibri" pitchFamily="34" charset="-120"/>
              </a:rPr>
              <a:t>Crosby-Fitzgibbons: </a:t>
            </a:r>
            <a:r>
              <a:rPr lang="en-US" sz="1680" dirty="0">
                <a:solidFill>
                  <a:srgbClr val="F4F1EA"/>
                </a:solidFill>
                <a:latin typeface="Calibri" pitchFamily="34" charset="0"/>
                <a:ea typeface="Calibri" pitchFamily="34" charset="-122"/>
                <a:cs typeface="Calibri" pitchFamily="34" charset="-120"/>
              </a:rPr>
              <a:t>I undisplaced, II two-part displaced, III comminuted</a:t>
            </a:r>
            <a:endParaRPr lang="en-US" sz="1680" dirty="0"/>
          </a:p>
          <a:p>
            <a:pPr marL="203200" indent="-203200">
              <a:buSzPct val="100000"/>
              <a:buChar char="•"/>
            </a:pPr>
            <a:r>
              <a:rPr lang="en-US" sz="1680" b="1" dirty="0">
                <a:solidFill>
                  <a:srgbClr val="FBBF24"/>
                </a:solidFill>
                <a:latin typeface="Calibri" pitchFamily="34" charset="0"/>
                <a:ea typeface="Calibri" pitchFamily="34" charset="-122"/>
                <a:cs typeface="Calibri" pitchFamily="34" charset="-120"/>
              </a:rPr>
              <a:t>AO/OTA 82: </a:t>
            </a:r>
            <a:r>
              <a:rPr lang="en-US" sz="1680" dirty="0">
                <a:solidFill>
                  <a:srgbClr val="F4F1EA"/>
                </a:solidFill>
                <a:latin typeface="Calibri" pitchFamily="34" charset="0"/>
                <a:ea typeface="Calibri" pitchFamily="34" charset="-122"/>
                <a:cs typeface="Calibri" pitchFamily="34" charset="-120"/>
              </a:rPr>
              <a:t>A extra-articular, B partial articular, C complete articular</a:t>
            </a:r>
            <a:endParaRPr lang="en-US" sz="1680" dirty="0"/>
          </a:p>
          <a:p>
            <a:pPr marL="203200" indent="-203200">
              <a:buSzPct val="100000"/>
              <a:buChar char="•"/>
            </a:pPr>
            <a:r>
              <a:rPr lang="en-US" sz="1680" b="1" dirty="0">
                <a:solidFill>
                  <a:srgbClr val="FBBF24"/>
                </a:solidFill>
                <a:latin typeface="Calibri" pitchFamily="34" charset="0"/>
                <a:ea typeface="Calibri" pitchFamily="34" charset="-122"/>
                <a:cs typeface="Calibri" pitchFamily="34" charset="-120"/>
              </a:rPr>
              <a:t>Zwipp (Hannover) score: </a:t>
            </a:r>
            <a:r>
              <a:rPr lang="en-US" sz="1680" dirty="0">
                <a:solidFill>
                  <a:srgbClr val="F4F1EA"/>
                </a:solidFill>
                <a:latin typeface="Calibri" pitchFamily="34" charset="0"/>
                <a:ea typeface="Calibri" pitchFamily="34" charset="-122"/>
                <a:cs typeface="Calibri" pitchFamily="34" charset="-120"/>
              </a:rPr>
              <a:t>points for the number of fragments and joints involved</a:t>
            </a:r>
            <a:endParaRPr lang="en-US" sz="1680" dirty="0"/>
          </a:p>
          <a:p>
            <a:pPr marL="203200" indent="-203200">
              <a:buSzPct val="100000"/>
              <a:buChar char="•"/>
            </a:pPr>
            <a:r>
              <a:rPr lang="en-US" sz="1680" b="1" dirty="0">
                <a:solidFill>
                  <a:srgbClr val="FBBF24"/>
                </a:solidFill>
                <a:latin typeface="Calibri" pitchFamily="34" charset="0"/>
                <a:ea typeface="Calibri" pitchFamily="34" charset="-122"/>
                <a:cs typeface="Calibri" pitchFamily="34" charset="-120"/>
              </a:rPr>
              <a:t>Schmidt-Weiner: </a:t>
            </a:r>
            <a:r>
              <a:rPr lang="en-US" sz="1680" dirty="0">
                <a:solidFill>
                  <a:srgbClr val="F4F1EA"/>
                </a:solidFill>
                <a:latin typeface="Calibri" pitchFamily="34" charset="0"/>
                <a:ea typeface="Calibri" pitchFamily="34" charset="-122"/>
                <a:cs typeface="Calibri" pitchFamily="34" charset="-120"/>
              </a:rPr>
              <a:t>the paediatric groups</a:t>
            </a:r>
            <a:endParaRPr lang="en-US" sz="1680" dirty="0"/>
          </a:p>
        </p:txBody>
      </p:sp>
      <p:sp>
        <p:nvSpPr>
          <p:cNvPr id="10" name="Text 8"/>
          <p:cNvSpPr txBox="1"/>
          <p:nvPr/>
        </p:nvSpPr>
        <p:spPr>
          <a:xfrm>
            <a:off x="6446520" y="1627632"/>
            <a:ext cx="5029200" cy="365760"/>
          </a:xfrm>
          <a:prstGeom prst="rect">
            <a:avLst/>
          </a:prstGeom>
          <a:noFill/>
          <a:ln/>
        </p:spPr>
        <p:txBody>
          <a:bodyPr wrap="square" lIns="0" tIns="0" rIns="0" bIns="0" rtlCol="0" anchor="t"/>
          <a:lstStyle/>
          <a:p>
            <a:pPr marL="0" indent="0" algn="l">
              <a:buNone/>
            </a:pP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0D1B24"/>
        </a:solidFill>
        <a:effectLst/>
      </p:bgPr>
    </p:bg>
    <p:spTree>
      <p:nvGrpSpPr>
        <p:cNvPr id="1" name=""/>
        <p:cNvGrpSpPr/>
        <p:nvPr/>
      </p:nvGrpSpPr>
      <p:grpSpPr>
        <a:xfrm>
          <a:off x="0" y="0"/>
          <a:ext cx="0" cy="0"/>
          <a:chOff x="0" y="0"/>
          <a:chExt cx="0" cy="0"/>
        </a:xfrm>
      </p:grpSpPr>
      <p:sp>
        <p:nvSpPr>
          <p:cNvPr id="3"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MANAGEMENT</a:t>
            </a:r>
            <a:endParaRPr lang="en-US" sz="1200" dirty="0"/>
          </a:p>
        </p:txBody>
      </p:sp>
      <p:sp>
        <p:nvSpPr>
          <p:cNvPr id="4"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Management algorithm</a:t>
            </a:r>
            <a:endParaRPr lang="en-US" sz="3200" dirty="0"/>
          </a:p>
        </p:txBody>
      </p:sp>
      <p:sp>
        <p:nvSpPr>
          <p:cNvPr id="5"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6"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20</a:t>
            </a:r>
            <a:endParaRPr lang="en-US" sz="1000" dirty="0"/>
          </a:p>
        </p:txBody>
      </p:sp>
      <p:sp>
        <p:nvSpPr>
          <p:cNvPr id="7" name="Shape 4"/>
          <p:cNvSpPr/>
          <p:nvPr/>
        </p:nvSpPr>
        <p:spPr>
          <a:xfrm>
            <a:off x="548640" y="1554480"/>
            <a:ext cx="2377440" cy="822960"/>
          </a:xfrm>
          <a:prstGeom prst="roundRect">
            <a:avLst>
              <a:gd name="adj" fmla="val 8889"/>
            </a:avLst>
          </a:prstGeom>
          <a:solidFill>
            <a:srgbClr val="1B3B4A"/>
          </a:solidFill>
          <a:ln w="19050">
            <a:solidFill>
              <a:srgbClr val="2DD4BF"/>
            </a:solidFill>
            <a:prstDash val="solid"/>
          </a:ln>
        </p:spPr>
      </p:sp>
      <p:sp>
        <p:nvSpPr>
          <p:cNvPr id="8" name="Text 5"/>
          <p:cNvSpPr txBox="1"/>
          <p:nvPr/>
        </p:nvSpPr>
        <p:spPr>
          <a:xfrm>
            <a:off x="548640" y="1554480"/>
            <a:ext cx="2377440" cy="822960"/>
          </a:xfrm>
          <a:prstGeom prst="rect">
            <a:avLst/>
          </a:prstGeom>
          <a:noFill/>
          <a:ln/>
        </p:spPr>
        <p:txBody>
          <a:bodyPr wrap="square" lIns="762" tIns="762" rIns="762" bIns="762" rtlCol="0" anchor="ctr"/>
          <a:lstStyle/>
          <a:p>
            <a:pPr marL="0" indent="0" algn="ctr">
              <a:buNone/>
            </a:pPr>
            <a:r>
              <a:rPr lang="en-US" sz="1400" b="1" dirty="0">
                <a:solidFill>
                  <a:srgbClr val="F4F1EA"/>
                </a:solidFill>
                <a:latin typeface="Calibri" pitchFamily="34" charset="0"/>
                <a:ea typeface="Calibri" pitchFamily="34" charset="-122"/>
                <a:cs typeface="Calibri" pitchFamily="34" charset="-120"/>
              </a:rPr>
              <a:t>Injury: ATLS, spine and limb survey</a:t>
            </a:r>
            <a:endParaRPr lang="en-US" sz="1400" dirty="0"/>
          </a:p>
        </p:txBody>
      </p:sp>
      <p:sp>
        <p:nvSpPr>
          <p:cNvPr id="9" name="Shape 6"/>
          <p:cNvSpPr/>
          <p:nvPr/>
        </p:nvSpPr>
        <p:spPr>
          <a:xfrm>
            <a:off x="2926080" y="1965960"/>
            <a:ext cx="502920" cy="0"/>
          </a:xfrm>
          <a:prstGeom prst="line">
            <a:avLst/>
          </a:prstGeom>
          <a:noFill/>
          <a:ln w="25400">
            <a:solidFill>
              <a:srgbClr val="9FB3BD"/>
            </a:solidFill>
            <a:prstDash val="solid"/>
            <a:tailEnd type="triangle"/>
          </a:ln>
        </p:spPr>
      </p:sp>
      <p:sp>
        <p:nvSpPr>
          <p:cNvPr id="10" name="Shape 7"/>
          <p:cNvSpPr/>
          <p:nvPr/>
        </p:nvSpPr>
        <p:spPr>
          <a:xfrm>
            <a:off x="3429000" y="1554480"/>
            <a:ext cx="2651760" cy="822960"/>
          </a:xfrm>
          <a:prstGeom prst="roundRect">
            <a:avLst>
              <a:gd name="adj" fmla="val 8889"/>
            </a:avLst>
          </a:prstGeom>
          <a:solidFill>
            <a:srgbClr val="1B3B4A"/>
          </a:solidFill>
          <a:ln w="19050">
            <a:solidFill>
              <a:srgbClr val="2DD4BF"/>
            </a:solidFill>
            <a:prstDash val="solid"/>
          </a:ln>
        </p:spPr>
      </p:sp>
      <p:sp>
        <p:nvSpPr>
          <p:cNvPr id="11" name="Text 8"/>
          <p:cNvSpPr txBox="1"/>
          <p:nvPr/>
        </p:nvSpPr>
        <p:spPr>
          <a:xfrm>
            <a:off x="3429000" y="1554480"/>
            <a:ext cx="2651760" cy="822960"/>
          </a:xfrm>
          <a:prstGeom prst="rect">
            <a:avLst/>
          </a:prstGeom>
          <a:noFill/>
          <a:ln/>
        </p:spPr>
        <p:txBody>
          <a:bodyPr wrap="square" lIns="762" tIns="762" rIns="762" bIns="762" rtlCol="0" anchor="ctr"/>
          <a:lstStyle/>
          <a:p>
            <a:pPr marL="0" indent="0" algn="ctr">
              <a:buNone/>
            </a:pPr>
            <a:r>
              <a:rPr lang="en-US" sz="1400" b="1" dirty="0">
                <a:solidFill>
                  <a:srgbClr val="F4F1EA"/>
                </a:solidFill>
                <a:latin typeface="Calibri" pitchFamily="34" charset="0"/>
                <a:ea typeface="Calibri" pitchFamily="34" charset="-122"/>
                <a:cs typeface="Calibri" pitchFamily="34" charset="-120"/>
              </a:rPr>
              <a:t>Elevate, ice, splint, foot pump. CT scan</a:t>
            </a:r>
            <a:endParaRPr lang="en-US" sz="1400" dirty="0"/>
          </a:p>
        </p:txBody>
      </p:sp>
      <p:sp>
        <p:nvSpPr>
          <p:cNvPr id="12" name="Shape 9"/>
          <p:cNvSpPr/>
          <p:nvPr/>
        </p:nvSpPr>
        <p:spPr>
          <a:xfrm>
            <a:off x="6080760" y="1965960"/>
            <a:ext cx="502920" cy="0"/>
          </a:xfrm>
          <a:prstGeom prst="line">
            <a:avLst/>
          </a:prstGeom>
          <a:noFill/>
          <a:ln w="25400">
            <a:solidFill>
              <a:srgbClr val="9FB3BD"/>
            </a:solidFill>
            <a:prstDash val="solid"/>
            <a:tailEnd type="triangle"/>
          </a:ln>
        </p:spPr>
      </p:sp>
      <p:sp>
        <p:nvSpPr>
          <p:cNvPr id="13" name="Shape 10"/>
          <p:cNvSpPr/>
          <p:nvPr/>
        </p:nvSpPr>
        <p:spPr>
          <a:xfrm>
            <a:off x="6583680" y="1554480"/>
            <a:ext cx="2103120" cy="822960"/>
          </a:xfrm>
          <a:prstGeom prst="roundRect">
            <a:avLst>
              <a:gd name="adj" fmla="val 8889"/>
            </a:avLst>
          </a:prstGeom>
          <a:solidFill>
            <a:srgbClr val="2A1B1B"/>
          </a:solidFill>
          <a:ln w="19050">
            <a:solidFill>
              <a:srgbClr val="F87171"/>
            </a:solidFill>
            <a:prstDash val="solid"/>
          </a:ln>
        </p:spPr>
      </p:sp>
      <p:sp>
        <p:nvSpPr>
          <p:cNvPr id="14" name="Text 11"/>
          <p:cNvSpPr txBox="1"/>
          <p:nvPr/>
        </p:nvSpPr>
        <p:spPr>
          <a:xfrm>
            <a:off x="6583680" y="1554480"/>
            <a:ext cx="2103120" cy="822960"/>
          </a:xfrm>
          <a:prstGeom prst="rect">
            <a:avLst/>
          </a:prstGeom>
          <a:noFill/>
          <a:ln/>
        </p:spPr>
        <p:txBody>
          <a:bodyPr wrap="square" lIns="762" tIns="762" rIns="762" bIns="762" rtlCol="0" anchor="ctr"/>
          <a:lstStyle/>
          <a:p>
            <a:pPr marL="0" indent="0" algn="ctr">
              <a:buNone/>
            </a:pPr>
            <a:r>
              <a:rPr lang="en-US" sz="1400" b="1" dirty="0">
                <a:solidFill>
                  <a:srgbClr val="F4F1EA"/>
                </a:solidFill>
                <a:latin typeface="Calibri" pitchFamily="34" charset="0"/>
                <a:ea typeface="Calibri" pitchFamily="34" charset="-122"/>
                <a:cs typeface="Calibri" pitchFamily="34" charset="-120"/>
              </a:rPr>
              <a:t>Open? Compartment? Tongue?</a:t>
            </a:r>
            <a:endParaRPr lang="en-US" sz="1400" dirty="0"/>
          </a:p>
        </p:txBody>
      </p:sp>
      <p:sp>
        <p:nvSpPr>
          <p:cNvPr id="15" name="Shape 12"/>
          <p:cNvSpPr/>
          <p:nvPr/>
        </p:nvSpPr>
        <p:spPr>
          <a:xfrm>
            <a:off x="8686800" y="1965960"/>
            <a:ext cx="502920" cy="0"/>
          </a:xfrm>
          <a:prstGeom prst="line">
            <a:avLst/>
          </a:prstGeom>
          <a:noFill/>
          <a:ln w="25400">
            <a:solidFill>
              <a:srgbClr val="F87171"/>
            </a:solidFill>
            <a:prstDash val="solid"/>
            <a:tailEnd type="triangle"/>
          </a:ln>
        </p:spPr>
      </p:sp>
      <p:sp>
        <p:nvSpPr>
          <p:cNvPr id="16" name="Shape 13"/>
          <p:cNvSpPr/>
          <p:nvPr/>
        </p:nvSpPr>
        <p:spPr>
          <a:xfrm>
            <a:off x="9189720" y="1554480"/>
            <a:ext cx="2468880" cy="822960"/>
          </a:xfrm>
          <a:prstGeom prst="roundRect">
            <a:avLst>
              <a:gd name="adj" fmla="val 8889"/>
            </a:avLst>
          </a:prstGeom>
          <a:solidFill>
            <a:srgbClr val="2A1B1B"/>
          </a:solidFill>
          <a:ln w="19050">
            <a:solidFill>
              <a:srgbClr val="F87171"/>
            </a:solidFill>
            <a:prstDash val="solid"/>
          </a:ln>
        </p:spPr>
      </p:sp>
      <p:sp>
        <p:nvSpPr>
          <p:cNvPr id="17" name="Text 14"/>
          <p:cNvSpPr txBox="1"/>
          <p:nvPr/>
        </p:nvSpPr>
        <p:spPr>
          <a:xfrm>
            <a:off x="9189720" y="1554480"/>
            <a:ext cx="2468880" cy="822960"/>
          </a:xfrm>
          <a:prstGeom prst="rect">
            <a:avLst/>
          </a:prstGeom>
          <a:noFill/>
          <a:ln/>
        </p:spPr>
        <p:txBody>
          <a:bodyPr wrap="square" lIns="762" tIns="762" rIns="762" bIns="762" rtlCol="0" anchor="ctr"/>
          <a:lstStyle/>
          <a:p>
            <a:pPr marL="0" indent="0" algn="ctr">
              <a:buNone/>
            </a:pPr>
            <a:r>
              <a:rPr lang="en-US" sz="1400" b="1" dirty="0">
                <a:solidFill>
                  <a:srgbClr val="F4F1EA"/>
                </a:solidFill>
                <a:latin typeface="Calibri" pitchFamily="34" charset="0"/>
                <a:ea typeface="Calibri" pitchFamily="34" charset="-122"/>
                <a:cs typeface="Calibri" pitchFamily="34" charset="-120"/>
              </a:rPr>
              <a:t>Emergency: wash out, fasciotomy, percutaneous reduction</a:t>
            </a:r>
            <a:endParaRPr lang="en-US" sz="1400" dirty="0"/>
          </a:p>
        </p:txBody>
      </p:sp>
      <p:sp>
        <p:nvSpPr>
          <p:cNvPr id="18" name="Shape 15"/>
          <p:cNvSpPr/>
          <p:nvPr/>
        </p:nvSpPr>
        <p:spPr>
          <a:xfrm>
            <a:off x="7635240" y="2377440"/>
            <a:ext cx="0" cy="685800"/>
          </a:xfrm>
          <a:prstGeom prst="line">
            <a:avLst/>
          </a:prstGeom>
          <a:noFill/>
          <a:ln w="25400">
            <a:solidFill>
              <a:srgbClr val="9FB3BD"/>
            </a:solidFill>
            <a:prstDash val="solid"/>
            <a:tailEnd type="triangle"/>
          </a:ln>
        </p:spPr>
      </p:sp>
      <p:sp>
        <p:nvSpPr>
          <p:cNvPr id="19" name="Shape 16"/>
          <p:cNvSpPr/>
          <p:nvPr/>
        </p:nvSpPr>
        <p:spPr>
          <a:xfrm>
            <a:off x="6309360" y="3063240"/>
            <a:ext cx="2743200" cy="868680"/>
          </a:xfrm>
          <a:prstGeom prst="roundRect">
            <a:avLst>
              <a:gd name="adj" fmla="val 8421"/>
            </a:avLst>
          </a:prstGeom>
          <a:solidFill>
            <a:srgbClr val="1B3B4A"/>
          </a:solidFill>
          <a:ln w="19050">
            <a:solidFill>
              <a:srgbClr val="FBBF24"/>
            </a:solidFill>
            <a:prstDash val="solid"/>
          </a:ln>
        </p:spPr>
      </p:sp>
      <p:sp>
        <p:nvSpPr>
          <p:cNvPr id="20" name="Text 17"/>
          <p:cNvSpPr txBox="1"/>
          <p:nvPr/>
        </p:nvSpPr>
        <p:spPr>
          <a:xfrm>
            <a:off x="6309360" y="3063240"/>
            <a:ext cx="2743200" cy="868680"/>
          </a:xfrm>
          <a:prstGeom prst="rect">
            <a:avLst/>
          </a:prstGeom>
          <a:noFill/>
          <a:ln/>
        </p:spPr>
        <p:txBody>
          <a:bodyPr wrap="square" lIns="762" tIns="762" rIns="762" bIns="762" rtlCol="0" anchor="ctr"/>
          <a:lstStyle/>
          <a:p>
            <a:pPr marL="0" indent="0" algn="ctr">
              <a:buNone/>
            </a:pPr>
            <a:r>
              <a:rPr lang="en-US" sz="1400" b="1" dirty="0">
                <a:solidFill>
                  <a:srgbClr val="F4F1EA"/>
                </a:solidFill>
                <a:latin typeface="Calibri" pitchFamily="34" charset="0"/>
                <a:ea typeface="Calibri" pitchFamily="34" charset="-122"/>
                <a:cs typeface="Calibri" pitchFamily="34" charset="-120"/>
              </a:rPr>
              <a:t>Displaced intra-articular, or heel deformed?</a:t>
            </a:r>
            <a:endParaRPr lang="en-US" sz="1400" dirty="0"/>
          </a:p>
        </p:txBody>
      </p:sp>
      <p:sp>
        <p:nvSpPr>
          <p:cNvPr id="21" name="Shape 18"/>
          <p:cNvSpPr/>
          <p:nvPr/>
        </p:nvSpPr>
        <p:spPr>
          <a:xfrm>
            <a:off x="5440680" y="3493008"/>
            <a:ext cx="868680" cy="0"/>
          </a:xfrm>
          <a:prstGeom prst="line">
            <a:avLst/>
          </a:prstGeom>
          <a:noFill/>
          <a:ln w="25400">
            <a:solidFill>
              <a:srgbClr val="9FB3BD"/>
            </a:solidFill>
            <a:prstDash val="solid"/>
            <a:tailEnd type="triangle"/>
          </a:ln>
        </p:spPr>
      </p:sp>
      <p:sp>
        <p:nvSpPr>
          <p:cNvPr id="22" name="Shape 19"/>
          <p:cNvSpPr/>
          <p:nvPr/>
        </p:nvSpPr>
        <p:spPr>
          <a:xfrm>
            <a:off x="2606040" y="3063240"/>
            <a:ext cx="2834640" cy="868680"/>
          </a:xfrm>
          <a:prstGeom prst="roundRect">
            <a:avLst>
              <a:gd name="adj" fmla="val 8421"/>
            </a:avLst>
          </a:prstGeom>
          <a:solidFill>
            <a:srgbClr val="1B3B4A"/>
          </a:solidFill>
          <a:ln w="19050">
            <a:solidFill>
              <a:srgbClr val="2DD4BF"/>
            </a:solidFill>
            <a:prstDash val="solid"/>
          </a:ln>
        </p:spPr>
      </p:sp>
      <p:sp>
        <p:nvSpPr>
          <p:cNvPr id="23" name="Text 20"/>
          <p:cNvSpPr txBox="1"/>
          <p:nvPr/>
        </p:nvSpPr>
        <p:spPr>
          <a:xfrm>
            <a:off x="2606040" y="3063240"/>
            <a:ext cx="2834640" cy="868680"/>
          </a:xfrm>
          <a:prstGeom prst="rect">
            <a:avLst/>
          </a:prstGeom>
          <a:noFill/>
          <a:ln/>
        </p:spPr>
        <p:txBody>
          <a:bodyPr wrap="square" lIns="762" tIns="762" rIns="762" bIns="762" rtlCol="0" anchor="ctr"/>
          <a:lstStyle/>
          <a:p>
            <a:pPr marL="0" indent="0" algn="ctr">
              <a:buNone/>
            </a:pPr>
            <a:r>
              <a:rPr lang="en-US" sz="1400" b="1" dirty="0">
                <a:solidFill>
                  <a:srgbClr val="F4F1EA"/>
                </a:solidFill>
                <a:latin typeface="Calibri" pitchFamily="34" charset="0"/>
                <a:ea typeface="Calibri" pitchFamily="34" charset="-122"/>
                <a:cs typeface="Calibri" pitchFamily="34" charset="-120"/>
              </a:rPr>
              <a:t>No: functional non-operative care</a:t>
            </a:r>
            <a:endParaRPr lang="en-US" sz="1400" dirty="0"/>
          </a:p>
        </p:txBody>
      </p:sp>
      <p:sp>
        <p:nvSpPr>
          <p:cNvPr id="24" name="Shape 21"/>
          <p:cNvSpPr/>
          <p:nvPr/>
        </p:nvSpPr>
        <p:spPr>
          <a:xfrm>
            <a:off x="7680960" y="3931920"/>
            <a:ext cx="0" cy="594360"/>
          </a:xfrm>
          <a:prstGeom prst="line">
            <a:avLst/>
          </a:prstGeom>
          <a:noFill/>
          <a:ln w="25400">
            <a:solidFill>
              <a:srgbClr val="9FB3BD"/>
            </a:solidFill>
            <a:prstDash val="solid"/>
            <a:tailEnd type="triangle"/>
          </a:ln>
        </p:spPr>
      </p:sp>
      <p:sp>
        <p:nvSpPr>
          <p:cNvPr id="25" name="Shape 22"/>
          <p:cNvSpPr/>
          <p:nvPr/>
        </p:nvSpPr>
        <p:spPr>
          <a:xfrm>
            <a:off x="6309360" y="4526280"/>
            <a:ext cx="2743200" cy="868680"/>
          </a:xfrm>
          <a:prstGeom prst="roundRect">
            <a:avLst>
              <a:gd name="adj" fmla="val 8421"/>
            </a:avLst>
          </a:prstGeom>
          <a:solidFill>
            <a:srgbClr val="1B3B4A"/>
          </a:solidFill>
          <a:ln w="19050">
            <a:solidFill>
              <a:srgbClr val="FBBF24"/>
            </a:solidFill>
            <a:prstDash val="solid"/>
          </a:ln>
        </p:spPr>
      </p:sp>
      <p:sp>
        <p:nvSpPr>
          <p:cNvPr id="26" name="Text 23"/>
          <p:cNvSpPr txBox="1"/>
          <p:nvPr/>
        </p:nvSpPr>
        <p:spPr>
          <a:xfrm>
            <a:off x="6309360" y="4526280"/>
            <a:ext cx="2743200" cy="868680"/>
          </a:xfrm>
          <a:prstGeom prst="rect">
            <a:avLst/>
          </a:prstGeom>
          <a:noFill/>
          <a:ln/>
        </p:spPr>
        <p:txBody>
          <a:bodyPr wrap="square" lIns="762" tIns="762" rIns="762" bIns="762" rtlCol="0" anchor="ctr"/>
          <a:lstStyle/>
          <a:p>
            <a:pPr marL="0" indent="0" algn="ctr">
              <a:buNone/>
            </a:pPr>
            <a:r>
              <a:rPr lang="en-US" sz="1400" b="1" dirty="0">
                <a:solidFill>
                  <a:srgbClr val="F4F1EA"/>
                </a:solidFill>
                <a:latin typeface="Calibri" pitchFamily="34" charset="0"/>
                <a:ea typeface="Calibri" pitchFamily="34" charset="-122"/>
                <a:cs typeface="Calibri" pitchFamily="34" charset="-120"/>
              </a:rPr>
              <a:t>Yes: soft tissues and host fit?</a:t>
            </a:r>
            <a:endParaRPr lang="en-US" sz="1400" dirty="0"/>
          </a:p>
        </p:txBody>
      </p:sp>
      <p:sp>
        <p:nvSpPr>
          <p:cNvPr id="27" name="Shape 24"/>
          <p:cNvSpPr/>
          <p:nvPr/>
        </p:nvSpPr>
        <p:spPr>
          <a:xfrm>
            <a:off x="9052560" y="4956048"/>
            <a:ext cx="777240" cy="0"/>
          </a:xfrm>
          <a:prstGeom prst="line">
            <a:avLst/>
          </a:prstGeom>
          <a:noFill/>
          <a:ln w="25400">
            <a:solidFill>
              <a:srgbClr val="9FB3BD"/>
            </a:solidFill>
            <a:prstDash val="solid"/>
            <a:tailEnd type="triangle"/>
          </a:ln>
        </p:spPr>
      </p:sp>
      <p:sp>
        <p:nvSpPr>
          <p:cNvPr id="28" name="Shape 25"/>
          <p:cNvSpPr/>
          <p:nvPr/>
        </p:nvSpPr>
        <p:spPr>
          <a:xfrm>
            <a:off x="9829800" y="4526280"/>
            <a:ext cx="1828800" cy="868680"/>
          </a:xfrm>
          <a:prstGeom prst="roundRect">
            <a:avLst>
              <a:gd name="adj" fmla="val 8421"/>
            </a:avLst>
          </a:prstGeom>
          <a:solidFill>
            <a:srgbClr val="1B3B4A"/>
          </a:solidFill>
          <a:ln w="19050">
            <a:solidFill>
              <a:srgbClr val="FF7A45"/>
            </a:solidFill>
            <a:prstDash val="solid"/>
          </a:ln>
        </p:spPr>
      </p:sp>
      <p:sp>
        <p:nvSpPr>
          <p:cNvPr id="29" name="Text 26"/>
          <p:cNvSpPr txBox="1"/>
          <p:nvPr/>
        </p:nvSpPr>
        <p:spPr>
          <a:xfrm>
            <a:off x="9829800" y="4526280"/>
            <a:ext cx="1828800" cy="868680"/>
          </a:xfrm>
          <a:prstGeom prst="rect">
            <a:avLst/>
          </a:prstGeom>
          <a:noFill/>
          <a:ln/>
        </p:spPr>
        <p:txBody>
          <a:bodyPr wrap="square" lIns="762" tIns="762" rIns="762" bIns="762" rtlCol="0" anchor="ctr"/>
          <a:lstStyle/>
          <a:p>
            <a:pPr marL="0" indent="0" algn="ctr">
              <a:buNone/>
            </a:pPr>
            <a:r>
              <a:rPr lang="en-US" sz="1400" b="1" dirty="0">
                <a:solidFill>
                  <a:srgbClr val="F4F1EA"/>
                </a:solidFill>
                <a:latin typeface="Calibri" pitchFamily="34" charset="0"/>
                <a:ea typeface="Calibri" pitchFamily="34" charset="-122"/>
                <a:cs typeface="Calibri" pitchFamily="34" charset="-120"/>
              </a:rPr>
              <a:t>Wrinkle sign present: operate</a:t>
            </a:r>
            <a:endParaRPr lang="en-US" sz="1400" dirty="0"/>
          </a:p>
        </p:txBody>
      </p:sp>
      <p:sp>
        <p:nvSpPr>
          <p:cNvPr id="30" name="Shape 27"/>
          <p:cNvSpPr/>
          <p:nvPr/>
        </p:nvSpPr>
        <p:spPr>
          <a:xfrm>
            <a:off x="5486400" y="4956048"/>
            <a:ext cx="822960" cy="0"/>
          </a:xfrm>
          <a:prstGeom prst="line">
            <a:avLst/>
          </a:prstGeom>
          <a:noFill/>
          <a:ln w="25400">
            <a:solidFill>
              <a:srgbClr val="9FB3BD"/>
            </a:solidFill>
            <a:prstDash val="solid"/>
            <a:tailEnd type="triangle"/>
          </a:ln>
        </p:spPr>
      </p:sp>
      <p:sp>
        <p:nvSpPr>
          <p:cNvPr id="31" name="Shape 28"/>
          <p:cNvSpPr/>
          <p:nvPr/>
        </p:nvSpPr>
        <p:spPr>
          <a:xfrm>
            <a:off x="2606040" y="4526280"/>
            <a:ext cx="2880360" cy="868680"/>
          </a:xfrm>
          <a:prstGeom prst="roundRect">
            <a:avLst>
              <a:gd name="adj" fmla="val 8421"/>
            </a:avLst>
          </a:prstGeom>
          <a:solidFill>
            <a:srgbClr val="1B3B4A"/>
          </a:solidFill>
          <a:ln w="19050">
            <a:solidFill>
              <a:srgbClr val="2DD4BF"/>
            </a:solidFill>
            <a:prstDash val="solid"/>
          </a:ln>
        </p:spPr>
      </p:sp>
      <p:sp>
        <p:nvSpPr>
          <p:cNvPr id="32" name="Text 29"/>
          <p:cNvSpPr txBox="1"/>
          <p:nvPr/>
        </p:nvSpPr>
        <p:spPr>
          <a:xfrm>
            <a:off x="2606040" y="4526280"/>
            <a:ext cx="2880360" cy="868680"/>
          </a:xfrm>
          <a:prstGeom prst="rect">
            <a:avLst/>
          </a:prstGeom>
          <a:noFill/>
          <a:ln/>
        </p:spPr>
        <p:txBody>
          <a:bodyPr wrap="square" lIns="762" tIns="762" rIns="762" bIns="762" rtlCol="0" anchor="ctr"/>
          <a:lstStyle/>
          <a:p>
            <a:pPr marL="0" indent="0" algn="ctr">
              <a:buNone/>
            </a:pPr>
            <a:r>
              <a:rPr lang="en-US" sz="1400" b="1" dirty="0">
                <a:solidFill>
                  <a:srgbClr val="F4F1EA"/>
                </a:solidFill>
                <a:latin typeface="Calibri" pitchFamily="34" charset="0"/>
                <a:ea typeface="Calibri" pitchFamily="34" charset="-122"/>
                <a:cs typeface="Calibri" pitchFamily="34" charset="-120"/>
              </a:rPr>
              <a:t>Poor host or Sanders IV: non-op or primary fusion</a:t>
            </a:r>
            <a:endParaRPr lang="en-US" sz="1400" dirty="0"/>
          </a:p>
        </p:txBody>
      </p:sp>
      <p:sp>
        <p:nvSpPr>
          <p:cNvPr id="33" name="Shape 30"/>
          <p:cNvSpPr/>
          <p:nvPr/>
        </p:nvSpPr>
        <p:spPr>
          <a:xfrm>
            <a:off x="548640" y="5669280"/>
            <a:ext cx="11109960" cy="594360"/>
          </a:xfrm>
          <a:prstGeom prst="roundRect">
            <a:avLst>
              <a:gd name="adj" fmla="val 12308"/>
            </a:avLst>
          </a:prstGeom>
          <a:solidFill>
            <a:srgbClr val="132A36"/>
          </a:solidFill>
          <a:ln w="19050">
            <a:solidFill>
              <a:srgbClr val="9FB3BD"/>
            </a:solidFill>
            <a:prstDash val="solid"/>
          </a:ln>
        </p:spPr>
      </p:sp>
      <p:sp>
        <p:nvSpPr>
          <p:cNvPr id="34" name="Text 31"/>
          <p:cNvSpPr txBox="1"/>
          <p:nvPr/>
        </p:nvSpPr>
        <p:spPr>
          <a:xfrm>
            <a:off x="548640" y="5669280"/>
            <a:ext cx="11109960" cy="594360"/>
          </a:xfrm>
          <a:prstGeom prst="rect">
            <a:avLst/>
          </a:prstGeom>
          <a:noFill/>
          <a:ln/>
        </p:spPr>
        <p:txBody>
          <a:bodyPr wrap="square" lIns="762" tIns="762" rIns="762" bIns="762" rtlCol="0" anchor="ctr"/>
          <a:lstStyle/>
          <a:p>
            <a:pPr marL="0" indent="0" algn="ctr">
              <a:buNone/>
            </a:pPr>
            <a:r>
              <a:rPr lang="en-US" sz="1400" b="1" dirty="0">
                <a:solidFill>
                  <a:srgbClr val="F4F1EA"/>
                </a:solidFill>
                <a:latin typeface="Calibri" pitchFamily="34" charset="0"/>
                <a:ea typeface="Calibri" pitchFamily="34" charset="-122"/>
                <a:cs typeface="Calibri" pitchFamily="34" charset="-120"/>
              </a:rPr>
              <a:t>Timing: operate when swelling settles (about 7 to 14 days, before early consolidation at about 3 weeks)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MANAGEMENT</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Emergencies: do not wait for the wrinkle sign</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21</a:t>
            </a:r>
            <a:endParaRPr lang="en-US" sz="1000" dirty="0"/>
          </a:p>
        </p:txBody>
      </p:sp>
      <p:sp>
        <p:nvSpPr>
          <p:cNvPr id="6" name="Shape 4"/>
          <p:cNvSpPr/>
          <p:nvPr/>
        </p:nvSpPr>
        <p:spPr>
          <a:xfrm>
            <a:off x="548640" y="1508760"/>
            <a:ext cx="5440680" cy="2286000"/>
          </a:xfrm>
          <a:prstGeom prst="roundRect">
            <a:avLst>
              <a:gd name="adj" fmla="val 3200"/>
            </a:avLst>
          </a:prstGeom>
          <a:solidFill>
            <a:srgbClr val="132A36"/>
          </a:solidFill>
          <a:ln w="9525">
            <a:solidFill>
              <a:srgbClr val="2C4756"/>
            </a:solidFill>
            <a:prstDash val="solid"/>
          </a:ln>
        </p:spPr>
      </p:sp>
      <p:sp>
        <p:nvSpPr>
          <p:cNvPr id="7" name="Shape 5"/>
          <p:cNvSpPr/>
          <p:nvPr/>
        </p:nvSpPr>
        <p:spPr>
          <a:xfrm>
            <a:off x="731520" y="1673352"/>
            <a:ext cx="384048" cy="384048"/>
          </a:xfrm>
          <a:prstGeom prst="ellipse">
            <a:avLst/>
          </a:prstGeom>
          <a:solidFill>
            <a:srgbClr val="F87171"/>
          </a:solidFill>
          <a:ln w="12700">
            <a:solidFill>
              <a:srgbClr val="F87171"/>
            </a:solidFill>
            <a:prstDash val="solid"/>
          </a:ln>
        </p:spPr>
      </p:sp>
      <p:sp>
        <p:nvSpPr>
          <p:cNvPr id="8" name="Text 6"/>
          <p:cNvSpPr txBox="1"/>
          <p:nvPr/>
        </p:nvSpPr>
        <p:spPr>
          <a:xfrm>
            <a:off x="731520" y="167335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234440" y="1691640"/>
            <a:ext cx="4572000" cy="365760"/>
          </a:xfrm>
          <a:prstGeom prst="rect">
            <a:avLst/>
          </a:prstGeom>
          <a:noFill/>
          <a:ln/>
        </p:spPr>
        <p:txBody>
          <a:bodyPr wrap="square" lIns="0" tIns="0" rIns="0" bIns="0" rtlCol="0" anchor="t"/>
          <a:lstStyle/>
          <a:p>
            <a:pPr marL="0" indent="0" algn="l">
              <a:buNone/>
            </a:pPr>
            <a:r>
              <a:rPr lang="en-US" sz="1800" b="1" dirty="0">
                <a:solidFill>
                  <a:srgbClr val="F4F1EA"/>
                </a:solidFill>
                <a:latin typeface="Cambria" pitchFamily="34" charset="0"/>
                <a:ea typeface="Cambria" pitchFamily="34" charset="-122"/>
                <a:cs typeface="Cambria" pitchFamily="34" charset="-120"/>
              </a:rPr>
              <a:t>Open fracture</a:t>
            </a:r>
            <a:endParaRPr lang="en-US" sz="1800" dirty="0"/>
          </a:p>
        </p:txBody>
      </p:sp>
      <p:sp>
        <p:nvSpPr>
          <p:cNvPr id="10" name="Text 8"/>
          <p:cNvSpPr txBox="1"/>
          <p:nvPr/>
        </p:nvSpPr>
        <p:spPr>
          <a:xfrm>
            <a:off x="777240" y="2194560"/>
            <a:ext cx="5029200" cy="155448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Usually a medial wound</a:t>
            </a:r>
            <a:endParaRPr lang="en-US" sz="1400" dirty="0"/>
          </a:p>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IV antibiotics and tetanus, urgent wash-out</a:t>
            </a:r>
            <a:endParaRPr lang="en-US" sz="1400" dirty="0"/>
          </a:p>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Stabilise (external fixator or wires); definitive fixation when the soft tissues allow</a:t>
            </a:r>
            <a:endParaRPr lang="en-US" sz="1400" dirty="0"/>
          </a:p>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Plan cover early</a:t>
            </a:r>
            <a:endParaRPr lang="en-US" sz="1400" dirty="0"/>
          </a:p>
        </p:txBody>
      </p:sp>
      <p:sp>
        <p:nvSpPr>
          <p:cNvPr id="11" name="Shape 9"/>
          <p:cNvSpPr/>
          <p:nvPr/>
        </p:nvSpPr>
        <p:spPr>
          <a:xfrm>
            <a:off x="6172200" y="1508760"/>
            <a:ext cx="5440680" cy="2286000"/>
          </a:xfrm>
          <a:prstGeom prst="roundRect">
            <a:avLst>
              <a:gd name="adj" fmla="val 3200"/>
            </a:avLst>
          </a:prstGeom>
          <a:solidFill>
            <a:srgbClr val="132A36"/>
          </a:solidFill>
          <a:ln w="9525">
            <a:solidFill>
              <a:srgbClr val="2C4756"/>
            </a:solidFill>
            <a:prstDash val="solid"/>
          </a:ln>
        </p:spPr>
      </p:sp>
      <p:sp>
        <p:nvSpPr>
          <p:cNvPr id="12" name="Shape 10"/>
          <p:cNvSpPr/>
          <p:nvPr/>
        </p:nvSpPr>
        <p:spPr>
          <a:xfrm>
            <a:off x="6355080" y="1673352"/>
            <a:ext cx="384048" cy="384048"/>
          </a:xfrm>
          <a:prstGeom prst="ellipse">
            <a:avLst/>
          </a:prstGeom>
          <a:solidFill>
            <a:srgbClr val="FF7A45"/>
          </a:solidFill>
          <a:ln w="12700">
            <a:solidFill>
              <a:srgbClr val="FF7A45"/>
            </a:solidFill>
            <a:prstDash val="solid"/>
          </a:ln>
        </p:spPr>
      </p:sp>
      <p:sp>
        <p:nvSpPr>
          <p:cNvPr id="13" name="Text 11"/>
          <p:cNvSpPr txBox="1"/>
          <p:nvPr/>
        </p:nvSpPr>
        <p:spPr>
          <a:xfrm>
            <a:off x="6355080" y="167335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6858000" y="1691640"/>
            <a:ext cx="4572000" cy="365760"/>
          </a:xfrm>
          <a:prstGeom prst="rect">
            <a:avLst/>
          </a:prstGeom>
          <a:noFill/>
          <a:ln/>
        </p:spPr>
        <p:txBody>
          <a:bodyPr wrap="square" lIns="0" tIns="0" rIns="0" bIns="0" rtlCol="0" anchor="t"/>
          <a:lstStyle/>
          <a:p>
            <a:pPr marL="0" indent="0" algn="l">
              <a:buNone/>
            </a:pPr>
            <a:r>
              <a:rPr lang="en-US" sz="1800" b="1" dirty="0">
                <a:solidFill>
                  <a:srgbClr val="F4F1EA"/>
                </a:solidFill>
                <a:latin typeface="Cambria" pitchFamily="34" charset="0"/>
                <a:ea typeface="Cambria" pitchFamily="34" charset="-122"/>
                <a:cs typeface="Cambria" pitchFamily="34" charset="-120"/>
              </a:rPr>
              <a:t>Compartment syndrome</a:t>
            </a:r>
            <a:endParaRPr lang="en-US" sz="1800" dirty="0"/>
          </a:p>
        </p:txBody>
      </p:sp>
      <p:sp>
        <p:nvSpPr>
          <p:cNvPr id="15" name="Text 13"/>
          <p:cNvSpPr txBox="1"/>
          <p:nvPr/>
        </p:nvSpPr>
        <p:spPr>
          <a:xfrm>
            <a:off x="6400800" y="2194560"/>
            <a:ext cx="5029200" cy="155448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Tense swelling, pain on passive toe stretch</a:t>
            </a:r>
            <a:endParaRPr lang="en-US" sz="1400" dirty="0"/>
          </a:p>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Measure pressure if unclear</a:t>
            </a:r>
            <a:endParaRPr lang="en-US" sz="1400" dirty="0"/>
          </a:p>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Decompress the foot compartments through a medial and dorsal approach</a:t>
            </a:r>
            <a:endParaRPr lang="en-US" sz="1400" dirty="0"/>
          </a:p>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Untreated: claw toes and fixed contracture</a:t>
            </a:r>
            <a:endParaRPr lang="en-US" sz="1400" dirty="0"/>
          </a:p>
        </p:txBody>
      </p:sp>
      <p:sp>
        <p:nvSpPr>
          <p:cNvPr id="16" name="Shape 14"/>
          <p:cNvSpPr/>
          <p:nvPr/>
        </p:nvSpPr>
        <p:spPr>
          <a:xfrm>
            <a:off x="548640" y="3931920"/>
            <a:ext cx="5440680" cy="2286000"/>
          </a:xfrm>
          <a:prstGeom prst="roundRect">
            <a:avLst>
              <a:gd name="adj" fmla="val 3200"/>
            </a:avLst>
          </a:prstGeom>
          <a:solidFill>
            <a:srgbClr val="132A36"/>
          </a:solidFill>
          <a:ln w="9525">
            <a:solidFill>
              <a:srgbClr val="2C4756"/>
            </a:solidFill>
            <a:prstDash val="solid"/>
          </a:ln>
        </p:spPr>
      </p:sp>
      <p:sp>
        <p:nvSpPr>
          <p:cNvPr id="17" name="Shape 15"/>
          <p:cNvSpPr/>
          <p:nvPr/>
        </p:nvSpPr>
        <p:spPr>
          <a:xfrm>
            <a:off x="731520" y="4096512"/>
            <a:ext cx="384048" cy="384048"/>
          </a:xfrm>
          <a:prstGeom prst="ellipse">
            <a:avLst/>
          </a:prstGeom>
          <a:solidFill>
            <a:srgbClr val="FBBF24"/>
          </a:solidFill>
          <a:ln w="12700">
            <a:solidFill>
              <a:srgbClr val="FBBF24"/>
            </a:solidFill>
            <a:prstDash val="solid"/>
          </a:ln>
        </p:spPr>
      </p:sp>
      <p:sp>
        <p:nvSpPr>
          <p:cNvPr id="18" name="Text 16"/>
          <p:cNvSpPr txBox="1"/>
          <p:nvPr/>
        </p:nvSpPr>
        <p:spPr>
          <a:xfrm>
            <a:off x="731520" y="409651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1234440" y="4114800"/>
            <a:ext cx="4572000" cy="365760"/>
          </a:xfrm>
          <a:prstGeom prst="rect">
            <a:avLst/>
          </a:prstGeom>
          <a:noFill/>
          <a:ln/>
        </p:spPr>
        <p:txBody>
          <a:bodyPr wrap="square" lIns="0" tIns="0" rIns="0" bIns="0" rtlCol="0" anchor="t"/>
          <a:lstStyle/>
          <a:p>
            <a:pPr marL="0" indent="0" algn="l">
              <a:buNone/>
            </a:pPr>
            <a:r>
              <a:rPr lang="en-US" sz="1800" b="1" dirty="0">
                <a:solidFill>
                  <a:srgbClr val="F4F1EA"/>
                </a:solidFill>
                <a:latin typeface="Cambria" pitchFamily="34" charset="0"/>
                <a:ea typeface="Cambria" pitchFamily="34" charset="-122"/>
                <a:cs typeface="Cambria" pitchFamily="34" charset="-120"/>
              </a:rPr>
              <a:t>Tongue-type with skin threat</a:t>
            </a:r>
            <a:endParaRPr lang="en-US" sz="1800" dirty="0"/>
          </a:p>
        </p:txBody>
      </p:sp>
      <p:sp>
        <p:nvSpPr>
          <p:cNvPr id="20" name="Text 18"/>
          <p:cNvSpPr txBox="1"/>
          <p:nvPr/>
        </p:nvSpPr>
        <p:spPr>
          <a:xfrm>
            <a:off x="777240" y="4617720"/>
            <a:ext cx="5029200" cy="155448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Blanched skin over the posterior fragment</a:t>
            </a:r>
            <a:endParaRPr lang="en-US" sz="1400" dirty="0"/>
          </a:p>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Reduce as an emergency (Essex-Lopresti manoeuvre)</a:t>
            </a:r>
            <a:endParaRPr lang="en-US" sz="1400" dirty="0"/>
          </a:p>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Fix percutaneously with screws</a:t>
            </a:r>
            <a:endParaRPr lang="en-US" sz="1400" dirty="0"/>
          </a:p>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Skin necrosis makes later surgery hazardous</a:t>
            </a:r>
            <a:endParaRPr lang="en-US" sz="1400" dirty="0"/>
          </a:p>
        </p:txBody>
      </p:sp>
      <p:sp>
        <p:nvSpPr>
          <p:cNvPr id="21" name="Shape 19"/>
          <p:cNvSpPr/>
          <p:nvPr/>
        </p:nvSpPr>
        <p:spPr>
          <a:xfrm>
            <a:off x="6172200" y="3931920"/>
            <a:ext cx="5440680" cy="2286000"/>
          </a:xfrm>
          <a:prstGeom prst="roundRect">
            <a:avLst>
              <a:gd name="adj" fmla="val 3200"/>
            </a:avLst>
          </a:prstGeom>
          <a:solidFill>
            <a:srgbClr val="132A36"/>
          </a:solidFill>
          <a:ln w="9525">
            <a:solidFill>
              <a:srgbClr val="2C4756"/>
            </a:solidFill>
            <a:prstDash val="solid"/>
          </a:ln>
        </p:spPr>
      </p:sp>
      <p:sp>
        <p:nvSpPr>
          <p:cNvPr id="22" name="Shape 20"/>
          <p:cNvSpPr/>
          <p:nvPr/>
        </p:nvSpPr>
        <p:spPr>
          <a:xfrm>
            <a:off x="6355080" y="4096512"/>
            <a:ext cx="384048" cy="384048"/>
          </a:xfrm>
          <a:prstGeom prst="ellipse">
            <a:avLst/>
          </a:prstGeom>
          <a:solidFill>
            <a:srgbClr val="2DD4BF"/>
          </a:solidFill>
          <a:ln w="12700">
            <a:solidFill>
              <a:srgbClr val="2DD4BF"/>
            </a:solidFill>
            <a:prstDash val="solid"/>
          </a:ln>
        </p:spPr>
      </p:sp>
      <p:sp>
        <p:nvSpPr>
          <p:cNvPr id="23" name="Text 21"/>
          <p:cNvSpPr txBox="1"/>
          <p:nvPr/>
        </p:nvSpPr>
        <p:spPr>
          <a:xfrm>
            <a:off x="6355080" y="409651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6858000" y="4114800"/>
            <a:ext cx="4572000" cy="365760"/>
          </a:xfrm>
          <a:prstGeom prst="rect">
            <a:avLst/>
          </a:prstGeom>
          <a:noFill/>
          <a:ln/>
        </p:spPr>
        <p:txBody>
          <a:bodyPr wrap="square" lIns="0" tIns="0" rIns="0" bIns="0" rtlCol="0" anchor="t"/>
          <a:lstStyle/>
          <a:p>
            <a:pPr marL="0" indent="0" algn="l">
              <a:buNone/>
            </a:pPr>
            <a:r>
              <a:rPr lang="en-US" sz="1800" b="1" dirty="0">
                <a:solidFill>
                  <a:srgbClr val="F4F1EA"/>
                </a:solidFill>
                <a:latin typeface="Cambria" pitchFamily="34" charset="0"/>
                <a:ea typeface="Cambria" pitchFamily="34" charset="-122"/>
                <a:cs typeface="Cambria" pitchFamily="34" charset="-120"/>
              </a:rPr>
              <a:t>Neurovascular compromise</a:t>
            </a:r>
            <a:endParaRPr lang="en-US" sz="1800" dirty="0"/>
          </a:p>
        </p:txBody>
      </p:sp>
      <p:sp>
        <p:nvSpPr>
          <p:cNvPr id="25" name="Text 23"/>
          <p:cNvSpPr txBox="1"/>
          <p:nvPr/>
        </p:nvSpPr>
        <p:spPr>
          <a:xfrm>
            <a:off x="6400800" y="4617720"/>
            <a:ext cx="5029200" cy="155448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Check pulses and plantar sensation</a:t>
            </a:r>
            <a:endParaRPr lang="en-US" sz="1400" dirty="0"/>
          </a:p>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Reduce gross displacement, splint</a:t>
            </a:r>
            <a:endParaRPr lang="en-US" sz="1400" dirty="0"/>
          </a:p>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Vascular opinion for absent pulses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MANAGEMENT</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Non-operative treatment</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22</a:t>
            </a:r>
            <a:endParaRPr lang="en-US" sz="1000" dirty="0"/>
          </a:p>
        </p:txBody>
      </p:sp>
      <p:sp>
        <p:nvSpPr>
          <p:cNvPr id="6" name="Shape 4"/>
          <p:cNvSpPr/>
          <p:nvPr/>
        </p:nvSpPr>
        <p:spPr>
          <a:xfrm>
            <a:off x="548640" y="1508760"/>
            <a:ext cx="5440680" cy="4800600"/>
          </a:xfrm>
          <a:prstGeom prst="roundRect">
            <a:avLst>
              <a:gd name="adj" fmla="val 1524"/>
            </a:avLst>
          </a:prstGeom>
          <a:solidFill>
            <a:srgbClr val="132A36"/>
          </a:solidFill>
          <a:ln w="9525">
            <a:solidFill>
              <a:srgbClr val="2C4756"/>
            </a:solidFill>
            <a:prstDash val="solid"/>
          </a:ln>
        </p:spPr>
      </p:sp>
      <p:sp>
        <p:nvSpPr>
          <p:cNvPr id="7" name="Text 5"/>
          <p:cNvSpPr txBox="1"/>
          <p:nvPr/>
        </p:nvSpPr>
        <p:spPr>
          <a:xfrm>
            <a:off x="777240" y="1627632"/>
            <a:ext cx="4937760" cy="365760"/>
          </a:xfrm>
          <a:prstGeom prst="rect">
            <a:avLst/>
          </a:prstGeom>
          <a:noFill/>
          <a:ln/>
        </p:spPr>
        <p:txBody>
          <a:bodyPr wrap="square" lIns="0" tIns="0" rIns="0" bIns="0" rtlCol="0" anchor="t"/>
          <a:lstStyle/>
          <a:p>
            <a:pPr marL="0" indent="0" algn="l">
              <a:buNone/>
            </a:pPr>
            <a:r>
              <a:rPr lang="en-US" sz="2000" b="1" dirty="0">
                <a:solidFill>
                  <a:srgbClr val="2DD4BF"/>
                </a:solidFill>
                <a:latin typeface="Cambria" pitchFamily="34" charset="0"/>
                <a:ea typeface="Cambria" pitchFamily="34" charset="-122"/>
                <a:cs typeface="Cambria" pitchFamily="34" charset="-120"/>
              </a:rPr>
              <a:t>Indications</a:t>
            </a:r>
            <a:endParaRPr lang="en-US" sz="2000" dirty="0"/>
          </a:p>
        </p:txBody>
      </p:sp>
      <p:sp>
        <p:nvSpPr>
          <p:cNvPr id="8" name="Text 6"/>
          <p:cNvSpPr txBox="1"/>
          <p:nvPr/>
        </p:nvSpPr>
        <p:spPr>
          <a:xfrm>
            <a:off x="777240" y="2103120"/>
            <a:ext cx="5029200" cy="4114800"/>
          </a:xfrm>
          <a:prstGeom prst="rect">
            <a:avLst/>
          </a:prstGeom>
          <a:noFill/>
          <a:ln/>
        </p:spPr>
        <p:txBody>
          <a:bodyPr wrap="square" lIns="0" tIns="0" rIns="0" bIns="0" rtlCol="0" anchor="t"/>
          <a:lstStyle/>
          <a:p>
            <a:pPr marL="203200" indent="-203200">
              <a:spcAft>
                <a:spcPts val="600"/>
              </a:spcAft>
              <a:buSzPct val="100000"/>
              <a:buChar char="•"/>
            </a:pPr>
            <a:r>
              <a:rPr lang="en-US" sz="1552" dirty="0">
                <a:solidFill>
                  <a:srgbClr val="F4F1EA"/>
                </a:solidFill>
                <a:latin typeface="Calibri" pitchFamily="34" charset="0"/>
                <a:ea typeface="Calibri" pitchFamily="34" charset="-122"/>
                <a:cs typeface="Calibri" pitchFamily="34" charset="-120"/>
              </a:rPr>
              <a:t>Extra-articular fractures with little displacement</a:t>
            </a:r>
            <a:endParaRPr lang="en-US" sz="1552" dirty="0"/>
          </a:p>
          <a:p>
            <a:pPr marL="203200" indent="-203200">
              <a:spcAft>
                <a:spcPts val="600"/>
              </a:spcAft>
              <a:buSzPct val="100000"/>
              <a:buChar char="•"/>
            </a:pPr>
            <a:r>
              <a:rPr lang="en-US" sz="1552" dirty="0">
                <a:solidFill>
                  <a:srgbClr val="F4F1EA"/>
                </a:solidFill>
                <a:latin typeface="Calibri" pitchFamily="34" charset="0"/>
                <a:ea typeface="Calibri" pitchFamily="34" charset="-122"/>
                <a:cs typeface="Calibri" pitchFamily="34" charset="-120"/>
              </a:rPr>
              <a:t>Intra-articular displacement under 2 mm (Sanders I)</a:t>
            </a:r>
            <a:endParaRPr lang="en-US" sz="1552" dirty="0"/>
          </a:p>
          <a:p>
            <a:pPr marL="203200" indent="-203200">
              <a:spcAft>
                <a:spcPts val="600"/>
              </a:spcAft>
              <a:buSzPct val="100000"/>
              <a:buChar char="•"/>
            </a:pPr>
            <a:r>
              <a:rPr lang="en-US" sz="1552" dirty="0">
                <a:solidFill>
                  <a:srgbClr val="F4F1EA"/>
                </a:solidFill>
                <a:latin typeface="Calibri" pitchFamily="34" charset="0"/>
                <a:ea typeface="Calibri" pitchFamily="34" charset="-122"/>
                <a:cs typeface="Calibri" pitchFamily="34" charset="-120"/>
              </a:rPr>
              <a:t>Anterior process fractures under a quarter of the calcaneocuboid joint</a:t>
            </a:r>
            <a:endParaRPr lang="en-US" sz="1552" dirty="0"/>
          </a:p>
          <a:p>
            <a:pPr marL="203200" indent="-203200">
              <a:spcAft>
                <a:spcPts val="600"/>
              </a:spcAft>
              <a:buSzPct val="100000"/>
              <a:buChar char="•"/>
            </a:pPr>
            <a:r>
              <a:rPr lang="en-US" sz="1552" dirty="0">
                <a:solidFill>
                  <a:srgbClr val="F4F1EA"/>
                </a:solidFill>
                <a:latin typeface="Calibri" pitchFamily="34" charset="0"/>
                <a:ea typeface="Calibri" pitchFamily="34" charset="-122"/>
                <a:cs typeface="Calibri" pitchFamily="34" charset="-120"/>
              </a:rPr>
              <a:t>Poor host: insulin-dependent diabetes, peripheral vascular disease, neuropathy, heavy smoking</a:t>
            </a:r>
            <a:endParaRPr lang="en-US" sz="1552" dirty="0"/>
          </a:p>
          <a:p>
            <a:pPr marL="203200" indent="-203200">
              <a:spcAft>
                <a:spcPts val="600"/>
              </a:spcAft>
              <a:buSzPct val="100000"/>
              <a:buChar char="•"/>
            </a:pPr>
            <a:r>
              <a:rPr lang="en-US" sz="1552" dirty="0">
                <a:solidFill>
                  <a:srgbClr val="F4F1EA"/>
                </a:solidFill>
                <a:latin typeface="Calibri" pitchFamily="34" charset="0"/>
                <a:ea typeface="Calibri" pitchFamily="34" charset="-122"/>
                <a:cs typeface="Calibri" pitchFamily="34" charset="-120"/>
              </a:rPr>
              <a:t>Non-ambulatory or medically unfit patients</a:t>
            </a:r>
            <a:endParaRPr lang="en-US" sz="1552" dirty="0"/>
          </a:p>
          <a:p>
            <a:pPr marL="203200" indent="-203200">
              <a:spcAft>
                <a:spcPts val="600"/>
              </a:spcAft>
              <a:buSzPct val="100000"/>
              <a:buChar char="•"/>
            </a:pPr>
            <a:r>
              <a:rPr lang="en-US" sz="1552" dirty="0">
                <a:solidFill>
                  <a:srgbClr val="F4F1EA"/>
                </a:solidFill>
                <a:latin typeface="Calibri" pitchFamily="34" charset="0"/>
                <a:ea typeface="Calibri" pitchFamily="34" charset="-122"/>
                <a:cs typeface="Calibri" pitchFamily="34" charset="-120"/>
              </a:rPr>
              <a:t>Severely swollen or blistered soft tissues that do not settle</a:t>
            </a:r>
            <a:endParaRPr lang="en-US" sz="1552" dirty="0"/>
          </a:p>
        </p:txBody>
      </p:sp>
      <p:sp>
        <p:nvSpPr>
          <p:cNvPr id="9" name="Shape 7"/>
          <p:cNvSpPr/>
          <p:nvPr/>
        </p:nvSpPr>
        <p:spPr>
          <a:xfrm>
            <a:off x="6217920" y="1508760"/>
            <a:ext cx="5440680" cy="4800600"/>
          </a:xfrm>
          <a:prstGeom prst="roundRect">
            <a:avLst>
              <a:gd name="adj" fmla="val 1524"/>
            </a:avLst>
          </a:prstGeom>
          <a:solidFill>
            <a:srgbClr val="132A36"/>
          </a:solidFill>
          <a:ln w="9525">
            <a:solidFill>
              <a:srgbClr val="2C4756"/>
            </a:solidFill>
            <a:prstDash val="solid"/>
          </a:ln>
        </p:spPr>
      </p:sp>
      <p:sp>
        <p:nvSpPr>
          <p:cNvPr id="10" name="Text 8"/>
          <p:cNvSpPr txBox="1"/>
          <p:nvPr/>
        </p:nvSpPr>
        <p:spPr>
          <a:xfrm>
            <a:off x="6446520" y="1627632"/>
            <a:ext cx="4937760" cy="365760"/>
          </a:xfrm>
          <a:prstGeom prst="rect">
            <a:avLst/>
          </a:prstGeom>
          <a:noFill/>
          <a:ln/>
        </p:spPr>
        <p:txBody>
          <a:bodyPr wrap="square" lIns="0" tIns="0" rIns="0" bIns="0" rtlCol="0" anchor="t"/>
          <a:lstStyle/>
          <a:p>
            <a:pPr marL="0" indent="0" algn="l">
              <a:buNone/>
            </a:pPr>
            <a:r>
              <a:rPr lang="en-US" sz="2000" b="1" dirty="0">
                <a:solidFill>
                  <a:srgbClr val="FF7A45"/>
                </a:solidFill>
                <a:latin typeface="Cambria" pitchFamily="34" charset="0"/>
                <a:ea typeface="Cambria" pitchFamily="34" charset="-122"/>
                <a:cs typeface="Cambria" pitchFamily="34" charset="-120"/>
              </a:rPr>
              <a:t>Protocol</a:t>
            </a:r>
            <a:endParaRPr lang="en-US" sz="2000" dirty="0"/>
          </a:p>
        </p:txBody>
      </p:sp>
      <p:sp>
        <p:nvSpPr>
          <p:cNvPr id="11" name="Text 9"/>
          <p:cNvSpPr txBox="1"/>
          <p:nvPr/>
        </p:nvSpPr>
        <p:spPr>
          <a:xfrm>
            <a:off x="6446520" y="2103120"/>
            <a:ext cx="5029200" cy="4114800"/>
          </a:xfrm>
          <a:prstGeom prst="rect">
            <a:avLst/>
          </a:prstGeom>
          <a:noFill/>
          <a:ln/>
        </p:spPr>
        <p:txBody>
          <a:bodyPr wrap="square" lIns="0" tIns="0" rIns="0" bIns="0" rtlCol="0" anchor="t"/>
          <a:lstStyle/>
          <a:p>
            <a:pPr marL="203200" indent="-203200">
              <a:buSzPct val="100000"/>
              <a:buChar char="•"/>
            </a:pPr>
            <a:r>
              <a:rPr lang="en-US" sz="1552" b="1" dirty="0">
                <a:solidFill>
                  <a:srgbClr val="FF7A45"/>
                </a:solidFill>
                <a:latin typeface="Calibri" pitchFamily="34" charset="0"/>
                <a:ea typeface="Calibri" pitchFamily="34" charset="-122"/>
                <a:cs typeface="Calibri" pitchFamily="34" charset="-120"/>
              </a:rPr>
              <a:t>Days 0 to 14: </a:t>
            </a:r>
            <a:r>
              <a:rPr lang="en-US" sz="1552" dirty="0">
                <a:solidFill>
                  <a:srgbClr val="F4F1EA"/>
                </a:solidFill>
                <a:latin typeface="Calibri" pitchFamily="34" charset="0"/>
                <a:ea typeface="Calibri" pitchFamily="34" charset="-122"/>
                <a:cs typeface="Calibri" pitchFamily="34" charset="-120"/>
              </a:rPr>
              <a:t>elevation, ice, compression and a splint</a:t>
            </a:r>
            <a:endParaRPr lang="en-US" sz="1552" dirty="0"/>
          </a:p>
          <a:p>
            <a:pPr marL="203200" indent="-203200">
              <a:buSzPct val="100000"/>
              <a:buChar char="•"/>
            </a:pPr>
            <a:r>
              <a:rPr lang="en-US" sz="1552" b="1" dirty="0">
                <a:solidFill>
                  <a:srgbClr val="FF7A45"/>
                </a:solidFill>
                <a:latin typeface="Calibri" pitchFamily="34" charset="0"/>
                <a:ea typeface="Calibri" pitchFamily="34" charset="-122"/>
                <a:cs typeface="Calibri" pitchFamily="34" charset="-120"/>
              </a:rPr>
              <a:t>From week 2: </a:t>
            </a:r>
            <a:r>
              <a:rPr lang="en-US" sz="1552" dirty="0">
                <a:solidFill>
                  <a:srgbClr val="F4F1EA"/>
                </a:solidFill>
                <a:latin typeface="Calibri" pitchFamily="34" charset="0"/>
                <a:ea typeface="Calibri" pitchFamily="34" charset="-122"/>
                <a:cs typeface="Calibri" pitchFamily="34" charset="-120"/>
              </a:rPr>
              <a:t>remove the splint several times a day for ankle and subtalar range of motion</a:t>
            </a:r>
            <a:endParaRPr lang="en-US" sz="1552" dirty="0"/>
          </a:p>
          <a:p>
            <a:pPr marL="203200" indent="-203200">
              <a:buSzPct val="100000"/>
              <a:buChar char="•"/>
            </a:pPr>
            <a:r>
              <a:rPr lang="en-US" sz="1552" b="1" dirty="0">
                <a:solidFill>
                  <a:srgbClr val="FF7A45"/>
                </a:solidFill>
                <a:latin typeface="Calibri" pitchFamily="34" charset="0"/>
                <a:ea typeface="Calibri" pitchFamily="34" charset="-122"/>
                <a:cs typeface="Calibri" pitchFamily="34" charset="-120"/>
              </a:rPr>
              <a:t>First 8 to 12 weeks: </a:t>
            </a:r>
            <a:r>
              <a:rPr lang="en-US" sz="1552" dirty="0">
                <a:solidFill>
                  <a:srgbClr val="F4F1EA"/>
                </a:solidFill>
                <a:latin typeface="Calibri" pitchFamily="34" charset="0"/>
                <a:ea typeface="Calibri" pitchFamily="34" charset="-122"/>
                <a:cs typeface="Calibri" pitchFamily="34" charset="-120"/>
              </a:rPr>
              <a:t>non-weight-bearing</a:t>
            </a:r>
            <a:endParaRPr lang="en-US" sz="1552" dirty="0"/>
          </a:p>
          <a:p>
            <a:pPr marL="203200" indent="-203200">
              <a:buSzPct val="100000"/>
              <a:buChar char="•"/>
            </a:pPr>
            <a:r>
              <a:rPr lang="en-US" sz="1552" b="1" dirty="0">
                <a:solidFill>
                  <a:srgbClr val="FF7A45"/>
                </a:solidFill>
                <a:latin typeface="Calibri" pitchFamily="34" charset="0"/>
                <a:ea typeface="Calibri" pitchFamily="34" charset="-122"/>
                <a:cs typeface="Calibri" pitchFamily="34" charset="-120"/>
              </a:rPr>
              <a:t>After that: </a:t>
            </a:r>
            <a:r>
              <a:rPr lang="en-US" sz="1552" dirty="0">
                <a:solidFill>
                  <a:srgbClr val="F4F1EA"/>
                </a:solidFill>
                <a:latin typeface="Calibri" pitchFamily="34" charset="0"/>
                <a:ea typeface="Calibri" pitchFamily="34" charset="-122"/>
                <a:cs typeface="Calibri" pitchFamily="34" charset="-120"/>
              </a:rPr>
              <a:t>progressive weight-bearing once callus forms</a:t>
            </a:r>
            <a:endParaRPr lang="en-US" sz="1552" dirty="0"/>
          </a:p>
          <a:p>
            <a:pPr marL="203200" indent="-203200">
              <a:buSzPct val="100000"/>
              <a:buChar char="•"/>
            </a:pPr>
            <a:r>
              <a:rPr lang="en-US" sz="1552" b="1" dirty="0">
                <a:solidFill>
                  <a:srgbClr val="FF7A45"/>
                </a:solidFill>
                <a:latin typeface="Calibri" pitchFamily="34" charset="0"/>
                <a:ea typeface="Calibri" pitchFamily="34" charset="-122"/>
                <a:cs typeface="Calibri" pitchFamily="34" charset="-120"/>
              </a:rPr>
              <a:t>Footwear: </a:t>
            </a:r>
            <a:r>
              <a:rPr lang="en-US" sz="1552" dirty="0">
                <a:solidFill>
                  <a:srgbClr val="F4F1EA"/>
                </a:solidFill>
                <a:latin typeface="Calibri" pitchFamily="34" charset="0"/>
                <a:ea typeface="Calibri" pitchFamily="34" charset="-122"/>
                <a:cs typeface="Calibri" pitchFamily="34" charset="-120"/>
              </a:rPr>
              <a:t>a wide shoe, and expect some heel widening</a:t>
            </a:r>
            <a:endParaRPr lang="en-US" sz="1552" dirty="0"/>
          </a:p>
          <a:p>
            <a:pPr marL="203200" indent="-203200">
              <a:buSzPct val="100000"/>
              <a:buChar char="•"/>
            </a:pPr>
            <a:r>
              <a:rPr lang="en-US" sz="1552" b="1" dirty="0">
                <a:solidFill>
                  <a:srgbClr val="FF7A45"/>
                </a:solidFill>
                <a:latin typeface="Calibri" pitchFamily="34" charset="0"/>
                <a:ea typeface="Calibri" pitchFamily="34" charset="-122"/>
                <a:cs typeface="Calibri" pitchFamily="34" charset="-120"/>
              </a:rPr>
              <a:t>Counsel: </a:t>
            </a:r>
            <a:r>
              <a:rPr lang="en-US" sz="1552" dirty="0">
                <a:solidFill>
                  <a:srgbClr val="F4F1EA"/>
                </a:solidFill>
                <a:latin typeface="Calibri" pitchFamily="34" charset="0"/>
                <a:ea typeface="Calibri" pitchFamily="34" charset="-122"/>
                <a:cs typeface="Calibri" pitchFamily="34" charset="-120"/>
              </a:rPr>
              <a:t>permanent stiffness and later subtalar arthritis are possible</a:t>
            </a:r>
            <a:endParaRPr lang="en-US" sz="1552"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0D1B24"/>
        </a:solidFill>
        <a:effectLst/>
      </p:bgPr>
    </p:bg>
    <p:spTree>
      <p:nvGrpSpPr>
        <p:cNvPr id="1" name=""/>
        <p:cNvGrpSpPr/>
        <p:nvPr/>
      </p:nvGrpSpPr>
      <p:grpSpPr>
        <a:xfrm>
          <a:off x="0" y="0"/>
          <a:ext cx="0" cy="0"/>
          <a:chOff x="0" y="0"/>
          <a:chExt cx="0" cy="0"/>
        </a:xfrm>
      </p:grpSpPr>
      <p:sp>
        <p:nvSpPr>
          <p:cNvPr id="3"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MANAGEMENT</a:t>
            </a:r>
            <a:endParaRPr lang="en-US" sz="1200" dirty="0"/>
          </a:p>
        </p:txBody>
      </p:sp>
      <p:sp>
        <p:nvSpPr>
          <p:cNvPr id="4"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Operative vs non-operative: what the trials say</a:t>
            </a:r>
            <a:endParaRPr lang="en-US" sz="3200" dirty="0"/>
          </a:p>
        </p:txBody>
      </p:sp>
      <p:sp>
        <p:nvSpPr>
          <p:cNvPr id="5"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6"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23</a:t>
            </a:r>
            <a:endParaRPr lang="en-US" sz="1000" dirty="0"/>
          </a:p>
        </p:txBody>
      </p:sp>
      <p:sp>
        <p:nvSpPr>
          <p:cNvPr id="7" name="Shape 4"/>
          <p:cNvSpPr/>
          <p:nvPr/>
        </p:nvSpPr>
        <p:spPr>
          <a:xfrm>
            <a:off x="548640" y="1508760"/>
            <a:ext cx="5440680" cy="3383280"/>
          </a:xfrm>
          <a:prstGeom prst="roundRect">
            <a:avLst>
              <a:gd name="adj" fmla="val 2162"/>
            </a:avLst>
          </a:prstGeom>
          <a:solidFill>
            <a:srgbClr val="132A36"/>
          </a:solidFill>
          <a:ln w="9525">
            <a:solidFill>
              <a:srgbClr val="2C4756"/>
            </a:solidFill>
            <a:prstDash val="solid"/>
          </a:ln>
        </p:spPr>
      </p:sp>
      <p:sp>
        <p:nvSpPr>
          <p:cNvPr id="8" name="Text 5"/>
          <p:cNvSpPr txBox="1"/>
          <p:nvPr/>
        </p:nvSpPr>
        <p:spPr>
          <a:xfrm>
            <a:off x="777240" y="1627632"/>
            <a:ext cx="4937760" cy="365760"/>
          </a:xfrm>
          <a:prstGeom prst="rect">
            <a:avLst/>
          </a:prstGeom>
          <a:noFill/>
          <a:ln/>
        </p:spPr>
        <p:txBody>
          <a:bodyPr wrap="square" lIns="0" tIns="0" rIns="0" bIns="0" rtlCol="0" anchor="t"/>
          <a:lstStyle/>
          <a:p>
            <a:pPr marL="0" indent="0" algn="l">
              <a:buNone/>
            </a:pPr>
            <a:r>
              <a:rPr lang="en-US" sz="1900" b="1" dirty="0">
                <a:solidFill>
                  <a:srgbClr val="2DD4BF"/>
                </a:solidFill>
                <a:latin typeface="Cambria" pitchFamily="34" charset="0"/>
                <a:ea typeface="Cambria" pitchFamily="34" charset="-122"/>
                <a:cs typeface="Cambria" pitchFamily="34" charset="-120"/>
              </a:rPr>
              <a:t>Buckley 2002 (JBJS Am)</a:t>
            </a:r>
            <a:endParaRPr lang="en-US" sz="1900" dirty="0"/>
          </a:p>
        </p:txBody>
      </p:sp>
      <p:sp>
        <p:nvSpPr>
          <p:cNvPr id="9" name="Text 6"/>
          <p:cNvSpPr txBox="1"/>
          <p:nvPr/>
        </p:nvSpPr>
        <p:spPr>
          <a:xfrm>
            <a:off x="777240" y="2011680"/>
            <a:ext cx="4937760" cy="320040"/>
          </a:xfrm>
          <a:prstGeom prst="rect">
            <a:avLst/>
          </a:prstGeom>
          <a:noFill/>
          <a:ln/>
        </p:spPr>
        <p:txBody>
          <a:bodyPr wrap="square" lIns="0" tIns="0" rIns="0" bIns="0" rtlCol="0" anchor="t"/>
          <a:lstStyle/>
          <a:p>
            <a:pPr marL="0" indent="0" algn="l">
              <a:buNone/>
            </a:pPr>
            <a:r>
              <a:rPr lang="en-US" sz="1495" i="1" dirty="0">
                <a:solidFill>
                  <a:srgbClr val="9FB3BD"/>
                </a:solidFill>
                <a:latin typeface="Calibri" pitchFamily="34" charset="0"/>
                <a:ea typeface="Calibri" pitchFamily="34" charset="-122"/>
                <a:cs typeface="Calibri" pitchFamily="34" charset="-120"/>
              </a:rPr>
              <a:t>Randomised multicentre trial in Canada.</a:t>
            </a:r>
            <a:endParaRPr lang="en-US" sz="1495" dirty="0"/>
          </a:p>
        </p:txBody>
      </p:sp>
      <p:sp>
        <p:nvSpPr>
          <p:cNvPr id="10" name="Text 7"/>
          <p:cNvSpPr txBox="1"/>
          <p:nvPr/>
        </p:nvSpPr>
        <p:spPr>
          <a:xfrm>
            <a:off x="777240" y="2423160"/>
            <a:ext cx="5029200" cy="2377440"/>
          </a:xfrm>
          <a:prstGeom prst="rect">
            <a:avLst/>
          </a:prstGeom>
          <a:noFill/>
          <a:ln/>
        </p:spPr>
        <p:txBody>
          <a:bodyPr wrap="square" lIns="0" tIns="0" rIns="0" bIns="0" rtlCol="0" anchor="t"/>
          <a:lstStyle/>
          <a:p>
            <a:pPr marL="203200" indent="-203200">
              <a:spcAft>
                <a:spcPts val="600"/>
              </a:spcAft>
              <a:buSzPct val="100000"/>
              <a:buChar char="•"/>
            </a:pPr>
            <a:r>
              <a:rPr lang="en-US" sz="1552" dirty="0">
                <a:solidFill>
                  <a:srgbClr val="F4F1EA"/>
                </a:solidFill>
                <a:latin typeface="Calibri" pitchFamily="34" charset="0"/>
                <a:ea typeface="Calibri" pitchFamily="34" charset="-122"/>
                <a:cs typeface="Calibri" pitchFamily="34" charset="-120"/>
              </a:rPr>
              <a:t>No difference overall</a:t>
            </a:r>
            <a:endParaRPr lang="en-US" sz="1552" dirty="0"/>
          </a:p>
          <a:p>
            <a:pPr marL="203200" indent="-203200">
              <a:spcAft>
                <a:spcPts val="600"/>
              </a:spcAft>
              <a:buSzPct val="100000"/>
              <a:buChar char="•"/>
            </a:pPr>
            <a:r>
              <a:rPr lang="en-US" sz="1552" dirty="0">
                <a:solidFill>
                  <a:srgbClr val="F4F1EA"/>
                </a:solidFill>
                <a:latin typeface="Calibri" pitchFamily="34" charset="0"/>
                <a:ea typeface="Calibri" pitchFamily="34" charset="-122"/>
                <a:cs typeface="Calibri" pitchFamily="34" charset="-120"/>
              </a:rPr>
              <a:t>Surgery favoured: women, younger age, lighter work, not on compensation, isolated injury, low Böhler angle</a:t>
            </a:r>
            <a:endParaRPr lang="en-US" sz="1552" dirty="0"/>
          </a:p>
          <a:p>
            <a:pPr marL="203200" indent="-203200">
              <a:spcAft>
                <a:spcPts val="600"/>
              </a:spcAft>
              <a:buSzPct val="100000"/>
              <a:buChar char="•"/>
            </a:pPr>
            <a:r>
              <a:rPr lang="en-US" sz="1552" dirty="0">
                <a:solidFill>
                  <a:srgbClr val="F4F1EA"/>
                </a:solidFill>
                <a:latin typeface="Calibri" pitchFamily="34" charset="0"/>
                <a:ea typeface="Calibri" pitchFamily="34" charset="-122"/>
                <a:cs typeface="Calibri" pitchFamily="34" charset="-120"/>
              </a:rPr>
              <a:t>Non-operative group about 5 times more likely to need later subtalar fusion</a:t>
            </a:r>
            <a:endParaRPr lang="en-US" sz="1552" dirty="0"/>
          </a:p>
        </p:txBody>
      </p:sp>
      <p:sp>
        <p:nvSpPr>
          <p:cNvPr id="11" name="Shape 8"/>
          <p:cNvSpPr/>
          <p:nvPr/>
        </p:nvSpPr>
        <p:spPr>
          <a:xfrm>
            <a:off x="6217920" y="1508760"/>
            <a:ext cx="5440680" cy="3383280"/>
          </a:xfrm>
          <a:prstGeom prst="roundRect">
            <a:avLst>
              <a:gd name="adj" fmla="val 2162"/>
            </a:avLst>
          </a:prstGeom>
          <a:solidFill>
            <a:srgbClr val="132A36"/>
          </a:solidFill>
          <a:ln w="9525">
            <a:solidFill>
              <a:srgbClr val="2C4756"/>
            </a:solidFill>
            <a:prstDash val="solid"/>
          </a:ln>
        </p:spPr>
      </p:sp>
      <p:sp>
        <p:nvSpPr>
          <p:cNvPr id="12" name="Text 9"/>
          <p:cNvSpPr txBox="1"/>
          <p:nvPr/>
        </p:nvSpPr>
        <p:spPr>
          <a:xfrm>
            <a:off x="6446520" y="1627632"/>
            <a:ext cx="4937760" cy="365760"/>
          </a:xfrm>
          <a:prstGeom prst="rect">
            <a:avLst/>
          </a:prstGeom>
          <a:noFill/>
          <a:ln/>
        </p:spPr>
        <p:txBody>
          <a:bodyPr wrap="square" lIns="0" tIns="0" rIns="0" bIns="0" rtlCol="0" anchor="t"/>
          <a:lstStyle/>
          <a:p>
            <a:pPr marL="0" indent="0" algn="l">
              <a:buNone/>
            </a:pPr>
            <a:r>
              <a:rPr lang="en-US" sz="1900" b="1" dirty="0">
                <a:solidFill>
                  <a:srgbClr val="FF7A45"/>
                </a:solidFill>
                <a:latin typeface="Cambria" pitchFamily="34" charset="0"/>
                <a:ea typeface="Cambria" pitchFamily="34" charset="-122"/>
                <a:cs typeface="Cambria" pitchFamily="34" charset="-120"/>
              </a:rPr>
              <a:t>UK Heel Fracture Trial 2014 (BMJ)</a:t>
            </a:r>
            <a:endParaRPr lang="en-US" sz="1900" dirty="0"/>
          </a:p>
        </p:txBody>
      </p:sp>
      <p:sp>
        <p:nvSpPr>
          <p:cNvPr id="13" name="Text 10"/>
          <p:cNvSpPr txBox="1"/>
          <p:nvPr/>
        </p:nvSpPr>
        <p:spPr>
          <a:xfrm>
            <a:off x="6446520" y="2011680"/>
            <a:ext cx="4937760" cy="320040"/>
          </a:xfrm>
          <a:prstGeom prst="rect">
            <a:avLst/>
          </a:prstGeom>
          <a:noFill/>
          <a:ln/>
        </p:spPr>
        <p:txBody>
          <a:bodyPr wrap="square" lIns="0" tIns="0" rIns="0" bIns="0" rtlCol="0" anchor="t"/>
          <a:lstStyle/>
          <a:p>
            <a:pPr marL="0" indent="0" algn="l">
              <a:buNone/>
            </a:pPr>
            <a:r>
              <a:rPr lang="en-US" sz="1495" i="1" dirty="0">
                <a:solidFill>
                  <a:srgbClr val="9FB3BD"/>
                </a:solidFill>
                <a:latin typeface="Calibri" pitchFamily="34" charset="0"/>
                <a:ea typeface="Calibri" pitchFamily="34" charset="-122"/>
                <a:cs typeface="Calibri" pitchFamily="34" charset="-120"/>
              </a:rPr>
              <a:t>Randomised trial: ORIF vs conservative care.</a:t>
            </a:r>
            <a:endParaRPr lang="en-US" sz="1495" dirty="0"/>
          </a:p>
        </p:txBody>
      </p:sp>
      <p:sp>
        <p:nvSpPr>
          <p:cNvPr id="14" name="Text 11"/>
          <p:cNvSpPr txBox="1"/>
          <p:nvPr/>
        </p:nvSpPr>
        <p:spPr>
          <a:xfrm>
            <a:off x="6446520" y="2423160"/>
            <a:ext cx="5029200" cy="2377440"/>
          </a:xfrm>
          <a:prstGeom prst="rect">
            <a:avLst/>
          </a:prstGeom>
          <a:noFill/>
          <a:ln/>
        </p:spPr>
        <p:txBody>
          <a:bodyPr wrap="square" lIns="0" tIns="0" rIns="0" bIns="0" rtlCol="0" anchor="t"/>
          <a:lstStyle/>
          <a:p>
            <a:pPr marL="203200" indent="-203200">
              <a:spcAft>
                <a:spcPts val="600"/>
              </a:spcAft>
              <a:buSzPct val="100000"/>
              <a:buChar char="•"/>
            </a:pPr>
            <a:r>
              <a:rPr lang="en-US" sz="1552" dirty="0">
                <a:solidFill>
                  <a:srgbClr val="F4F1EA"/>
                </a:solidFill>
                <a:latin typeface="Calibri" pitchFamily="34" charset="0"/>
                <a:ea typeface="Calibri" pitchFamily="34" charset="-122"/>
                <a:cs typeface="Calibri" pitchFamily="34" charset="-120"/>
              </a:rPr>
              <a:t>No significant difference in patient-reported function at 2 years</a:t>
            </a:r>
            <a:endParaRPr lang="en-US" sz="1552" dirty="0"/>
          </a:p>
          <a:p>
            <a:pPr marL="203200" indent="-203200">
              <a:spcAft>
                <a:spcPts val="600"/>
              </a:spcAft>
              <a:buSzPct val="100000"/>
              <a:buChar char="•"/>
            </a:pPr>
            <a:r>
              <a:rPr lang="en-US" sz="1552" dirty="0">
                <a:solidFill>
                  <a:srgbClr val="F4F1EA"/>
                </a:solidFill>
                <a:latin typeface="Calibri" pitchFamily="34" charset="0"/>
                <a:ea typeface="Calibri" pitchFamily="34" charset="-122"/>
                <a:cs typeface="Calibri" pitchFamily="34" charset="-120"/>
              </a:rPr>
              <a:t>More wound complications after surgery</a:t>
            </a:r>
            <a:endParaRPr lang="en-US" sz="1552" dirty="0"/>
          </a:p>
          <a:p>
            <a:pPr marL="203200" indent="-203200">
              <a:spcAft>
                <a:spcPts val="600"/>
              </a:spcAft>
              <a:buSzPct val="100000"/>
              <a:buChar char="•"/>
            </a:pPr>
            <a:r>
              <a:rPr lang="en-US" sz="1552" dirty="0">
                <a:solidFill>
                  <a:srgbClr val="F4F1EA"/>
                </a:solidFill>
                <a:latin typeface="Calibri" pitchFamily="34" charset="0"/>
                <a:ea typeface="Calibri" pitchFamily="34" charset="-122"/>
                <a:cs typeface="Calibri" pitchFamily="34" charset="-120"/>
              </a:rPr>
              <a:t>Argues against routine surgery for every displaced fracture</a:t>
            </a:r>
            <a:endParaRPr lang="en-US" sz="1552" dirty="0"/>
          </a:p>
        </p:txBody>
      </p:sp>
      <p:sp>
        <p:nvSpPr>
          <p:cNvPr id="15" name="Shape 12"/>
          <p:cNvSpPr/>
          <p:nvPr/>
        </p:nvSpPr>
        <p:spPr>
          <a:xfrm>
            <a:off x="548640" y="5074920"/>
            <a:ext cx="11109960" cy="1234440"/>
          </a:xfrm>
          <a:prstGeom prst="roundRect">
            <a:avLst>
              <a:gd name="adj" fmla="val 5926"/>
            </a:avLst>
          </a:prstGeom>
          <a:solidFill>
            <a:srgbClr val="132A36"/>
          </a:solidFill>
          <a:ln w="9525">
            <a:solidFill>
              <a:srgbClr val="2C4756"/>
            </a:solidFill>
            <a:prstDash val="solid"/>
          </a:ln>
        </p:spPr>
      </p:sp>
      <p:sp>
        <p:nvSpPr>
          <p:cNvPr id="16" name="Text 13"/>
          <p:cNvSpPr txBox="1"/>
          <p:nvPr/>
        </p:nvSpPr>
        <p:spPr>
          <a:xfrm>
            <a:off x="777240" y="5138928"/>
            <a:ext cx="10652760" cy="1097280"/>
          </a:xfrm>
          <a:prstGeom prst="rect">
            <a:avLst/>
          </a:prstGeom>
          <a:noFill/>
          <a:ln/>
        </p:spPr>
        <p:txBody>
          <a:bodyPr wrap="square" lIns="0" tIns="0" rIns="0" bIns="0" rtlCol="0" anchor="ctr"/>
          <a:lstStyle/>
          <a:p>
            <a:pPr marL="0" indent="0" algn="l">
              <a:buNone/>
            </a:pPr>
            <a:r>
              <a:rPr lang="en-US" sz="1725" dirty="0">
                <a:solidFill>
                  <a:srgbClr val="E9DCC0"/>
                </a:solidFill>
                <a:latin typeface="Calibri" pitchFamily="34" charset="0"/>
                <a:ea typeface="Calibri" pitchFamily="34" charset="-122"/>
                <a:cs typeface="Calibri" pitchFamily="34" charset="-120"/>
              </a:rPr>
              <a:t>Take-home: choose the patient, not the fracture. Young, otherwise healthy, with a reducible Sanders II or III and good skin gain most from an anatomic reduction.</a:t>
            </a:r>
            <a:endParaRPr lang="en-US" sz="17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MANAGEMENT</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Operative indications and timing</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24</a:t>
            </a:r>
            <a:endParaRPr lang="en-US" sz="1000" dirty="0"/>
          </a:p>
        </p:txBody>
      </p:sp>
      <p:sp>
        <p:nvSpPr>
          <p:cNvPr id="6" name="Shape 4"/>
          <p:cNvSpPr/>
          <p:nvPr/>
        </p:nvSpPr>
        <p:spPr>
          <a:xfrm>
            <a:off x="548640" y="1508760"/>
            <a:ext cx="5532120" cy="3063240"/>
          </a:xfrm>
          <a:prstGeom prst="roundRect">
            <a:avLst>
              <a:gd name="adj" fmla="val 2388"/>
            </a:avLst>
          </a:prstGeom>
          <a:solidFill>
            <a:srgbClr val="132A36"/>
          </a:solidFill>
          <a:ln w="9525">
            <a:solidFill>
              <a:srgbClr val="2C4756"/>
            </a:solidFill>
            <a:prstDash val="solid"/>
          </a:ln>
        </p:spPr>
      </p:sp>
      <p:sp>
        <p:nvSpPr>
          <p:cNvPr id="7" name="Text 5"/>
          <p:cNvSpPr txBox="1"/>
          <p:nvPr/>
        </p:nvSpPr>
        <p:spPr>
          <a:xfrm>
            <a:off x="777240" y="1627632"/>
            <a:ext cx="5029200" cy="365760"/>
          </a:xfrm>
          <a:prstGeom prst="rect">
            <a:avLst/>
          </a:prstGeom>
          <a:noFill/>
          <a:ln/>
        </p:spPr>
        <p:txBody>
          <a:bodyPr wrap="square" lIns="0" tIns="0" rIns="0" bIns="0" rtlCol="0" anchor="t"/>
          <a:lstStyle/>
          <a:p>
            <a:pPr marL="0" indent="0" algn="l">
              <a:buNone/>
            </a:pPr>
            <a:r>
              <a:rPr lang="en-US" sz="2000" b="1" dirty="0">
                <a:solidFill>
                  <a:srgbClr val="2DD4BF"/>
                </a:solidFill>
                <a:latin typeface="Cambria" pitchFamily="34" charset="0"/>
                <a:ea typeface="Cambria" pitchFamily="34" charset="-122"/>
                <a:cs typeface="Cambria" pitchFamily="34" charset="-120"/>
              </a:rPr>
              <a:t>Indications</a:t>
            </a:r>
            <a:endParaRPr lang="en-US" sz="2000" dirty="0"/>
          </a:p>
        </p:txBody>
      </p:sp>
      <p:sp>
        <p:nvSpPr>
          <p:cNvPr id="8" name="Text 6"/>
          <p:cNvSpPr txBox="1"/>
          <p:nvPr/>
        </p:nvSpPr>
        <p:spPr>
          <a:xfrm>
            <a:off x="777240" y="2103120"/>
            <a:ext cx="5120640" cy="2423160"/>
          </a:xfrm>
          <a:prstGeom prst="rect">
            <a:avLst/>
          </a:prstGeom>
          <a:noFill/>
          <a:ln/>
        </p:spPr>
        <p:txBody>
          <a:bodyPr wrap="square" lIns="0" tIns="0" rIns="0" bIns="0" rtlCol="0" anchor="t"/>
          <a:lstStyle/>
          <a:p>
            <a:pPr marL="203200" indent="-203200">
              <a:spcAft>
                <a:spcPts val="400"/>
              </a:spcAft>
              <a:buSzPct val="100000"/>
              <a:buChar char="•"/>
            </a:pPr>
            <a:r>
              <a:rPr lang="en-US" sz="1512" dirty="0">
                <a:solidFill>
                  <a:srgbClr val="F4F1EA"/>
                </a:solidFill>
                <a:latin typeface="Calibri" pitchFamily="34" charset="0"/>
                <a:ea typeface="Calibri" pitchFamily="34" charset="-122"/>
                <a:cs typeface="Calibri" pitchFamily="34" charset="-120"/>
              </a:rPr>
              <a:t>Intra-articular step-off over 2 mm in the posterior facet</a:t>
            </a:r>
            <a:endParaRPr lang="en-US" sz="1512" dirty="0"/>
          </a:p>
          <a:p>
            <a:pPr marL="203200" indent="-203200">
              <a:spcAft>
                <a:spcPts val="400"/>
              </a:spcAft>
              <a:buSzPct val="100000"/>
              <a:buChar char="•"/>
            </a:pPr>
            <a:r>
              <a:rPr lang="en-US" sz="1512" dirty="0">
                <a:solidFill>
                  <a:srgbClr val="F4F1EA"/>
                </a:solidFill>
                <a:latin typeface="Calibri" pitchFamily="34" charset="0"/>
                <a:ea typeface="Calibri" pitchFamily="34" charset="-122"/>
                <a:cs typeface="Calibri" pitchFamily="34" charset="-120"/>
              </a:rPr>
              <a:t>Heel varus over 5° or marked widening</a:t>
            </a:r>
            <a:endParaRPr lang="en-US" sz="1512" dirty="0"/>
          </a:p>
          <a:p>
            <a:pPr marL="203200" indent="-203200">
              <a:spcAft>
                <a:spcPts val="400"/>
              </a:spcAft>
              <a:buSzPct val="100000"/>
              <a:buChar char="•"/>
            </a:pPr>
            <a:r>
              <a:rPr lang="en-US" sz="1512" dirty="0">
                <a:solidFill>
                  <a:srgbClr val="F4F1EA"/>
                </a:solidFill>
                <a:latin typeface="Calibri" pitchFamily="34" charset="0"/>
                <a:ea typeface="Calibri" pitchFamily="34" charset="-122"/>
                <a:cs typeface="Calibri" pitchFamily="34" charset="-120"/>
              </a:rPr>
              <a:t>Böhler angle flattened, height lost</a:t>
            </a:r>
            <a:endParaRPr lang="en-US" sz="1512" dirty="0"/>
          </a:p>
          <a:p>
            <a:pPr marL="203200" indent="-203200">
              <a:spcAft>
                <a:spcPts val="400"/>
              </a:spcAft>
              <a:buSzPct val="100000"/>
              <a:buChar char="•"/>
            </a:pPr>
            <a:r>
              <a:rPr lang="en-US" sz="1512" dirty="0">
                <a:solidFill>
                  <a:srgbClr val="F4F1EA"/>
                </a:solidFill>
                <a:latin typeface="Calibri" pitchFamily="34" charset="0"/>
                <a:ea typeface="Calibri" pitchFamily="34" charset="-122"/>
                <a:cs typeface="Calibri" pitchFamily="34" charset="-120"/>
              </a:rPr>
              <a:t>Lateral wall blow-out with peroneal impingement</a:t>
            </a:r>
            <a:endParaRPr lang="en-US" sz="1512" dirty="0"/>
          </a:p>
          <a:p>
            <a:pPr marL="203200" indent="-203200">
              <a:spcAft>
                <a:spcPts val="400"/>
              </a:spcAft>
              <a:buSzPct val="100000"/>
              <a:buChar char="•"/>
            </a:pPr>
            <a:r>
              <a:rPr lang="en-US" sz="1512" dirty="0">
                <a:solidFill>
                  <a:srgbClr val="F4F1EA"/>
                </a:solidFill>
                <a:latin typeface="Calibri" pitchFamily="34" charset="0"/>
                <a:ea typeface="Calibri" pitchFamily="34" charset="-122"/>
                <a:cs typeface="Calibri" pitchFamily="34" charset="-120"/>
              </a:rPr>
              <a:t>Displaced calcaneocuboid joint fracture</a:t>
            </a:r>
            <a:endParaRPr lang="en-US" sz="1512" dirty="0"/>
          </a:p>
          <a:p>
            <a:pPr marL="203200" indent="-203200">
              <a:spcAft>
                <a:spcPts val="400"/>
              </a:spcAft>
              <a:buSzPct val="100000"/>
              <a:buChar char="•"/>
            </a:pPr>
            <a:r>
              <a:rPr lang="en-US" sz="1512" dirty="0">
                <a:solidFill>
                  <a:srgbClr val="F4F1EA"/>
                </a:solidFill>
                <a:latin typeface="Calibri" pitchFamily="34" charset="0"/>
                <a:ea typeface="Calibri" pitchFamily="34" charset="-122"/>
                <a:cs typeface="Calibri" pitchFamily="34" charset="-120"/>
              </a:rPr>
              <a:t>Displaced tongue-type or beak fracture with skin threat</a:t>
            </a:r>
            <a:endParaRPr lang="en-US" sz="1512" dirty="0"/>
          </a:p>
        </p:txBody>
      </p:sp>
      <p:sp>
        <p:nvSpPr>
          <p:cNvPr id="9" name="Shape 7"/>
          <p:cNvSpPr/>
          <p:nvPr/>
        </p:nvSpPr>
        <p:spPr>
          <a:xfrm>
            <a:off x="6263640" y="1508760"/>
            <a:ext cx="5394960" cy="3063240"/>
          </a:xfrm>
          <a:prstGeom prst="roundRect">
            <a:avLst>
              <a:gd name="adj" fmla="val 2388"/>
            </a:avLst>
          </a:prstGeom>
          <a:solidFill>
            <a:srgbClr val="132A36"/>
          </a:solidFill>
          <a:ln w="9525">
            <a:solidFill>
              <a:srgbClr val="2C4756"/>
            </a:solidFill>
            <a:prstDash val="solid"/>
          </a:ln>
        </p:spPr>
      </p:sp>
      <p:sp>
        <p:nvSpPr>
          <p:cNvPr id="10" name="Text 8"/>
          <p:cNvSpPr txBox="1"/>
          <p:nvPr/>
        </p:nvSpPr>
        <p:spPr>
          <a:xfrm>
            <a:off x="6492240" y="1627632"/>
            <a:ext cx="4937760" cy="365760"/>
          </a:xfrm>
          <a:prstGeom prst="rect">
            <a:avLst/>
          </a:prstGeom>
          <a:noFill/>
          <a:ln/>
        </p:spPr>
        <p:txBody>
          <a:bodyPr wrap="square" lIns="0" tIns="0" rIns="0" bIns="0" rtlCol="0" anchor="t"/>
          <a:lstStyle/>
          <a:p>
            <a:pPr marL="0" indent="0" algn="l">
              <a:buNone/>
            </a:pPr>
            <a:r>
              <a:rPr lang="en-US" sz="2000" b="1" dirty="0">
                <a:solidFill>
                  <a:srgbClr val="F87171"/>
                </a:solidFill>
                <a:latin typeface="Cambria" pitchFamily="34" charset="0"/>
                <a:ea typeface="Cambria" pitchFamily="34" charset="-122"/>
                <a:cs typeface="Cambria" pitchFamily="34" charset="-120"/>
              </a:rPr>
              <a:t>Relative contraindications</a:t>
            </a:r>
            <a:endParaRPr lang="en-US" sz="2000" dirty="0"/>
          </a:p>
        </p:txBody>
      </p:sp>
      <p:sp>
        <p:nvSpPr>
          <p:cNvPr id="11" name="Text 9"/>
          <p:cNvSpPr txBox="1"/>
          <p:nvPr/>
        </p:nvSpPr>
        <p:spPr>
          <a:xfrm>
            <a:off x="6492240" y="2103120"/>
            <a:ext cx="4937760" cy="2423160"/>
          </a:xfrm>
          <a:prstGeom prst="rect">
            <a:avLst/>
          </a:prstGeom>
          <a:noFill/>
          <a:ln/>
        </p:spPr>
        <p:txBody>
          <a:bodyPr wrap="square" lIns="0" tIns="0" rIns="0" bIns="0" rtlCol="0" anchor="t"/>
          <a:lstStyle/>
          <a:p>
            <a:pPr marL="203200" indent="-203200">
              <a:spcAft>
                <a:spcPts val="400"/>
              </a:spcAft>
              <a:buSzPct val="100000"/>
              <a:buChar char="•"/>
            </a:pPr>
            <a:r>
              <a:rPr lang="en-US" sz="1512" dirty="0">
                <a:solidFill>
                  <a:srgbClr val="F4F1EA"/>
                </a:solidFill>
                <a:latin typeface="Calibri" pitchFamily="34" charset="0"/>
                <a:ea typeface="Calibri" pitchFamily="34" charset="-122"/>
                <a:cs typeface="Calibri" pitchFamily="34" charset="-120"/>
              </a:rPr>
              <a:t>Insulin-dependent diabetes, vascular disease, neuropathy</a:t>
            </a:r>
            <a:endParaRPr lang="en-US" sz="1512" dirty="0"/>
          </a:p>
          <a:p>
            <a:pPr marL="203200" indent="-203200">
              <a:spcAft>
                <a:spcPts val="400"/>
              </a:spcAft>
              <a:buSzPct val="100000"/>
              <a:buChar char="•"/>
            </a:pPr>
            <a:r>
              <a:rPr lang="en-US" sz="1512" dirty="0">
                <a:solidFill>
                  <a:srgbClr val="F4F1EA"/>
                </a:solidFill>
                <a:latin typeface="Calibri" pitchFamily="34" charset="0"/>
                <a:ea typeface="Calibri" pitchFamily="34" charset="-122"/>
                <a:cs typeface="Calibri" pitchFamily="34" charset="-120"/>
              </a:rPr>
              <a:t>Heavy smoking or drug misuse</a:t>
            </a:r>
            <a:endParaRPr lang="en-US" sz="1512" dirty="0"/>
          </a:p>
          <a:p>
            <a:pPr marL="203200" indent="-203200">
              <a:spcAft>
                <a:spcPts val="400"/>
              </a:spcAft>
              <a:buSzPct val="100000"/>
              <a:buChar char="•"/>
            </a:pPr>
            <a:r>
              <a:rPr lang="en-US" sz="1512" dirty="0">
                <a:solidFill>
                  <a:srgbClr val="F4F1EA"/>
                </a:solidFill>
                <a:latin typeface="Calibri" pitchFamily="34" charset="0"/>
                <a:ea typeface="Calibri" pitchFamily="34" charset="-122"/>
                <a:cs typeface="Calibri" pitchFamily="34" charset="-120"/>
              </a:rPr>
              <a:t>Poor soft tissues: blisters, no wrinkle sign</a:t>
            </a:r>
            <a:endParaRPr lang="en-US" sz="1512" dirty="0"/>
          </a:p>
          <a:p>
            <a:pPr marL="203200" indent="-203200">
              <a:spcAft>
                <a:spcPts val="400"/>
              </a:spcAft>
              <a:buSzPct val="100000"/>
              <a:buChar char="•"/>
            </a:pPr>
            <a:r>
              <a:rPr lang="en-US" sz="1512" dirty="0">
                <a:solidFill>
                  <a:srgbClr val="F4F1EA"/>
                </a:solidFill>
                <a:latin typeface="Calibri" pitchFamily="34" charset="0"/>
                <a:ea typeface="Calibri" pitchFamily="34" charset="-122"/>
                <a:cs typeface="Calibri" pitchFamily="34" charset="-120"/>
              </a:rPr>
              <a:t>Elderly, low-demand or non-ambulatory patients</a:t>
            </a:r>
            <a:endParaRPr lang="en-US" sz="1512" dirty="0"/>
          </a:p>
          <a:p>
            <a:pPr marL="203200" indent="-203200">
              <a:spcAft>
                <a:spcPts val="400"/>
              </a:spcAft>
              <a:buSzPct val="100000"/>
              <a:buChar char="•"/>
            </a:pPr>
            <a:r>
              <a:rPr lang="en-US" sz="1512" dirty="0">
                <a:solidFill>
                  <a:srgbClr val="F4F1EA"/>
                </a:solidFill>
                <a:latin typeface="Calibri" pitchFamily="34" charset="0"/>
                <a:ea typeface="Calibri" pitchFamily="34" charset="-122"/>
                <a:cs typeface="Calibri" pitchFamily="34" charset="-120"/>
              </a:rPr>
              <a:t>Severe comminution (consider fusion)</a:t>
            </a:r>
            <a:endParaRPr lang="en-US" sz="1512" dirty="0"/>
          </a:p>
        </p:txBody>
      </p:sp>
      <p:sp>
        <p:nvSpPr>
          <p:cNvPr id="12" name="Shape 10"/>
          <p:cNvSpPr/>
          <p:nvPr/>
        </p:nvSpPr>
        <p:spPr>
          <a:xfrm>
            <a:off x="548640" y="4754880"/>
            <a:ext cx="11109960" cy="1554480"/>
          </a:xfrm>
          <a:prstGeom prst="roundRect">
            <a:avLst>
              <a:gd name="adj" fmla="val 4706"/>
            </a:avLst>
          </a:prstGeom>
          <a:solidFill>
            <a:srgbClr val="132A36"/>
          </a:solidFill>
          <a:ln w="9525">
            <a:solidFill>
              <a:srgbClr val="2C4756"/>
            </a:solidFill>
            <a:prstDash val="solid"/>
          </a:ln>
        </p:spPr>
      </p:sp>
      <p:sp>
        <p:nvSpPr>
          <p:cNvPr id="13" name="Text 11"/>
          <p:cNvSpPr txBox="1"/>
          <p:nvPr/>
        </p:nvSpPr>
        <p:spPr>
          <a:xfrm>
            <a:off x="777240" y="4828032"/>
            <a:ext cx="2743200" cy="365760"/>
          </a:xfrm>
          <a:prstGeom prst="rect">
            <a:avLst/>
          </a:prstGeom>
          <a:noFill/>
          <a:ln/>
        </p:spPr>
        <p:txBody>
          <a:bodyPr wrap="square" lIns="0" tIns="0" rIns="0" bIns="0" rtlCol="0" anchor="t"/>
          <a:lstStyle/>
          <a:p>
            <a:pPr marL="0" indent="0" algn="l">
              <a:buNone/>
            </a:pPr>
            <a:r>
              <a:rPr lang="en-US" sz="2000" b="1" dirty="0">
                <a:solidFill>
                  <a:srgbClr val="FBBF24"/>
                </a:solidFill>
                <a:latin typeface="Cambria" pitchFamily="34" charset="0"/>
                <a:ea typeface="Cambria" pitchFamily="34" charset="-122"/>
                <a:cs typeface="Cambria" pitchFamily="34" charset="-120"/>
              </a:rPr>
              <a:t>Timing</a:t>
            </a:r>
            <a:endParaRPr lang="en-US" sz="2000" dirty="0"/>
          </a:p>
        </p:txBody>
      </p:sp>
      <p:sp>
        <p:nvSpPr>
          <p:cNvPr id="14" name="Text 12"/>
          <p:cNvSpPr txBox="1"/>
          <p:nvPr/>
        </p:nvSpPr>
        <p:spPr>
          <a:xfrm>
            <a:off x="777240" y="5212080"/>
            <a:ext cx="10652760" cy="1051560"/>
          </a:xfrm>
          <a:prstGeom prst="rect">
            <a:avLst/>
          </a:prstGeom>
          <a:noFill/>
          <a:ln/>
        </p:spPr>
        <p:txBody>
          <a:bodyPr wrap="square" lIns="0" tIns="0" rIns="0" bIns="0" rtlCol="0" anchor="t"/>
          <a:lstStyle/>
          <a:p>
            <a:pPr marL="0" indent="0" algn="l">
              <a:buNone/>
            </a:pPr>
            <a:r>
              <a:rPr lang="en-US" sz="1568" dirty="0">
                <a:solidFill>
                  <a:srgbClr val="F4F1EA"/>
                </a:solidFill>
                <a:latin typeface="Calibri" pitchFamily="34" charset="0"/>
                <a:ea typeface="Calibri" pitchFamily="34" charset="-122"/>
                <a:cs typeface="Calibri" pitchFamily="34" charset="-120"/>
              </a:rPr>
              <a:t>Operate once the swelling has gone, usually 7 to 14 days after injury. The wrinkle test (skin creases when the ankle is dorsiflexed) is the practical guide. Do not leave it beyond about 3 weeks, or early union makes reduction harder.</a:t>
            </a:r>
            <a:endParaRPr lang="en-US" sz="1568"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0D1B24"/>
        </a:solidFill>
        <a:effectLst/>
      </p:bgPr>
    </p:bg>
    <p:spTree>
      <p:nvGrpSpPr>
        <p:cNvPr id="1" name=""/>
        <p:cNvGrpSpPr/>
        <p:nvPr/>
      </p:nvGrpSpPr>
      <p:grpSpPr>
        <a:xfrm>
          <a:off x="0" y="0"/>
          <a:ext cx="0" cy="0"/>
          <a:chOff x="0" y="0"/>
          <a:chExt cx="0" cy="0"/>
        </a:xfrm>
      </p:grpSpPr>
      <p:sp>
        <p:nvSpPr>
          <p:cNvPr id="3"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MANAGEMENT</a:t>
            </a:r>
            <a:endParaRPr lang="en-US" sz="1200" dirty="0"/>
          </a:p>
        </p:txBody>
      </p:sp>
      <p:sp>
        <p:nvSpPr>
          <p:cNvPr id="4"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Surgical approaches</a:t>
            </a:r>
            <a:endParaRPr lang="en-US" sz="3200" dirty="0"/>
          </a:p>
        </p:txBody>
      </p:sp>
      <p:sp>
        <p:nvSpPr>
          <p:cNvPr id="5"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6"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25</a:t>
            </a:r>
            <a:endParaRPr lang="en-US" sz="1000" dirty="0"/>
          </a:p>
        </p:txBody>
      </p:sp>
      <p:sp>
        <p:nvSpPr>
          <p:cNvPr id="7" name="Shape 4"/>
          <p:cNvSpPr/>
          <p:nvPr/>
        </p:nvSpPr>
        <p:spPr>
          <a:xfrm>
            <a:off x="548640" y="1508760"/>
            <a:ext cx="5394960" cy="3639312"/>
          </a:xfrm>
          <a:prstGeom prst="roundRect">
            <a:avLst>
              <a:gd name="adj" fmla="val 1508"/>
            </a:avLst>
          </a:prstGeom>
          <a:solidFill>
            <a:srgbClr val="0D1B24"/>
          </a:solidFill>
          <a:ln w="9525">
            <a:solidFill>
              <a:srgbClr val="2C4756"/>
            </a:solidFill>
            <a:prstDash val="solid"/>
          </a:ln>
        </p:spPr>
      </p:sp>
      <p:pic>
        <p:nvPicPr>
          <p:cNvPr id="8" name="Image 0" descr="C:\Users\pawan\Documents\GitHub\ortho-chronicles\slides\img_calc\ill_approach.png"/>
          <p:cNvPicPr>
            <a:picLocks noChangeAspect="1"/>
          </p:cNvPicPr>
          <p:nvPr/>
        </p:nvPicPr>
        <p:blipFill>
          <a:blip r:embed="rId3"/>
          <a:stretch>
            <a:fillRect/>
          </a:stretch>
        </p:blipFill>
        <p:spPr>
          <a:xfrm>
            <a:off x="637297" y="1563624"/>
            <a:ext cx="5217646" cy="3529584"/>
          </a:xfrm>
          <a:prstGeom prst="rect">
            <a:avLst/>
          </a:prstGeom>
        </p:spPr>
      </p:pic>
      <p:sp>
        <p:nvSpPr>
          <p:cNvPr id="9" name="Text 5"/>
          <p:cNvSpPr txBox="1"/>
          <p:nvPr/>
        </p:nvSpPr>
        <p:spPr>
          <a:xfrm>
            <a:off x="548640" y="5193792"/>
            <a:ext cx="5394960" cy="274320"/>
          </a:xfrm>
          <a:prstGeom prst="rect">
            <a:avLst/>
          </a:prstGeom>
          <a:noFill/>
          <a:ln/>
        </p:spPr>
        <p:txBody>
          <a:bodyPr wrap="square" lIns="0" tIns="0" rIns="0" bIns="0" rtlCol="0" anchor="t"/>
          <a:lstStyle/>
          <a:p>
            <a:pPr marL="0" indent="0" algn="l">
              <a:buNone/>
            </a:pPr>
            <a:r>
              <a:rPr lang="en-US" sz="1000" i="1" dirty="0">
                <a:solidFill>
                  <a:srgbClr val="9FB3BD"/>
                </a:solidFill>
                <a:latin typeface="Calibri" pitchFamily="34" charset="0"/>
                <a:ea typeface="Calibri" pitchFamily="34" charset="-122"/>
                <a:cs typeface="Calibri" pitchFamily="34" charset="-120"/>
              </a:rPr>
              <a:t>Lateral hindfoot. Orange: extensile L. Teal: sinus tarsi. Amber: sural nerve.</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172200" y="1508760"/>
          <a:ext cx="5486400" cy="2552700"/>
        </p:xfrm>
        <a:graphic>
          <a:graphicData uri="http://schemas.openxmlformats.org/drawingml/2006/table">
            <a:tbl>
              <a:tblPr/>
              <a:tblGrid>
                <a:gridCol w="13258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tblGrid>
              <a:tr h="0">
                <a:tc>
                  <a:txBody>
                    <a:bodyPr/>
                    <a:lstStyle/>
                    <a:p>
                      <a:pPr marL="0" indent="0">
                        <a:buNone/>
                      </a:pPr>
                      <a:r>
                        <a:rPr lang="en-US" sz="1250" b="1" dirty="0">
                          <a:solidFill>
                            <a:srgbClr val="FBBF24"/>
                          </a:solidFill>
                          <a:latin typeface="Calibri" pitchFamily="34" charset="0"/>
                          <a:ea typeface="Calibri" pitchFamily="34" charset="-122"/>
                          <a:cs typeface="Calibri" pitchFamily="34" charset="-120"/>
                        </a:rPr>
                        <a:t>Approach</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1250" b="1" dirty="0">
                          <a:solidFill>
                            <a:srgbClr val="FBBF24"/>
                          </a:solidFill>
                          <a:latin typeface="Calibri" pitchFamily="34" charset="0"/>
                          <a:ea typeface="Calibri" pitchFamily="34" charset="-122"/>
                          <a:cs typeface="Calibri" pitchFamily="34" charset="-120"/>
                        </a:rPr>
                        <a:t>Advantages</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1250" b="1" dirty="0">
                          <a:solidFill>
                            <a:srgbClr val="FBBF24"/>
                          </a:solidFill>
                          <a:latin typeface="Calibri" pitchFamily="34" charset="0"/>
                          <a:ea typeface="Calibri" pitchFamily="34" charset="-122"/>
                          <a:cs typeface="Calibri" pitchFamily="34" charset="-120"/>
                        </a:rPr>
                        <a:t>Drawbacks</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extLst>
                  <a:ext uri="{0D108BD9-81ED-4DB2-BD59-A6C34878D82A}">
                    <a16:rowId xmlns:a16="http://schemas.microsoft.com/office/drawing/2014/main" val="10000"/>
                  </a:ext>
                </a:extLst>
              </a:tr>
              <a:tr h="0">
                <a:tc>
                  <a:txBody>
                    <a:bodyPr/>
                    <a:lstStyle/>
                    <a:p>
                      <a:pPr marL="0" indent="0">
                        <a:buNone/>
                      </a:pPr>
                      <a:r>
                        <a:rPr lang="en-US" sz="1250" b="1" dirty="0">
                          <a:solidFill>
                            <a:srgbClr val="2DD4BF"/>
                          </a:solidFill>
                          <a:latin typeface="Calibri" pitchFamily="34" charset="0"/>
                          <a:ea typeface="Calibri" pitchFamily="34" charset="-122"/>
                          <a:cs typeface="Calibri" pitchFamily="34" charset="-120"/>
                        </a:rPr>
                        <a:t>Extensile L (lateral)</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Full view of the lateral wall, facet and calcaneocuboid joint</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Wound breakdown (about 10 to 25%), sural nerve injury</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1"/>
                  </a:ext>
                </a:extLst>
              </a:tr>
              <a:tr h="0">
                <a:tc>
                  <a:txBody>
                    <a:bodyPr/>
                    <a:lstStyle/>
                    <a:p>
                      <a:pPr marL="0" indent="0">
                        <a:buNone/>
                      </a:pPr>
                      <a:r>
                        <a:rPr lang="en-US" sz="1250" b="1" dirty="0">
                          <a:solidFill>
                            <a:srgbClr val="2DD4BF"/>
                          </a:solidFill>
                          <a:latin typeface="Calibri" pitchFamily="34" charset="0"/>
                          <a:ea typeface="Calibri" pitchFamily="34" charset="-122"/>
                          <a:cs typeface="Calibri" pitchFamily="34" charset="-120"/>
                        </a:rPr>
                        <a:t>Sinus tarsi</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Small wound, direct facet view, fewer wound problems</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Limited view of the tuberosity; needs good fluoroscopy</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2"/>
                  </a:ext>
                </a:extLst>
              </a:tr>
              <a:tr h="0">
                <a:tc>
                  <a:txBody>
                    <a:bodyPr/>
                    <a:lstStyle/>
                    <a:p>
                      <a:pPr marL="0" indent="0">
                        <a:buNone/>
                      </a:pPr>
                      <a:r>
                        <a:rPr lang="en-US" sz="1250" b="1" dirty="0">
                          <a:solidFill>
                            <a:srgbClr val="2DD4BF"/>
                          </a:solidFill>
                          <a:latin typeface="Calibri" pitchFamily="34" charset="0"/>
                          <a:ea typeface="Calibri" pitchFamily="34" charset="-122"/>
                          <a:cs typeface="Calibri" pitchFamily="34" charset="-120"/>
                        </a:rPr>
                        <a:t>Medial</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Sustentaculum and medial wall</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Tibial neurovascular bundle nearby</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3"/>
                  </a:ext>
                </a:extLst>
              </a:tr>
              <a:tr h="0">
                <a:tc>
                  <a:txBody>
                    <a:bodyPr/>
                    <a:lstStyle/>
                    <a:p>
                      <a:pPr marL="0" indent="0">
                        <a:buNone/>
                      </a:pPr>
                      <a:r>
                        <a:rPr lang="en-US" sz="1250" b="1" dirty="0">
                          <a:solidFill>
                            <a:srgbClr val="2DD4BF"/>
                          </a:solidFill>
                          <a:latin typeface="Calibri" pitchFamily="34" charset="0"/>
                          <a:ea typeface="Calibri" pitchFamily="34" charset="-122"/>
                          <a:cs typeface="Calibri" pitchFamily="34" charset="-120"/>
                        </a:rPr>
                        <a:t>Percutaneous</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Least soft-tissue damage</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250" dirty="0">
                          <a:solidFill>
                            <a:srgbClr val="F4F1EA"/>
                          </a:solidFill>
                          <a:latin typeface="Calibri" pitchFamily="34" charset="0"/>
                          <a:ea typeface="Calibri" pitchFamily="34" charset="-122"/>
                          <a:cs typeface="Calibri" pitchFamily="34" charset="-120"/>
                        </a:rPr>
                        <a:t>Blind reduction; only for simpler patterns</a:t>
                      </a:r>
                      <a:endParaRPr lang="en-US" sz="12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4"/>
                  </a:ext>
                </a:extLst>
              </a:tr>
            </a:tbl>
          </a:graphicData>
        </a:graphic>
      </p:graphicFrame>
      <p:sp>
        <p:nvSpPr>
          <p:cNvPr id="11" name="Shape 6"/>
          <p:cNvSpPr/>
          <p:nvPr/>
        </p:nvSpPr>
        <p:spPr>
          <a:xfrm>
            <a:off x="548640" y="5532120"/>
            <a:ext cx="11109960" cy="777240"/>
          </a:xfrm>
          <a:prstGeom prst="roundRect">
            <a:avLst>
              <a:gd name="adj" fmla="val 9412"/>
            </a:avLst>
          </a:prstGeom>
          <a:solidFill>
            <a:srgbClr val="132A36"/>
          </a:solidFill>
          <a:ln w="9525">
            <a:solidFill>
              <a:srgbClr val="2C4756"/>
            </a:solidFill>
            <a:prstDash val="solid"/>
          </a:ln>
        </p:spPr>
      </p:sp>
      <p:sp>
        <p:nvSpPr>
          <p:cNvPr id="12" name="Text 7"/>
          <p:cNvSpPr txBox="1"/>
          <p:nvPr/>
        </p:nvSpPr>
        <p:spPr>
          <a:xfrm>
            <a:off x="777240" y="5577840"/>
            <a:ext cx="10652760" cy="685800"/>
          </a:xfrm>
          <a:prstGeom prst="rect">
            <a:avLst/>
          </a:prstGeom>
          <a:noFill/>
          <a:ln/>
        </p:spPr>
        <p:txBody>
          <a:bodyPr wrap="square" lIns="0" tIns="0" rIns="0" bIns="0" rtlCol="0" anchor="ctr"/>
          <a:lstStyle/>
          <a:p>
            <a:pPr marL="0" indent="0" algn="l">
              <a:buNone/>
            </a:pPr>
            <a:r>
              <a:rPr lang="en-US" sz="1350" dirty="0">
                <a:solidFill>
                  <a:srgbClr val="E9DCC0"/>
                </a:solidFill>
                <a:latin typeface="Calibri" pitchFamily="34" charset="0"/>
                <a:ea typeface="Calibri" pitchFamily="34" charset="-122"/>
                <a:cs typeface="Calibri" pitchFamily="34" charset="-120"/>
              </a:rPr>
              <a:t>Whatever the approach: handle the flap as one layer (no-touch), retract with K-wires, close over a drain, and expect the corner of the L to be the weakest point.</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0D1B24"/>
        </a:solidFill>
        <a:effectLst/>
      </p:bgPr>
    </p:bg>
    <p:spTree>
      <p:nvGrpSpPr>
        <p:cNvPr id="1" name=""/>
        <p:cNvGrpSpPr/>
        <p:nvPr/>
      </p:nvGrpSpPr>
      <p:grpSpPr>
        <a:xfrm>
          <a:off x="0" y="0"/>
          <a:ext cx="0" cy="0"/>
          <a:chOff x="0" y="0"/>
          <a:chExt cx="0" cy="0"/>
        </a:xfrm>
      </p:grpSpPr>
      <p:sp>
        <p:nvSpPr>
          <p:cNvPr id="3"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MANAGEMENT</a:t>
            </a:r>
            <a:endParaRPr lang="en-US" sz="1200" dirty="0"/>
          </a:p>
        </p:txBody>
      </p:sp>
      <p:sp>
        <p:nvSpPr>
          <p:cNvPr id="4"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ORIF: step by step</a:t>
            </a:r>
            <a:endParaRPr lang="en-US" sz="3200" dirty="0"/>
          </a:p>
        </p:txBody>
      </p:sp>
      <p:sp>
        <p:nvSpPr>
          <p:cNvPr id="5"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6"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26</a:t>
            </a:r>
            <a:endParaRPr lang="en-US" sz="1000" dirty="0"/>
          </a:p>
        </p:txBody>
      </p:sp>
      <p:sp>
        <p:nvSpPr>
          <p:cNvPr id="7" name="Shape 4"/>
          <p:cNvSpPr/>
          <p:nvPr/>
        </p:nvSpPr>
        <p:spPr>
          <a:xfrm>
            <a:off x="548640" y="1508760"/>
            <a:ext cx="3977640" cy="1463040"/>
          </a:xfrm>
          <a:prstGeom prst="roundRect">
            <a:avLst>
              <a:gd name="adj" fmla="val 5000"/>
            </a:avLst>
          </a:prstGeom>
          <a:solidFill>
            <a:srgbClr val="132A36"/>
          </a:solidFill>
          <a:ln w="9525">
            <a:solidFill>
              <a:srgbClr val="2C4756"/>
            </a:solidFill>
            <a:prstDash val="solid"/>
          </a:ln>
        </p:spPr>
      </p:sp>
      <p:sp>
        <p:nvSpPr>
          <p:cNvPr id="8" name="Shape 5"/>
          <p:cNvSpPr/>
          <p:nvPr/>
        </p:nvSpPr>
        <p:spPr>
          <a:xfrm>
            <a:off x="731520" y="1673352"/>
            <a:ext cx="384048" cy="384048"/>
          </a:xfrm>
          <a:prstGeom prst="ellipse">
            <a:avLst/>
          </a:prstGeom>
          <a:solidFill>
            <a:srgbClr val="2DD4BF"/>
          </a:solidFill>
          <a:ln w="12700">
            <a:solidFill>
              <a:srgbClr val="2DD4BF"/>
            </a:solidFill>
            <a:prstDash val="solid"/>
          </a:ln>
        </p:spPr>
      </p:sp>
      <p:sp>
        <p:nvSpPr>
          <p:cNvPr id="9" name="Text 6"/>
          <p:cNvSpPr txBox="1"/>
          <p:nvPr/>
        </p:nvSpPr>
        <p:spPr>
          <a:xfrm>
            <a:off x="731520" y="167335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1</a:t>
            </a:r>
            <a:endParaRPr lang="en-US" sz="1500" dirty="0"/>
          </a:p>
        </p:txBody>
      </p:sp>
      <p:sp>
        <p:nvSpPr>
          <p:cNvPr id="10" name="Text 7"/>
          <p:cNvSpPr txBox="1"/>
          <p:nvPr/>
        </p:nvSpPr>
        <p:spPr>
          <a:xfrm>
            <a:off x="1234440" y="1691640"/>
            <a:ext cx="3200400" cy="365760"/>
          </a:xfrm>
          <a:prstGeom prst="rect">
            <a:avLst/>
          </a:prstGeom>
          <a:noFill/>
          <a:ln/>
        </p:spPr>
        <p:txBody>
          <a:bodyPr wrap="square" lIns="0" tIns="0" rIns="0" bIns="0" rtlCol="0" anchor="t"/>
          <a:lstStyle/>
          <a:p>
            <a:pPr marL="0" indent="0" algn="l">
              <a:buNone/>
            </a:pPr>
            <a:r>
              <a:rPr lang="en-US" sz="1650" b="1" dirty="0">
                <a:solidFill>
                  <a:srgbClr val="F4F1EA"/>
                </a:solidFill>
                <a:latin typeface="Cambria" pitchFamily="34" charset="0"/>
                <a:ea typeface="Cambria" pitchFamily="34" charset="-122"/>
                <a:cs typeface="Cambria" pitchFamily="34" charset="-120"/>
              </a:rPr>
              <a:t>Position and prep</a:t>
            </a:r>
            <a:endParaRPr lang="en-US" sz="1650" dirty="0"/>
          </a:p>
        </p:txBody>
      </p:sp>
      <p:sp>
        <p:nvSpPr>
          <p:cNvPr id="11" name="Text 8"/>
          <p:cNvSpPr txBox="1"/>
          <p:nvPr/>
        </p:nvSpPr>
        <p:spPr>
          <a:xfrm>
            <a:off x="777240" y="2167128"/>
            <a:ext cx="3566160" cy="777240"/>
          </a:xfrm>
          <a:prstGeom prst="rect">
            <a:avLst/>
          </a:prstGeom>
          <a:noFill/>
          <a:ln/>
        </p:spPr>
        <p:txBody>
          <a:bodyPr wrap="square" lIns="0" tIns="0" rIns="0" bIns="0" rtlCol="0" anchor="t"/>
          <a:lstStyle/>
          <a:p>
            <a:pPr marL="0" indent="0" algn="l">
              <a:buNone/>
            </a:pPr>
            <a:r>
              <a:rPr lang="en-US" sz="1344" dirty="0">
                <a:solidFill>
                  <a:srgbClr val="F4F1EA"/>
                </a:solidFill>
                <a:latin typeface="Calibri" pitchFamily="34" charset="0"/>
                <a:ea typeface="Calibri" pitchFamily="34" charset="-122"/>
                <a:cs typeface="Calibri" pitchFamily="34" charset="-120"/>
              </a:rPr>
              <a:t>Lateral decubitus, tourniquet, image intensifier from above, contralateral views for comparison</a:t>
            </a:r>
            <a:endParaRPr lang="en-US" sz="1344" dirty="0"/>
          </a:p>
        </p:txBody>
      </p:sp>
      <p:sp>
        <p:nvSpPr>
          <p:cNvPr id="12" name="Shape 9"/>
          <p:cNvSpPr/>
          <p:nvPr/>
        </p:nvSpPr>
        <p:spPr>
          <a:xfrm>
            <a:off x="4709160" y="1508760"/>
            <a:ext cx="3977640" cy="1463040"/>
          </a:xfrm>
          <a:prstGeom prst="roundRect">
            <a:avLst>
              <a:gd name="adj" fmla="val 5000"/>
            </a:avLst>
          </a:prstGeom>
          <a:solidFill>
            <a:srgbClr val="132A36"/>
          </a:solidFill>
          <a:ln w="9525">
            <a:solidFill>
              <a:srgbClr val="2C4756"/>
            </a:solidFill>
            <a:prstDash val="solid"/>
          </a:ln>
        </p:spPr>
      </p:sp>
      <p:sp>
        <p:nvSpPr>
          <p:cNvPr id="13" name="Shape 10"/>
          <p:cNvSpPr/>
          <p:nvPr/>
        </p:nvSpPr>
        <p:spPr>
          <a:xfrm>
            <a:off x="4892040" y="1673352"/>
            <a:ext cx="384048" cy="384048"/>
          </a:xfrm>
          <a:prstGeom prst="ellipse">
            <a:avLst/>
          </a:prstGeom>
          <a:solidFill>
            <a:srgbClr val="2DD4BF"/>
          </a:solidFill>
          <a:ln w="12700">
            <a:solidFill>
              <a:srgbClr val="2DD4BF"/>
            </a:solidFill>
            <a:prstDash val="solid"/>
          </a:ln>
        </p:spPr>
      </p:sp>
      <p:sp>
        <p:nvSpPr>
          <p:cNvPr id="14" name="Text 11"/>
          <p:cNvSpPr txBox="1"/>
          <p:nvPr/>
        </p:nvSpPr>
        <p:spPr>
          <a:xfrm>
            <a:off x="4892040" y="167335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2</a:t>
            </a:r>
            <a:endParaRPr lang="en-US" sz="1500" dirty="0"/>
          </a:p>
        </p:txBody>
      </p:sp>
      <p:sp>
        <p:nvSpPr>
          <p:cNvPr id="15" name="Text 12"/>
          <p:cNvSpPr txBox="1"/>
          <p:nvPr/>
        </p:nvSpPr>
        <p:spPr>
          <a:xfrm>
            <a:off x="5394960" y="1691640"/>
            <a:ext cx="3200400" cy="365760"/>
          </a:xfrm>
          <a:prstGeom prst="rect">
            <a:avLst/>
          </a:prstGeom>
          <a:noFill/>
          <a:ln/>
        </p:spPr>
        <p:txBody>
          <a:bodyPr wrap="square" lIns="0" tIns="0" rIns="0" bIns="0" rtlCol="0" anchor="t"/>
          <a:lstStyle/>
          <a:p>
            <a:pPr marL="0" indent="0" algn="l">
              <a:buNone/>
            </a:pPr>
            <a:r>
              <a:rPr lang="en-US" sz="1650" b="1" dirty="0">
                <a:solidFill>
                  <a:srgbClr val="F4F1EA"/>
                </a:solidFill>
                <a:latin typeface="Cambria" pitchFamily="34" charset="0"/>
                <a:ea typeface="Cambria" pitchFamily="34" charset="-122"/>
                <a:cs typeface="Cambria" pitchFamily="34" charset="-120"/>
              </a:rPr>
              <a:t>Expose</a:t>
            </a:r>
            <a:endParaRPr lang="en-US" sz="1650" dirty="0"/>
          </a:p>
        </p:txBody>
      </p:sp>
      <p:sp>
        <p:nvSpPr>
          <p:cNvPr id="16" name="Text 13"/>
          <p:cNvSpPr txBox="1"/>
          <p:nvPr/>
        </p:nvSpPr>
        <p:spPr>
          <a:xfrm>
            <a:off x="4937760" y="2167128"/>
            <a:ext cx="3566160" cy="777240"/>
          </a:xfrm>
          <a:prstGeom prst="rect">
            <a:avLst/>
          </a:prstGeom>
          <a:noFill/>
          <a:ln/>
        </p:spPr>
        <p:txBody>
          <a:bodyPr wrap="square" lIns="0" tIns="0" rIns="0" bIns="0" rtlCol="0" anchor="t"/>
          <a:lstStyle/>
          <a:p>
            <a:pPr marL="0" indent="0" algn="l">
              <a:buNone/>
            </a:pPr>
            <a:r>
              <a:rPr lang="en-US" sz="1344" dirty="0">
                <a:solidFill>
                  <a:srgbClr val="F4F1EA"/>
                </a:solidFill>
                <a:latin typeface="Calibri" pitchFamily="34" charset="0"/>
                <a:ea typeface="Calibri" pitchFamily="34" charset="-122"/>
                <a:cs typeface="Calibri" pitchFamily="34" charset="-120"/>
              </a:rPr>
              <a:t>Full-thickness flap, K-wires in the fibula and talus to hold it back, protect the sural nerve and peroneals</a:t>
            </a:r>
            <a:endParaRPr lang="en-US" sz="1344" dirty="0"/>
          </a:p>
        </p:txBody>
      </p:sp>
      <p:sp>
        <p:nvSpPr>
          <p:cNvPr id="17" name="Shape 14"/>
          <p:cNvSpPr/>
          <p:nvPr/>
        </p:nvSpPr>
        <p:spPr>
          <a:xfrm>
            <a:off x="548640" y="3108960"/>
            <a:ext cx="3977640" cy="1463040"/>
          </a:xfrm>
          <a:prstGeom prst="roundRect">
            <a:avLst>
              <a:gd name="adj" fmla="val 5000"/>
            </a:avLst>
          </a:prstGeom>
          <a:solidFill>
            <a:srgbClr val="132A36"/>
          </a:solidFill>
          <a:ln w="9525">
            <a:solidFill>
              <a:srgbClr val="2C4756"/>
            </a:solidFill>
            <a:prstDash val="solid"/>
          </a:ln>
        </p:spPr>
      </p:sp>
      <p:sp>
        <p:nvSpPr>
          <p:cNvPr id="18" name="Shape 15"/>
          <p:cNvSpPr/>
          <p:nvPr/>
        </p:nvSpPr>
        <p:spPr>
          <a:xfrm>
            <a:off x="731520" y="3273552"/>
            <a:ext cx="384048" cy="384048"/>
          </a:xfrm>
          <a:prstGeom prst="ellipse">
            <a:avLst/>
          </a:prstGeom>
          <a:solidFill>
            <a:srgbClr val="FBBF24"/>
          </a:solidFill>
          <a:ln w="12700">
            <a:solidFill>
              <a:srgbClr val="FBBF24"/>
            </a:solidFill>
            <a:prstDash val="solid"/>
          </a:ln>
        </p:spPr>
      </p:sp>
      <p:sp>
        <p:nvSpPr>
          <p:cNvPr id="19" name="Text 16"/>
          <p:cNvSpPr txBox="1"/>
          <p:nvPr/>
        </p:nvSpPr>
        <p:spPr>
          <a:xfrm>
            <a:off x="731520" y="327355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3</a:t>
            </a:r>
            <a:endParaRPr lang="en-US" sz="1500" dirty="0"/>
          </a:p>
        </p:txBody>
      </p:sp>
      <p:sp>
        <p:nvSpPr>
          <p:cNvPr id="20" name="Text 17"/>
          <p:cNvSpPr txBox="1"/>
          <p:nvPr/>
        </p:nvSpPr>
        <p:spPr>
          <a:xfrm>
            <a:off x="1234440" y="3291840"/>
            <a:ext cx="3200400" cy="365760"/>
          </a:xfrm>
          <a:prstGeom prst="rect">
            <a:avLst/>
          </a:prstGeom>
          <a:noFill/>
          <a:ln/>
        </p:spPr>
        <p:txBody>
          <a:bodyPr wrap="square" lIns="0" tIns="0" rIns="0" bIns="0" rtlCol="0" anchor="t"/>
          <a:lstStyle/>
          <a:p>
            <a:pPr marL="0" indent="0" algn="l">
              <a:buNone/>
            </a:pPr>
            <a:r>
              <a:rPr lang="en-US" sz="1650" b="1" dirty="0">
                <a:solidFill>
                  <a:srgbClr val="F4F1EA"/>
                </a:solidFill>
                <a:latin typeface="Cambria" pitchFamily="34" charset="0"/>
                <a:ea typeface="Cambria" pitchFamily="34" charset="-122"/>
                <a:cs typeface="Cambria" pitchFamily="34" charset="-120"/>
              </a:rPr>
              <a:t>Restore height and varus</a:t>
            </a:r>
            <a:endParaRPr lang="en-US" sz="1650" dirty="0"/>
          </a:p>
        </p:txBody>
      </p:sp>
      <p:sp>
        <p:nvSpPr>
          <p:cNvPr id="21" name="Text 18"/>
          <p:cNvSpPr txBox="1"/>
          <p:nvPr/>
        </p:nvSpPr>
        <p:spPr>
          <a:xfrm>
            <a:off x="777240" y="3767328"/>
            <a:ext cx="3566160" cy="777240"/>
          </a:xfrm>
          <a:prstGeom prst="rect">
            <a:avLst/>
          </a:prstGeom>
          <a:noFill/>
          <a:ln/>
        </p:spPr>
        <p:txBody>
          <a:bodyPr wrap="square" lIns="0" tIns="0" rIns="0" bIns="0" rtlCol="0" anchor="t"/>
          <a:lstStyle/>
          <a:p>
            <a:pPr marL="0" indent="0" algn="l">
              <a:buNone/>
            </a:pPr>
            <a:r>
              <a:rPr lang="en-US" sz="1344" dirty="0">
                <a:solidFill>
                  <a:srgbClr val="F4F1EA"/>
                </a:solidFill>
                <a:latin typeface="Calibri" pitchFamily="34" charset="0"/>
                <a:ea typeface="Calibri" pitchFamily="34" charset="-122"/>
                <a:cs typeface="Calibri" pitchFamily="34" charset="-120"/>
              </a:rPr>
              <a:t>Schanz pin in the tuberosity: pull, correct varus, restore length</a:t>
            </a:r>
            <a:endParaRPr lang="en-US" sz="1344" dirty="0"/>
          </a:p>
        </p:txBody>
      </p:sp>
      <p:sp>
        <p:nvSpPr>
          <p:cNvPr id="22" name="Shape 19"/>
          <p:cNvSpPr/>
          <p:nvPr/>
        </p:nvSpPr>
        <p:spPr>
          <a:xfrm>
            <a:off x="4709160" y="3108960"/>
            <a:ext cx="3977640" cy="1463040"/>
          </a:xfrm>
          <a:prstGeom prst="roundRect">
            <a:avLst>
              <a:gd name="adj" fmla="val 5000"/>
            </a:avLst>
          </a:prstGeom>
          <a:solidFill>
            <a:srgbClr val="132A36"/>
          </a:solidFill>
          <a:ln w="9525">
            <a:solidFill>
              <a:srgbClr val="2C4756"/>
            </a:solidFill>
            <a:prstDash val="solid"/>
          </a:ln>
        </p:spPr>
      </p:sp>
      <p:sp>
        <p:nvSpPr>
          <p:cNvPr id="23" name="Shape 20"/>
          <p:cNvSpPr/>
          <p:nvPr/>
        </p:nvSpPr>
        <p:spPr>
          <a:xfrm>
            <a:off x="4892040" y="3273552"/>
            <a:ext cx="384048" cy="384048"/>
          </a:xfrm>
          <a:prstGeom prst="ellipse">
            <a:avLst/>
          </a:prstGeom>
          <a:solidFill>
            <a:srgbClr val="FBBF24"/>
          </a:solidFill>
          <a:ln w="12700">
            <a:solidFill>
              <a:srgbClr val="FBBF24"/>
            </a:solidFill>
            <a:prstDash val="solid"/>
          </a:ln>
        </p:spPr>
      </p:sp>
      <p:sp>
        <p:nvSpPr>
          <p:cNvPr id="24" name="Text 21"/>
          <p:cNvSpPr txBox="1"/>
          <p:nvPr/>
        </p:nvSpPr>
        <p:spPr>
          <a:xfrm>
            <a:off x="4892040" y="327355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4</a:t>
            </a:r>
            <a:endParaRPr lang="en-US" sz="1500" dirty="0"/>
          </a:p>
        </p:txBody>
      </p:sp>
      <p:sp>
        <p:nvSpPr>
          <p:cNvPr id="25" name="Text 22"/>
          <p:cNvSpPr txBox="1"/>
          <p:nvPr/>
        </p:nvSpPr>
        <p:spPr>
          <a:xfrm>
            <a:off x="5394960" y="3291840"/>
            <a:ext cx="3200400" cy="365760"/>
          </a:xfrm>
          <a:prstGeom prst="rect">
            <a:avLst/>
          </a:prstGeom>
          <a:noFill/>
          <a:ln/>
        </p:spPr>
        <p:txBody>
          <a:bodyPr wrap="square" lIns="0" tIns="0" rIns="0" bIns="0" rtlCol="0" anchor="t"/>
          <a:lstStyle/>
          <a:p>
            <a:pPr marL="0" indent="0" algn="l">
              <a:buNone/>
            </a:pPr>
            <a:r>
              <a:rPr lang="en-US" sz="1650" b="1" dirty="0">
                <a:solidFill>
                  <a:srgbClr val="F4F1EA"/>
                </a:solidFill>
                <a:latin typeface="Cambria" pitchFamily="34" charset="0"/>
                <a:ea typeface="Cambria" pitchFamily="34" charset="-122"/>
                <a:cs typeface="Cambria" pitchFamily="34" charset="-120"/>
              </a:rPr>
              <a:t>Reduce the facet</a:t>
            </a:r>
            <a:endParaRPr lang="en-US" sz="1650" dirty="0"/>
          </a:p>
        </p:txBody>
      </p:sp>
      <p:sp>
        <p:nvSpPr>
          <p:cNvPr id="26" name="Text 23"/>
          <p:cNvSpPr txBox="1"/>
          <p:nvPr/>
        </p:nvSpPr>
        <p:spPr>
          <a:xfrm>
            <a:off x="4937760" y="3767328"/>
            <a:ext cx="3566160" cy="777240"/>
          </a:xfrm>
          <a:prstGeom prst="rect">
            <a:avLst/>
          </a:prstGeom>
          <a:noFill/>
          <a:ln/>
        </p:spPr>
        <p:txBody>
          <a:bodyPr wrap="square" lIns="0" tIns="0" rIns="0" bIns="0" rtlCol="0" anchor="t"/>
          <a:lstStyle/>
          <a:p>
            <a:pPr marL="0" indent="0" algn="l">
              <a:buNone/>
            </a:pPr>
            <a:r>
              <a:rPr lang="en-US" sz="1344" dirty="0">
                <a:solidFill>
                  <a:srgbClr val="F4F1EA"/>
                </a:solidFill>
                <a:latin typeface="Calibri" pitchFamily="34" charset="0"/>
                <a:ea typeface="Calibri" pitchFamily="34" charset="-122"/>
                <a:cs typeface="Calibri" pitchFamily="34" charset="-120"/>
              </a:rPr>
              <a:t>Open the lateral wall, lift the posterior facet to the sustentacular fragment, graft the void if needed</a:t>
            </a:r>
            <a:endParaRPr lang="en-US" sz="1344" dirty="0"/>
          </a:p>
        </p:txBody>
      </p:sp>
      <p:sp>
        <p:nvSpPr>
          <p:cNvPr id="27" name="Shape 24"/>
          <p:cNvSpPr/>
          <p:nvPr/>
        </p:nvSpPr>
        <p:spPr>
          <a:xfrm>
            <a:off x="548640" y="4709160"/>
            <a:ext cx="3977640" cy="1463040"/>
          </a:xfrm>
          <a:prstGeom prst="roundRect">
            <a:avLst>
              <a:gd name="adj" fmla="val 5000"/>
            </a:avLst>
          </a:prstGeom>
          <a:solidFill>
            <a:srgbClr val="132A36"/>
          </a:solidFill>
          <a:ln w="9525">
            <a:solidFill>
              <a:srgbClr val="2C4756"/>
            </a:solidFill>
            <a:prstDash val="solid"/>
          </a:ln>
        </p:spPr>
      </p:sp>
      <p:sp>
        <p:nvSpPr>
          <p:cNvPr id="28" name="Shape 25"/>
          <p:cNvSpPr/>
          <p:nvPr/>
        </p:nvSpPr>
        <p:spPr>
          <a:xfrm>
            <a:off x="731520" y="4873752"/>
            <a:ext cx="384048" cy="384048"/>
          </a:xfrm>
          <a:prstGeom prst="ellipse">
            <a:avLst/>
          </a:prstGeom>
          <a:solidFill>
            <a:srgbClr val="FF7A45"/>
          </a:solidFill>
          <a:ln w="12700">
            <a:solidFill>
              <a:srgbClr val="FF7A45"/>
            </a:solidFill>
            <a:prstDash val="solid"/>
          </a:ln>
        </p:spPr>
      </p:sp>
      <p:sp>
        <p:nvSpPr>
          <p:cNvPr id="29" name="Text 26"/>
          <p:cNvSpPr txBox="1"/>
          <p:nvPr/>
        </p:nvSpPr>
        <p:spPr>
          <a:xfrm>
            <a:off x="731520" y="487375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5</a:t>
            </a:r>
            <a:endParaRPr lang="en-US" sz="1500" dirty="0"/>
          </a:p>
        </p:txBody>
      </p:sp>
      <p:sp>
        <p:nvSpPr>
          <p:cNvPr id="30" name="Text 27"/>
          <p:cNvSpPr txBox="1"/>
          <p:nvPr/>
        </p:nvSpPr>
        <p:spPr>
          <a:xfrm>
            <a:off x="1234440" y="4892040"/>
            <a:ext cx="3200400" cy="365760"/>
          </a:xfrm>
          <a:prstGeom prst="rect">
            <a:avLst/>
          </a:prstGeom>
          <a:noFill/>
          <a:ln/>
        </p:spPr>
        <p:txBody>
          <a:bodyPr wrap="square" lIns="0" tIns="0" rIns="0" bIns="0" rtlCol="0" anchor="t"/>
          <a:lstStyle/>
          <a:p>
            <a:pPr marL="0" indent="0" algn="l">
              <a:buNone/>
            </a:pPr>
            <a:r>
              <a:rPr lang="en-US" sz="1650" b="1" dirty="0">
                <a:solidFill>
                  <a:srgbClr val="F4F1EA"/>
                </a:solidFill>
                <a:latin typeface="Cambria" pitchFamily="34" charset="0"/>
                <a:ea typeface="Cambria" pitchFamily="34" charset="-122"/>
                <a:cs typeface="Cambria" pitchFamily="34" charset="-120"/>
              </a:rPr>
              <a:t>Fix</a:t>
            </a:r>
            <a:endParaRPr lang="en-US" sz="1650" dirty="0"/>
          </a:p>
        </p:txBody>
      </p:sp>
      <p:sp>
        <p:nvSpPr>
          <p:cNvPr id="31" name="Text 28"/>
          <p:cNvSpPr txBox="1"/>
          <p:nvPr/>
        </p:nvSpPr>
        <p:spPr>
          <a:xfrm>
            <a:off x="777240" y="5367528"/>
            <a:ext cx="3566160" cy="777240"/>
          </a:xfrm>
          <a:prstGeom prst="rect">
            <a:avLst/>
          </a:prstGeom>
          <a:noFill/>
          <a:ln/>
        </p:spPr>
        <p:txBody>
          <a:bodyPr wrap="square" lIns="0" tIns="0" rIns="0" bIns="0" rtlCol="0" anchor="t"/>
          <a:lstStyle/>
          <a:p>
            <a:pPr marL="0" indent="0" algn="l">
              <a:buNone/>
            </a:pPr>
            <a:r>
              <a:rPr lang="en-US" sz="1344" dirty="0">
                <a:solidFill>
                  <a:srgbClr val="F4F1EA"/>
                </a:solidFill>
                <a:latin typeface="Calibri" pitchFamily="34" charset="0"/>
                <a:ea typeface="Calibri" pitchFamily="34" charset="-122"/>
                <a:cs typeface="Calibri" pitchFamily="34" charset="-120"/>
              </a:rPr>
              <a:t>Provisional K-wires, then a lateral plate with screws into the sustentaculum and under the facet</a:t>
            </a:r>
            <a:endParaRPr lang="en-US" sz="1344" dirty="0"/>
          </a:p>
        </p:txBody>
      </p:sp>
      <p:sp>
        <p:nvSpPr>
          <p:cNvPr id="32" name="Shape 29"/>
          <p:cNvSpPr/>
          <p:nvPr/>
        </p:nvSpPr>
        <p:spPr>
          <a:xfrm>
            <a:off x="4709160" y="4709160"/>
            <a:ext cx="3977640" cy="1463040"/>
          </a:xfrm>
          <a:prstGeom prst="roundRect">
            <a:avLst>
              <a:gd name="adj" fmla="val 5000"/>
            </a:avLst>
          </a:prstGeom>
          <a:solidFill>
            <a:srgbClr val="132A36"/>
          </a:solidFill>
          <a:ln w="9525">
            <a:solidFill>
              <a:srgbClr val="2C4756"/>
            </a:solidFill>
            <a:prstDash val="solid"/>
          </a:ln>
        </p:spPr>
      </p:sp>
      <p:sp>
        <p:nvSpPr>
          <p:cNvPr id="33" name="Shape 30"/>
          <p:cNvSpPr/>
          <p:nvPr/>
        </p:nvSpPr>
        <p:spPr>
          <a:xfrm>
            <a:off x="4892040" y="4873752"/>
            <a:ext cx="384048" cy="384048"/>
          </a:xfrm>
          <a:prstGeom prst="ellipse">
            <a:avLst/>
          </a:prstGeom>
          <a:solidFill>
            <a:srgbClr val="FF7A45"/>
          </a:solidFill>
          <a:ln w="12700">
            <a:solidFill>
              <a:srgbClr val="FF7A45"/>
            </a:solidFill>
            <a:prstDash val="solid"/>
          </a:ln>
        </p:spPr>
      </p:sp>
      <p:sp>
        <p:nvSpPr>
          <p:cNvPr id="34" name="Text 31"/>
          <p:cNvSpPr txBox="1"/>
          <p:nvPr/>
        </p:nvSpPr>
        <p:spPr>
          <a:xfrm>
            <a:off x="4892040" y="487375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6</a:t>
            </a:r>
            <a:endParaRPr lang="en-US" sz="1500" dirty="0"/>
          </a:p>
        </p:txBody>
      </p:sp>
      <p:sp>
        <p:nvSpPr>
          <p:cNvPr id="35" name="Text 32"/>
          <p:cNvSpPr txBox="1"/>
          <p:nvPr/>
        </p:nvSpPr>
        <p:spPr>
          <a:xfrm>
            <a:off x="5394960" y="4892040"/>
            <a:ext cx="3200400" cy="365760"/>
          </a:xfrm>
          <a:prstGeom prst="rect">
            <a:avLst/>
          </a:prstGeom>
          <a:noFill/>
          <a:ln/>
        </p:spPr>
        <p:txBody>
          <a:bodyPr wrap="square" lIns="0" tIns="0" rIns="0" bIns="0" rtlCol="0" anchor="t"/>
          <a:lstStyle/>
          <a:p>
            <a:pPr marL="0" indent="0" algn="l">
              <a:buNone/>
            </a:pPr>
            <a:r>
              <a:rPr lang="en-US" sz="1650" b="1" dirty="0">
                <a:solidFill>
                  <a:srgbClr val="F4F1EA"/>
                </a:solidFill>
                <a:latin typeface="Cambria" pitchFamily="34" charset="0"/>
                <a:ea typeface="Cambria" pitchFamily="34" charset="-122"/>
                <a:cs typeface="Cambria" pitchFamily="34" charset="-120"/>
              </a:rPr>
              <a:t>Confirm and close</a:t>
            </a:r>
            <a:endParaRPr lang="en-US" sz="1650" dirty="0"/>
          </a:p>
        </p:txBody>
      </p:sp>
      <p:sp>
        <p:nvSpPr>
          <p:cNvPr id="36" name="Text 33"/>
          <p:cNvSpPr txBox="1"/>
          <p:nvPr/>
        </p:nvSpPr>
        <p:spPr>
          <a:xfrm>
            <a:off x="4937760" y="5367528"/>
            <a:ext cx="3566160" cy="777240"/>
          </a:xfrm>
          <a:prstGeom prst="rect">
            <a:avLst/>
          </a:prstGeom>
          <a:noFill/>
          <a:ln/>
        </p:spPr>
        <p:txBody>
          <a:bodyPr wrap="square" lIns="0" tIns="0" rIns="0" bIns="0" rtlCol="0" anchor="t"/>
          <a:lstStyle/>
          <a:p>
            <a:pPr marL="0" indent="0" algn="l">
              <a:buNone/>
            </a:pPr>
            <a:r>
              <a:rPr lang="en-US" sz="1344" dirty="0">
                <a:solidFill>
                  <a:srgbClr val="F4F1EA"/>
                </a:solidFill>
                <a:latin typeface="Calibri" pitchFamily="34" charset="0"/>
                <a:ea typeface="Calibri" pitchFamily="34" charset="-122"/>
                <a:cs typeface="Calibri" pitchFamily="34" charset="-120"/>
              </a:rPr>
              <a:t>Broden, lateral and axial views; layered closure over a drain; bulky splint</a:t>
            </a:r>
            <a:endParaRPr lang="en-US" sz="1344" dirty="0"/>
          </a:p>
        </p:txBody>
      </p:sp>
      <p:sp>
        <p:nvSpPr>
          <p:cNvPr id="37" name="Shape 34"/>
          <p:cNvSpPr/>
          <p:nvPr/>
        </p:nvSpPr>
        <p:spPr>
          <a:xfrm>
            <a:off x="8915400" y="1508760"/>
            <a:ext cx="2743200" cy="2103120"/>
          </a:xfrm>
          <a:prstGeom prst="roundRect">
            <a:avLst>
              <a:gd name="adj" fmla="val 2609"/>
            </a:avLst>
          </a:prstGeom>
          <a:solidFill>
            <a:srgbClr val="070F14"/>
          </a:solidFill>
          <a:ln w="9525">
            <a:solidFill>
              <a:srgbClr val="2C4756"/>
            </a:solidFill>
            <a:prstDash val="solid"/>
          </a:ln>
        </p:spPr>
      </p:sp>
      <p:pic>
        <p:nvPicPr>
          <p:cNvPr id="38" name="Image 0" descr="C:\Users\pawan\Documents\GitHub\ortho-chronicles\slides\img_calc\c21.jpg"/>
          <p:cNvPicPr>
            <a:picLocks noChangeAspect="1"/>
          </p:cNvPicPr>
          <p:nvPr/>
        </p:nvPicPr>
        <p:blipFill>
          <a:blip r:embed="rId3"/>
          <a:stretch>
            <a:fillRect/>
          </a:stretch>
        </p:blipFill>
        <p:spPr>
          <a:xfrm>
            <a:off x="8970264" y="1573314"/>
            <a:ext cx="2633472" cy="1974012"/>
          </a:xfrm>
          <a:prstGeom prst="rect">
            <a:avLst/>
          </a:prstGeom>
        </p:spPr>
      </p:pic>
      <p:sp>
        <p:nvSpPr>
          <p:cNvPr id="39" name="Text 35"/>
          <p:cNvSpPr txBox="1"/>
          <p:nvPr/>
        </p:nvSpPr>
        <p:spPr>
          <a:xfrm>
            <a:off x="8915400" y="3657600"/>
            <a:ext cx="2743200" cy="365760"/>
          </a:xfrm>
          <a:prstGeom prst="rect">
            <a:avLst/>
          </a:prstGeom>
          <a:noFill/>
          <a:ln/>
        </p:spPr>
        <p:txBody>
          <a:bodyPr wrap="square" lIns="0" tIns="0" rIns="0" bIns="0" rtlCol="0" anchor="t"/>
          <a:lstStyle/>
          <a:p>
            <a:pPr marL="0" indent="0" algn="l">
              <a:buNone/>
            </a:pPr>
            <a:r>
              <a:rPr lang="en-US" sz="950" i="1" dirty="0">
                <a:solidFill>
                  <a:srgbClr val="9FB3BD"/>
                </a:solidFill>
                <a:latin typeface="Calibri" pitchFamily="34" charset="0"/>
                <a:ea typeface="Calibri" pitchFamily="34" charset="-122"/>
                <a:cs typeface="Calibri" pitchFamily="34" charset="-120"/>
              </a:rPr>
              <a:t>Operating theatre. Ladyde12 · Public domain</a:t>
            </a:r>
            <a:endParaRPr lang="en-US" sz="950" dirty="0"/>
          </a:p>
        </p:txBody>
      </p:sp>
      <p:sp>
        <p:nvSpPr>
          <p:cNvPr id="40" name="Shape 36"/>
          <p:cNvSpPr/>
          <p:nvPr/>
        </p:nvSpPr>
        <p:spPr>
          <a:xfrm>
            <a:off x="8915400" y="4114800"/>
            <a:ext cx="2743200" cy="2194560"/>
          </a:xfrm>
          <a:prstGeom prst="roundRect">
            <a:avLst>
              <a:gd name="adj" fmla="val 3333"/>
            </a:avLst>
          </a:prstGeom>
          <a:solidFill>
            <a:srgbClr val="132A36"/>
          </a:solidFill>
          <a:ln w="9525">
            <a:solidFill>
              <a:srgbClr val="2C4756"/>
            </a:solidFill>
            <a:prstDash val="solid"/>
          </a:ln>
        </p:spPr>
      </p:sp>
      <p:sp>
        <p:nvSpPr>
          <p:cNvPr id="41" name="Text 37"/>
          <p:cNvSpPr txBox="1"/>
          <p:nvPr/>
        </p:nvSpPr>
        <p:spPr>
          <a:xfrm>
            <a:off x="9098280" y="4187952"/>
            <a:ext cx="2468880" cy="320040"/>
          </a:xfrm>
          <a:prstGeom prst="rect">
            <a:avLst/>
          </a:prstGeom>
          <a:noFill/>
          <a:ln/>
        </p:spPr>
        <p:txBody>
          <a:bodyPr wrap="square" lIns="0" tIns="0" rIns="0" bIns="0" rtlCol="0" anchor="t"/>
          <a:lstStyle/>
          <a:p>
            <a:pPr marL="0" indent="0" algn="l">
              <a:buNone/>
            </a:pPr>
            <a:r>
              <a:rPr lang="en-US" sz="1600" b="1" dirty="0">
                <a:solidFill>
                  <a:srgbClr val="FBBF24"/>
                </a:solidFill>
                <a:latin typeface="Cambria" pitchFamily="34" charset="0"/>
                <a:ea typeface="Cambria" pitchFamily="34" charset="-122"/>
                <a:cs typeface="Cambria" pitchFamily="34" charset="-120"/>
              </a:rPr>
              <a:t>Check on the image</a:t>
            </a:r>
            <a:endParaRPr lang="en-US" sz="1600" dirty="0"/>
          </a:p>
        </p:txBody>
      </p:sp>
      <p:sp>
        <p:nvSpPr>
          <p:cNvPr id="42" name="Text 38"/>
          <p:cNvSpPr txBox="1"/>
          <p:nvPr/>
        </p:nvSpPr>
        <p:spPr>
          <a:xfrm>
            <a:off x="9098280" y="4572000"/>
            <a:ext cx="2423160" cy="169164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Böhler angle restored</a:t>
            </a:r>
            <a:endParaRPr lang="en-US" sz="1400" dirty="0"/>
          </a:p>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Broden: congruent facet</a:t>
            </a:r>
            <a:endParaRPr lang="en-US" sz="1400" dirty="0"/>
          </a:p>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Axial: varus corrected</a:t>
            </a:r>
            <a:endParaRPr lang="en-US" sz="1400" dirty="0"/>
          </a:p>
          <a:p>
            <a:pPr marL="203200" indent="-203200">
              <a:spcAft>
                <a:spcPts val="300"/>
              </a:spcAft>
              <a:buSzPct val="100000"/>
              <a:buChar char="•"/>
            </a:pPr>
            <a:r>
              <a:rPr lang="en-US" sz="1400" dirty="0">
                <a:solidFill>
                  <a:srgbClr val="F4F1EA"/>
                </a:solidFill>
                <a:latin typeface="Calibri" pitchFamily="34" charset="0"/>
                <a:ea typeface="Calibri" pitchFamily="34" charset="-122"/>
                <a:cs typeface="Calibri" pitchFamily="34" charset="-120"/>
              </a:rPr>
              <a:t>Calcaneocuboid joint</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MANAGEMENT</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Fixation constructs</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27</a:t>
            </a:r>
            <a:endParaRPr lang="en-US" sz="1000" dirty="0"/>
          </a:p>
        </p:txBody>
      </p:sp>
      <p:sp>
        <p:nvSpPr>
          <p:cNvPr id="6" name="Shape 4"/>
          <p:cNvSpPr/>
          <p:nvPr/>
        </p:nvSpPr>
        <p:spPr>
          <a:xfrm>
            <a:off x="548640" y="1508760"/>
            <a:ext cx="5943600" cy="3017520"/>
          </a:xfrm>
          <a:prstGeom prst="roundRect">
            <a:avLst>
              <a:gd name="adj" fmla="val 1818"/>
            </a:avLst>
          </a:prstGeom>
          <a:solidFill>
            <a:srgbClr val="070F14"/>
          </a:solidFill>
          <a:ln w="9525">
            <a:solidFill>
              <a:srgbClr val="2C4756"/>
            </a:solidFill>
            <a:prstDash val="solid"/>
          </a:ln>
        </p:spPr>
      </p:sp>
      <p:pic>
        <p:nvPicPr>
          <p:cNvPr id="7" name="Image 0" descr="C:\Users\pawan\Documents\GitHub\ortho-chronicles\slides\img_calc\c22.jpg"/>
          <p:cNvPicPr>
            <a:picLocks noChangeAspect="1"/>
          </p:cNvPicPr>
          <p:nvPr/>
        </p:nvPicPr>
        <p:blipFill>
          <a:blip r:embed="rId3"/>
          <a:stretch>
            <a:fillRect/>
          </a:stretch>
        </p:blipFill>
        <p:spPr>
          <a:xfrm>
            <a:off x="603504" y="1610417"/>
            <a:ext cx="5833872" cy="2814205"/>
          </a:xfrm>
          <a:prstGeom prst="rect">
            <a:avLst/>
          </a:prstGeom>
        </p:spPr>
      </p:pic>
      <p:sp>
        <p:nvSpPr>
          <p:cNvPr id="8" name="Text 5"/>
          <p:cNvSpPr txBox="1"/>
          <p:nvPr/>
        </p:nvSpPr>
        <p:spPr>
          <a:xfrm>
            <a:off x="548640" y="4572000"/>
            <a:ext cx="5943600" cy="457200"/>
          </a:xfrm>
          <a:prstGeom prst="rect">
            <a:avLst/>
          </a:prstGeom>
          <a:noFill/>
          <a:ln/>
        </p:spPr>
        <p:txBody>
          <a:bodyPr wrap="square" lIns="0" tIns="0" rIns="0" bIns="0" rtlCol="0" anchor="t"/>
          <a:lstStyle/>
          <a:p>
            <a:pPr marL="0" indent="0" algn="l">
              <a:buNone/>
            </a:pPr>
            <a:r>
              <a:rPr lang="en-US" sz="1000" i="1" dirty="0">
                <a:solidFill>
                  <a:srgbClr val="9FB3BD"/>
                </a:solidFill>
                <a:latin typeface="Calibri" pitchFamily="34" charset="0"/>
                <a:ea typeface="Calibri" pitchFamily="34" charset="-122"/>
                <a:cs typeface="Calibri" pitchFamily="34" charset="-120"/>
              </a:rPr>
              <a:t>Post-operative lateral and axial views: plate and screws. Bran at de.wikipedia · Public domain</a:t>
            </a:r>
            <a:endParaRPr lang="en-US" sz="1000" dirty="0"/>
          </a:p>
        </p:txBody>
      </p:sp>
      <p:sp>
        <p:nvSpPr>
          <p:cNvPr id="9" name="Shape 6"/>
          <p:cNvSpPr/>
          <p:nvPr/>
        </p:nvSpPr>
        <p:spPr>
          <a:xfrm>
            <a:off x="6720840" y="1508760"/>
            <a:ext cx="4937760" cy="3017520"/>
          </a:xfrm>
          <a:prstGeom prst="roundRect">
            <a:avLst>
              <a:gd name="adj" fmla="val 1818"/>
            </a:avLst>
          </a:prstGeom>
          <a:solidFill>
            <a:srgbClr val="070F14"/>
          </a:solidFill>
          <a:ln w="9525">
            <a:solidFill>
              <a:srgbClr val="2C4756"/>
            </a:solidFill>
            <a:prstDash val="solid"/>
          </a:ln>
        </p:spPr>
      </p:sp>
      <p:pic>
        <p:nvPicPr>
          <p:cNvPr id="10" name="Image 1" descr="C:\Users\pawan\Documents\GitHub\ortho-chronicles\slides\img_calc\c16.png"/>
          <p:cNvPicPr>
            <a:picLocks noChangeAspect="1"/>
          </p:cNvPicPr>
          <p:nvPr/>
        </p:nvPicPr>
        <p:blipFill>
          <a:blip r:embed="rId4"/>
          <a:stretch>
            <a:fillRect/>
          </a:stretch>
        </p:blipFill>
        <p:spPr>
          <a:xfrm>
            <a:off x="7137490" y="1563624"/>
            <a:ext cx="4104460" cy="2907792"/>
          </a:xfrm>
          <a:prstGeom prst="rect">
            <a:avLst/>
          </a:prstGeom>
        </p:spPr>
      </p:pic>
      <p:sp>
        <p:nvSpPr>
          <p:cNvPr id="11" name="Text 7"/>
          <p:cNvSpPr txBox="1"/>
          <p:nvPr/>
        </p:nvSpPr>
        <p:spPr>
          <a:xfrm>
            <a:off x="6720840" y="4572000"/>
            <a:ext cx="4937760" cy="457200"/>
          </a:xfrm>
          <a:prstGeom prst="rect">
            <a:avLst/>
          </a:prstGeom>
          <a:noFill/>
          <a:ln/>
        </p:spPr>
        <p:txBody>
          <a:bodyPr wrap="square" lIns="0" tIns="0" rIns="0" bIns="0" rtlCol="0" anchor="t"/>
          <a:lstStyle/>
          <a:p>
            <a:pPr marL="0" indent="0" algn="l">
              <a:buNone/>
            </a:pPr>
            <a:r>
              <a:rPr lang="en-US" sz="1000" i="1" dirty="0">
                <a:solidFill>
                  <a:srgbClr val="9FB3BD"/>
                </a:solidFill>
                <a:latin typeface="Calibri" pitchFamily="34" charset="0"/>
                <a:ea typeface="Calibri" pitchFamily="34" charset="-122"/>
                <a:cs typeface="Calibri" pitchFamily="34" charset="-120"/>
              </a:rPr>
              <a:t>Intra-osseous C-nail (percutaneous option). Fry72 Karel Frydrýšek · CC BY-SA 4.0</a:t>
            </a:r>
            <a:endParaRPr lang="en-US" sz="1000" dirty="0"/>
          </a:p>
        </p:txBody>
      </p:sp>
      <p:sp>
        <p:nvSpPr>
          <p:cNvPr id="12" name="Shape 8"/>
          <p:cNvSpPr/>
          <p:nvPr/>
        </p:nvSpPr>
        <p:spPr>
          <a:xfrm>
            <a:off x="548640" y="5074920"/>
            <a:ext cx="11109960" cy="1234440"/>
          </a:xfrm>
          <a:prstGeom prst="roundRect">
            <a:avLst>
              <a:gd name="adj" fmla="val 5926"/>
            </a:avLst>
          </a:prstGeom>
          <a:solidFill>
            <a:srgbClr val="132A36"/>
          </a:solidFill>
          <a:ln w="9525">
            <a:solidFill>
              <a:srgbClr val="2C4756"/>
            </a:solidFill>
            <a:prstDash val="solid"/>
          </a:ln>
        </p:spPr>
      </p:sp>
      <p:sp>
        <p:nvSpPr>
          <p:cNvPr id="13" name="Text 9"/>
          <p:cNvSpPr txBox="1"/>
          <p:nvPr/>
        </p:nvSpPr>
        <p:spPr>
          <a:xfrm>
            <a:off x="777240" y="5138928"/>
            <a:ext cx="10698480" cy="1143000"/>
          </a:xfrm>
          <a:prstGeom prst="rect">
            <a:avLst/>
          </a:prstGeom>
          <a:noFill/>
          <a:ln/>
        </p:spPr>
        <p:txBody>
          <a:bodyPr wrap="square" lIns="0" tIns="0" rIns="0" bIns="0" rtlCol="0" anchor="t"/>
          <a:lstStyle/>
          <a:p>
            <a:pPr marL="203200" indent="-203200">
              <a:buSzPct val="100000"/>
              <a:buChar char="•"/>
            </a:pPr>
            <a:r>
              <a:rPr lang="en-US" sz="1437" b="1" dirty="0">
                <a:solidFill>
                  <a:srgbClr val="FBBF24"/>
                </a:solidFill>
                <a:latin typeface="Calibri" pitchFamily="34" charset="0"/>
                <a:ea typeface="Calibri" pitchFamily="34" charset="-122"/>
                <a:cs typeface="Calibri" pitchFamily="34" charset="-120"/>
              </a:rPr>
              <a:t>Plates: </a:t>
            </a:r>
            <a:r>
              <a:rPr lang="en-US" sz="1437" dirty="0">
                <a:solidFill>
                  <a:srgbClr val="F4F1EA"/>
                </a:solidFill>
                <a:latin typeface="Calibri" pitchFamily="34" charset="0"/>
                <a:ea typeface="Calibri" pitchFamily="34" charset="-122"/>
                <a:cs typeface="Calibri" pitchFamily="34" charset="-120"/>
              </a:rPr>
              <a:t>low-profile lateral or locking calcaneal plate; screws into the sustentaculum (constant fragment) are the anchor</a:t>
            </a:r>
            <a:endParaRPr lang="en-US" sz="1437" dirty="0"/>
          </a:p>
          <a:p>
            <a:pPr marL="203200" indent="-203200">
              <a:buSzPct val="100000"/>
              <a:buChar char="•"/>
            </a:pPr>
            <a:r>
              <a:rPr lang="en-US" sz="1437" b="1" dirty="0">
                <a:solidFill>
                  <a:srgbClr val="FBBF24"/>
                </a:solidFill>
                <a:latin typeface="Calibri" pitchFamily="34" charset="0"/>
                <a:ea typeface="Calibri" pitchFamily="34" charset="-122"/>
                <a:cs typeface="Calibri" pitchFamily="34" charset="-120"/>
              </a:rPr>
              <a:t>Screws: </a:t>
            </a:r>
            <a:r>
              <a:rPr lang="en-US" sz="1437" dirty="0">
                <a:solidFill>
                  <a:srgbClr val="F4F1EA"/>
                </a:solidFill>
                <a:latin typeface="Calibri" pitchFamily="34" charset="0"/>
                <a:ea typeface="Calibri" pitchFamily="34" charset="-122"/>
                <a:cs typeface="Calibri" pitchFamily="34" charset="-120"/>
              </a:rPr>
              <a:t>subchondral facet screws hold the facet; calcaneocuboid screws only if that joint is displaced</a:t>
            </a:r>
            <a:endParaRPr lang="en-US" sz="1437" dirty="0"/>
          </a:p>
          <a:p>
            <a:pPr marL="203200" indent="-203200">
              <a:buSzPct val="100000"/>
              <a:buChar char="•"/>
            </a:pPr>
            <a:r>
              <a:rPr lang="en-US" sz="1437" b="1" dirty="0">
                <a:solidFill>
                  <a:srgbClr val="FBBF24"/>
                </a:solidFill>
                <a:latin typeface="Calibri" pitchFamily="34" charset="0"/>
                <a:ea typeface="Calibri" pitchFamily="34" charset="-122"/>
                <a:cs typeface="Calibri" pitchFamily="34" charset="-120"/>
              </a:rPr>
              <a:t>Graft: </a:t>
            </a:r>
            <a:r>
              <a:rPr lang="en-US" sz="1437" dirty="0">
                <a:solidFill>
                  <a:srgbClr val="F4F1EA"/>
                </a:solidFill>
                <a:latin typeface="Calibri" pitchFamily="34" charset="0"/>
                <a:ea typeface="Calibri" pitchFamily="34" charset="-122"/>
                <a:cs typeface="Calibri" pitchFamily="34" charset="-120"/>
              </a:rPr>
              <a:t>optional for a large void; not proven to improve outcome</a:t>
            </a:r>
            <a:endParaRPr lang="en-US" sz="1437"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MANAGEMENT</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Minimally invasive options</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28</a:t>
            </a:r>
            <a:endParaRPr lang="en-US" sz="1000" dirty="0"/>
          </a:p>
        </p:txBody>
      </p:sp>
      <p:sp>
        <p:nvSpPr>
          <p:cNvPr id="6" name="Shape 4"/>
          <p:cNvSpPr/>
          <p:nvPr/>
        </p:nvSpPr>
        <p:spPr>
          <a:xfrm>
            <a:off x="548640" y="1508760"/>
            <a:ext cx="5440680" cy="4800600"/>
          </a:xfrm>
          <a:prstGeom prst="roundRect">
            <a:avLst>
              <a:gd name="adj" fmla="val 1524"/>
            </a:avLst>
          </a:prstGeom>
          <a:solidFill>
            <a:srgbClr val="132A36"/>
          </a:solidFill>
          <a:ln w="9525">
            <a:solidFill>
              <a:srgbClr val="2C4756"/>
            </a:solidFill>
            <a:prstDash val="solid"/>
          </a:ln>
        </p:spPr>
      </p:sp>
      <p:sp>
        <p:nvSpPr>
          <p:cNvPr id="7" name="Text 5"/>
          <p:cNvSpPr txBox="1"/>
          <p:nvPr/>
        </p:nvSpPr>
        <p:spPr>
          <a:xfrm>
            <a:off x="777240" y="1627632"/>
            <a:ext cx="4937760" cy="365760"/>
          </a:xfrm>
          <a:prstGeom prst="rect">
            <a:avLst/>
          </a:prstGeom>
          <a:noFill/>
          <a:ln/>
        </p:spPr>
        <p:txBody>
          <a:bodyPr wrap="square" lIns="0" tIns="0" rIns="0" bIns="0" rtlCol="0" anchor="t"/>
          <a:lstStyle/>
          <a:p>
            <a:pPr marL="0" indent="0" algn="l">
              <a:buNone/>
            </a:pPr>
            <a:r>
              <a:rPr lang="en-US" sz="2000" b="1" dirty="0">
                <a:solidFill>
                  <a:srgbClr val="2DD4BF"/>
                </a:solidFill>
                <a:latin typeface="Cambria" pitchFamily="34" charset="0"/>
                <a:ea typeface="Cambria" pitchFamily="34" charset="-122"/>
                <a:cs typeface="Cambria" pitchFamily="34" charset="-120"/>
              </a:rPr>
              <a:t>Essex-Lopresti manoeuvre</a:t>
            </a:r>
            <a:endParaRPr lang="en-US" sz="2000" dirty="0"/>
          </a:p>
        </p:txBody>
      </p:sp>
      <p:sp>
        <p:nvSpPr>
          <p:cNvPr id="8" name="Text 6"/>
          <p:cNvSpPr txBox="1"/>
          <p:nvPr/>
        </p:nvSpPr>
        <p:spPr>
          <a:xfrm>
            <a:off x="777240" y="2103120"/>
            <a:ext cx="5029200" cy="4114800"/>
          </a:xfrm>
          <a:prstGeom prst="rect">
            <a:avLst/>
          </a:prstGeom>
          <a:noFill/>
          <a:ln/>
        </p:spPr>
        <p:txBody>
          <a:bodyPr wrap="square" lIns="0" tIns="0" rIns="0" bIns="0" rtlCol="0" anchor="t"/>
          <a:lstStyle/>
          <a:p>
            <a:pPr marL="203200" indent="-203200">
              <a:buSzPct val="100000"/>
              <a:buChar char="•"/>
            </a:pPr>
            <a:r>
              <a:rPr lang="en-US" sz="1552" b="1" dirty="0">
                <a:solidFill>
                  <a:srgbClr val="2DD4BF"/>
                </a:solidFill>
                <a:latin typeface="Calibri" pitchFamily="34" charset="0"/>
                <a:ea typeface="Calibri" pitchFamily="34" charset="-122"/>
                <a:cs typeface="Calibri" pitchFamily="34" charset="-120"/>
              </a:rPr>
              <a:t>Tongue type: </a:t>
            </a:r>
            <a:r>
              <a:rPr lang="en-US" sz="1552" dirty="0">
                <a:solidFill>
                  <a:srgbClr val="F4F1EA"/>
                </a:solidFill>
                <a:latin typeface="Calibri" pitchFamily="34" charset="0"/>
                <a:ea typeface="Calibri" pitchFamily="34" charset="-122"/>
                <a:cs typeface="Calibri" pitchFamily="34" charset="-120"/>
              </a:rPr>
              <a:t>Steinmann or Schanz pin into the tongue fragment from behind</a:t>
            </a:r>
            <a:endParaRPr lang="en-US" sz="1552" dirty="0"/>
          </a:p>
          <a:p>
            <a:pPr marL="203200" indent="-203200">
              <a:buSzPct val="100000"/>
              <a:buChar char="•"/>
            </a:pPr>
            <a:r>
              <a:rPr lang="en-US" sz="1552" b="1" dirty="0">
                <a:solidFill>
                  <a:srgbClr val="2DD4BF"/>
                </a:solidFill>
                <a:latin typeface="Calibri" pitchFamily="34" charset="0"/>
                <a:ea typeface="Calibri" pitchFamily="34" charset="-122"/>
                <a:cs typeface="Calibri" pitchFamily="34" charset="-120"/>
              </a:rPr>
              <a:t>Reduce: </a:t>
            </a:r>
            <a:r>
              <a:rPr lang="en-US" sz="1552" dirty="0">
                <a:solidFill>
                  <a:srgbClr val="F4F1EA"/>
                </a:solidFill>
                <a:latin typeface="Calibri" pitchFamily="34" charset="0"/>
                <a:ea typeface="Calibri" pitchFamily="34" charset="-122"/>
                <a:cs typeface="Calibri" pitchFamily="34" charset="-120"/>
              </a:rPr>
              <a:t>plantarflex the forefoot and lever the tongue down and forward</a:t>
            </a:r>
            <a:endParaRPr lang="en-US" sz="1552" dirty="0"/>
          </a:p>
          <a:p>
            <a:pPr marL="203200" indent="-203200">
              <a:buSzPct val="100000"/>
              <a:buChar char="•"/>
            </a:pPr>
            <a:r>
              <a:rPr lang="en-US" sz="1552" b="1" dirty="0">
                <a:solidFill>
                  <a:srgbClr val="2DD4BF"/>
                </a:solidFill>
                <a:latin typeface="Calibri" pitchFamily="34" charset="0"/>
                <a:ea typeface="Calibri" pitchFamily="34" charset="-122"/>
                <a:cs typeface="Calibri" pitchFamily="34" charset="-120"/>
              </a:rPr>
              <a:t>Fix: </a:t>
            </a:r>
            <a:r>
              <a:rPr lang="en-US" sz="1552" dirty="0">
                <a:solidFill>
                  <a:srgbClr val="F4F1EA"/>
                </a:solidFill>
                <a:latin typeface="Calibri" pitchFamily="34" charset="0"/>
                <a:ea typeface="Calibri" pitchFamily="34" charset="-122"/>
                <a:cs typeface="Calibri" pitchFamily="34" charset="-120"/>
              </a:rPr>
              <a:t>percutaneous 6.5 to 7.0 mm cannulated screws from the tuberosity into the anterior process</a:t>
            </a:r>
            <a:endParaRPr lang="en-US" sz="1552" dirty="0"/>
          </a:p>
          <a:p>
            <a:pPr marL="203200" indent="-203200">
              <a:buSzPct val="100000"/>
              <a:buChar char="•"/>
            </a:pPr>
            <a:r>
              <a:rPr lang="en-US" sz="1552" b="1" dirty="0">
                <a:solidFill>
                  <a:srgbClr val="2DD4BF"/>
                </a:solidFill>
                <a:latin typeface="Calibri" pitchFamily="34" charset="0"/>
                <a:ea typeface="Calibri" pitchFamily="34" charset="-122"/>
                <a:cs typeface="Calibri" pitchFamily="34" charset="-120"/>
              </a:rPr>
              <a:t>Check: </a:t>
            </a:r>
            <a:r>
              <a:rPr lang="en-US" sz="1552" dirty="0">
                <a:solidFill>
                  <a:srgbClr val="F4F1EA"/>
                </a:solidFill>
                <a:latin typeface="Calibri" pitchFamily="34" charset="0"/>
                <a:ea typeface="Calibri" pitchFamily="34" charset="-122"/>
                <a:cs typeface="Calibri" pitchFamily="34" charset="-120"/>
              </a:rPr>
              <a:t>lateral and axial images; facet must be congruent</a:t>
            </a:r>
            <a:endParaRPr lang="en-US" sz="1552" dirty="0"/>
          </a:p>
          <a:p>
            <a:pPr marL="203200" indent="-203200">
              <a:buSzPct val="100000"/>
              <a:buChar char="•"/>
            </a:pPr>
            <a:r>
              <a:rPr lang="en-US" sz="1552" b="1" dirty="0">
                <a:solidFill>
                  <a:srgbClr val="2DD4BF"/>
                </a:solidFill>
                <a:latin typeface="Calibri" pitchFamily="34" charset="0"/>
                <a:ea typeface="Calibri" pitchFamily="34" charset="-122"/>
                <a:cs typeface="Calibri" pitchFamily="34" charset="-120"/>
              </a:rPr>
              <a:t>Best when: </a:t>
            </a:r>
            <a:r>
              <a:rPr lang="en-US" sz="1552" dirty="0">
                <a:solidFill>
                  <a:srgbClr val="F4F1EA"/>
                </a:solidFill>
                <a:latin typeface="Calibri" pitchFamily="34" charset="0"/>
                <a:ea typeface="Calibri" pitchFamily="34" charset="-122"/>
                <a:cs typeface="Calibri" pitchFamily="34" charset="-120"/>
              </a:rPr>
              <a:t>the facet is reducible and the skin is at risk</a:t>
            </a:r>
            <a:endParaRPr lang="en-US" sz="1552" dirty="0"/>
          </a:p>
        </p:txBody>
      </p:sp>
      <p:sp>
        <p:nvSpPr>
          <p:cNvPr id="9" name="Shape 7"/>
          <p:cNvSpPr/>
          <p:nvPr/>
        </p:nvSpPr>
        <p:spPr>
          <a:xfrm>
            <a:off x="6217920" y="1508760"/>
            <a:ext cx="5440680" cy="4800600"/>
          </a:xfrm>
          <a:prstGeom prst="roundRect">
            <a:avLst>
              <a:gd name="adj" fmla="val 1524"/>
            </a:avLst>
          </a:prstGeom>
          <a:solidFill>
            <a:srgbClr val="132A36"/>
          </a:solidFill>
          <a:ln w="9525">
            <a:solidFill>
              <a:srgbClr val="2C4756"/>
            </a:solidFill>
            <a:prstDash val="solid"/>
          </a:ln>
        </p:spPr>
      </p:sp>
      <p:sp>
        <p:nvSpPr>
          <p:cNvPr id="10" name="Text 8"/>
          <p:cNvSpPr txBox="1"/>
          <p:nvPr/>
        </p:nvSpPr>
        <p:spPr>
          <a:xfrm>
            <a:off x="6446520" y="1627632"/>
            <a:ext cx="5029200" cy="365760"/>
          </a:xfrm>
          <a:prstGeom prst="rect">
            <a:avLst/>
          </a:prstGeom>
          <a:noFill/>
          <a:ln/>
        </p:spPr>
        <p:txBody>
          <a:bodyPr wrap="square" lIns="0" tIns="0" rIns="0" bIns="0" rtlCol="0" anchor="t"/>
          <a:lstStyle/>
          <a:p>
            <a:pPr marL="0" indent="0" algn="l">
              <a:buNone/>
            </a:pPr>
            <a:r>
              <a:rPr lang="en-US" sz="2000" b="1" dirty="0">
                <a:solidFill>
                  <a:srgbClr val="FF7A45"/>
                </a:solidFill>
                <a:latin typeface="Cambria" pitchFamily="34" charset="0"/>
                <a:ea typeface="Cambria" pitchFamily="34" charset="-122"/>
                <a:cs typeface="Cambria" pitchFamily="34" charset="-120"/>
              </a:rPr>
              <a:t>Sinus tarsi and arthroscopy-assisted</a:t>
            </a:r>
            <a:endParaRPr lang="en-US" sz="2000" dirty="0"/>
          </a:p>
        </p:txBody>
      </p:sp>
      <p:sp>
        <p:nvSpPr>
          <p:cNvPr id="11" name="Text 9"/>
          <p:cNvSpPr txBox="1"/>
          <p:nvPr/>
        </p:nvSpPr>
        <p:spPr>
          <a:xfrm>
            <a:off x="6446520" y="2103120"/>
            <a:ext cx="5029200" cy="4114800"/>
          </a:xfrm>
          <a:prstGeom prst="rect">
            <a:avLst/>
          </a:prstGeom>
          <a:noFill/>
          <a:ln/>
        </p:spPr>
        <p:txBody>
          <a:bodyPr wrap="square" lIns="0" tIns="0" rIns="0" bIns="0" rtlCol="0" anchor="t"/>
          <a:lstStyle/>
          <a:p>
            <a:pPr marL="203200" indent="-203200">
              <a:buSzPct val="100000"/>
              <a:buChar char="•"/>
            </a:pPr>
            <a:r>
              <a:rPr lang="en-US" sz="1552" b="1" dirty="0">
                <a:solidFill>
                  <a:srgbClr val="FF7A45"/>
                </a:solidFill>
                <a:latin typeface="Calibri" pitchFamily="34" charset="0"/>
                <a:ea typeface="Calibri" pitchFamily="34" charset="-122"/>
                <a:cs typeface="Calibri" pitchFamily="34" charset="-120"/>
              </a:rPr>
              <a:t>Small oblique incision </a:t>
            </a:r>
            <a:r>
              <a:rPr lang="en-US" sz="1552" dirty="0">
                <a:solidFill>
                  <a:srgbClr val="F4F1EA"/>
                </a:solidFill>
                <a:latin typeface="Calibri" pitchFamily="34" charset="0"/>
                <a:ea typeface="Calibri" pitchFamily="34" charset="-122"/>
                <a:cs typeface="Calibri" pitchFamily="34" charset="-120"/>
              </a:rPr>
              <a:t>from the fibular tip toward the fourth metatarsal base</a:t>
            </a:r>
            <a:endParaRPr lang="en-US" sz="1552" dirty="0"/>
          </a:p>
          <a:p>
            <a:pPr marL="203200" indent="-203200">
              <a:buSzPct val="100000"/>
              <a:buChar char="•"/>
            </a:pPr>
            <a:r>
              <a:rPr lang="en-US" sz="1552" b="1" dirty="0">
                <a:solidFill>
                  <a:srgbClr val="FF7A45"/>
                </a:solidFill>
                <a:latin typeface="Calibri" pitchFamily="34" charset="0"/>
                <a:ea typeface="Calibri" pitchFamily="34" charset="-122"/>
                <a:cs typeface="Calibri" pitchFamily="34" charset="-120"/>
              </a:rPr>
              <a:t>Direct look at the posterior facet, </a:t>
            </a:r>
            <a:r>
              <a:rPr lang="en-US" sz="1552" dirty="0">
                <a:solidFill>
                  <a:srgbClr val="F4F1EA"/>
                </a:solidFill>
                <a:latin typeface="Calibri" pitchFamily="34" charset="0"/>
                <a:ea typeface="Calibri" pitchFamily="34" charset="-122"/>
                <a:cs typeface="Calibri" pitchFamily="34" charset="-120"/>
              </a:rPr>
              <a:t>with fluoroscopy for the tuberosity</a:t>
            </a:r>
            <a:endParaRPr lang="en-US" sz="1552" dirty="0"/>
          </a:p>
          <a:p>
            <a:pPr marL="203200" indent="-203200">
              <a:buSzPct val="100000"/>
              <a:buChar char="•"/>
            </a:pPr>
            <a:r>
              <a:rPr lang="en-US" sz="1552" b="1" dirty="0">
                <a:solidFill>
                  <a:srgbClr val="FF7A45"/>
                </a:solidFill>
                <a:latin typeface="Calibri" pitchFamily="34" charset="0"/>
                <a:ea typeface="Calibri" pitchFamily="34" charset="-122"/>
                <a:cs typeface="Calibri" pitchFamily="34" charset="-120"/>
              </a:rPr>
              <a:t>Fewer wound problems </a:t>
            </a:r>
            <a:r>
              <a:rPr lang="en-US" sz="1552" dirty="0">
                <a:solidFill>
                  <a:srgbClr val="F4F1EA"/>
                </a:solidFill>
                <a:latin typeface="Calibri" pitchFamily="34" charset="0"/>
                <a:ea typeface="Calibri" pitchFamily="34" charset="-122"/>
                <a:cs typeface="Calibri" pitchFamily="34" charset="-120"/>
              </a:rPr>
              <a:t>than the extensile L</a:t>
            </a:r>
            <a:endParaRPr lang="en-US" sz="1552" dirty="0"/>
          </a:p>
          <a:p>
            <a:pPr marL="203200" indent="-203200">
              <a:buSzPct val="100000"/>
              <a:buChar char="•"/>
            </a:pPr>
            <a:r>
              <a:rPr lang="en-US" sz="1552" b="1" dirty="0">
                <a:solidFill>
                  <a:srgbClr val="FF7A45"/>
                </a:solidFill>
                <a:latin typeface="Calibri" pitchFamily="34" charset="0"/>
                <a:ea typeface="Calibri" pitchFamily="34" charset="-122"/>
                <a:cs typeface="Calibri" pitchFamily="34" charset="-120"/>
              </a:rPr>
              <a:t>Best in </a:t>
            </a:r>
            <a:r>
              <a:rPr lang="en-US" sz="1552" dirty="0">
                <a:solidFill>
                  <a:srgbClr val="F4F1EA"/>
                </a:solidFill>
                <a:latin typeface="Calibri" pitchFamily="34" charset="0"/>
                <a:ea typeface="Calibri" pitchFamily="34" charset="-122"/>
                <a:cs typeface="Calibri" pitchFamily="34" charset="-120"/>
              </a:rPr>
              <a:t>Sanders II and III with limited comminution</a:t>
            </a:r>
            <a:endParaRPr lang="en-US" sz="1552" dirty="0"/>
          </a:p>
          <a:p>
            <a:pPr marL="203200" indent="-203200">
              <a:buSzPct val="100000"/>
              <a:buChar char="•"/>
            </a:pPr>
            <a:r>
              <a:rPr lang="en-US" sz="1552" b="1" dirty="0">
                <a:solidFill>
                  <a:srgbClr val="FF7A45"/>
                </a:solidFill>
                <a:latin typeface="Calibri" pitchFamily="34" charset="0"/>
                <a:ea typeface="Calibri" pitchFamily="34" charset="-122"/>
                <a:cs typeface="Calibri" pitchFamily="34" charset="-120"/>
              </a:rPr>
              <a:t>Learning curve: </a:t>
            </a:r>
            <a:r>
              <a:rPr lang="en-US" sz="1552" dirty="0">
                <a:solidFill>
                  <a:srgbClr val="F4F1EA"/>
                </a:solidFill>
                <a:latin typeface="Calibri" pitchFamily="34" charset="0"/>
                <a:ea typeface="Calibri" pitchFamily="34" charset="-122"/>
                <a:cs typeface="Calibri" pitchFamily="34" charset="-120"/>
              </a:rPr>
              <a:t>reduction of the tuberosity depends on percutaneous pins</a:t>
            </a:r>
            <a:endParaRPr lang="en-US" sz="1552"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MANAGEMENT</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Primary subtalar arthrodesis</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29</a:t>
            </a:r>
            <a:endParaRPr lang="en-US" sz="1000" dirty="0"/>
          </a:p>
        </p:txBody>
      </p:sp>
      <p:sp>
        <p:nvSpPr>
          <p:cNvPr id="6" name="Shape 4"/>
          <p:cNvSpPr/>
          <p:nvPr/>
        </p:nvSpPr>
        <p:spPr>
          <a:xfrm>
            <a:off x="548640" y="1508760"/>
            <a:ext cx="5532120" cy="4800600"/>
          </a:xfrm>
          <a:prstGeom prst="roundRect">
            <a:avLst>
              <a:gd name="adj" fmla="val 1524"/>
            </a:avLst>
          </a:prstGeom>
          <a:solidFill>
            <a:srgbClr val="132A36"/>
          </a:solidFill>
          <a:ln w="9525">
            <a:solidFill>
              <a:srgbClr val="2C4756"/>
            </a:solidFill>
            <a:prstDash val="solid"/>
          </a:ln>
        </p:spPr>
      </p:sp>
      <p:sp>
        <p:nvSpPr>
          <p:cNvPr id="7" name="Text 5"/>
          <p:cNvSpPr txBox="1"/>
          <p:nvPr/>
        </p:nvSpPr>
        <p:spPr>
          <a:xfrm>
            <a:off x="777240" y="1627632"/>
            <a:ext cx="5029200" cy="365760"/>
          </a:xfrm>
          <a:prstGeom prst="rect">
            <a:avLst/>
          </a:prstGeom>
          <a:noFill/>
          <a:ln/>
        </p:spPr>
        <p:txBody>
          <a:bodyPr wrap="square" lIns="0" tIns="0" rIns="0" bIns="0" rtlCol="0" anchor="t"/>
          <a:lstStyle/>
          <a:p>
            <a:pPr marL="0" indent="0" algn="l">
              <a:buNone/>
            </a:pPr>
            <a:r>
              <a:rPr lang="en-US" sz="2000" b="1" dirty="0">
                <a:solidFill>
                  <a:srgbClr val="2DD4BF"/>
                </a:solidFill>
                <a:latin typeface="Cambria" pitchFamily="34" charset="0"/>
                <a:ea typeface="Cambria" pitchFamily="34" charset="-122"/>
                <a:cs typeface="Cambria" pitchFamily="34" charset="-120"/>
              </a:rPr>
              <a:t>Consider when</a:t>
            </a:r>
            <a:endParaRPr lang="en-US" sz="2000" dirty="0"/>
          </a:p>
        </p:txBody>
      </p:sp>
      <p:sp>
        <p:nvSpPr>
          <p:cNvPr id="8" name="Text 6"/>
          <p:cNvSpPr txBox="1"/>
          <p:nvPr/>
        </p:nvSpPr>
        <p:spPr>
          <a:xfrm>
            <a:off x="777240" y="2103120"/>
            <a:ext cx="5120640" cy="2560320"/>
          </a:xfrm>
          <a:prstGeom prst="rect">
            <a:avLst/>
          </a:prstGeom>
          <a:noFill/>
          <a:ln/>
        </p:spPr>
        <p:txBody>
          <a:bodyPr wrap="square" lIns="0" tIns="0" rIns="0" bIns="0" rtlCol="0" anchor="t"/>
          <a:lstStyle/>
          <a:p>
            <a:pPr marL="203200" indent="-203200">
              <a:spcAft>
                <a:spcPts val="800"/>
              </a:spcAft>
              <a:buSzPct val="100000"/>
              <a:buChar char="•"/>
            </a:pPr>
            <a:r>
              <a:rPr lang="en-US" sz="1568" dirty="0">
                <a:solidFill>
                  <a:srgbClr val="F4F1EA"/>
                </a:solidFill>
                <a:latin typeface="Calibri" pitchFamily="34" charset="0"/>
                <a:ea typeface="Calibri" pitchFamily="34" charset="-122"/>
                <a:cs typeface="Calibri" pitchFamily="34" charset="-120"/>
              </a:rPr>
              <a:t>Sanders type IV, a facet that cannot be rebuilt</a:t>
            </a:r>
            <a:endParaRPr lang="en-US" sz="1568" dirty="0"/>
          </a:p>
          <a:p>
            <a:pPr marL="203200" indent="-203200">
              <a:spcAft>
                <a:spcPts val="800"/>
              </a:spcAft>
              <a:buSzPct val="100000"/>
              <a:buChar char="•"/>
            </a:pPr>
            <a:r>
              <a:rPr lang="en-US" sz="1568" dirty="0">
                <a:solidFill>
                  <a:srgbClr val="F4F1EA"/>
                </a:solidFill>
                <a:latin typeface="Calibri" pitchFamily="34" charset="0"/>
                <a:ea typeface="Calibri" pitchFamily="34" charset="-122"/>
                <a:cs typeface="Calibri" pitchFamily="34" charset="-120"/>
              </a:rPr>
              <a:t>Severe crush with cartilage destruction</a:t>
            </a:r>
            <a:endParaRPr lang="en-US" sz="1568" dirty="0"/>
          </a:p>
          <a:p>
            <a:pPr marL="203200" indent="-203200">
              <a:spcAft>
                <a:spcPts val="800"/>
              </a:spcAft>
              <a:buSzPct val="100000"/>
              <a:buChar char="•"/>
            </a:pPr>
            <a:r>
              <a:rPr lang="en-US" sz="1568" dirty="0">
                <a:solidFill>
                  <a:srgbClr val="F4F1EA"/>
                </a:solidFill>
                <a:latin typeface="Calibri" pitchFamily="34" charset="0"/>
                <a:ea typeface="Calibri" pitchFamily="34" charset="-122"/>
                <a:cs typeface="Calibri" pitchFamily="34" charset="-120"/>
              </a:rPr>
              <a:t>Older patients with pre-existing subtalar arthritis</a:t>
            </a:r>
            <a:endParaRPr lang="en-US" sz="1568" dirty="0"/>
          </a:p>
          <a:p>
            <a:pPr marL="203200" indent="-203200">
              <a:spcAft>
                <a:spcPts val="800"/>
              </a:spcAft>
              <a:buSzPct val="100000"/>
              <a:buChar char="•"/>
            </a:pPr>
            <a:r>
              <a:rPr lang="en-US" sz="1568" dirty="0">
                <a:solidFill>
                  <a:srgbClr val="F4F1EA"/>
                </a:solidFill>
                <a:latin typeface="Calibri" pitchFamily="34" charset="0"/>
                <a:ea typeface="Calibri" pitchFamily="34" charset="-122"/>
                <a:cs typeface="Calibri" pitchFamily="34" charset="-120"/>
              </a:rPr>
              <a:t>Failed ORIF with a collapsed facet</a:t>
            </a:r>
            <a:endParaRPr lang="en-US" sz="1568" dirty="0"/>
          </a:p>
        </p:txBody>
      </p:sp>
      <p:sp>
        <p:nvSpPr>
          <p:cNvPr id="9" name="Text 7"/>
          <p:cNvSpPr txBox="1"/>
          <p:nvPr/>
        </p:nvSpPr>
        <p:spPr>
          <a:xfrm>
            <a:off x="777240" y="4206240"/>
            <a:ext cx="5029200" cy="365760"/>
          </a:xfrm>
          <a:prstGeom prst="rect">
            <a:avLst/>
          </a:prstGeom>
          <a:noFill/>
          <a:ln/>
        </p:spPr>
        <p:txBody>
          <a:bodyPr wrap="square" lIns="0" tIns="0" rIns="0" bIns="0" rtlCol="0" anchor="t"/>
          <a:lstStyle/>
          <a:p>
            <a:pPr marL="0" indent="0" algn="l">
              <a:buNone/>
            </a:pPr>
            <a:r>
              <a:rPr lang="en-US" sz="1700" b="1" dirty="0">
                <a:solidFill>
                  <a:srgbClr val="FBBF24"/>
                </a:solidFill>
                <a:latin typeface="Cambria" pitchFamily="34" charset="0"/>
                <a:ea typeface="Cambria" pitchFamily="34" charset="-122"/>
                <a:cs typeface="Cambria" pitchFamily="34" charset="-120"/>
              </a:rPr>
              <a:t>Why fuse at the index operation</a:t>
            </a:r>
            <a:endParaRPr lang="en-US" sz="1700" dirty="0"/>
          </a:p>
        </p:txBody>
      </p:sp>
      <p:sp>
        <p:nvSpPr>
          <p:cNvPr id="10" name="Text 8"/>
          <p:cNvSpPr txBox="1"/>
          <p:nvPr/>
        </p:nvSpPr>
        <p:spPr>
          <a:xfrm>
            <a:off x="777240" y="4617720"/>
            <a:ext cx="5120640" cy="1463040"/>
          </a:xfrm>
          <a:prstGeom prst="rect">
            <a:avLst/>
          </a:prstGeom>
          <a:noFill/>
          <a:ln/>
        </p:spPr>
        <p:txBody>
          <a:bodyPr wrap="square" lIns="0" tIns="0" rIns="0" bIns="0" rtlCol="0" anchor="t"/>
          <a:lstStyle/>
          <a:p>
            <a:pPr marL="0" indent="0" algn="l">
              <a:buNone/>
            </a:pPr>
            <a:r>
              <a:rPr lang="en-US" sz="1512" dirty="0">
                <a:solidFill>
                  <a:srgbClr val="F4F1EA"/>
                </a:solidFill>
                <a:latin typeface="Calibri" pitchFamily="34" charset="0"/>
                <a:ea typeface="Calibri" pitchFamily="34" charset="-122"/>
                <a:cs typeface="Calibri" pitchFamily="34" charset="-120"/>
              </a:rPr>
              <a:t>One operation instead of two; the correct geometry is set once, and the patient avoids a later salvage.</a:t>
            </a:r>
            <a:endParaRPr lang="en-US" sz="1512" dirty="0"/>
          </a:p>
        </p:txBody>
      </p:sp>
      <p:sp>
        <p:nvSpPr>
          <p:cNvPr id="11" name="Shape 9"/>
          <p:cNvSpPr/>
          <p:nvPr/>
        </p:nvSpPr>
        <p:spPr>
          <a:xfrm>
            <a:off x="6263640" y="1508760"/>
            <a:ext cx="5394960" cy="4800600"/>
          </a:xfrm>
          <a:prstGeom prst="roundRect">
            <a:avLst>
              <a:gd name="adj" fmla="val 1524"/>
            </a:avLst>
          </a:prstGeom>
          <a:solidFill>
            <a:srgbClr val="132A36"/>
          </a:solidFill>
          <a:ln w="9525">
            <a:solidFill>
              <a:srgbClr val="2C4756"/>
            </a:solidFill>
            <a:prstDash val="solid"/>
          </a:ln>
        </p:spPr>
      </p:sp>
      <p:sp>
        <p:nvSpPr>
          <p:cNvPr id="12" name="Text 10"/>
          <p:cNvSpPr txBox="1"/>
          <p:nvPr/>
        </p:nvSpPr>
        <p:spPr>
          <a:xfrm>
            <a:off x="6492240" y="1627632"/>
            <a:ext cx="4937760" cy="365760"/>
          </a:xfrm>
          <a:prstGeom prst="rect">
            <a:avLst/>
          </a:prstGeom>
          <a:noFill/>
          <a:ln/>
        </p:spPr>
        <p:txBody>
          <a:bodyPr wrap="square" lIns="0" tIns="0" rIns="0" bIns="0" rtlCol="0" anchor="t"/>
          <a:lstStyle/>
          <a:p>
            <a:pPr marL="0" indent="0" algn="l">
              <a:buNone/>
            </a:pPr>
            <a:r>
              <a:rPr lang="en-US" sz="2000" b="1" dirty="0">
                <a:solidFill>
                  <a:srgbClr val="FF7A45"/>
                </a:solidFill>
                <a:latin typeface="Cambria" pitchFamily="34" charset="0"/>
                <a:ea typeface="Cambria" pitchFamily="34" charset="-122"/>
                <a:cs typeface="Cambria" pitchFamily="34" charset="-120"/>
              </a:rPr>
              <a:t>Technique in brief</a:t>
            </a:r>
            <a:endParaRPr lang="en-US" sz="2000" dirty="0"/>
          </a:p>
        </p:txBody>
      </p:sp>
      <p:sp>
        <p:nvSpPr>
          <p:cNvPr id="13" name="Text 11"/>
          <p:cNvSpPr txBox="1"/>
          <p:nvPr/>
        </p:nvSpPr>
        <p:spPr>
          <a:xfrm>
            <a:off x="6492240" y="2103120"/>
            <a:ext cx="4937760" cy="4114800"/>
          </a:xfrm>
          <a:prstGeom prst="rect">
            <a:avLst/>
          </a:prstGeom>
          <a:noFill/>
          <a:ln/>
        </p:spPr>
        <p:txBody>
          <a:bodyPr wrap="square" lIns="0" tIns="0" rIns="0" bIns="0" rtlCol="0" anchor="t"/>
          <a:lstStyle/>
          <a:p>
            <a:pPr marL="203200" indent="-203200">
              <a:spcAft>
                <a:spcPts val="700"/>
              </a:spcAft>
              <a:buSzPct val="100000"/>
              <a:buChar char="•"/>
            </a:pPr>
            <a:r>
              <a:rPr lang="en-US" sz="1568" dirty="0">
                <a:solidFill>
                  <a:srgbClr val="F4F1EA"/>
                </a:solidFill>
                <a:latin typeface="Calibri" pitchFamily="34" charset="0"/>
                <a:ea typeface="Calibri" pitchFamily="34" charset="-122"/>
                <a:cs typeface="Calibri" pitchFamily="34" charset="-120"/>
              </a:rPr>
              <a:t>Restore height, width and varus first</a:t>
            </a:r>
            <a:endParaRPr lang="en-US" sz="1568" dirty="0"/>
          </a:p>
          <a:p>
            <a:pPr marL="203200" indent="-203200">
              <a:spcAft>
                <a:spcPts val="700"/>
              </a:spcAft>
              <a:buSzPct val="100000"/>
              <a:buChar char="•"/>
            </a:pPr>
            <a:r>
              <a:rPr lang="en-US" sz="1568" dirty="0">
                <a:solidFill>
                  <a:srgbClr val="F4F1EA"/>
                </a:solidFill>
                <a:latin typeface="Calibri" pitchFamily="34" charset="0"/>
                <a:ea typeface="Calibri" pitchFamily="34" charset="-122"/>
                <a:cs typeface="Calibri" pitchFamily="34" charset="-120"/>
              </a:rPr>
              <a:t>Prepare the subtalar surfaces, bone graft as needed</a:t>
            </a:r>
            <a:endParaRPr lang="en-US" sz="1568" dirty="0"/>
          </a:p>
          <a:p>
            <a:pPr marL="203200" indent="-203200">
              <a:spcAft>
                <a:spcPts val="700"/>
              </a:spcAft>
              <a:buSzPct val="100000"/>
              <a:buChar char="•"/>
            </a:pPr>
            <a:r>
              <a:rPr lang="en-US" sz="1568" dirty="0">
                <a:solidFill>
                  <a:srgbClr val="F4F1EA"/>
                </a:solidFill>
                <a:latin typeface="Calibri" pitchFamily="34" charset="0"/>
                <a:ea typeface="Calibri" pitchFamily="34" charset="-122"/>
                <a:cs typeface="Calibri" pitchFamily="34" charset="-120"/>
              </a:rPr>
              <a:t>Fix with two cannulated screws from the calcaneal tuberosity into the talus</a:t>
            </a:r>
            <a:endParaRPr lang="en-US" sz="1568" dirty="0"/>
          </a:p>
          <a:p>
            <a:pPr marL="203200" indent="-203200">
              <a:spcAft>
                <a:spcPts val="700"/>
              </a:spcAft>
              <a:buSzPct val="100000"/>
              <a:buChar char="•"/>
            </a:pPr>
            <a:r>
              <a:rPr lang="en-US" sz="1568" dirty="0">
                <a:solidFill>
                  <a:srgbClr val="F4F1EA"/>
                </a:solidFill>
                <a:latin typeface="Calibri" pitchFamily="34" charset="0"/>
                <a:ea typeface="Calibri" pitchFamily="34" charset="-122"/>
                <a:cs typeface="Calibri" pitchFamily="34" charset="-120"/>
              </a:rPr>
              <a:t>Confirm talar declination and heel alignment on the image</a:t>
            </a:r>
            <a:endParaRPr lang="en-US" sz="1568" dirty="0"/>
          </a:p>
          <a:p>
            <a:pPr marL="203200" indent="-203200">
              <a:spcAft>
                <a:spcPts val="700"/>
              </a:spcAft>
              <a:buSzPct val="100000"/>
              <a:buChar char="•"/>
            </a:pPr>
            <a:r>
              <a:rPr lang="en-US" sz="1568" dirty="0">
                <a:solidFill>
                  <a:srgbClr val="F4F1EA"/>
                </a:solidFill>
                <a:latin typeface="Calibri" pitchFamily="34" charset="0"/>
                <a:ea typeface="Calibri" pitchFamily="34" charset="-122"/>
                <a:cs typeface="Calibri" pitchFamily="34" charset="-120"/>
              </a:rPr>
              <a:t>Non-weight-bearing until union (about 10 to 12 weeks)</a:t>
            </a:r>
            <a:endParaRPr lang="en-US" sz="1568"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MANAGEMENT</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Post-operative protocol</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30</a:t>
            </a:r>
            <a:endParaRPr lang="en-US" sz="1000" dirty="0"/>
          </a:p>
        </p:txBody>
      </p:sp>
      <p:sp>
        <p:nvSpPr>
          <p:cNvPr id="6" name="Shape 4"/>
          <p:cNvSpPr/>
          <p:nvPr/>
        </p:nvSpPr>
        <p:spPr>
          <a:xfrm>
            <a:off x="822960" y="3154680"/>
            <a:ext cx="10561320" cy="0"/>
          </a:xfrm>
          <a:prstGeom prst="line">
            <a:avLst/>
          </a:prstGeom>
          <a:noFill/>
          <a:ln w="38100">
            <a:solidFill>
              <a:srgbClr val="2C4756"/>
            </a:solidFill>
            <a:prstDash val="solid"/>
          </a:ln>
        </p:spPr>
      </p:sp>
      <p:sp>
        <p:nvSpPr>
          <p:cNvPr id="7" name="Shape 5"/>
          <p:cNvSpPr/>
          <p:nvPr/>
        </p:nvSpPr>
        <p:spPr>
          <a:xfrm>
            <a:off x="1097280" y="2944368"/>
            <a:ext cx="420624" cy="420624"/>
          </a:xfrm>
          <a:prstGeom prst="ellipse">
            <a:avLst/>
          </a:prstGeom>
          <a:solidFill>
            <a:srgbClr val="2DD4BF"/>
          </a:solidFill>
          <a:ln w="12700">
            <a:solidFill>
              <a:srgbClr val="2DD4BF"/>
            </a:solidFill>
            <a:prstDash val="solid"/>
          </a:ln>
        </p:spPr>
      </p:sp>
      <p:sp>
        <p:nvSpPr>
          <p:cNvPr id="8" name="Text 6"/>
          <p:cNvSpPr txBox="1"/>
          <p:nvPr/>
        </p:nvSpPr>
        <p:spPr>
          <a:xfrm>
            <a:off x="1097280" y="2944368"/>
            <a:ext cx="420624" cy="420624"/>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548640" y="2194560"/>
            <a:ext cx="1691640" cy="548640"/>
          </a:xfrm>
          <a:prstGeom prst="rect">
            <a:avLst/>
          </a:prstGeom>
          <a:noFill/>
          <a:ln/>
        </p:spPr>
        <p:txBody>
          <a:bodyPr wrap="square" lIns="0" tIns="0" rIns="0" bIns="0" rtlCol="0" anchor="b"/>
          <a:lstStyle/>
          <a:p>
            <a:pPr marL="0" indent="0" algn="ctr">
              <a:buNone/>
            </a:pPr>
            <a:r>
              <a:rPr lang="en-US" sz="1600" b="1" dirty="0">
                <a:solidFill>
                  <a:srgbClr val="F4F1EA"/>
                </a:solidFill>
                <a:latin typeface="Cambria" pitchFamily="34" charset="0"/>
                <a:ea typeface="Cambria" pitchFamily="34" charset="-122"/>
                <a:cs typeface="Cambria" pitchFamily="34" charset="-120"/>
              </a:rPr>
              <a:t>0 to 2 weeks</a:t>
            </a:r>
            <a:endParaRPr lang="en-US" sz="1600" dirty="0"/>
          </a:p>
        </p:txBody>
      </p:sp>
      <p:sp>
        <p:nvSpPr>
          <p:cNvPr id="10" name="Shape 8"/>
          <p:cNvSpPr/>
          <p:nvPr/>
        </p:nvSpPr>
        <p:spPr>
          <a:xfrm>
            <a:off x="548640" y="3611880"/>
            <a:ext cx="1737360" cy="1737360"/>
          </a:xfrm>
          <a:prstGeom prst="roundRect">
            <a:avLst>
              <a:gd name="adj" fmla="val 4211"/>
            </a:avLst>
          </a:prstGeom>
          <a:solidFill>
            <a:srgbClr val="132A36"/>
          </a:solidFill>
          <a:ln w="9525">
            <a:solidFill>
              <a:srgbClr val="2C4756"/>
            </a:solidFill>
            <a:prstDash val="solid"/>
          </a:ln>
        </p:spPr>
      </p:sp>
      <p:sp>
        <p:nvSpPr>
          <p:cNvPr id="11" name="Text 9"/>
          <p:cNvSpPr txBox="1"/>
          <p:nvPr/>
        </p:nvSpPr>
        <p:spPr>
          <a:xfrm>
            <a:off x="640080" y="3703320"/>
            <a:ext cx="1554480" cy="1600200"/>
          </a:xfrm>
          <a:prstGeom prst="rect">
            <a:avLst/>
          </a:prstGeom>
          <a:noFill/>
          <a:ln/>
        </p:spPr>
        <p:txBody>
          <a:bodyPr wrap="square" lIns="0" tIns="0" rIns="0" bIns="0" rtlCol="0" anchor="ctr"/>
          <a:lstStyle/>
          <a:p>
            <a:pPr marL="0" indent="0" algn="ctr">
              <a:buNone/>
            </a:pPr>
            <a:r>
              <a:rPr lang="en-US" sz="1404" dirty="0">
                <a:solidFill>
                  <a:srgbClr val="F4F1EA"/>
                </a:solidFill>
                <a:latin typeface="Calibri" pitchFamily="34" charset="0"/>
                <a:ea typeface="Calibri" pitchFamily="34" charset="-122"/>
                <a:cs typeface="Calibri" pitchFamily="34" charset="-120"/>
              </a:rPr>
              <a:t>Elevate, drain out at 48 h, splint, wound check</a:t>
            </a:r>
            <a:endParaRPr lang="en-US" sz="1404" dirty="0"/>
          </a:p>
        </p:txBody>
      </p:sp>
      <p:sp>
        <p:nvSpPr>
          <p:cNvPr id="12" name="Shape 10"/>
          <p:cNvSpPr/>
          <p:nvPr/>
        </p:nvSpPr>
        <p:spPr>
          <a:xfrm>
            <a:off x="2971800" y="2944368"/>
            <a:ext cx="420624" cy="420624"/>
          </a:xfrm>
          <a:prstGeom prst="ellipse">
            <a:avLst/>
          </a:prstGeom>
          <a:solidFill>
            <a:srgbClr val="2DD4BF"/>
          </a:solidFill>
          <a:ln w="12700">
            <a:solidFill>
              <a:srgbClr val="2DD4BF"/>
            </a:solidFill>
            <a:prstDash val="solid"/>
          </a:ln>
        </p:spPr>
      </p:sp>
      <p:sp>
        <p:nvSpPr>
          <p:cNvPr id="13" name="Text 11"/>
          <p:cNvSpPr txBox="1"/>
          <p:nvPr/>
        </p:nvSpPr>
        <p:spPr>
          <a:xfrm>
            <a:off x="2971800" y="2944368"/>
            <a:ext cx="420624" cy="420624"/>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2423160" y="2194560"/>
            <a:ext cx="1691640" cy="548640"/>
          </a:xfrm>
          <a:prstGeom prst="rect">
            <a:avLst/>
          </a:prstGeom>
          <a:noFill/>
          <a:ln/>
        </p:spPr>
        <p:txBody>
          <a:bodyPr wrap="square" lIns="0" tIns="0" rIns="0" bIns="0" rtlCol="0" anchor="b"/>
          <a:lstStyle/>
          <a:p>
            <a:pPr marL="0" indent="0" algn="ctr">
              <a:buNone/>
            </a:pPr>
            <a:r>
              <a:rPr lang="en-US" sz="1600" b="1" dirty="0">
                <a:solidFill>
                  <a:srgbClr val="F4F1EA"/>
                </a:solidFill>
                <a:latin typeface="Cambria" pitchFamily="34" charset="0"/>
                <a:ea typeface="Cambria" pitchFamily="34" charset="-122"/>
                <a:cs typeface="Cambria" pitchFamily="34" charset="-120"/>
              </a:rPr>
              <a:t>2 to 3 weeks</a:t>
            </a:r>
            <a:endParaRPr lang="en-US" sz="1600" dirty="0"/>
          </a:p>
        </p:txBody>
      </p:sp>
      <p:sp>
        <p:nvSpPr>
          <p:cNvPr id="15" name="Shape 13"/>
          <p:cNvSpPr/>
          <p:nvPr/>
        </p:nvSpPr>
        <p:spPr>
          <a:xfrm>
            <a:off x="2423160" y="3611880"/>
            <a:ext cx="1737360" cy="1737360"/>
          </a:xfrm>
          <a:prstGeom prst="roundRect">
            <a:avLst>
              <a:gd name="adj" fmla="val 4211"/>
            </a:avLst>
          </a:prstGeom>
          <a:solidFill>
            <a:srgbClr val="132A36"/>
          </a:solidFill>
          <a:ln w="9525">
            <a:solidFill>
              <a:srgbClr val="2C4756"/>
            </a:solidFill>
            <a:prstDash val="solid"/>
          </a:ln>
        </p:spPr>
      </p:sp>
      <p:sp>
        <p:nvSpPr>
          <p:cNvPr id="16" name="Text 14"/>
          <p:cNvSpPr txBox="1"/>
          <p:nvPr/>
        </p:nvSpPr>
        <p:spPr>
          <a:xfrm>
            <a:off x="2514600" y="3703320"/>
            <a:ext cx="1554480" cy="1600200"/>
          </a:xfrm>
          <a:prstGeom prst="rect">
            <a:avLst/>
          </a:prstGeom>
          <a:noFill/>
          <a:ln/>
        </p:spPr>
        <p:txBody>
          <a:bodyPr wrap="square" lIns="0" tIns="0" rIns="0" bIns="0" rtlCol="0" anchor="ctr"/>
          <a:lstStyle/>
          <a:p>
            <a:pPr marL="0" indent="0" algn="ctr">
              <a:buNone/>
            </a:pPr>
            <a:r>
              <a:rPr lang="en-US" sz="1404" dirty="0">
                <a:solidFill>
                  <a:srgbClr val="F4F1EA"/>
                </a:solidFill>
                <a:latin typeface="Calibri" pitchFamily="34" charset="0"/>
                <a:ea typeface="Calibri" pitchFamily="34" charset="-122"/>
                <a:cs typeface="Calibri" pitchFamily="34" charset="-120"/>
              </a:rPr>
              <a:t>Sutures out; start ankle and subtalar range of motion</a:t>
            </a:r>
            <a:endParaRPr lang="en-US" sz="1404" dirty="0"/>
          </a:p>
        </p:txBody>
      </p:sp>
      <p:sp>
        <p:nvSpPr>
          <p:cNvPr id="17" name="Shape 15"/>
          <p:cNvSpPr/>
          <p:nvPr/>
        </p:nvSpPr>
        <p:spPr>
          <a:xfrm>
            <a:off x="4846320" y="2944368"/>
            <a:ext cx="420624" cy="420624"/>
          </a:xfrm>
          <a:prstGeom prst="ellipse">
            <a:avLst/>
          </a:prstGeom>
          <a:solidFill>
            <a:srgbClr val="FBBF24"/>
          </a:solidFill>
          <a:ln w="12700">
            <a:solidFill>
              <a:srgbClr val="FBBF24"/>
            </a:solidFill>
            <a:prstDash val="solid"/>
          </a:ln>
        </p:spPr>
      </p:sp>
      <p:sp>
        <p:nvSpPr>
          <p:cNvPr id="18" name="Text 16"/>
          <p:cNvSpPr txBox="1"/>
          <p:nvPr/>
        </p:nvSpPr>
        <p:spPr>
          <a:xfrm>
            <a:off x="4846320" y="2944368"/>
            <a:ext cx="420624" cy="420624"/>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4297680" y="2194560"/>
            <a:ext cx="1691640" cy="548640"/>
          </a:xfrm>
          <a:prstGeom prst="rect">
            <a:avLst/>
          </a:prstGeom>
          <a:noFill/>
          <a:ln/>
        </p:spPr>
        <p:txBody>
          <a:bodyPr wrap="square" lIns="0" tIns="0" rIns="0" bIns="0" rtlCol="0" anchor="b"/>
          <a:lstStyle/>
          <a:p>
            <a:pPr marL="0" indent="0" algn="ctr">
              <a:buNone/>
            </a:pPr>
            <a:r>
              <a:rPr lang="en-US" sz="1600" b="1" dirty="0">
                <a:solidFill>
                  <a:srgbClr val="F4F1EA"/>
                </a:solidFill>
                <a:latin typeface="Cambria" pitchFamily="34" charset="0"/>
                <a:ea typeface="Cambria" pitchFamily="34" charset="-122"/>
                <a:cs typeface="Cambria" pitchFamily="34" charset="-120"/>
              </a:rPr>
              <a:t>6 weeks</a:t>
            </a:r>
            <a:endParaRPr lang="en-US" sz="1600" dirty="0"/>
          </a:p>
        </p:txBody>
      </p:sp>
      <p:sp>
        <p:nvSpPr>
          <p:cNvPr id="20" name="Shape 18"/>
          <p:cNvSpPr/>
          <p:nvPr/>
        </p:nvSpPr>
        <p:spPr>
          <a:xfrm>
            <a:off x="4297680" y="3611880"/>
            <a:ext cx="1737360" cy="1737360"/>
          </a:xfrm>
          <a:prstGeom prst="roundRect">
            <a:avLst>
              <a:gd name="adj" fmla="val 4211"/>
            </a:avLst>
          </a:prstGeom>
          <a:solidFill>
            <a:srgbClr val="132A36"/>
          </a:solidFill>
          <a:ln w="9525">
            <a:solidFill>
              <a:srgbClr val="2C4756"/>
            </a:solidFill>
            <a:prstDash val="solid"/>
          </a:ln>
        </p:spPr>
      </p:sp>
      <p:sp>
        <p:nvSpPr>
          <p:cNvPr id="21" name="Text 19"/>
          <p:cNvSpPr txBox="1"/>
          <p:nvPr/>
        </p:nvSpPr>
        <p:spPr>
          <a:xfrm>
            <a:off x="4389120" y="3703320"/>
            <a:ext cx="1554480" cy="1600200"/>
          </a:xfrm>
          <a:prstGeom prst="rect">
            <a:avLst/>
          </a:prstGeom>
          <a:noFill/>
          <a:ln/>
        </p:spPr>
        <p:txBody>
          <a:bodyPr wrap="square" lIns="0" tIns="0" rIns="0" bIns="0" rtlCol="0" anchor="ctr"/>
          <a:lstStyle/>
          <a:p>
            <a:pPr marL="0" indent="0" algn="ctr">
              <a:buNone/>
            </a:pPr>
            <a:r>
              <a:rPr lang="en-US" sz="1404" dirty="0">
                <a:solidFill>
                  <a:srgbClr val="F4F1EA"/>
                </a:solidFill>
                <a:latin typeface="Calibri" pitchFamily="34" charset="0"/>
                <a:ea typeface="Calibri" pitchFamily="34" charset="-122"/>
                <a:cs typeface="Calibri" pitchFamily="34" charset="-120"/>
              </a:rPr>
              <a:t>Radiographs; keep non-weight-bearing</a:t>
            </a:r>
            <a:endParaRPr lang="en-US" sz="1404" dirty="0"/>
          </a:p>
        </p:txBody>
      </p:sp>
      <p:sp>
        <p:nvSpPr>
          <p:cNvPr id="22" name="Shape 20"/>
          <p:cNvSpPr/>
          <p:nvPr/>
        </p:nvSpPr>
        <p:spPr>
          <a:xfrm>
            <a:off x="6720840" y="2944368"/>
            <a:ext cx="420624" cy="420624"/>
          </a:xfrm>
          <a:prstGeom prst="ellipse">
            <a:avLst/>
          </a:prstGeom>
          <a:solidFill>
            <a:srgbClr val="FF7A45"/>
          </a:solidFill>
          <a:ln w="12700">
            <a:solidFill>
              <a:srgbClr val="FF7A45"/>
            </a:solidFill>
            <a:prstDash val="solid"/>
          </a:ln>
        </p:spPr>
      </p:sp>
      <p:sp>
        <p:nvSpPr>
          <p:cNvPr id="23" name="Text 21"/>
          <p:cNvSpPr txBox="1"/>
          <p:nvPr/>
        </p:nvSpPr>
        <p:spPr>
          <a:xfrm>
            <a:off x="6720840" y="2944368"/>
            <a:ext cx="420624" cy="420624"/>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6172200" y="2194560"/>
            <a:ext cx="1691640" cy="548640"/>
          </a:xfrm>
          <a:prstGeom prst="rect">
            <a:avLst/>
          </a:prstGeom>
          <a:noFill/>
          <a:ln/>
        </p:spPr>
        <p:txBody>
          <a:bodyPr wrap="square" lIns="0" tIns="0" rIns="0" bIns="0" rtlCol="0" anchor="b"/>
          <a:lstStyle/>
          <a:p>
            <a:pPr marL="0" indent="0" algn="ctr">
              <a:buNone/>
            </a:pPr>
            <a:r>
              <a:rPr lang="en-US" sz="1600" b="1" dirty="0">
                <a:solidFill>
                  <a:srgbClr val="F4F1EA"/>
                </a:solidFill>
                <a:latin typeface="Cambria" pitchFamily="34" charset="0"/>
                <a:ea typeface="Cambria" pitchFamily="34" charset="-122"/>
                <a:cs typeface="Cambria" pitchFamily="34" charset="-120"/>
              </a:rPr>
              <a:t>10 to 12 weeks</a:t>
            </a:r>
            <a:endParaRPr lang="en-US" sz="1600" dirty="0"/>
          </a:p>
        </p:txBody>
      </p:sp>
      <p:sp>
        <p:nvSpPr>
          <p:cNvPr id="25" name="Shape 23"/>
          <p:cNvSpPr/>
          <p:nvPr/>
        </p:nvSpPr>
        <p:spPr>
          <a:xfrm>
            <a:off x="6172200" y="3611880"/>
            <a:ext cx="1737360" cy="1737360"/>
          </a:xfrm>
          <a:prstGeom prst="roundRect">
            <a:avLst>
              <a:gd name="adj" fmla="val 4211"/>
            </a:avLst>
          </a:prstGeom>
          <a:solidFill>
            <a:srgbClr val="132A36"/>
          </a:solidFill>
          <a:ln w="9525">
            <a:solidFill>
              <a:srgbClr val="2C4756"/>
            </a:solidFill>
            <a:prstDash val="solid"/>
          </a:ln>
        </p:spPr>
      </p:sp>
      <p:sp>
        <p:nvSpPr>
          <p:cNvPr id="26" name="Text 24"/>
          <p:cNvSpPr txBox="1"/>
          <p:nvPr/>
        </p:nvSpPr>
        <p:spPr>
          <a:xfrm>
            <a:off x="6263640" y="3703320"/>
            <a:ext cx="1554480" cy="1600200"/>
          </a:xfrm>
          <a:prstGeom prst="rect">
            <a:avLst/>
          </a:prstGeom>
          <a:noFill/>
          <a:ln/>
        </p:spPr>
        <p:txBody>
          <a:bodyPr wrap="square" lIns="0" tIns="0" rIns="0" bIns="0" rtlCol="0" anchor="ctr"/>
          <a:lstStyle/>
          <a:p>
            <a:pPr marL="0" indent="0" algn="ctr">
              <a:buNone/>
            </a:pPr>
            <a:r>
              <a:rPr lang="en-US" sz="1404" dirty="0">
                <a:solidFill>
                  <a:srgbClr val="F4F1EA"/>
                </a:solidFill>
                <a:latin typeface="Calibri" pitchFamily="34" charset="0"/>
                <a:ea typeface="Calibri" pitchFamily="34" charset="-122"/>
                <a:cs typeface="Calibri" pitchFamily="34" charset="-120"/>
              </a:rPr>
              <a:t>Progress to full weight-bearing when callus shows</a:t>
            </a:r>
            <a:endParaRPr lang="en-US" sz="1404" dirty="0"/>
          </a:p>
        </p:txBody>
      </p:sp>
      <p:sp>
        <p:nvSpPr>
          <p:cNvPr id="27" name="Shape 25"/>
          <p:cNvSpPr/>
          <p:nvPr/>
        </p:nvSpPr>
        <p:spPr>
          <a:xfrm>
            <a:off x="8595360" y="2944368"/>
            <a:ext cx="420624" cy="420624"/>
          </a:xfrm>
          <a:prstGeom prst="ellipse">
            <a:avLst/>
          </a:prstGeom>
          <a:solidFill>
            <a:srgbClr val="FF7A45"/>
          </a:solidFill>
          <a:ln w="12700">
            <a:solidFill>
              <a:srgbClr val="FF7A45"/>
            </a:solidFill>
            <a:prstDash val="solid"/>
          </a:ln>
        </p:spPr>
      </p:sp>
      <p:sp>
        <p:nvSpPr>
          <p:cNvPr id="28" name="Text 26"/>
          <p:cNvSpPr txBox="1"/>
          <p:nvPr/>
        </p:nvSpPr>
        <p:spPr>
          <a:xfrm>
            <a:off x="8595360" y="2944368"/>
            <a:ext cx="420624" cy="420624"/>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5</a:t>
            </a:r>
            <a:endParaRPr lang="en-US" sz="1500" dirty="0"/>
          </a:p>
        </p:txBody>
      </p:sp>
      <p:sp>
        <p:nvSpPr>
          <p:cNvPr id="29" name="Text 27"/>
          <p:cNvSpPr txBox="1"/>
          <p:nvPr/>
        </p:nvSpPr>
        <p:spPr>
          <a:xfrm>
            <a:off x="8046720" y="2194560"/>
            <a:ext cx="1691640" cy="548640"/>
          </a:xfrm>
          <a:prstGeom prst="rect">
            <a:avLst/>
          </a:prstGeom>
          <a:noFill/>
          <a:ln/>
        </p:spPr>
        <p:txBody>
          <a:bodyPr wrap="square" lIns="0" tIns="0" rIns="0" bIns="0" rtlCol="0" anchor="b"/>
          <a:lstStyle/>
          <a:p>
            <a:pPr marL="0" indent="0" algn="ctr">
              <a:buNone/>
            </a:pPr>
            <a:r>
              <a:rPr lang="en-US" sz="1600" b="1" dirty="0">
                <a:solidFill>
                  <a:srgbClr val="F4F1EA"/>
                </a:solidFill>
                <a:latin typeface="Cambria" pitchFamily="34" charset="0"/>
                <a:ea typeface="Cambria" pitchFamily="34" charset="-122"/>
                <a:cs typeface="Cambria" pitchFamily="34" charset="-120"/>
              </a:rPr>
              <a:t>3 to 6 months</a:t>
            </a:r>
            <a:endParaRPr lang="en-US" sz="1600" dirty="0"/>
          </a:p>
        </p:txBody>
      </p:sp>
      <p:sp>
        <p:nvSpPr>
          <p:cNvPr id="30" name="Shape 28"/>
          <p:cNvSpPr/>
          <p:nvPr/>
        </p:nvSpPr>
        <p:spPr>
          <a:xfrm>
            <a:off x="8046720" y="3611880"/>
            <a:ext cx="1737360" cy="1737360"/>
          </a:xfrm>
          <a:prstGeom prst="roundRect">
            <a:avLst>
              <a:gd name="adj" fmla="val 4211"/>
            </a:avLst>
          </a:prstGeom>
          <a:solidFill>
            <a:srgbClr val="132A36"/>
          </a:solidFill>
          <a:ln w="9525">
            <a:solidFill>
              <a:srgbClr val="2C4756"/>
            </a:solidFill>
            <a:prstDash val="solid"/>
          </a:ln>
        </p:spPr>
      </p:sp>
      <p:sp>
        <p:nvSpPr>
          <p:cNvPr id="31" name="Text 29"/>
          <p:cNvSpPr txBox="1"/>
          <p:nvPr/>
        </p:nvSpPr>
        <p:spPr>
          <a:xfrm>
            <a:off x="8138160" y="3703320"/>
            <a:ext cx="1554480" cy="1600200"/>
          </a:xfrm>
          <a:prstGeom prst="rect">
            <a:avLst/>
          </a:prstGeom>
          <a:noFill/>
          <a:ln/>
        </p:spPr>
        <p:txBody>
          <a:bodyPr wrap="square" lIns="0" tIns="0" rIns="0" bIns="0" rtlCol="0" anchor="ctr"/>
          <a:lstStyle/>
          <a:p>
            <a:pPr marL="0" indent="0" algn="ctr">
              <a:buNone/>
            </a:pPr>
            <a:r>
              <a:rPr lang="en-US" sz="1404" dirty="0">
                <a:solidFill>
                  <a:srgbClr val="F4F1EA"/>
                </a:solidFill>
                <a:latin typeface="Calibri" pitchFamily="34" charset="0"/>
                <a:ea typeface="Calibri" pitchFamily="34" charset="-122"/>
                <a:cs typeface="Calibri" pitchFamily="34" charset="-120"/>
              </a:rPr>
              <a:t>Strengthen, gait training, normal footwear</a:t>
            </a:r>
            <a:endParaRPr lang="en-US" sz="1404" dirty="0"/>
          </a:p>
        </p:txBody>
      </p:sp>
      <p:sp>
        <p:nvSpPr>
          <p:cNvPr id="32" name="Shape 30"/>
          <p:cNvSpPr/>
          <p:nvPr/>
        </p:nvSpPr>
        <p:spPr>
          <a:xfrm>
            <a:off x="10469880" y="2944368"/>
            <a:ext cx="420624" cy="420624"/>
          </a:xfrm>
          <a:prstGeom prst="ellipse">
            <a:avLst/>
          </a:prstGeom>
          <a:solidFill>
            <a:srgbClr val="F87171"/>
          </a:solidFill>
          <a:ln w="12700">
            <a:solidFill>
              <a:srgbClr val="F87171"/>
            </a:solidFill>
            <a:prstDash val="solid"/>
          </a:ln>
        </p:spPr>
      </p:sp>
      <p:sp>
        <p:nvSpPr>
          <p:cNvPr id="33" name="Text 31"/>
          <p:cNvSpPr txBox="1"/>
          <p:nvPr/>
        </p:nvSpPr>
        <p:spPr>
          <a:xfrm>
            <a:off x="10469880" y="2944368"/>
            <a:ext cx="420624" cy="420624"/>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6</a:t>
            </a:r>
            <a:endParaRPr lang="en-US" sz="1500" dirty="0"/>
          </a:p>
        </p:txBody>
      </p:sp>
      <p:sp>
        <p:nvSpPr>
          <p:cNvPr id="34" name="Text 32"/>
          <p:cNvSpPr txBox="1"/>
          <p:nvPr/>
        </p:nvSpPr>
        <p:spPr>
          <a:xfrm>
            <a:off x="9921240" y="2194560"/>
            <a:ext cx="1691640" cy="548640"/>
          </a:xfrm>
          <a:prstGeom prst="rect">
            <a:avLst/>
          </a:prstGeom>
          <a:noFill/>
          <a:ln/>
        </p:spPr>
        <p:txBody>
          <a:bodyPr wrap="square" lIns="0" tIns="0" rIns="0" bIns="0" rtlCol="0" anchor="b"/>
          <a:lstStyle/>
          <a:p>
            <a:pPr marL="0" indent="0" algn="ctr">
              <a:buNone/>
            </a:pPr>
            <a:r>
              <a:rPr lang="en-US" sz="1600" b="1" dirty="0">
                <a:solidFill>
                  <a:srgbClr val="F4F1EA"/>
                </a:solidFill>
                <a:latin typeface="Cambria" pitchFamily="34" charset="0"/>
                <a:ea typeface="Cambria" pitchFamily="34" charset="-122"/>
                <a:cs typeface="Cambria" pitchFamily="34" charset="-120"/>
              </a:rPr>
              <a:t>6 to 12 months</a:t>
            </a:r>
            <a:endParaRPr lang="en-US" sz="1600" dirty="0"/>
          </a:p>
        </p:txBody>
      </p:sp>
      <p:sp>
        <p:nvSpPr>
          <p:cNvPr id="35" name="Shape 33"/>
          <p:cNvSpPr/>
          <p:nvPr/>
        </p:nvSpPr>
        <p:spPr>
          <a:xfrm>
            <a:off x="9921240" y="3611880"/>
            <a:ext cx="1737360" cy="1737360"/>
          </a:xfrm>
          <a:prstGeom prst="roundRect">
            <a:avLst>
              <a:gd name="adj" fmla="val 4211"/>
            </a:avLst>
          </a:prstGeom>
          <a:solidFill>
            <a:srgbClr val="132A36"/>
          </a:solidFill>
          <a:ln w="9525">
            <a:solidFill>
              <a:srgbClr val="2C4756"/>
            </a:solidFill>
            <a:prstDash val="solid"/>
          </a:ln>
        </p:spPr>
      </p:sp>
      <p:sp>
        <p:nvSpPr>
          <p:cNvPr id="36" name="Text 34"/>
          <p:cNvSpPr txBox="1"/>
          <p:nvPr/>
        </p:nvSpPr>
        <p:spPr>
          <a:xfrm>
            <a:off x="10012680" y="3703320"/>
            <a:ext cx="1554480" cy="1600200"/>
          </a:xfrm>
          <a:prstGeom prst="rect">
            <a:avLst/>
          </a:prstGeom>
          <a:noFill/>
          <a:ln/>
        </p:spPr>
        <p:txBody>
          <a:bodyPr wrap="square" lIns="0" tIns="0" rIns="0" bIns="0" rtlCol="0" anchor="ctr"/>
          <a:lstStyle/>
          <a:p>
            <a:pPr marL="0" indent="0" algn="ctr">
              <a:buNone/>
            </a:pPr>
            <a:r>
              <a:rPr lang="en-US" sz="1404" dirty="0">
                <a:solidFill>
                  <a:srgbClr val="F4F1EA"/>
                </a:solidFill>
                <a:latin typeface="Calibri" pitchFamily="34" charset="0"/>
                <a:ea typeface="Calibri" pitchFamily="34" charset="-122"/>
                <a:cs typeface="Calibri" pitchFamily="34" charset="-120"/>
              </a:rPr>
              <a:t>Return to work; heavy labourers later</a:t>
            </a:r>
            <a:endParaRPr lang="en-US" sz="1404" dirty="0"/>
          </a:p>
        </p:txBody>
      </p:sp>
      <p:sp>
        <p:nvSpPr>
          <p:cNvPr id="37" name="Text 35"/>
          <p:cNvSpPr txBox="1"/>
          <p:nvPr/>
        </p:nvSpPr>
        <p:spPr>
          <a:xfrm>
            <a:off x="548640" y="5715000"/>
            <a:ext cx="11064240" cy="365760"/>
          </a:xfrm>
          <a:prstGeom prst="rect">
            <a:avLst/>
          </a:prstGeom>
          <a:noFill/>
          <a:ln/>
        </p:spPr>
        <p:txBody>
          <a:bodyPr wrap="square" lIns="0" tIns="0" rIns="0" bIns="0" rtlCol="0" anchor="t"/>
          <a:lstStyle/>
          <a:p>
            <a:pPr marL="0" indent="0" algn="ctr">
              <a:buNone/>
            </a:pPr>
            <a:r>
              <a:rPr lang="en-US" sz="1638" i="1" dirty="0">
                <a:solidFill>
                  <a:srgbClr val="E9DCC0"/>
                </a:solidFill>
                <a:latin typeface="Calibri" pitchFamily="34" charset="0"/>
                <a:ea typeface="Calibri" pitchFamily="34" charset="-122"/>
                <a:cs typeface="Calibri" pitchFamily="34" charset="-120"/>
              </a:rPr>
              <a:t>Remove prominent hardware only for symptoms, after union.</a:t>
            </a:r>
            <a:endParaRPr lang="en-US" sz="1638"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COMPLICATIONS</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Complications at a glance</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31</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3968496"/>
        </p:xfrm>
        <a:graphic>
          <a:graphicData uri="http://schemas.openxmlformats.org/drawingml/2006/table">
            <a:tbl>
              <a:tblPr/>
              <a:tblGrid>
                <a:gridCol w="11887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5349240">
                  <a:extLst>
                    <a:ext uri="{9D8B030D-6E8A-4147-A177-3AD203B41FA5}">
                      <a16:colId xmlns:a16="http://schemas.microsoft.com/office/drawing/2014/main" val="20002"/>
                    </a:ext>
                  </a:extLst>
                </a:gridCol>
              </a:tblGrid>
              <a:tr h="566928">
                <a:tc>
                  <a:txBody>
                    <a:bodyPr/>
                    <a:lstStyle/>
                    <a:p>
                      <a:pPr marL="0" indent="0">
                        <a:buNone/>
                      </a:pPr>
                      <a:r>
                        <a:rPr lang="en-US" sz="1300" b="1" dirty="0">
                          <a:solidFill>
                            <a:srgbClr val="FBBF24"/>
                          </a:solidFill>
                          <a:latin typeface="Calibri" pitchFamily="34" charset="0"/>
                          <a:ea typeface="Calibri" pitchFamily="34" charset="-122"/>
                          <a:cs typeface="Calibri" pitchFamily="34" charset="-120"/>
                        </a:rPr>
                        <a:t>When</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1300" b="1" dirty="0">
                          <a:solidFill>
                            <a:srgbClr val="FBBF24"/>
                          </a:solidFill>
                          <a:latin typeface="Calibri" pitchFamily="34" charset="0"/>
                          <a:ea typeface="Calibri" pitchFamily="34" charset="-122"/>
                          <a:cs typeface="Calibri" pitchFamily="34" charset="-120"/>
                        </a:rPr>
                        <a:t>Complication</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1300" b="1" dirty="0">
                          <a:solidFill>
                            <a:srgbClr val="FBBF24"/>
                          </a:solidFill>
                          <a:latin typeface="Calibri" pitchFamily="34" charset="0"/>
                          <a:ea typeface="Calibri" pitchFamily="34" charset="-122"/>
                          <a:cs typeface="Calibri" pitchFamily="34" charset="-120"/>
                        </a:rPr>
                        <a:t>Notes</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2DD4BF"/>
                          </a:solidFill>
                          <a:latin typeface="Calibri" pitchFamily="34" charset="0"/>
                          <a:ea typeface="Calibri" pitchFamily="34" charset="-122"/>
                          <a:cs typeface="Calibri" pitchFamily="34" charset="-120"/>
                        </a:rPr>
                        <a:t>Early</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Wound edge necrosis and dehiscence</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About 10 to 25% after an extensile L; smokers and diabetics highest</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rgbClr val="2DD4BF"/>
                          </a:solidFill>
                          <a:latin typeface="Calibri" pitchFamily="34" charset="0"/>
                          <a:ea typeface="Calibri" pitchFamily="34" charset="-122"/>
                          <a:cs typeface="Calibri" pitchFamily="34" charset="-120"/>
                        </a:rPr>
                        <a:t>Early</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Deep infection</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About 1 to 5%; staphylococcal; hardware often retained until union</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2DD4BF"/>
                          </a:solidFill>
                          <a:latin typeface="Calibri" pitchFamily="34" charset="0"/>
                          <a:ea typeface="Calibri" pitchFamily="34" charset="-122"/>
                          <a:cs typeface="Calibri" pitchFamily="34" charset="-120"/>
                        </a:rPr>
                        <a:t>Early</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Compartment syndrome, sural nerve injury, haematoma</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Foot pump and early recognition reduce the risk</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rgbClr val="2DD4BF"/>
                          </a:solidFill>
                          <a:latin typeface="Calibri" pitchFamily="34" charset="0"/>
                          <a:ea typeface="Calibri" pitchFamily="34" charset="-122"/>
                          <a:cs typeface="Calibri" pitchFamily="34" charset="-120"/>
                        </a:rPr>
                        <a:t>Late</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Post-traumatic subtalar arthritis</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The commonest long-term problem</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4"/>
                  </a:ext>
                </a:extLst>
              </a:tr>
              <a:tr h="566928">
                <a:tc>
                  <a:txBody>
                    <a:bodyPr/>
                    <a:lstStyle/>
                    <a:p>
                      <a:pPr marL="0" indent="0">
                        <a:buNone/>
                      </a:pPr>
                      <a:r>
                        <a:rPr lang="en-US" sz="1300" b="1" dirty="0">
                          <a:solidFill>
                            <a:srgbClr val="2DD4BF"/>
                          </a:solidFill>
                          <a:latin typeface="Calibri" pitchFamily="34" charset="0"/>
                          <a:ea typeface="Calibri" pitchFamily="34" charset="-122"/>
                          <a:cs typeface="Calibri" pitchFamily="34" charset="-120"/>
                        </a:rPr>
                        <a:t>Late</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Malunion: varus, widening, height loss</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Peroneal and fibular impingement, stiff foot</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5"/>
                  </a:ext>
                </a:extLst>
              </a:tr>
              <a:tr h="566928">
                <a:tc>
                  <a:txBody>
                    <a:bodyPr/>
                    <a:lstStyle/>
                    <a:p>
                      <a:pPr marL="0" indent="0">
                        <a:buNone/>
                      </a:pPr>
                      <a:r>
                        <a:rPr lang="en-US" sz="1300" b="1" dirty="0">
                          <a:solidFill>
                            <a:srgbClr val="2DD4BF"/>
                          </a:solidFill>
                          <a:latin typeface="Calibri" pitchFamily="34" charset="0"/>
                          <a:ea typeface="Calibri" pitchFamily="34" charset="-122"/>
                          <a:cs typeface="Calibri" pitchFamily="34" charset="-120"/>
                        </a:rPr>
                        <a:t>Late</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Peroneal tendon problems, heel-pad pain, CRPS, hardware pain</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Persistent heel pain is common</a:t>
                      </a:r>
                      <a:endParaRPr lang="en-US" sz="130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COMPLICATIONS</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Wound complications and infection</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32</a:t>
            </a:r>
            <a:endParaRPr lang="en-US" sz="1000" dirty="0"/>
          </a:p>
        </p:txBody>
      </p:sp>
      <p:sp>
        <p:nvSpPr>
          <p:cNvPr id="6" name="Shape 4"/>
          <p:cNvSpPr/>
          <p:nvPr/>
        </p:nvSpPr>
        <p:spPr>
          <a:xfrm>
            <a:off x="548640" y="1508760"/>
            <a:ext cx="3657600" cy="4800600"/>
          </a:xfrm>
          <a:prstGeom prst="roundRect">
            <a:avLst>
              <a:gd name="adj" fmla="val 2000"/>
            </a:avLst>
          </a:prstGeom>
          <a:solidFill>
            <a:srgbClr val="132A36"/>
          </a:solidFill>
          <a:ln w="9525">
            <a:solidFill>
              <a:srgbClr val="2C4756"/>
            </a:solidFill>
            <a:prstDash val="solid"/>
          </a:ln>
        </p:spPr>
      </p:sp>
      <p:sp>
        <p:nvSpPr>
          <p:cNvPr id="7" name="Text 5"/>
          <p:cNvSpPr txBox="1"/>
          <p:nvPr/>
        </p:nvSpPr>
        <p:spPr>
          <a:xfrm>
            <a:off x="777240" y="1627632"/>
            <a:ext cx="3200400" cy="365760"/>
          </a:xfrm>
          <a:prstGeom prst="rect">
            <a:avLst/>
          </a:prstGeom>
          <a:noFill/>
          <a:ln/>
        </p:spPr>
        <p:txBody>
          <a:bodyPr wrap="square" lIns="0" tIns="0" rIns="0" bIns="0" rtlCol="0" anchor="t"/>
          <a:lstStyle/>
          <a:p>
            <a:pPr marL="0" indent="0" algn="l">
              <a:buNone/>
            </a:pPr>
            <a:r>
              <a:rPr lang="en-US" sz="2000" b="1" dirty="0">
                <a:solidFill>
                  <a:srgbClr val="2DD4BF"/>
                </a:solidFill>
                <a:latin typeface="Cambria" pitchFamily="34" charset="0"/>
                <a:ea typeface="Cambria" pitchFamily="34" charset="-122"/>
                <a:cs typeface="Cambria" pitchFamily="34" charset="-120"/>
              </a:rPr>
              <a:t>Prevention</a:t>
            </a:r>
            <a:endParaRPr lang="en-US" sz="2000" dirty="0"/>
          </a:p>
        </p:txBody>
      </p:sp>
      <p:sp>
        <p:nvSpPr>
          <p:cNvPr id="8" name="Text 6"/>
          <p:cNvSpPr txBox="1"/>
          <p:nvPr/>
        </p:nvSpPr>
        <p:spPr>
          <a:xfrm>
            <a:off x="777240" y="2103120"/>
            <a:ext cx="3200400" cy="4114800"/>
          </a:xfrm>
          <a:prstGeom prst="rect">
            <a:avLst/>
          </a:prstGeom>
          <a:noFill/>
          <a:ln/>
        </p:spPr>
        <p:txBody>
          <a:bodyPr wrap="square" lIns="0" tIns="0" rIns="0" bIns="0" rtlCol="0" anchor="t"/>
          <a:lstStyle/>
          <a:p>
            <a:pPr marL="203200" indent="-203200">
              <a:spcAft>
                <a:spcPts val="700"/>
              </a:spcAft>
              <a:buSzPct val="100000"/>
              <a:buChar char="•"/>
            </a:pPr>
            <a:r>
              <a:rPr lang="en-US" sz="1512" dirty="0">
                <a:solidFill>
                  <a:srgbClr val="F4F1EA"/>
                </a:solidFill>
                <a:latin typeface="Calibri" pitchFamily="34" charset="0"/>
                <a:ea typeface="Calibri" pitchFamily="34" charset="-122"/>
                <a:cs typeface="Calibri" pitchFamily="34" charset="-120"/>
              </a:rPr>
              <a:t>Wait for the wrinkle sign</a:t>
            </a:r>
            <a:endParaRPr lang="en-US" sz="1512" dirty="0"/>
          </a:p>
          <a:p>
            <a:pPr marL="203200" indent="-203200">
              <a:spcAft>
                <a:spcPts val="700"/>
              </a:spcAft>
              <a:buSzPct val="100000"/>
              <a:buChar char="•"/>
            </a:pPr>
            <a:r>
              <a:rPr lang="en-US" sz="1512" dirty="0">
                <a:solidFill>
                  <a:srgbClr val="F4F1EA"/>
                </a:solidFill>
                <a:latin typeface="Calibri" pitchFamily="34" charset="0"/>
                <a:ea typeface="Calibri" pitchFamily="34" charset="-122"/>
                <a:cs typeface="Calibri" pitchFamily="34" charset="-120"/>
              </a:rPr>
              <a:t>No-touch technique, full-thickness flap</a:t>
            </a:r>
            <a:endParaRPr lang="en-US" sz="1512" dirty="0"/>
          </a:p>
          <a:p>
            <a:pPr marL="203200" indent="-203200">
              <a:spcAft>
                <a:spcPts val="700"/>
              </a:spcAft>
              <a:buSzPct val="100000"/>
              <a:buChar char="•"/>
            </a:pPr>
            <a:r>
              <a:rPr lang="en-US" sz="1512" dirty="0">
                <a:solidFill>
                  <a:srgbClr val="F4F1EA"/>
                </a:solidFill>
                <a:latin typeface="Calibri" pitchFamily="34" charset="0"/>
                <a:ea typeface="Calibri" pitchFamily="34" charset="-122"/>
                <a:cs typeface="Calibri" pitchFamily="34" charset="-120"/>
              </a:rPr>
              <a:t>K-wire retraction, not forceps</a:t>
            </a:r>
            <a:endParaRPr lang="en-US" sz="1512" dirty="0"/>
          </a:p>
          <a:p>
            <a:pPr marL="203200" indent="-203200">
              <a:spcAft>
                <a:spcPts val="700"/>
              </a:spcAft>
              <a:buSzPct val="100000"/>
              <a:buChar char="•"/>
            </a:pPr>
            <a:r>
              <a:rPr lang="en-US" sz="1512" dirty="0">
                <a:solidFill>
                  <a:srgbClr val="F4F1EA"/>
                </a:solidFill>
                <a:latin typeface="Calibri" pitchFamily="34" charset="0"/>
                <a:ea typeface="Calibri" pitchFamily="34" charset="-122"/>
                <a:cs typeface="Calibri" pitchFamily="34" charset="-120"/>
              </a:rPr>
              <a:t>Layered closure over a drain</a:t>
            </a:r>
            <a:endParaRPr lang="en-US" sz="1512" dirty="0"/>
          </a:p>
          <a:p>
            <a:pPr marL="203200" indent="-203200">
              <a:spcAft>
                <a:spcPts val="700"/>
              </a:spcAft>
              <a:buSzPct val="100000"/>
              <a:buChar char="•"/>
            </a:pPr>
            <a:r>
              <a:rPr lang="en-US" sz="1512" dirty="0">
                <a:solidFill>
                  <a:srgbClr val="F4F1EA"/>
                </a:solidFill>
                <a:latin typeface="Calibri" pitchFamily="34" charset="0"/>
                <a:ea typeface="Calibri" pitchFamily="34" charset="-122"/>
                <a:cs typeface="Calibri" pitchFamily="34" charset="-120"/>
              </a:rPr>
              <a:t>Stop smoking; optimise glucose</a:t>
            </a:r>
            <a:endParaRPr lang="en-US" sz="1512" dirty="0"/>
          </a:p>
        </p:txBody>
      </p:sp>
      <p:sp>
        <p:nvSpPr>
          <p:cNvPr id="9" name="Shape 7"/>
          <p:cNvSpPr/>
          <p:nvPr/>
        </p:nvSpPr>
        <p:spPr>
          <a:xfrm>
            <a:off x="4434840" y="1508760"/>
            <a:ext cx="7223760" cy="1097280"/>
          </a:xfrm>
          <a:prstGeom prst="roundRect">
            <a:avLst>
              <a:gd name="adj" fmla="val 6667"/>
            </a:avLst>
          </a:prstGeom>
          <a:solidFill>
            <a:srgbClr val="132A36"/>
          </a:solidFill>
          <a:ln w="9525">
            <a:solidFill>
              <a:srgbClr val="2C4756"/>
            </a:solidFill>
            <a:prstDash val="solid"/>
          </a:ln>
        </p:spPr>
      </p:sp>
      <p:sp>
        <p:nvSpPr>
          <p:cNvPr id="10" name="Shape 8"/>
          <p:cNvSpPr/>
          <p:nvPr/>
        </p:nvSpPr>
        <p:spPr>
          <a:xfrm>
            <a:off x="4617720" y="1847088"/>
            <a:ext cx="420624" cy="420624"/>
          </a:xfrm>
          <a:prstGeom prst="ellipse">
            <a:avLst/>
          </a:prstGeom>
          <a:solidFill>
            <a:srgbClr val="2DD4BF"/>
          </a:solidFill>
          <a:ln w="12700">
            <a:solidFill>
              <a:srgbClr val="2DD4BF"/>
            </a:solidFill>
            <a:prstDash val="solid"/>
          </a:ln>
        </p:spPr>
      </p:sp>
      <p:sp>
        <p:nvSpPr>
          <p:cNvPr id="11" name="Text 9"/>
          <p:cNvSpPr txBox="1"/>
          <p:nvPr/>
        </p:nvSpPr>
        <p:spPr>
          <a:xfrm>
            <a:off x="4617720" y="1847088"/>
            <a:ext cx="420624" cy="420624"/>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1</a:t>
            </a:r>
            <a:endParaRPr lang="en-US" sz="1500" dirty="0"/>
          </a:p>
        </p:txBody>
      </p:sp>
      <p:sp>
        <p:nvSpPr>
          <p:cNvPr id="12" name="Text 10"/>
          <p:cNvSpPr txBox="1"/>
          <p:nvPr/>
        </p:nvSpPr>
        <p:spPr>
          <a:xfrm>
            <a:off x="5257800" y="1600200"/>
            <a:ext cx="6217920" cy="365760"/>
          </a:xfrm>
          <a:prstGeom prst="rect">
            <a:avLst/>
          </a:prstGeom>
          <a:noFill/>
          <a:ln/>
        </p:spPr>
        <p:txBody>
          <a:bodyPr wrap="square" lIns="0" tIns="0" rIns="0" bIns="0" rtlCol="0" anchor="t"/>
          <a:lstStyle/>
          <a:p>
            <a:pPr marL="0" indent="0" algn="l">
              <a:buNone/>
            </a:pPr>
            <a:r>
              <a:rPr lang="en-US" sz="1700" b="1" dirty="0">
                <a:solidFill>
                  <a:srgbClr val="F4F1EA"/>
                </a:solidFill>
                <a:latin typeface="Cambria" pitchFamily="34" charset="0"/>
                <a:ea typeface="Cambria" pitchFamily="34" charset="-122"/>
                <a:cs typeface="Cambria" pitchFamily="34" charset="-120"/>
              </a:rPr>
              <a:t>Superficial edge necrosis</a:t>
            </a:r>
            <a:endParaRPr lang="en-US" sz="1700" dirty="0"/>
          </a:p>
        </p:txBody>
      </p:sp>
      <p:sp>
        <p:nvSpPr>
          <p:cNvPr id="13" name="Text 11"/>
          <p:cNvSpPr txBox="1"/>
          <p:nvPr/>
        </p:nvSpPr>
        <p:spPr>
          <a:xfrm>
            <a:off x="5257800" y="2011680"/>
            <a:ext cx="6217920" cy="548640"/>
          </a:xfrm>
          <a:prstGeom prst="rect">
            <a:avLst/>
          </a:prstGeom>
          <a:noFill/>
          <a:ln/>
        </p:spPr>
        <p:txBody>
          <a:bodyPr wrap="square" lIns="0" tIns="0" rIns="0" bIns="0" rtlCol="0" anchor="t"/>
          <a:lstStyle/>
          <a:p>
            <a:pPr marL="0" indent="0" algn="l">
              <a:buNone/>
            </a:pPr>
            <a:r>
              <a:rPr lang="en-US" sz="1456" dirty="0">
                <a:solidFill>
                  <a:srgbClr val="9FB3BD"/>
                </a:solidFill>
                <a:latin typeface="Calibri" pitchFamily="34" charset="0"/>
                <a:ea typeface="Calibri" pitchFamily="34" charset="-122"/>
                <a:cs typeface="Calibri" pitchFamily="34" charset="-120"/>
              </a:rPr>
              <a:t>Dressings, splint, elevation; most heal</a:t>
            </a:r>
            <a:endParaRPr lang="en-US" sz="1456" dirty="0"/>
          </a:p>
        </p:txBody>
      </p:sp>
      <p:sp>
        <p:nvSpPr>
          <p:cNvPr id="14" name="Shape 12"/>
          <p:cNvSpPr/>
          <p:nvPr/>
        </p:nvSpPr>
        <p:spPr>
          <a:xfrm>
            <a:off x="4434840" y="2715768"/>
            <a:ext cx="7223760" cy="1097280"/>
          </a:xfrm>
          <a:prstGeom prst="roundRect">
            <a:avLst>
              <a:gd name="adj" fmla="val 6667"/>
            </a:avLst>
          </a:prstGeom>
          <a:solidFill>
            <a:srgbClr val="132A36"/>
          </a:solidFill>
          <a:ln w="9525">
            <a:solidFill>
              <a:srgbClr val="2C4756"/>
            </a:solidFill>
            <a:prstDash val="solid"/>
          </a:ln>
        </p:spPr>
      </p:sp>
      <p:sp>
        <p:nvSpPr>
          <p:cNvPr id="15" name="Shape 13"/>
          <p:cNvSpPr/>
          <p:nvPr/>
        </p:nvSpPr>
        <p:spPr>
          <a:xfrm>
            <a:off x="4617720" y="3054096"/>
            <a:ext cx="420624" cy="420624"/>
          </a:xfrm>
          <a:prstGeom prst="ellipse">
            <a:avLst/>
          </a:prstGeom>
          <a:solidFill>
            <a:srgbClr val="FBBF24"/>
          </a:solidFill>
          <a:ln w="12700">
            <a:solidFill>
              <a:srgbClr val="FBBF24"/>
            </a:solidFill>
            <a:prstDash val="solid"/>
          </a:ln>
        </p:spPr>
      </p:sp>
      <p:sp>
        <p:nvSpPr>
          <p:cNvPr id="16" name="Text 14"/>
          <p:cNvSpPr txBox="1"/>
          <p:nvPr/>
        </p:nvSpPr>
        <p:spPr>
          <a:xfrm>
            <a:off x="4617720" y="3054096"/>
            <a:ext cx="420624" cy="420624"/>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2</a:t>
            </a:r>
            <a:endParaRPr lang="en-US" sz="1500" dirty="0"/>
          </a:p>
        </p:txBody>
      </p:sp>
      <p:sp>
        <p:nvSpPr>
          <p:cNvPr id="17" name="Text 15"/>
          <p:cNvSpPr txBox="1"/>
          <p:nvPr/>
        </p:nvSpPr>
        <p:spPr>
          <a:xfrm>
            <a:off x="5257800" y="2807208"/>
            <a:ext cx="6217920" cy="365760"/>
          </a:xfrm>
          <a:prstGeom prst="rect">
            <a:avLst/>
          </a:prstGeom>
          <a:noFill/>
          <a:ln/>
        </p:spPr>
        <p:txBody>
          <a:bodyPr wrap="square" lIns="0" tIns="0" rIns="0" bIns="0" rtlCol="0" anchor="t"/>
          <a:lstStyle/>
          <a:p>
            <a:pPr marL="0" indent="0" algn="l">
              <a:buNone/>
            </a:pPr>
            <a:r>
              <a:rPr lang="en-US" sz="1700" b="1" dirty="0">
                <a:solidFill>
                  <a:srgbClr val="F4F1EA"/>
                </a:solidFill>
                <a:latin typeface="Cambria" pitchFamily="34" charset="0"/>
                <a:ea typeface="Cambria" pitchFamily="34" charset="-122"/>
                <a:cs typeface="Cambria" pitchFamily="34" charset="-120"/>
              </a:rPr>
              <a:t>Dehiscence with exposed hardware</a:t>
            </a:r>
            <a:endParaRPr lang="en-US" sz="1700" dirty="0"/>
          </a:p>
        </p:txBody>
      </p:sp>
      <p:sp>
        <p:nvSpPr>
          <p:cNvPr id="18" name="Text 16"/>
          <p:cNvSpPr txBox="1"/>
          <p:nvPr/>
        </p:nvSpPr>
        <p:spPr>
          <a:xfrm>
            <a:off x="5257800" y="3218688"/>
            <a:ext cx="6217920" cy="548640"/>
          </a:xfrm>
          <a:prstGeom prst="rect">
            <a:avLst/>
          </a:prstGeom>
          <a:noFill/>
          <a:ln/>
        </p:spPr>
        <p:txBody>
          <a:bodyPr wrap="square" lIns="0" tIns="0" rIns="0" bIns="0" rtlCol="0" anchor="t"/>
          <a:lstStyle/>
          <a:p>
            <a:pPr marL="0" indent="0" algn="l">
              <a:buNone/>
            </a:pPr>
            <a:r>
              <a:rPr lang="en-US" sz="1456" dirty="0">
                <a:solidFill>
                  <a:srgbClr val="9FB3BD"/>
                </a:solidFill>
                <a:latin typeface="Calibri" pitchFamily="34" charset="0"/>
                <a:ea typeface="Calibri" pitchFamily="34" charset="-122"/>
                <a:cs typeface="Calibri" pitchFamily="34" charset="-120"/>
              </a:rPr>
              <a:t>Negative-pressure dressing, debridement, early flap cover</a:t>
            </a:r>
            <a:endParaRPr lang="en-US" sz="1456" dirty="0"/>
          </a:p>
        </p:txBody>
      </p:sp>
      <p:sp>
        <p:nvSpPr>
          <p:cNvPr id="19" name="Shape 17"/>
          <p:cNvSpPr/>
          <p:nvPr/>
        </p:nvSpPr>
        <p:spPr>
          <a:xfrm>
            <a:off x="4434840" y="3922776"/>
            <a:ext cx="7223760" cy="1097280"/>
          </a:xfrm>
          <a:prstGeom prst="roundRect">
            <a:avLst>
              <a:gd name="adj" fmla="val 6667"/>
            </a:avLst>
          </a:prstGeom>
          <a:solidFill>
            <a:srgbClr val="132A36"/>
          </a:solidFill>
          <a:ln w="9525">
            <a:solidFill>
              <a:srgbClr val="2C4756"/>
            </a:solidFill>
            <a:prstDash val="solid"/>
          </a:ln>
        </p:spPr>
      </p:sp>
      <p:sp>
        <p:nvSpPr>
          <p:cNvPr id="20" name="Shape 18"/>
          <p:cNvSpPr/>
          <p:nvPr/>
        </p:nvSpPr>
        <p:spPr>
          <a:xfrm>
            <a:off x="4617720" y="4261104"/>
            <a:ext cx="420624" cy="420624"/>
          </a:xfrm>
          <a:prstGeom prst="ellipse">
            <a:avLst/>
          </a:prstGeom>
          <a:solidFill>
            <a:srgbClr val="FF7A45"/>
          </a:solidFill>
          <a:ln w="12700">
            <a:solidFill>
              <a:srgbClr val="FF7A45"/>
            </a:solidFill>
            <a:prstDash val="solid"/>
          </a:ln>
        </p:spPr>
      </p:sp>
      <p:sp>
        <p:nvSpPr>
          <p:cNvPr id="21" name="Text 19"/>
          <p:cNvSpPr txBox="1"/>
          <p:nvPr/>
        </p:nvSpPr>
        <p:spPr>
          <a:xfrm>
            <a:off x="4617720" y="4261104"/>
            <a:ext cx="420624" cy="420624"/>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3</a:t>
            </a:r>
            <a:endParaRPr lang="en-US" sz="1500" dirty="0"/>
          </a:p>
        </p:txBody>
      </p:sp>
      <p:sp>
        <p:nvSpPr>
          <p:cNvPr id="22" name="Text 20"/>
          <p:cNvSpPr txBox="1"/>
          <p:nvPr/>
        </p:nvSpPr>
        <p:spPr>
          <a:xfrm>
            <a:off x="5257800" y="4014216"/>
            <a:ext cx="6217920" cy="365760"/>
          </a:xfrm>
          <a:prstGeom prst="rect">
            <a:avLst/>
          </a:prstGeom>
          <a:noFill/>
          <a:ln/>
        </p:spPr>
        <p:txBody>
          <a:bodyPr wrap="square" lIns="0" tIns="0" rIns="0" bIns="0" rtlCol="0" anchor="t"/>
          <a:lstStyle/>
          <a:p>
            <a:pPr marL="0" indent="0" algn="l">
              <a:buNone/>
            </a:pPr>
            <a:r>
              <a:rPr lang="en-US" sz="1700" b="1" dirty="0">
                <a:solidFill>
                  <a:srgbClr val="F4F1EA"/>
                </a:solidFill>
                <a:latin typeface="Cambria" pitchFamily="34" charset="0"/>
                <a:ea typeface="Cambria" pitchFamily="34" charset="-122"/>
                <a:cs typeface="Cambria" pitchFamily="34" charset="-120"/>
              </a:rPr>
              <a:t>Deep infection</a:t>
            </a:r>
            <a:endParaRPr lang="en-US" sz="1700" dirty="0"/>
          </a:p>
        </p:txBody>
      </p:sp>
      <p:sp>
        <p:nvSpPr>
          <p:cNvPr id="23" name="Text 21"/>
          <p:cNvSpPr txBox="1"/>
          <p:nvPr/>
        </p:nvSpPr>
        <p:spPr>
          <a:xfrm>
            <a:off x="5257800" y="4425696"/>
            <a:ext cx="6217920" cy="548640"/>
          </a:xfrm>
          <a:prstGeom prst="rect">
            <a:avLst/>
          </a:prstGeom>
          <a:noFill/>
          <a:ln/>
        </p:spPr>
        <p:txBody>
          <a:bodyPr wrap="square" lIns="0" tIns="0" rIns="0" bIns="0" rtlCol="0" anchor="t"/>
          <a:lstStyle/>
          <a:p>
            <a:pPr marL="0" indent="0" algn="l">
              <a:buNone/>
            </a:pPr>
            <a:r>
              <a:rPr lang="en-US" sz="1456" dirty="0">
                <a:solidFill>
                  <a:srgbClr val="9FB3BD"/>
                </a:solidFill>
                <a:latin typeface="Calibri" pitchFamily="34" charset="0"/>
                <a:ea typeface="Calibri" pitchFamily="34" charset="-122"/>
                <a:cs typeface="Calibri" pitchFamily="34" charset="-120"/>
              </a:rPr>
              <a:t>Debridement, cultures, IV antibiotics; keep stable hardware until union</a:t>
            </a:r>
            <a:endParaRPr lang="en-US" sz="1456" dirty="0"/>
          </a:p>
        </p:txBody>
      </p:sp>
      <p:sp>
        <p:nvSpPr>
          <p:cNvPr id="24" name="Shape 22"/>
          <p:cNvSpPr/>
          <p:nvPr/>
        </p:nvSpPr>
        <p:spPr>
          <a:xfrm>
            <a:off x="4434840" y="5129784"/>
            <a:ext cx="7223760" cy="1097280"/>
          </a:xfrm>
          <a:prstGeom prst="roundRect">
            <a:avLst>
              <a:gd name="adj" fmla="val 6667"/>
            </a:avLst>
          </a:prstGeom>
          <a:solidFill>
            <a:srgbClr val="132A36"/>
          </a:solidFill>
          <a:ln w="9525">
            <a:solidFill>
              <a:srgbClr val="2C4756"/>
            </a:solidFill>
            <a:prstDash val="solid"/>
          </a:ln>
        </p:spPr>
      </p:sp>
      <p:sp>
        <p:nvSpPr>
          <p:cNvPr id="25" name="Shape 23"/>
          <p:cNvSpPr/>
          <p:nvPr/>
        </p:nvSpPr>
        <p:spPr>
          <a:xfrm>
            <a:off x="4617720" y="5468112"/>
            <a:ext cx="420624" cy="420624"/>
          </a:xfrm>
          <a:prstGeom prst="ellipse">
            <a:avLst/>
          </a:prstGeom>
          <a:solidFill>
            <a:srgbClr val="F87171"/>
          </a:solidFill>
          <a:ln w="12700">
            <a:solidFill>
              <a:srgbClr val="F87171"/>
            </a:solidFill>
            <a:prstDash val="solid"/>
          </a:ln>
        </p:spPr>
      </p:sp>
      <p:sp>
        <p:nvSpPr>
          <p:cNvPr id="26" name="Text 24"/>
          <p:cNvSpPr txBox="1"/>
          <p:nvPr/>
        </p:nvSpPr>
        <p:spPr>
          <a:xfrm>
            <a:off x="4617720" y="5468112"/>
            <a:ext cx="420624" cy="420624"/>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4</a:t>
            </a:r>
            <a:endParaRPr lang="en-US" sz="1500" dirty="0"/>
          </a:p>
        </p:txBody>
      </p:sp>
      <p:sp>
        <p:nvSpPr>
          <p:cNvPr id="27" name="Text 25"/>
          <p:cNvSpPr txBox="1"/>
          <p:nvPr/>
        </p:nvSpPr>
        <p:spPr>
          <a:xfrm>
            <a:off x="5257800" y="5221224"/>
            <a:ext cx="6217920" cy="365760"/>
          </a:xfrm>
          <a:prstGeom prst="rect">
            <a:avLst/>
          </a:prstGeom>
          <a:noFill/>
          <a:ln/>
        </p:spPr>
        <p:txBody>
          <a:bodyPr wrap="square" lIns="0" tIns="0" rIns="0" bIns="0" rtlCol="0" anchor="t"/>
          <a:lstStyle/>
          <a:p>
            <a:pPr marL="0" indent="0" algn="l">
              <a:buNone/>
            </a:pPr>
            <a:r>
              <a:rPr lang="en-US" sz="1700" b="1" dirty="0">
                <a:solidFill>
                  <a:srgbClr val="F4F1EA"/>
                </a:solidFill>
                <a:latin typeface="Cambria" pitchFamily="34" charset="0"/>
                <a:ea typeface="Cambria" pitchFamily="34" charset="-122"/>
                <a:cs typeface="Cambria" pitchFamily="34" charset="-120"/>
              </a:rPr>
              <a:t>Osteomyelitis</a:t>
            </a:r>
            <a:endParaRPr lang="en-US" sz="1700" dirty="0"/>
          </a:p>
        </p:txBody>
      </p:sp>
      <p:sp>
        <p:nvSpPr>
          <p:cNvPr id="28" name="Text 26"/>
          <p:cNvSpPr txBox="1"/>
          <p:nvPr/>
        </p:nvSpPr>
        <p:spPr>
          <a:xfrm>
            <a:off x="5257800" y="5632704"/>
            <a:ext cx="6217920" cy="548640"/>
          </a:xfrm>
          <a:prstGeom prst="rect">
            <a:avLst/>
          </a:prstGeom>
          <a:noFill/>
          <a:ln/>
        </p:spPr>
        <p:txBody>
          <a:bodyPr wrap="square" lIns="0" tIns="0" rIns="0" bIns="0" rtlCol="0" anchor="t"/>
          <a:lstStyle/>
          <a:p>
            <a:pPr marL="0" indent="0" algn="l">
              <a:buNone/>
            </a:pPr>
            <a:r>
              <a:rPr lang="en-US" sz="1456" dirty="0">
                <a:solidFill>
                  <a:srgbClr val="9FB3BD"/>
                </a:solidFill>
                <a:latin typeface="Calibri" pitchFamily="34" charset="0"/>
                <a:ea typeface="Calibri" pitchFamily="34" charset="-122"/>
                <a:cs typeface="Calibri" pitchFamily="34" charset="-120"/>
              </a:rPr>
              <a:t>Radical debridement; hardware out, stabilise, prolonged antibiotics</a:t>
            </a:r>
            <a:endParaRPr lang="en-US" sz="1456"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0D1B24"/>
        </a:solidFill>
        <a:effectLst/>
      </p:bgPr>
    </p:bg>
    <p:spTree>
      <p:nvGrpSpPr>
        <p:cNvPr id="1" name=""/>
        <p:cNvGrpSpPr/>
        <p:nvPr/>
      </p:nvGrpSpPr>
      <p:grpSpPr>
        <a:xfrm>
          <a:off x="0" y="0"/>
          <a:ext cx="0" cy="0"/>
          <a:chOff x="0" y="0"/>
          <a:chExt cx="0" cy="0"/>
        </a:xfrm>
      </p:grpSpPr>
      <p:sp>
        <p:nvSpPr>
          <p:cNvPr id="3"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COMPLICATIONS</a:t>
            </a:r>
            <a:endParaRPr lang="en-US" sz="1200" dirty="0"/>
          </a:p>
        </p:txBody>
      </p:sp>
      <p:sp>
        <p:nvSpPr>
          <p:cNvPr id="4"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Malunion and post-traumatic arthritis</a:t>
            </a:r>
            <a:endParaRPr lang="en-US" sz="3200" dirty="0"/>
          </a:p>
        </p:txBody>
      </p:sp>
      <p:sp>
        <p:nvSpPr>
          <p:cNvPr id="5"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6"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33</a:t>
            </a:r>
            <a:endParaRPr lang="en-US" sz="1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2267712"/>
        </p:xfrm>
        <a:graphic>
          <a:graphicData uri="http://schemas.openxmlformats.org/drawingml/2006/table">
            <a:tbl>
              <a:tblPr/>
              <a:tblGrid>
                <a:gridCol w="91440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tblGrid>
              <a:tr h="566928">
                <a:tc>
                  <a:txBody>
                    <a:bodyPr/>
                    <a:lstStyle/>
                    <a:p>
                      <a:pPr marL="0" indent="0">
                        <a:buNone/>
                      </a:pPr>
                      <a:r>
                        <a:rPr lang="en-US" sz="1450" b="1" dirty="0">
                          <a:solidFill>
                            <a:srgbClr val="FBBF24"/>
                          </a:solidFill>
                          <a:latin typeface="Calibri" pitchFamily="34" charset="0"/>
                          <a:ea typeface="Calibri" pitchFamily="34" charset="-122"/>
                          <a:cs typeface="Calibri" pitchFamily="34" charset="-120"/>
                        </a:rPr>
                        <a:t>Type</a:t>
                      </a:r>
                      <a:endParaRPr lang="en-US" sz="14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1450" b="1" dirty="0">
                          <a:solidFill>
                            <a:srgbClr val="FBBF24"/>
                          </a:solidFill>
                          <a:latin typeface="Calibri" pitchFamily="34" charset="0"/>
                          <a:ea typeface="Calibri" pitchFamily="34" charset="-122"/>
                          <a:cs typeface="Calibri" pitchFamily="34" charset="-120"/>
                        </a:rPr>
                        <a:t>Findings</a:t>
                      </a:r>
                      <a:endParaRPr lang="en-US" sz="14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1450" b="1" dirty="0">
                          <a:solidFill>
                            <a:srgbClr val="FBBF24"/>
                          </a:solidFill>
                          <a:latin typeface="Calibri" pitchFamily="34" charset="0"/>
                          <a:ea typeface="Calibri" pitchFamily="34" charset="-122"/>
                          <a:cs typeface="Calibri" pitchFamily="34" charset="-120"/>
                        </a:rPr>
                        <a:t>Treatment</a:t>
                      </a:r>
                      <a:endParaRPr lang="en-US" sz="14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extLst>
                  <a:ext uri="{0D108BD9-81ED-4DB2-BD59-A6C34878D82A}">
                    <a16:rowId xmlns:a16="http://schemas.microsoft.com/office/drawing/2014/main" val="10000"/>
                  </a:ext>
                </a:extLst>
              </a:tr>
              <a:tr h="566928">
                <a:tc>
                  <a:txBody>
                    <a:bodyPr/>
                    <a:lstStyle/>
                    <a:p>
                      <a:pPr marL="0" indent="0">
                        <a:buNone/>
                      </a:pPr>
                      <a:r>
                        <a:rPr lang="en-US" sz="1450" b="1" dirty="0">
                          <a:solidFill>
                            <a:srgbClr val="2DD4BF"/>
                          </a:solidFill>
                          <a:latin typeface="Calibri" pitchFamily="34" charset="0"/>
                          <a:ea typeface="Calibri" pitchFamily="34" charset="-122"/>
                          <a:cs typeface="Calibri" pitchFamily="34" charset="-120"/>
                        </a:rPr>
                        <a:t>I</a:t>
                      </a:r>
                      <a:endParaRPr lang="en-US" sz="14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450" dirty="0">
                          <a:solidFill>
                            <a:srgbClr val="F4F1EA"/>
                          </a:solidFill>
                          <a:latin typeface="Calibri" pitchFamily="34" charset="0"/>
                          <a:ea typeface="Calibri" pitchFamily="34" charset="-122"/>
                          <a:cs typeface="Calibri" pitchFamily="34" charset="-120"/>
                        </a:rPr>
                        <a:t>Lateral wall exostosis with peroneal impingement, little arthritis</a:t>
                      </a:r>
                      <a:endParaRPr lang="en-US" sz="14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450" dirty="0">
                          <a:solidFill>
                            <a:srgbClr val="F4F1EA"/>
                          </a:solidFill>
                          <a:latin typeface="Calibri" pitchFamily="34" charset="0"/>
                          <a:ea typeface="Calibri" pitchFamily="34" charset="-122"/>
                          <a:cs typeface="Calibri" pitchFamily="34" charset="-120"/>
                        </a:rPr>
                        <a:t>Lateral wall exostectomy, peroneal decompression</a:t>
                      </a:r>
                      <a:endParaRPr lang="en-US" sz="14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1"/>
                  </a:ext>
                </a:extLst>
              </a:tr>
              <a:tr h="566928">
                <a:tc>
                  <a:txBody>
                    <a:bodyPr/>
                    <a:lstStyle/>
                    <a:p>
                      <a:pPr marL="0" indent="0">
                        <a:buNone/>
                      </a:pPr>
                      <a:r>
                        <a:rPr lang="en-US" sz="1450" b="1" dirty="0">
                          <a:solidFill>
                            <a:srgbClr val="2DD4BF"/>
                          </a:solidFill>
                          <a:latin typeface="Calibri" pitchFamily="34" charset="0"/>
                          <a:ea typeface="Calibri" pitchFamily="34" charset="-122"/>
                          <a:cs typeface="Calibri" pitchFamily="34" charset="-120"/>
                        </a:rPr>
                        <a:t>II</a:t>
                      </a:r>
                      <a:endParaRPr lang="en-US" sz="14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450" dirty="0">
                          <a:solidFill>
                            <a:srgbClr val="F4F1EA"/>
                          </a:solidFill>
                          <a:latin typeface="Calibri" pitchFamily="34" charset="0"/>
                          <a:ea typeface="Calibri" pitchFamily="34" charset="-122"/>
                          <a:cs typeface="Calibri" pitchFamily="34" charset="-120"/>
                        </a:rPr>
                        <a:t>Subtalar arthritis with acceptable heel alignment</a:t>
                      </a:r>
                      <a:endParaRPr lang="en-US" sz="14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1450" dirty="0">
                          <a:solidFill>
                            <a:srgbClr val="F4F1EA"/>
                          </a:solidFill>
                          <a:latin typeface="Calibri" pitchFamily="34" charset="0"/>
                          <a:ea typeface="Calibri" pitchFamily="34" charset="-122"/>
                          <a:cs typeface="Calibri" pitchFamily="34" charset="-120"/>
                        </a:rPr>
                        <a:t>In-situ subtalar arthrodesis</a:t>
                      </a:r>
                      <a:endParaRPr lang="en-US" sz="14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2"/>
                  </a:ext>
                </a:extLst>
              </a:tr>
              <a:tr h="566928">
                <a:tc>
                  <a:txBody>
                    <a:bodyPr/>
                    <a:lstStyle/>
                    <a:p>
                      <a:pPr marL="0" indent="0">
                        <a:buNone/>
                      </a:pPr>
                      <a:r>
                        <a:rPr lang="en-US" sz="1450" b="1" dirty="0">
                          <a:solidFill>
                            <a:srgbClr val="2DD4BF"/>
                          </a:solidFill>
                          <a:latin typeface="Calibri" pitchFamily="34" charset="0"/>
                          <a:ea typeface="Calibri" pitchFamily="34" charset="-122"/>
                          <a:cs typeface="Calibri" pitchFamily="34" charset="-120"/>
                        </a:rPr>
                        <a:t>III</a:t>
                      </a:r>
                      <a:endParaRPr lang="en-US" sz="14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450" dirty="0">
                          <a:solidFill>
                            <a:srgbClr val="F4F1EA"/>
                          </a:solidFill>
                          <a:latin typeface="Calibri" pitchFamily="34" charset="0"/>
                          <a:ea typeface="Calibri" pitchFamily="34" charset="-122"/>
                          <a:cs typeface="Calibri" pitchFamily="34" charset="-120"/>
                        </a:rPr>
                        <a:t>Subtalar arthritis with heel varus (about 10° or more) and height loss</a:t>
                      </a:r>
                      <a:endParaRPr lang="en-US" sz="14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1450" dirty="0">
                          <a:solidFill>
                            <a:srgbClr val="F4F1EA"/>
                          </a:solidFill>
                          <a:latin typeface="Calibri" pitchFamily="34" charset="0"/>
                          <a:ea typeface="Calibri" pitchFamily="34" charset="-122"/>
                          <a:cs typeface="Calibri" pitchFamily="34" charset="-120"/>
                        </a:rPr>
                        <a:t>Bone-block distraction subtalar arthrodesis (Carr)</a:t>
                      </a:r>
                      <a:endParaRPr lang="en-US" sz="14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3"/>
                  </a:ext>
                </a:extLst>
              </a:tr>
            </a:tbl>
          </a:graphicData>
        </a:graphic>
      </p:graphicFrame>
      <p:sp>
        <p:nvSpPr>
          <p:cNvPr id="8" name="Shape 4"/>
          <p:cNvSpPr/>
          <p:nvPr/>
        </p:nvSpPr>
        <p:spPr>
          <a:xfrm>
            <a:off x="548640" y="4160520"/>
            <a:ext cx="5440680" cy="2148840"/>
          </a:xfrm>
          <a:prstGeom prst="roundRect">
            <a:avLst>
              <a:gd name="adj" fmla="val 3404"/>
            </a:avLst>
          </a:prstGeom>
          <a:solidFill>
            <a:srgbClr val="132A36"/>
          </a:solidFill>
          <a:ln w="9525">
            <a:solidFill>
              <a:srgbClr val="2C4756"/>
            </a:solidFill>
            <a:prstDash val="solid"/>
          </a:ln>
        </p:spPr>
      </p:sp>
      <p:sp>
        <p:nvSpPr>
          <p:cNvPr id="9" name="Text 5"/>
          <p:cNvSpPr txBox="1"/>
          <p:nvPr/>
        </p:nvSpPr>
        <p:spPr>
          <a:xfrm>
            <a:off x="777240" y="4251960"/>
            <a:ext cx="4937760" cy="365760"/>
          </a:xfrm>
          <a:prstGeom prst="rect">
            <a:avLst/>
          </a:prstGeom>
          <a:noFill/>
          <a:ln/>
        </p:spPr>
        <p:txBody>
          <a:bodyPr wrap="square" lIns="0" tIns="0" rIns="0" bIns="0" rtlCol="0" anchor="t"/>
          <a:lstStyle/>
          <a:p>
            <a:pPr marL="0" indent="0" algn="l">
              <a:buNone/>
            </a:pPr>
            <a:r>
              <a:rPr lang="en-US" sz="1900" b="1" dirty="0">
                <a:solidFill>
                  <a:srgbClr val="FBBF24"/>
                </a:solidFill>
                <a:latin typeface="Cambria" pitchFamily="34" charset="0"/>
                <a:ea typeface="Cambria" pitchFamily="34" charset="-122"/>
                <a:cs typeface="Cambria" pitchFamily="34" charset="-120"/>
              </a:rPr>
              <a:t>Assess before you operate</a:t>
            </a:r>
            <a:endParaRPr lang="en-US" sz="1900" dirty="0"/>
          </a:p>
        </p:txBody>
      </p:sp>
      <p:sp>
        <p:nvSpPr>
          <p:cNvPr id="10" name="Text 6"/>
          <p:cNvSpPr txBox="1"/>
          <p:nvPr/>
        </p:nvSpPr>
        <p:spPr>
          <a:xfrm>
            <a:off x="777240" y="4709160"/>
            <a:ext cx="5029200" cy="1554480"/>
          </a:xfrm>
          <a:prstGeom prst="rect">
            <a:avLst/>
          </a:prstGeom>
          <a:noFill/>
          <a:ln/>
        </p:spPr>
        <p:txBody>
          <a:bodyPr wrap="square" lIns="0" tIns="0" rIns="0" bIns="0" rtlCol="0" anchor="t"/>
          <a:lstStyle/>
          <a:p>
            <a:pPr marL="203200" indent="-203200">
              <a:spcAft>
                <a:spcPts val="500"/>
              </a:spcAft>
              <a:buSzPct val="100000"/>
              <a:buChar char="•"/>
            </a:pPr>
            <a:r>
              <a:rPr lang="en-US" sz="1450" dirty="0">
                <a:solidFill>
                  <a:srgbClr val="F4F1EA"/>
                </a:solidFill>
                <a:latin typeface="Calibri" pitchFamily="34" charset="0"/>
                <a:ea typeface="Calibri" pitchFamily="34" charset="-122"/>
                <a:cs typeface="Calibri" pitchFamily="34" charset="-120"/>
              </a:rPr>
              <a:t>Weight-bearing lateral and axial views: height and varus</a:t>
            </a:r>
            <a:endParaRPr lang="en-US" sz="1450" dirty="0"/>
          </a:p>
          <a:p>
            <a:pPr marL="203200" indent="-203200">
              <a:spcAft>
                <a:spcPts val="500"/>
              </a:spcAft>
              <a:buSzPct val="100000"/>
              <a:buChar char="•"/>
            </a:pPr>
            <a:r>
              <a:rPr lang="en-US" sz="1450" dirty="0">
                <a:solidFill>
                  <a:srgbClr val="F4F1EA"/>
                </a:solidFill>
                <a:latin typeface="Calibri" pitchFamily="34" charset="0"/>
                <a:ea typeface="Calibri" pitchFamily="34" charset="-122"/>
                <a:cs typeface="Calibri" pitchFamily="34" charset="-120"/>
              </a:rPr>
              <a:t>CT for the subtalar joint and the lateral wall</a:t>
            </a:r>
            <a:endParaRPr lang="en-US" sz="1450" dirty="0"/>
          </a:p>
          <a:p>
            <a:pPr marL="203200" indent="-203200">
              <a:spcAft>
                <a:spcPts val="500"/>
              </a:spcAft>
              <a:buSzPct val="100000"/>
              <a:buChar char="•"/>
            </a:pPr>
            <a:r>
              <a:rPr lang="en-US" sz="1450" dirty="0">
                <a:solidFill>
                  <a:srgbClr val="F4F1EA"/>
                </a:solidFill>
                <a:latin typeface="Calibri" pitchFamily="34" charset="0"/>
                <a:ea typeface="Calibri" pitchFamily="34" charset="-122"/>
                <a:cs typeface="Calibri" pitchFamily="34" charset="-120"/>
              </a:rPr>
              <a:t>Gait, shoe wear, peroneal function</a:t>
            </a:r>
            <a:endParaRPr lang="en-US" sz="1450" dirty="0"/>
          </a:p>
        </p:txBody>
      </p:sp>
      <p:sp>
        <p:nvSpPr>
          <p:cNvPr id="11" name="Shape 7"/>
          <p:cNvSpPr/>
          <p:nvPr/>
        </p:nvSpPr>
        <p:spPr>
          <a:xfrm>
            <a:off x="6217920" y="4160520"/>
            <a:ext cx="5440680" cy="2148840"/>
          </a:xfrm>
          <a:prstGeom prst="roundRect">
            <a:avLst>
              <a:gd name="adj" fmla="val 3404"/>
            </a:avLst>
          </a:prstGeom>
          <a:solidFill>
            <a:srgbClr val="132A36"/>
          </a:solidFill>
          <a:ln w="9525">
            <a:solidFill>
              <a:srgbClr val="2C4756"/>
            </a:solidFill>
            <a:prstDash val="solid"/>
          </a:ln>
        </p:spPr>
      </p:sp>
      <p:sp>
        <p:nvSpPr>
          <p:cNvPr id="12" name="Text 8"/>
          <p:cNvSpPr txBox="1"/>
          <p:nvPr/>
        </p:nvSpPr>
        <p:spPr>
          <a:xfrm>
            <a:off x="6446520" y="4251960"/>
            <a:ext cx="4937760" cy="365760"/>
          </a:xfrm>
          <a:prstGeom prst="rect">
            <a:avLst/>
          </a:prstGeom>
          <a:noFill/>
          <a:ln/>
        </p:spPr>
        <p:txBody>
          <a:bodyPr wrap="square" lIns="0" tIns="0" rIns="0" bIns="0" rtlCol="0" anchor="t"/>
          <a:lstStyle/>
          <a:p>
            <a:pPr marL="0" indent="0" algn="l">
              <a:buNone/>
            </a:pPr>
            <a:r>
              <a:rPr lang="en-US" sz="1900" b="1" dirty="0">
                <a:solidFill>
                  <a:srgbClr val="FF7A45"/>
                </a:solidFill>
                <a:latin typeface="Cambria" pitchFamily="34" charset="0"/>
                <a:ea typeface="Cambria" pitchFamily="34" charset="-122"/>
                <a:cs typeface="Cambria" pitchFamily="34" charset="-120"/>
              </a:rPr>
              <a:t>Counsel the patient</a:t>
            </a:r>
            <a:endParaRPr lang="en-US" sz="1900" dirty="0"/>
          </a:p>
        </p:txBody>
      </p:sp>
      <p:sp>
        <p:nvSpPr>
          <p:cNvPr id="13" name="Text 9"/>
          <p:cNvSpPr txBox="1"/>
          <p:nvPr/>
        </p:nvSpPr>
        <p:spPr>
          <a:xfrm>
            <a:off x="6446520" y="4709160"/>
            <a:ext cx="5029200" cy="1554480"/>
          </a:xfrm>
          <a:prstGeom prst="rect">
            <a:avLst/>
          </a:prstGeom>
          <a:noFill/>
          <a:ln/>
        </p:spPr>
        <p:txBody>
          <a:bodyPr wrap="square" lIns="0" tIns="0" rIns="0" bIns="0" rtlCol="0" anchor="t"/>
          <a:lstStyle/>
          <a:p>
            <a:pPr marL="203200" indent="-203200">
              <a:spcAft>
                <a:spcPts val="500"/>
              </a:spcAft>
              <a:buSzPct val="100000"/>
              <a:buChar char="•"/>
            </a:pPr>
            <a:r>
              <a:rPr lang="en-US" sz="1450" dirty="0">
                <a:solidFill>
                  <a:srgbClr val="F4F1EA"/>
                </a:solidFill>
                <a:latin typeface="Calibri" pitchFamily="34" charset="0"/>
                <a:ea typeface="Calibri" pitchFamily="34" charset="-122"/>
                <a:cs typeface="Calibri" pitchFamily="34" charset="-120"/>
              </a:rPr>
              <a:t>Fusion trades pain for stiffness</a:t>
            </a:r>
            <a:endParaRPr lang="en-US" sz="1450" dirty="0"/>
          </a:p>
          <a:p>
            <a:pPr marL="203200" indent="-203200">
              <a:spcAft>
                <a:spcPts val="500"/>
              </a:spcAft>
              <a:buSzPct val="100000"/>
              <a:buChar char="•"/>
            </a:pPr>
            <a:r>
              <a:rPr lang="en-US" sz="1450" dirty="0">
                <a:solidFill>
                  <a:srgbClr val="F4F1EA"/>
                </a:solidFill>
                <a:latin typeface="Calibri" pitchFamily="34" charset="0"/>
                <a:ea typeface="Calibri" pitchFamily="34" charset="-122"/>
                <a:cs typeface="Calibri" pitchFamily="34" charset="-120"/>
              </a:rPr>
              <a:t>Restoring height and alignment matters as much as fusing</a:t>
            </a:r>
            <a:endParaRPr lang="en-US" sz="1450" dirty="0"/>
          </a:p>
          <a:p>
            <a:pPr marL="203200" indent="-203200">
              <a:spcAft>
                <a:spcPts val="500"/>
              </a:spcAft>
              <a:buSzPct val="100000"/>
              <a:buChar char="•"/>
            </a:pPr>
            <a:r>
              <a:rPr lang="en-US" sz="1450" dirty="0">
                <a:solidFill>
                  <a:srgbClr val="F4F1EA"/>
                </a:solidFill>
                <a:latin typeface="Calibri" pitchFamily="34" charset="0"/>
                <a:ea typeface="Calibri" pitchFamily="34" charset="-122"/>
                <a:cs typeface="Calibri" pitchFamily="34" charset="-120"/>
              </a:rPr>
              <a:t>Wound healing and smoking status decide the timing</a:t>
            </a:r>
            <a:endParaRPr lang="en-US" sz="14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COMPLICATIONS</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Other complications and pearls</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34</a:t>
            </a:r>
            <a:endParaRPr lang="en-US" sz="1000" dirty="0"/>
          </a:p>
        </p:txBody>
      </p:sp>
      <p:sp>
        <p:nvSpPr>
          <p:cNvPr id="6" name="Shape 4"/>
          <p:cNvSpPr/>
          <p:nvPr/>
        </p:nvSpPr>
        <p:spPr>
          <a:xfrm>
            <a:off x="548640" y="1508760"/>
            <a:ext cx="3520440" cy="2286000"/>
          </a:xfrm>
          <a:prstGeom prst="roundRect">
            <a:avLst>
              <a:gd name="adj" fmla="val 3200"/>
            </a:avLst>
          </a:prstGeom>
          <a:solidFill>
            <a:srgbClr val="132A36"/>
          </a:solidFill>
          <a:ln w="9525">
            <a:solidFill>
              <a:srgbClr val="2C4756"/>
            </a:solidFill>
            <a:prstDash val="solid"/>
          </a:ln>
        </p:spPr>
      </p:sp>
      <p:sp>
        <p:nvSpPr>
          <p:cNvPr id="7" name="Shape 5"/>
          <p:cNvSpPr/>
          <p:nvPr/>
        </p:nvSpPr>
        <p:spPr>
          <a:xfrm>
            <a:off x="731520" y="1673352"/>
            <a:ext cx="384048" cy="384048"/>
          </a:xfrm>
          <a:prstGeom prst="ellipse">
            <a:avLst/>
          </a:prstGeom>
          <a:solidFill>
            <a:srgbClr val="2DD4BF"/>
          </a:solidFill>
          <a:ln w="12700">
            <a:solidFill>
              <a:srgbClr val="2DD4BF"/>
            </a:solidFill>
            <a:prstDash val="solid"/>
          </a:ln>
        </p:spPr>
      </p:sp>
      <p:sp>
        <p:nvSpPr>
          <p:cNvPr id="8" name="Text 6"/>
          <p:cNvSpPr txBox="1"/>
          <p:nvPr/>
        </p:nvSpPr>
        <p:spPr>
          <a:xfrm>
            <a:off x="731520" y="167335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234440" y="1645920"/>
            <a:ext cx="2743200" cy="502920"/>
          </a:xfrm>
          <a:prstGeom prst="rect">
            <a:avLst/>
          </a:prstGeom>
          <a:noFill/>
          <a:ln/>
        </p:spPr>
        <p:txBody>
          <a:bodyPr wrap="square" lIns="0" tIns="0" rIns="0" bIns="0" rtlCol="0" anchor="t"/>
          <a:lstStyle/>
          <a:p>
            <a:pPr marL="0" indent="0" algn="l">
              <a:buNone/>
            </a:pPr>
            <a:r>
              <a:rPr lang="en-US" sz="1600" b="1" dirty="0">
                <a:solidFill>
                  <a:srgbClr val="F4F1EA"/>
                </a:solidFill>
                <a:latin typeface="Cambria" pitchFamily="34" charset="0"/>
                <a:ea typeface="Cambria" pitchFamily="34" charset="-122"/>
                <a:cs typeface="Cambria" pitchFamily="34" charset="-120"/>
              </a:rPr>
              <a:t>Peroneal tendon problems</a:t>
            </a:r>
            <a:endParaRPr lang="en-US" sz="1600" dirty="0"/>
          </a:p>
        </p:txBody>
      </p:sp>
      <p:sp>
        <p:nvSpPr>
          <p:cNvPr id="10" name="Text 8"/>
          <p:cNvSpPr txBox="1"/>
          <p:nvPr/>
        </p:nvSpPr>
        <p:spPr>
          <a:xfrm>
            <a:off x="777240" y="2286000"/>
            <a:ext cx="3108960" cy="1463040"/>
          </a:xfrm>
          <a:prstGeom prst="rect">
            <a:avLst/>
          </a:prstGeom>
          <a:noFill/>
          <a:ln/>
        </p:spPr>
        <p:txBody>
          <a:bodyPr wrap="square" lIns="0" tIns="0" rIns="0" bIns="0" rtlCol="0" anchor="t"/>
          <a:lstStyle/>
          <a:p>
            <a:pPr marL="0" indent="0" algn="l">
              <a:buNone/>
            </a:pPr>
            <a:r>
              <a:rPr lang="en-US" sz="1495" dirty="0">
                <a:solidFill>
                  <a:srgbClr val="F4F1EA"/>
                </a:solidFill>
                <a:latin typeface="Calibri" pitchFamily="34" charset="0"/>
                <a:ea typeface="Calibri" pitchFamily="34" charset="-122"/>
                <a:cs typeface="Calibri" pitchFamily="34" charset="-120"/>
              </a:rPr>
              <a:t>Trapped, subluxed or torn over a widened lateral wall. Decompress and repair.</a:t>
            </a:r>
            <a:endParaRPr lang="en-US" sz="1495" dirty="0"/>
          </a:p>
        </p:txBody>
      </p:sp>
      <p:sp>
        <p:nvSpPr>
          <p:cNvPr id="11" name="Shape 9"/>
          <p:cNvSpPr/>
          <p:nvPr/>
        </p:nvSpPr>
        <p:spPr>
          <a:xfrm>
            <a:off x="4297680" y="1508760"/>
            <a:ext cx="3520440" cy="2286000"/>
          </a:xfrm>
          <a:prstGeom prst="roundRect">
            <a:avLst>
              <a:gd name="adj" fmla="val 3200"/>
            </a:avLst>
          </a:prstGeom>
          <a:solidFill>
            <a:srgbClr val="132A36"/>
          </a:solidFill>
          <a:ln w="9525">
            <a:solidFill>
              <a:srgbClr val="2C4756"/>
            </a:solidFill>
            <a:prstDash val="solid"/>
          </a:ln>
        </p:spPr>
      </p:sp>
      <p:sp>
        <p:nvSpPr>
          <p:cNvPr id="12" name="Shape 10"/>
          <p:cNvSpPr/>
          <p:nvPr/>
        </p:nvSpPr>
        <p:spPr>
          <a:xfrm>
            <a:off x="4480560" y="1673352"/>
            <a:ext cx="384048" cy="384048"/>
          </a:xfrm>
          <a:prstGeom prst="ellipse">
            <a:avLst/>
          </a:prstGeom>
          <a:solidFill>
            <a:srgbClr val="FBBF24"/>
          </a:solidFill>
          <a:ln w="12700">
            <a:solidFill>
              <a:srgbClr val="FBBF24"/>
            </a:solidFill>
            <a:prstDash val="solid"/>
          </a:ln>
        </p:spPr>
      </p:sp>
      <p:sp>
        <p:nvSpPr>
          <p:cNvPr id="13" name="Text 11"/>
          <p:cNvSpPr txBox="1"/>
          <p:nvPr/>
        </p:nvSpPr>
        <p:spPr>
          <a:xfrm>
            <a:off x="4480560" y="167335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983480" y="1645920"/>
            <a:ext cx="2743200" cy="502920"/>
          </a:xfrm>
          <a:prstGeom prst="rect">
            <a:avLst/>
          </a:prstGeom>
          <a:noFill/>
          <a:ln/>
        </p:spPr>
        <p:txBody>
          <a:bodyPr wrap="square" lIns="0" tIns="0" rIns="0" bIns="0" rtlCol="0" anchor="t"/>
          <a:lstStyle/>
          <a:p>
            <a:pPr marL="0" indent="0" algn="l">
              <a:buNone/>
            </a:pPr>
            <a:r>
              <a:rPr lang="en-US" sz="1600" b="1" dirty="0">
                <a:solidFill>
                  <a:srgbClr val="F4F1EA"/>
                </a:solidFill>
                <a:latin typeface="Cambria" pitchFamily="34" charset="0"/>
                <a:ea typeface="Cambria" pitchFamily="34" charset="-122"/>
                <a:cs typeface="Cambria" pitchFamily="34" charset="-120"/>
              </a:rPr>
              <a:t>Sural neuralgia</a:t>
            </a:r>
            <a:endParaRPr lang="en-US" sz="1600" dirty="0"/>
          </a:p>
        </p:txBody>
      </p:sp>
      <p:sp>
        <p:nvSpPr>
          <p:cNvPr id="15" name="Text 13"/>
          <p:cNvSpPr txBox="1"/>
          <p:nvPr/>
        </p:nvSpPr>
        <p:spPr>
          <a:xfrm>
            <a:off x="4526280" y="2286000"/>
            <a:ext cx="3108960" cy="1463040"/>
          </a:xfrm>
          <a:prstGeom prst="rect">
            <a:avLst/>
          </a:prstGeom>
          <a:noFill/>
          <a:ln/>
        </p:spPr>
        <p:txBody>
          <a:bodyPr wrap="square" lIns="0" tIns="0" rIns="0" bIns="0" rtlCol="0" anchor="t"/>
          <a:lstStyle/>
          <a:p>
            <a:pPr marL="0" indent="0" algn="l">
              <a:buNone/>
            </a:pPr>
            <a:r>
              <a:rPr lang="en-US" sz="1495" dirty="0">
                <a:solidFill>
                  <a:srgbClr val="F4F1EA"/>
                </a:solidFill>
                <a:latin typeface="Calibri" pitchFamily="34" charset="0"/>
                <a:ea typeface="Calibri" pitchFamily="34" charset="-122"/>
                <a:cs typeface="Calibri" pitchFamily="34" charset="-120"/>
              </a:rPr>
              <a:t>Neuroma after the lateral approach. Desensitise, neurolysis or resection.</a:t>
            </a:r>
            <a:endParaRPr lang="en-US" sz="1495" dirty="0"/>
          </a:p>
        </p:txBody>
      </p:sp>
      <p:sp>
        <p:nvSpPr>
          <p:cNvPr id="16" name="Shape 14"/>
          <p:cNvSpPr/>
          <p:nvPr/>
        </p:nvSpPr>
        <p:spPr>
          <a:xfrm>
            <a:off x="8046720" y="1508760"/>
            <a:ext cx="3520440" cy="2286000"/>
          </a:xfrm>
          <a:prstGeom prst="roundRect">
            <a:avLst>
              <a:gd name="adj" fmla="val 3200"/>
            </a:avLst>
          </a:prstGeom>
          <a:solidFill>
            <a:srgbClr val="132A36"/>
          </a:solidFill>
          <a:ln w="9525">
            <a:solidFill>
              <a:srgbClr val="2C4756"/>
            </a:solidFill>
            <a:prstDash val="solid"/>
          </a:ln>
        </p:spPr>
      </p:sp>
      <p:sp>
        <p:nvSpPr>
          <p:cNvPr id="17" name="Shape 15"/>
          <p:cNvSpPr/>
          <p:nvPr/>
        </p:nvSpPr>
        <p:spPr>
          <a:xfrm>
            <a:off x="8229600" y="1673352"/>
            <a:ext cx="384048" cy="384048"/>
          </a:xfrm>
          <a:prstGeom prst="ellipse">
            <a:avLst/>
          </a:prstGeom>
          <a:solidFill>
            <a:srgbClr val="FF7A45"/>
          </a:solidFill>
          <a:ln w="12700">
            <a:solidFill>
              <a:srgbClr val="FF7A45"/>
            </a:solidFill>
            <a:prstDash val="solid"/>
          </a:ln>
        </p:spPr>
      </p:sp>
      <p:sp>
        <p:nvSpPr>
          <p:cNvPr id="18" name="Text 16"/>
          <p:cNvSpPr txBox="1"/>
          <p:nvPr/>
        </p:nvSpPr>
        <p:spPr>
          <a:xfrm>
            <a:off x="8229600" y="167335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732520" y="1645920"/>
            <a:ext cx="2743200" cy="502920"/>
          </a:xfrm>
          <a:prstGeom prst="rect">
            <a:avLst/>
          </a:prstGeom>
          <a:noFill/>
          <a:ln/>
        </p:spPr>
        <p:txBody>
          <a:bodyPr wrap="square" lIns="0" tIns="0" rIns="0" bIns="0" rtlCol="0" anchor="t"/>
          <a:lstStyle/>
          <a:p>
            <a:pPr marL="0" indent="0" algn="l">
              <a:buNone/>
            </a:pPr>
            <a:r>
              <a:rPr lang="en-US" sz="1600" b="1" dirty="0">
                <a:solidFill>
                  <a:srgbClr val="F4F1EA"/>
                </a:solidFill>
                <a:latin typeface="Cambria" pitchFamily="34" charset="0"/>
                <a:ea typeface="Cambria" pitchFamily="34" charset="-122"/>
                <a:cs typeface="Cambria" pitchFamily="34" charset="-120"/>
              </a:rPr>
              <a:t>Heel pad and plantar pain</a:t>
            </a:r>
            <a:endParaRPr lang="en-US" sz="1600" dirty="0"/>
          </a:p>
        </p:txBody>
      </p:sp>
      <p:sp>
        <p:nvSpPr>
          <p:cNvPr id="20" name="Text 18"/>
          <p:cNvSpPr txBox="1"/>
          <p:nvPr/>
        </p:nvSpPr>
        <p:spPr>
          <a:xfrm>
            <a:off x="8275320" y="2286000"/>
            <a:ext cx="3108960" cy="1463040"/>
          </a:xfrm>
          <a:prstGeom prst="rect">
            <a:avLst/>
          </a:prstGeom>
          <a:noFill/>
          <a:ln/>
        </p:spPr>
        <p:txBody>
          <a:bodyPr wrap="square" lIns="0" tIns="0" rIns="0" bIns="0" rtlCol="0" anchor="t"/>
          <a:lstStyle/>
          <a:p>
            <a:pPr marL="0" indent="0" algn="l">
              <a:buNone/>
            </a:pPr>
            <a:r>
              <a:rPr lang="en-US" sz="1495" dirty="0">
                <a:solidFill>
                  <a:srgbClr val="F4F1EA"/>
                </a:solidFill>
                <a:latin typeface="Calibri" pitchFamily="34" charset="0"/>
                <a:ea typeface="Calibri" pitchFamily="34" charset="-122"/>
                <a:cs typeface="Calibri" pitchFamily="34" charset="-120"/>
              </a:rPr>
              <a:t>Fibrofatty pad damage and plantar fascia; cushioned insoles, shoe modification.</a:t>
            </a:r>
            <a:endParaRPr lang="en-US" sz="1495" dirty="0"/>
          </a:p>
        </p:txBody>
      </p:sp>
      <p:sp>
        <p:nvSpPr>
          <p:cNvPr id="21" name="Shape 19"/>
          <p:cNvSpPr/>
          <p:nvPr/>
        </p:nvSpPr>
        <p:spPr>
          <a:xfrm>
            <a:off x="548640" y="3931920"/>
            <a:ext cx="3520440" cy="2286000"/>
          </a:xfrm>
          <a:prstGeom prst="roundRect">
            <a:avLst>
              <a:gd name="adj" fmla="val 3200"/>
            </a:avLst>
          </a:prstGeom>
          <a:solidFill>
            <a:srgbClr val="132A36"/>
          </a:solidFill>
          <a:ln w="9525">
            <a:solidFill>
              <a:srgbClr val="2C4756"/>
            </a:solidFill>
            <a:prstDash val="solid"/>
          </a:ln>
        </p:spPr>
      </p:sp>
      <p:sp>
        <p:nvSpPr>
          <p:cNvPr id="22" name="Shape 20"/>
          <p:cNvSpPr/>
          <p:nvPr/>
        </p:nvSpPr>
        <p:spPr>
          <a:xfrm>
            <a:off x="731520" y="4096512"/>
            <a:ext cx="384048" cy="384048"/>
          </a:xfrm>
          <a:prstGeom prst="ellipse">
            <a:avLst/>
          </a:prstGeom>
          <a:solidFill>
            <a:srgbClr val="F87171"/>
          </a:solidFill>
          <a:ln w="12700">
            <a:solidFill>
              <a:srgbClr val="F87171"/>
            </a:solidFill>
            <a:prstDash val="solid"/>
          </a:ln>
        </p:spPr>
      </p:sp>
      <p:sp>
        <p:nvSpPr>
          <p:cNvPr id="23" name="Text 21"/>
          <p:cNvSpPr txBox="1"/>
          <p:nvPr/>
        </p:nvSpPr>
        <p:spPr>
          <a:xfrm>
            <a:off x="731520" y="409651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1234440" y="4069080"/>
            <a:ext cx="2743200" cy="502920"/>
          </a:xfrm>
          <a:prstGeom prst="rect">
            <a:avLst/>
          </a:prstGeom>
          <a:noFill/>
          <a:ln/>
        </p:spPr>
        <p:txBody>
          <a:bodyPr wrap="square" lIns="0" tIns="0" rIns="0" bIns="0" rtlCol="0" anchor="t"/>
          <a:lstStyle/>
          <a:p>
            <a:pPr marL="0" indent="0" algn="l">
              <a:buNone/>
            </a:pPr>
            <a:r>
              <a:rPr lang="en-US" sz="1600" b="1" dirty="0">
                <a:solidFill>
                  <a:srgbClr val="F4F1EA"/>
                </a:solidFill>
                <a:latin typeface="Cambria" pitchFamily="34" charset="0"/>
                <a:ea typeface="Cambria" pitchFamily="34" charset="-122"/>
                <a:cs typeface="Cambria" pitchFamily="34" charset="-120"/>
              </a:rPr>
              <a:t>CRPS</a:t>
            </a:r>
            <a:endParaRPr lang="en-US" sz="1600" dirty="0"/>
          </a:p>
        </p:txBody>
      </p:sp>
      <p:sp>
        <p:nvSpPr>
          <p:cNvPr id="25" name="Text 23"/>
          <p:cNvSpPr txBox="1"/>
          <p:nvPr/>
        </p:nvSpPr>
        <p:spPr>
          <a:xfrm>
            <a:off x="777240" y="4709160"/>
            <a:ext cx="3108960" cy="1463040"/>
          </a:xfrm>
          <a:prstGeom prst="rect">
            <a:avLst/>
          </a:prstGeom>
          <a:noFill/>
          <a:ln/>
        </p:spPr>
        <p:txBody>
          <a:bodyPr wrap="square" lIns="0" tIns="0" rIns="0" bIns="0" rtlCol="0" anchor="t"/>
          <a:lstStyle/>
          <a:p>
            <a:pPr marL="0" indent="0" algn="l">
              <a:buNone/>
            </a:pPr>
            <a:r>
              <a:rPr lang="en-US" sz="1495" dirty="0">
                <a:solidFill>
                  <a:srgbClr val="F4F1EA"/>
                </a:solidFill>
                <a:latin typeface="Calibri" pitchFamily="34" charset="0"/>
                <a:ea typeface="Calibri" pitchFamily="34" charset="-122"/>
                <a:cs typeface="Calibri" pitchFamily="34" charset="-120"/>
              </a:rPr>
              <a:t>Disproportionate pain, swelling and colour change. Early mobilisation and pain team.</a:t>
            </a:r>
            <a:endParaRPr lang="en-US" sz="1495" dirty="0"/>
          </a:p>
        </p:txBody>
      </p:sp>
      <p:sp>
        <p:nvSpPr>
          <p:cNvPr id="26" name="Shape 24"/>
          <p:cNvSpPr/>
          <p:nvPr/>
        </p:nvSpPr>
        <p:spPr>
          <a:xfrm>
            <a:off x="4297680" y="3931920"/>
            <a:ext cx="3520440" cy="2286000"/>
          </a:xfrm>
          <a:prstGeom prst="roundRect">
            <a:avLst>
              <a:gd name="adj" fmla="val 3200"/>
            </a:avLst>
          </a:prstGeom>
          <a:solidFill>
            <a:srgbClr val="132A36"/>
          </a:solidFill>
          <a:ln w="9525">
            <a:solidFill>
              <a:srgbClr val="2C4756"/>
            </a:solidFill>
            <a:prstDash val="solid"/>
          </a:ln>
        </p:spPr>
      </p:sp>
      <p:sp>
        <p:nvSpPr>
          <p:cNvPr id="27" name="Shape 25"/>
          <p:cNvSpPr/>
          <p:nvPr/>
        </p:nvSpPr>
        <p:spPr>
          <a:xfrm>
            <a:off x="4480560" y="4096512"/>
            <a:ext cx="384048" cy="384048"/>
          </a:xfrm>
          <a:prstGeom prst="ellipse">
            <a:avLst/>
          </a:prstGeom>
          <a:solidFill>
            <a:srgbClr val="E9DCC0"/>
          </a:solidFill>
          <a:ln w="12700">
            <a:solidFill>
              <a:srgbClr val="E9DCC0"/>
            </a:solidFill>
            <a:prstDash val="solid"/>
          </a:ln>
        </p:spPr>
      </p:sp>
      <p:sp>
        <p:nvSpPr>
          <p:cNvPr id="28" name="Text 26"/>
          <p:cNvSpPr txBox="1"/>
          <p:nvPr/>
        </p:nvSpPr>
        <p:spPr>
          <a:xfrm>
            <a:off x="4480560" y="409651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5</a:t>
            </a:r>
            <a:endParaRPr lang="en-US" sz="1500" dirty="0"/>
          </a:p>
        </p:txBody>
      </p:sp>
      <p:sp>
        <p:nvSpPr>
          <p:cNvPr id="29" name="Text 27"/>
          <p:cNvSpPr txBox="1"/>
          <p:nvPr/>
        </p:nvSpPr>
        <p:spPr>
          <a:xfrm>
            <a:off x="4983480" y="4069080"/>
            <a:ext cx="2743200" cy="502920"/>
          </a:xfrm>
          <a:prstGeom prst="rect">
            <a:avLst/>
          </a:prstGeom>
          <a:noFill/>
          <a:ln/>
        </p:spPr>
        <p:txBody>
          <a:bodyPr wrap="square" lIns="0" tIns="0" rIns="0" bIns="0" rtlCol="0" anchor="t"/>
          <a:lstStyle/>
          <a:p>
            <a:pPr marL="0" indent="0" algn="l">
              <a:buNone/>
            </a:pPr>
            <a:r>
              <a:rPr lang="en-US" sz="1600" b="1" dirty="0">
                <a:solidFill>
                  <a:srgbClr val="F4F1EA"/>
                </a:solidFill>
                <a:latin typeface="Cambria" pitchFamily="34" charset="0"/>
                <a:ea typeface="Cambria" pitchFamily="34" charset="-122"/>
                <a:cs typeface="Cambria" pitchFamily="34" charset="-120"/>
              </a:rPr>
              <a:t>Calcaneofibular abutment</a:t>
            </a:r>
            <a:endParaRPr lang="en-US" sz="1600" dirty="0"/>
          </a:p>
        </p:txBody>
      </p:sp>
      <p:sp>
        <p:nvSpPr>
          <p:cNvPr id="30" name="Text 28"/>
          <p:cNvSpPr txBox="1"/>
          <p:nvPr/>
        </p:nvSpPr>
        <p:spPr>
          <a:xfrm>
            <a:off x="4526280" y="4709160"/>
            <a:ext cx="3108960" cy="1463040"/>
          </a:xfrm>
          <a:prstGeom prst="rect">
            <a:avLst/>
          </a:prstGeom>
          <a:noFill/>
          <a:ln/>
        </p:spPr>
        <p:txBody>
          <a:bodyPr wrap="square" lIns="0" tIns="0" rIns="0" bIns="0" rtlCol="0" anchor="t"/>
          <a:lstStyle/>
          <a:p>
            <a:pPr marL="0" indent="0" algn="l">
              <a:buNone/>
            </a:pPr>
            <a:r>
              <a:rPr lang="en-US" sz="1495" dirty="0">
                <a:solidFill>
                  <a:srgbClr val="F4F1EA"/>
                </a:solidFill>
                <a:latin typeface="Calibri" pitchFamily="34" charset="0"/>
                <a:ea typeface="Calibri" pitchFamily="34" charset="-122"/>
                <a:cs typeface="Calibri" pitchFamily="34" charset="-120"/>
              </a:rPr>
              <a:t>Pain over the lateral malleolus from a widened heel; exostectomy.</a:t>
            </a:r>
            <a:endParaRPr lang="en-US" sz="1495" dirty="0"/>
          </a:p>
        </p:txBody>
      </p:sp>
      <p:sp>
        <p:nvSpPr>
          <p:cNvPr id="31" name="Shape 29"/>
          <p:cNvSpPr/>
          <p:nvPr/>
        </p:nvSpPr>
        <p:spPr>
          <a:xfrm>
            <a:off x="8046720" y="3931920"/>
            <a:ext cx="3520440" cy="2286000"/>
          </a:xfrm>
          <a:prstGeom prst="roundRect">
            <a:avLst>
              <a:gd name="adj" fmla="val 3200"/>
            </a:avLst>
          </a:prstGeom>
          <a:solidFill>
            <a:srgbClr val="132A36"/>
          </a:solidFill>
          <a:ln w="9525">
            <a:solidFill>
              <a:srgbClr val="2C4756"/>
            </a:solidFill>
            <a:prstDash val="solid"/>
          </a:ln>
        </p:spPr>
      </p:sp>
      <p:sp>
        <p:nvSpPr>
          <p:cNvPr id="32" name="Shape 30"/>
          <p:cNvSpPr/>
          <p:nvPr/>
        </p:nvSpPr>
        <p:spPr>
          <a:xfrm>
            <a:off x="8229600" y="4096512"/>
            <a:ext cx="384048" cy="384048"/>
          </a:xfrm>
          <a:prstGeom prst="ellipse">
            <a:avLst/>
          </a:prstGeom>
          <a:solidFill>
            <a:srgbClr val="9FB3BD"/>
          </a:solidFill>
          <a:ln w="12700">
            <a:solidFill>
              <a:srgbClr val="9FB3BD"/>
            </a:solidFill>
            <a:prstDash val="solid"/>
          </a:ln>
        </p:spPr>
      </p:sp>
      <p:sp>
        <p:nvSpPr>
          <p:cNvPr id="33" name="Text 31"/>
          <p:cNvSpPr txBox="1"/>
          <p:nvPr/>
        </p:nvSpPr>
        <p:spPr>
          <a:xfrm>
            <a:off x="8229600" y="409651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6</a:t>
            </a:r>
            <a:endParaRPr lang="en-US" sz="1500" dirty="0"/>
          </a:p>
        </p:txBody>
      </p:sp>
      <p:sp>
        <p:nvSpPr>
          <p:cNvPr id="34" name="Text 32"/>
          <p:cNvSpPr txBox="1"/>
          <p:nvPr/>
        </p:nvSpPr>
        <p:spPr>
          <a:xfrm>
            <a:off x="8732520" y="4069080"/>
            <a:ext cx="2743200" cy="502920"/>
          </a:xfrm>
          <a:prstGeom prst="rect">
            <a:avLst/>
          </a:prstGeom>
          <a:noFill/>
          <a:ln/>
        </p:spPr>
        <p:txBody>
          <a:bodyPr wrap="square" lIns="0" tIns="0" rIns="0" bIns="0" rtlCol="0" anchor="t"/>
          <a:lstStyle/>
          <a:p>
            <a:pPr marL="0" indent="0" algn="l">
              <a:buNone/>
            </a:pPr>
            <a:r>
              <a:rPr lang="en-US" sz="1600" b="1" dirty="0">
                <a:solidFill>
                  <a:srgbClr val="F4F1EA"/>
                </a:solidFill>
                <a:latin typeface="Cambria" pitchFamily="34" charset="0"/>
                <a:ea typeface="Cambria" pitchFamily="34" charset="-122"/>
                <a:cs typeface="Cambria" pitchFamily="34" charset="-120"/>
              </a:rPr>
              <a:t>Non-union</a:t>
            </a:r>
            <a:endParaRPr lang="en-US" sz="1600" dirty="0"/>
          </a:p>
        </p:txBody>
      </p:sp>
      <p:sp>
        <p:nvSpPr>
          <p:cNvPr id="35" name="Text 33"/>
          <p:cNvSpPr txBox="1"/>
          <p:nvPr/>
        </p:nvSpPr>
        <p:spPr>
          <a:xfrm>
            <a:off x="8275320" y="4709160"/>
            <a:ext cx="3108960" cy="1463040"/>
          </a:xfrm>
          <a:prstGeom prst="rect">
            <a:avLst/>
          </a:prstGeom>
          <a:noFill/>
          <a:ln/>
        </p:spPr>
        <p:txBody>
          <a:bodyPr wrap="square" lIns="0" tIns="0" rIns="0" bIns="0" rtlCol="0" anchor="t"/>
          <a:lstStyle/>
          <a:p>
            <a:pPr marL="0" indent="0" algn="l">
              <a:buNone/>
            </a:pPr>
            <a:r>
              <a:rPr lang="en-US" sz="1495" dirty="0">
                <a:solidFill>
                  <a:srgbClr val="F4F1EA"/>
                </a:solidFill>
                <a:latin typeface="Calibri" pitchFamily="34" charset="0"/>
                <a:ea typeface="Calibri" pitchFamily="34" charset="-122"/>
                <a:cs typeface="Calibri" pitchFamily="34" charset="-120"/>
              </a:rPr>
              <a:t>Rare; usually in smokers; fix and graft.</a:t>
            </a:r>
            <a:endParaRPr lang="en-US" sz="149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SPECIAL SITUATIONS</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Special situations</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35</a:t>
            </a:r>
            <a:endParaRPr lang="en-US" sz="1000" dirty="0"/>
          </a:p>
        </p:txBody>
      </p:sp>
      <p:sp>
        <p:nvSpPr>
          <p:cNvPr id="6" name="Shape 4"/>
          <p:cNvSpPr/>
          <p:nvPr/>
        </p:nvSpPr>
        <p:spPr>
          <a:xfrm>
            <a:off x="548640" y="1508760"/>
            <a:ext cx="3520440" cy="2286000"/>
          </a:xfrm>
          <a:prstGeom prst="roundRect">
            <a:avLst>
              <a:gd name="adj" fmla="val 3200"/>
            </a:avLst>
          </a:prstGeom>
          <a:solidFill>
            <a:srgbClr val="132A36"/>
          </a:solidFill>
          <a:ln w="9525">
            <a:solidFill>
              <a:srgbClr val="2C4756"/>
            </a:solidFill>
            <a:prstDash val="solid"/>
          </a:ln>
        </p:spPr>
      </p:sp>
      <p:sp>
        <p:nvSpPr>
          <p:cNvPr id="7" name="Shape 5"/>
          <p:cNvSpPr/>
          <p:nvPr/>
        </p:nvSpPr>
        <p:spPr>
          <a:xfrm>
            <a:off x="731520" y="1673352"/>
            <a:ext cx="384048" cy="384048"/>
          </a:xfrm>
          <a:prstGeom prst="ellipse">
            <a:avLst/>
          </a:prstGeom>
          <a:solidFill>
            <a:srgbClr val="2DD4BF"/>
          </a:solidFill>
          <a:ln w="12700">
            <a:solidFill>
              <a:srgbClr val="2DD4BF"/>
            </a:solidFill>
            <a:prstDash val="solid"/>
          </a:ln>
        </p:spPr>
      </p:sp>
      <p:sp>
        <p:nvSpPr>
          <p:cNvPr id="8" name="Text 6"/>
          <p:cNvSpPr txBox="1"/>
          <p:nvPr/>
        </p:nvSpPr>
        <p:spPr>
          <a:xfrm>
            <a:off x="731520" y="167335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234440" y="1645920"/>
            <a:ext cx="2743200" cy="502920"/>
          </a:xfrm>
          <a:prstGeom prst="rect">
            <a:avLst/>
          </a:prstGeom>
          <a:noFill/>
          <a:ln/>
        </p:spPr>
        <p:txBody>
          <a:bodyPr wrap="square" lIns="0" tIns="0" rIns="0" bIns="0" rtlCol="0" anchor="t"/>
          <a:lstStyle/>
          <a:p>
            <a:pPr marL="0" indent="0" algn="l">
              <a:buNone/>
            </a:pPr>
            <a:r>
              <a:rPr lang="en-US" sz="1600" b="1" dirty="0">
                <a:solidFill>
                  <a:srgbClr val="F4F1EA"/>
                </a:solidFill>
                <a:latin typeface="Cambria" pitchFamily="34" charset="0"/>
                <a:ea typeface="Cambria" pitchFamily="34" charset="-122"/>
                <a:cs typeface="Cambria" pitchFamily="34" charset="-120"/>
              </a:rPr>
              <a:t>Children</a:t>
            </a:r>
            <a:endParaRPr lang="en-US" sz="1600" dirty="0"/>
          </a:p>
        </p:txBody>
      </p:sp>
      <p:sp>
        <p:nvSpPr>
          <p:cNvPr id="10" name="Text 8"/>
          <p:cNvSpPr txBox="1"/>
          <p:nvPr/>
        </p:nvSpPr>
        <p:spPr>
          <a:xfrm>
            <a:off x="777240" y="2286000"/>
            <a:ext cx="3108960" cy="1463040"/>
          </a:xfrm>
          <a:prstGeom prst="rect">
            <a:avLst/>
          </a:prstGeom>
          <a:noFill/>
          <a:ln/>
        </p:spPr>
        <p:txBody>
          <a:bodyPr wrap="square" lIns="0" tIns="0" rIns="0" bIns="0" rtlCol="0" anchor="t"/>
          <a:lstStyle/>
          <a:p>
            <a:pPr marL="0" indent="0" algn="l">
              <a:buNone/>
            </a:pPr>
            <a:r>
              <a:rPr lang="en-US" sz="1495" dirty="0">
                <a:solidFill>
                  <a:srgbClr val="F4F1EA"/>
                </a:solidFill>
                <a:latin typeface="Calibri" pitchFamily="34" charset="0"/>
                <a:ea typeface="Calibri" pitchFamily="34" charset="-122"/>
                <a:cs typeface="Calibri" pitchFamily="34" charset="-120"/>
              </a:rPr>
              <a:t>Usually extra-articular; remodel well; most are treated in a cast. Adolescents with intra-articular fractures behave like adults.</a:t>
            </a:r>
            <a:endParaRPr lang="en-US" sz="1495" dirty="0"/>
          </a:p>
        </p:txBody>
      </p:sp>
      <p:sp>
        <p:nvSpPr>
          <p:cNvPr id="11" name="Shape 9"/>
          <p:cNvSpPr/>
          <p:nvPr/>
        </p:nvSpPr>
        <p:spPr>
          <a:xfrm>
            <a:off x="4297680" y="1508760"/>
            <a:ext cx="3520440" cy="2286000"/>
          </a:xfrm>
          <a:prstGeom prst="roundRect">
            <a:avLst>
              <a:gd name="adj" fmla="val 3200"/>
            </a:avLst>
          </a:prstGeom>
          <a:solidFill>
            <a:srgbClr val="132A36"/>
          </a:solidFill>
          <a:ln w="9525">
            <a:solidFill>
              <a:srgbClr val="2C4756"/>
            </a:solidFill>
            <a:prstDash val="solid"/>
          </a:ln>
        </p:spPr>
      </p:sp>
      <p:sp>
        <p:nvSpPr>
          <p:cNvPr id="12" name="Shape 10"/>
          <p:cNvSpPr/>
          <p:nvPr/>
        </p:nvSpPr>
        <p:spPr>
          <a:xfrm>
            <a:off x="4480560" y="1673352"/>
            <a:ext cx="384048" cy="384048"/>
          </a:xfrm>
          <a:prstGeom prst="ellipse">
            <a:avLst/>
          </a:prstGeom>
          <a:solidFill>
            <a:srgbClr val="FBBF24"/>
          </a:solidFill>
          <a:ln w="12700">
            <a:solidFill>
              <a:srgbClr val="FBBF24"/>
            </a:solidFill>
            <a:prstDash val="solid"/>
          </a:ln>
        </p:spPr>
      </p:sp>
      <p:sp>
        <p:nvSpPr>
          <p:cNvPr id="13" name="Text 11"/>
          <p:cNvSpPr txBox="1"/>
          <p:nvPr/>
        </p:nvSpPr>
        <p:spPr>
          <a:xfrm>
            <a:off x="4480560" y="167335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983480" y="1645920"/>
            <a:ext cx="2743200" cy="502920"/>
          </a:xfrm>
          <a:prstGeom prst="rect">
            <a:avLst/>
          </a:prstGeom>
          <a:noFill/>
          <a:ln/>
        </p:spPr>
        <p:txBody>
          <a:bodyPr wrap="square" lIns="0" tIns="0" rIns="0" bIns="0" rtlCol="0" anchor="t"/>
          <a:lstStyle/>
          <a:p>
            <a:pPr marL="0" indent="0" algn="l">
              <a:buNone/>
            </a:pPr>
            <a:r>
              <a:rPr lang="en-US" sz="1600" b="1" dirty="0">
                <a:solidFill>
                  <a:srgbClr val="F4F1EA"/>
                </a:solidFill>
                <a:latin typeface="Cambria" pitchFamily="34" charset="0"/>
                <a:ea typeface="Cambria" pitchFamily="34" charset="-122"/>
                <a:cs typeface="Cambria" pitchFamily="34" charset="-120"/>
              </a:rPr>
              <a:t>Stress fracture</a:t>
            </a:r>
            <a:endParaRPr lang="en-US" sz="1600" dirty="0"/>
          </a:p>
        </p:txBody>
      </p:sp>
      <p:sp>
        <p:nvSpPr>
          <p:cNvPr id="15" name="Text 13"/>
          <p:cNvSpPr txBox="1"/>
          <p:nvPr/>
        </p:nvSpPr>
        <p:spPr>
          <a:xfrm>
            <a:off x="4526280" y="2286000"/>
            <a:ext cx="3108960" cy="1463040"/>
          </a:xfrm>
          <a:prstGeom prst="rect">
            <a:avLst/>
          </a:prstGeom>
          <a:noFill/>
          <a:ln/>
        </p:spPr>
        <p:txBody>
          <a:bodyPr wrap="square" lIns="0" tIns="0" rIns="0" bIns="0" rtlCol="0" anchor="t"/>
          <a:lstStyle/>
          <a:p>
            <a:pPr marL="0" indent="0" algn="l">
              <a:buNone/>
            </a:pPr>
            <a:r>
              <a:rPr lang="en-US" sz="1495" dirty="0">
                <a:solidFill>
                  <a:srgbClr val="F4F1EA"/>
                </a:solidFill>
                <a:latin typeface="Calibri" pitchFamily="34" charset="0"/>
                <a:ea typeface="Calibri" pitchFamily="34" charset="-122"/>
                <a:cs typeface="Calibri" pitchFamily="34" charset="-120"/>
              </a:rPr>
              <a:t>Runners and recruits: pain on heel squeeze, normal early films. MRI shows oedema; protect until healed.</a:t>
            </a:r>
            <a:endParaRPr lang="en-US" sz="1495" dirty="0"/>
          </a:p>
        </p:txBody>
      </p:sp>
      <p:sp>
        <p:nvSpPr>
          <p:cNvPr id="16" name="Shape 14"/>
          <p:cNvSpPr/>
          <p:nvPr/>
        </p:nvSpPr>
        <p:spPr>
          <a:xfrm>
            <a:off x="8046720" y="1508760"/>
            <a:ext cx="3520440" cy="2286000"/>
          </a:xfrm>
          <a:prstGeom prst="roundRect">
            <a:avLst>
              <a:gd name="adj" fmla="val 3200"/>
            </a:avLst>
          </a:prstGeom>
          <a:solidFill>
            <a:srgbClr val="132A36"/>
          </a:solidFill>
          <a:ln w="9525">
            <a:solidFill>
              <a:srgbClr val="2C4756"/>
            </a:solidFill>
            <a:prstDash val="solid"/>
          </a:ln>
        </p:spPr>
      </p:sp>
      <p:sp>
        <p:nvSpPr>
          <p:cNvPr id="17" name="Shape 15"/>
          <p:cNvSpPr/>
          <p:nvPr/>
        </p:nvSpPr>
        <p:spPr>
          <a:xfrm>
            <a:off x="8229600" y="1673352"/>
            <a:ext cx="384048" cy="384048"/>
          </a:xfrm>
          <a:prstGeom prst="ellipse">
            <a:avLst/>
          </a:prstGeom>
          <a:solidFill>
            <a:srgbClr val="FF7A45"/>
          </a:solidFill>
          <a:ln w="12700">
            <a:solidFill>
              <a:srgbClr val="FF7A45"/>
            </a:solidFill>
            <a:prstDash val="solid"/>
          </a:ln>
        </p:spPr>
      </p:sp>
      <p:sp>
        <p:nvSpPr>
          <p:cNvPr id="18" name="Text 16"/>
          <p:cNvSpPr txBox="1"/>
          <p:nvPr/>
        </p:nvSpPr>
        <p:spPr>
          <a:xfrm>
            <a:off x="8229600" y="167335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732520" y="1645920"/>
            <a:ext cx="2743200" cy="502920"/>
          </a:xfrm>
          <a:prstGeom prst="rect">
            <a:avLst/>
          </a:prstGeom>
          <a:noFill/>
          <a:ln/>
        </p:spPr>
        <p:txBody>
          <a:bodyPr wrap="square" lIns="0" tIns="0" rIns="0" bIns="0" rtlCol="0" anchor="t"/>
          <a:lstStyle/>
          <a:p>
            <a:pPr marL="0" indent="0" algn="l">
              <a:buNone/>
            </a:pPr>
            <a:r>
              <a:rPr lang="en-US" sz="1600" b="1" dirty="0">
                <a:solidFill>
                  <a:srgbClr val="F4F1EA"/>
                </a:solidFill>
                <a:latin typeface="Cambria" pitchFamily="34" charset="0"/>
                <a:ea typeface="Cambria" pitchFamily="34" charset="-122"/>
                <a:cs typeface="Cambria" pitchFamily="34" charset="-120"/>
              </a:rPr>
              <a:t>Achilles avulsion (Rowe II)</a:t>
            </a:r>
            <a:endParaRPr lang="en-US" sz="1600" dirty="0"/>
          </a:p>
        </p:txBody>
      </p:sp>
      <p:sp>
        <p:nvSpPr>
          <p:cNvPr id="20" name="Text 18"/>
          <p:cNvSpPr txBox="1"/>
          <p:nvPr/>
        </p:nvSpPr>
        <p:spPr>
          <a:xfrm>
            <a:off x="8275320" y="2286000"/>
            <a:ext cx="3108960" cy="1463040"/>
          </a:xfrm>
          <a:prstGeom prst="rect">
            <a:avLst/>
          </a:prstGeom>
          <a:noFill/>
          <a:ln/>
        </p:spPr>
        <p:txBody>
          <a:bodyPr wrap="square" lIns="0" tIns="0" rIns="0" bIns="0" rtlCol="0" anchor="t"/>
          <a:lstStyle/>
          <a:p>
            <a:pPr marL="0" indent="0" algn="l">
              <a:buNone/>
            </a:pPr>
            <a:r>
              <a:rPr lang="en-US" sz="1495" dirty="0">
                <a:solidFill>
                  <a:srgbClr val="F4F1EA"/>
                </a:solidFill>
                <a:latin typeface="Calibri" pitchFamily="34" charset="0"/>
                <a:ea typeface="Calibri" pitchFamily="34" charset="-122"/>
                <a:cs typeface="Calibri" pitchFamily="34" charset="-120"/>
              </a:rPr>
              <a:t>Posterior beak pulled up by the Achilles; skin threat; fix urgently.</a:t>
            </a:r>
            <a:endParaRPr lang="en-US" sz="1495" dirty="0"/>
          </a:p>
        </p:txBody>
      </p:sp>
      <p:sp>
        <p:nvSpPr>
          <p:cNvPr id="21" name="Shape 19"/>
          <p:cNvSpPr/>
          <p:nvPr/>
        </p:nvSpPr>
        <p:spPr>
          <a:xfrm>
            <a:off x="548640" y="3931920"/>
            <a:ext cx="3520440" cy="2286000"/>
          </a:xfrm>
          <a:prstGeom prst="roundRect">
            <a:avLst>
              <a:gd name="adj" fmla="val 3200"/>
            </a:avLst>
          </a:prstGeom>
          <a:solidFill>
            <a:srgbClr val="132A36"/>
          </a:solidFill>
          <a:ln w="9525">
            <a:solidFill>
              <a:srgbClr val="2C4756"/>
            </a:solidFill>
            <a:prstDash val="solid"/>
          </a:ln>
        </p:spPr>
      </p:sp>
      <p:sp>
        <p:nvSpPr>
          <p:cNvPr id="22" name="Shape 20"/>
          <p:cNvSpPr/>
          <p:nvPr/>
        </p:nvSpPr>
        <p:spPr>
          <a:xfrm>
            <a:off x="731520" y="4096512"/>
            <a:ext cx="384048" cy="384048"/>
          </a:xfrm>
          <a:prstGeom prst="ellipse">
            <a:avLst/>
          </a:prstGeom>
          <a:solidFill>
            <a:srgbClr val="F87171"/>
          </a:solidFill>
          <a:ln w="12700">
            <a:solidFill>
              <a:srgbClr val="F87171"/>
            </a:solidFill>
            <a:prstDash val="solid"/>
          </a:ln>
        </p:spPr>
      </p:sp>
      <p:sp>
        <p:nvSpPr>
          <p:cNvPr id="23" name="Text 21"/>
          <p:cNvSpPr txBox="1"/>
          <p:nvPr/>
        </p:nvSpPr>
        <p:spPr>
          <a:xfrm>
            <a:off x="731520" y="409651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1234440" y="4069080"/>
            <a:ext cx="2743200" cy="502920"/>
          </a:xfrm>
          <a:prstGeom prst="rect">
            <a:avLst/>
          </a:prstGeom>
          <a:noFill/>
          <a:ln/>
        </p:spPr>
        <p:txBody>
          <a:bodyPr wrap="square" lIns="0" tIns="0" rIns="0" bIns="0" rtlCol="0" anchor="t"/>
          <a:lstStyle/>
          <a:p>
            <a:pPr marL="0" indent="0" algn="l">
              <a:buNone/>
            </a:pPr>
            <a:r>
              <a:rPr lang="en-US" sz="1600" b="1" dirty="0">
                <a:solidFill>
                  <a:srgbClr val="F4F1EA"/>
                </a:solidFill>
                <a:latin typeface="Cambria" pitchFamily="34" charset="0"/>
                <a:ea typeface="Cambria" pitchFamily="34" charset="-122"/>
                <a:cs typeface="Cambria" pitchFamily="34" charset="-120"/>
              </a:rPr>
              <a:t>Bilateral or polytrauma</a:t>
            </a:r>
            <a:endParaRPr lang="en-US" sz="1600" dirty="0"/>
          </a:p>
        </p:txBody>
      </p:sp>
      <p:sp>
        <p:nvSpPr>
          <p:cNvPr id="25" name="Text 23"/>
          <p:cNvSpPr txBox="1"/>
          <p:nvPr/>
        </p:nvSpPr>
        <p:spPr>
          <a:xfrm>
            <a:off x="777240" y="4709160"/>
            <a:ext cx="3108960" cy="1463040"/>
          </a:xfrm>
          <a:prstGeom prst="rect">
            <a:avLst/>
          </a:prstGeom>
          <a:noFill/>
          <a:ln/>
        </p:spPr>
        <p:txBody>
          <a:bodyPr wrap="square" lIns="0" tIns="0" rIns="0" bIns="0" rtlCol="0" anchor="t"/>
          <a:lstStyle/>
          <a:p>
            <a:pPr marL="0" indent="0" algn="l">
              <a:buNone/>
            </a:pPr>
            <a:r>
              <a:rPr lang="en-US" sz="1495" dirty="0">
                <a:solidFill>
                  <a:srgbClr val="F4F1EA"/>
                </a:solidFill>
                <a:latin typeface="Calibri" pitchFamily="34" charset="0"/>
                <a:ea typeface="Calibri" pitchFamily="34" charset="-122"/>
                <a:cs typeface="Calibri" pitchFamily="34" charset="-120"/>
              </a:rPr>
              <a:t>Prioritise life and limb; stage the feet; consider non-operative for one side.</a:t>
            </a:r>
            <a:endParaRPr lang="en-US" sz="1495" dirty="0"/>
          </a:p>
        </p:txBody>
      </p:sp>
      <p:sp>
        <p:nvSpPr>
          <p:cNvPr id="26" name="Shape 24"/>
          <p:cNvSpPr/>
          <p:nvPr/>
        </p:nvSpPr>
        <p:spPr>
          <a:xfrm>
            <a:off x="4297680" y="3931920"/>
            <a:ext cx="3520440" cy="2286000"/>
          </a:xfrm>
          <a:prstGeom prst="roundRect">
            <a:avLst>
              <a:gd name="adj" fmla="val 3200"/>
            </a:avLst>
          </a:prstGeom>
          <a:solidFill>
            <a:srgbClr val="132A36"/>
          </a:solidFill>
          <a:ln w="9525">
            <a:solidFill>
              <a:srgbClr val="2C4756"/>
            </a:solidFill>
            <a:prstDash val="solid"/>
          </a:ln>
        </p:spPr>
      </p:sp>
      <p:sp>
        <p:nvSpPr>
          <p:cNvPr id="27" name="Shape 25"/>
          <p:cNvSpPr/>
          <p:nvPr/>
        </p:nvSpPr>
        <p:spPr>
          <a:xfrm>
            <a:off x="4480560" y="4096512"/>
            <a:ext cx="384048" cy="384048"/>
          </a:xfrm>
          <a:prstGeom prst="ellipse">
            <a:avLst/>
          </a:prstGeom>
          <a:solidFill>
            <a:srgbClr val="E9DCC0"/>
          </a:solidFill>
          <a:ln w="12700">
            <a:solidFill>
              <a:srgbClr val="E9DCC0"/>
            </a:solidFill>
            <a:prstDash val="solid"/>
          </a:ln>
        </p:spPr>
      </p:sp>
      <p:sp>
        <p:nvSpPr>
          <p:cNvPr id="28" name="Text 26"/>
          <p:cNvSpPr txBox="1"/>
          <p:nvPr/>
        </p:nvSpPr>
        <p:spPr>
          <a:xfrm>
            <a:off x="4480560" y="409651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5</a:t>
            </a:r>
            <a:endParaRPr lang="en-US" sz="1500" dirty="0"/>
          </a:p>
        </p:txBody>
      </p:sp>
      <p:sp>
        <p:nvSpPr>
          <p:cNvPr id="29" name="Text 27"/>
          <p:cNvSpPr txBox="1"/>
          <p:nvPr/>
        </p:nvSpPr>
        <p:spPr>
          <a:xfrm>
            <a:off x="4983480" y="4069080"/>
            <a:ext cx="2743200" cy="502920"/>
          </a:xfrm>
          <a:prstGeom prst="rect">
            <a:avLst/>
          </a:prstGeom>
          <a:noFill/>
          <a:ln/>
        </p:spPr>
        <p:txBody>
          <a:bodyPr wrap="square" lIns="0" tIns="0" rIns="0" bIns="0" rtlCol="0" anchor="t"/>
          <a:lstStyle/>
          <a:p>
            <a:pPr marL="0" indent="0" algn="l">
              <a:buNone/>
            </a:pPr>
            <a:r>
              <a:rPr lang="en-US" sz="1600" b="1" dirty="0">
                <a:solidFill>
                  <a:srgbClr val="F4F1EA"/>
                </a:solidFill>
                <a:latin typeface="Cambria" pitchFamily="34" charset="0"/>
                <a:ea typeface="Cambria" pitchFamily="34" charset="-122"/>
                <a:cs typeface="Cambria" pitchFamily="34" charset="-120"/>
              </a:rPr>
              <a:t>Diabetes, elderly, neuropathy</a:t>
            </a:r>
            <a:endParaRPr lang="en-US" sz="1600" dirty="0"/>
          </a:p>
        </p:txBody>
      </p:sp>
      <p:sp>
        <p:nvSpPr>
          <p:cNvPr id="30" name="Text 28"/>
          <p:cNvSpPr txBox="1"/>
          <p:nvPr/>
        </p:nvSpPr>
        <p:spPr>
          <a:xfrm>
            <a:off x="4526280" y="4709160"/>
            <a:ext cx="3108960" cy="1463040"/>
          </a:xfrm>
          <a:prstGeom prst="rect">
            <a:avLst/>
          </a:prstGeom>
          <a:noFill/>
          <a:ln/>
        </p:spPr>
        <p:txBody>
          <a:bodyPr wrap="square" lIns="0" tIns="0" rIns="0" bIns="0" rtlCol="0" anchor="t"/>
          <a:lstStyle/>
          <a:p>
            <a:pPr marL="0" indent="0" algn="l">
              <a:buNone/>
            </a:pPr>
            <a:r>
              <a:rPr lang="en-US" sz="1495" dirty="0">
                <a:solidFill>
                  <a:srgbClr val="F4F1EA"/>
                </a:solidFill>
                <a:latin typeface="Calibri" pitchFamily="34" charset="0"/>
                <a:ea typeface="Calibri" pitchFamily="34" charset="-122"/>
                <a:cs typeface="Calibri" pitchFamily="34" charset="-120"/>
              </a:rPr>
              <a:t>High wound and infection risk; favour non-operative care or primary fusion.</a:t>
            </a:r>
            <a:endParaRPr lang="en-US" sz="1495" dirty="0"/>
          </a:p>
        </p:txBody>
      </p:sp>
      <p:sp>
        <p:nvSpPr>
          <p:cNvPr id="31" name="Shape 29"/>
          <p:cNvSpPr/>
          <p:nvPr/>
        </p:nvSpPr>
        <p:spPr>
          <a:xfrm>
            <a:off x="8046720" y="3931920"/>
            <a:ext cx="3520440" cy="2286000"/>
          </a:xfrm>
          <a:prstGeom prst="roundRect">
            <a:avLst>
              <a:gd name="adj" fmla="val 3200"/>
            </a:avLst>
          </a:prstGeom>
          <a:solidFill>
            <a:srgbClr val="132A36"/>
          </a:solidFill>
          <a:ln w="9525">
            <a:solidFill>
              <a:srgbClr val="2C4756"/>
            </a:solidFill>
            <a:prstDash val="solid"/>
          </a:ln>
        </p:spPr>
      </p:sp>
      <p:sp>
        <p:nvSpPr>
          <p:cNvPr id="32" name="Shape 30"/>
          <p:cNvSpPr/>
          <p:nvPr/>
        </p:nvSpPr>
        <p:spPr>
          <a:xfrm>
            <a:off x="8229600" y="4096512"/>
            <a:ext cx="384048" cy="384048"/>
          </a:xfrm>
          <a:prstGeom prst="ellipse">
            <a:avLst/>
          </a:prstGeom>
          <a:solidFill>
            <a:srgbClr val="9FB3BD"/>
          </a:solidFill>
          <a:ln w="12700">
            <a:solidFill>
              <a:srgbClr val="9FB3BD"/>
            </a:solidFill>
            <a:prstDash val="solid"/>
          </a:ln>
        </p:spPr>
      </p:sp>
      <p:sp>
        <p:nvSpPr>
          <p:cNvPr id="33" name="Text 31"/>
          <p:cNvSpPr txBox="1"/>
          <p:nvPr/>
        </p:nvSpPr>
        <p:spPr>
          <a:xfrm>
            <a:off x="8229600" y="4096512"/>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6</a:t>
            </a:r>
            <a:endParaRPr lang="en-US" sz="1500" dirty="0"/>
          </a:p>
        </p:txBody>
      </p:sp>
      <p:sp>
        <p:nvSpPr>
          <p:cNvPr id="34" name="Text 32"/>
          <p:cNvSpPr txBox="1"/>
          <p:nvPr/>
        </p:nvSpPr>
        <p:spPr>
          <a:xfrm>
            <a:off x="8732520" y="4069080"/>
            <a:ext cx="2743200" cy="502920"/>
          </a:xfrm>
          <a:prstGeom prst="rect">
            <a:avLst/>
          </a:prstGeom>
          <a:noFill/>
          <a:ln/>
        </p:spPr>
        <p:txBody>
          <a:bodyPr wrap="square" lIns="0" tIns="0" rIns="0" bIns="0" rtlCol="0" anchor="t"/>
          <a:lstStyle/>
          <a:p>
            <a:pPr marL="0" indent="0" algn="l">
              <a:buNone/>
            </a:pPr>
            <a:r>
              <a:rPr lang="en-US" sz="1600" b="1" dirty="0">
                <a:solidFill>
                  <a:srgbClr val="F4F1EA"/>
                </a:solidFill>
                <a:latin typeface="Cambria" pitchFamily="34" charset="0"/>
                <a:ea typeface="Cambria" pitchFamily="34" charset="-122"/>
                <a:cs typeface="Cambria" pitchFamily="34" charset="-120"/>
              </a:rPr>
              <a:t>Open fracture</a:t>
            </a:r>
            <a:endParaRPr lang="en-US" sz="1600" dirty="0"/>
          </a:p>
        </p:txBody>
      </p:sp>
      <p:sp>
        <p:nvSpPr>
          <p:cNvPr id="35" name="Text 33"/>
          <p:cNvSpPr txBox="1"/>
          <p:nvPr/>
        </p:nvSpPr>
        <p:spPr>
          <a:xfrm>
            <a:off x="8275320" y="4709160"/>
            <a:ext cx="3108960" cy="1463040"/>
          </a:xfrm>
          <a:prstGeom prst="rect">
            <a:avLst/>
          </a:prstGeom>
          <a:noFill/>
          <a:ln/>
        </p:spPr>
        <p:txBody>
          <a:bodyPr wrap="square" lIns="0" tIns="0" rIns="0" bIns="0" rtlCol="0" anchor="t"/>
          <a:lstStyle/>
          <a:p>
            <a:pPr marL="0" indent="0" algn="l">
              <a:buNone/>
            </a:pPr>
            <a:r>
              <a:rPr lang="en-US" sz="1495" dirty="0">
                <a:solidFill>
                  <a:srgbClr val="F4F1EA"/>
                </a:solidFill>
                <a:latin typeface="Calibri" pitchFamily="34" charset="0"/>
                <a:ea typeface="Calibri" pitchFamily="34" charset="-122"/>
                <a:cs typeface="Calibri" pitchFamily="34" charset="-120"/>
              </a:rPr>
              <a:t>Wash-out, antibiotics, temporary stabilisation, early cover.</a:t>
            </a:r>
            <a:endParaRPr lang="en-US" sz="149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SPECIAL SITUATIONS</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Heel mimics: the posterior heel bump</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36</a:t>
            </a:r>
            <a:endParaRPr lang="en-US" sz="1000" dirty="0"/>
          </a:p>
        </p:txBody>
      </p:sp>
      <p:sp>
        <p:nvSpPr>
          <p:cNvPr id="6" name="Shape 4"/>
          <p:cNvSpPr/>
          <p:nvPr/>
        </p:nvSpPr>
        <p:spPr>
          <a:xfrm>
            <a:off x="548640" y="1508760"/>
            <a:ext cx="3749040" cy="3246120"/>
          </a:xfrm>
          <a:prstGeom prst="roundRect">
            <a:avLst>
              <a:gd name="adj" fmla="val 1690"/>
            </a:avLst>
          </a:prstGeom>
          <a:solidFill>
            <a:srgbClr val="070F14"/>
          </a:solidFill>
          <a:ln w="9525">
            <a:solidFill>
              <a:srgbClr val="2C4756"/>
            </a:solidFill>
            <a:prstDash val="solid"/>
          </a:ln>
        </p:spPr>
      </p:sp>
      <p:pic>
        <p:nvPicPr>
          <p:cNvPr id="7" name="Image 0" descr="C:\Users\pawan\Documents\GitHub\ortho-chronicles\slides\img_calc\c19.jpg"/>
          <p:cNvPicPr>
            <a:picLocks noChangeAspect="1"/>
          </p:cNvPicPr>
          <p:nvPr/>
        </p:nvPicPr>
        <p:blipFill>
          <a:blip r:embed="rId3"/>
          <a:stretch>
            <a:fillRect/>
          </a:stretch>
        </p:blipFill>
        <p:spPr>
          <a:xfrm>
            <a:off x="604962" y="1563624"/>
            <a:ext cx="3636397" cy="3136392"/>
          </a:xfrm>
          <a:prstGeom prst="rect">
            <a:avLst/>
          </a:prstGeom>
        </p:spPr>
      </p:pic>
      <p:sp>
        <p:nvSpPr>
          <p:cNvPr id="8" name="Shape 5"/>
          <p:cNvSpPr/>
          <p:nvPr/>
        </p:nvSpPr>
        <p:spPr>
          <a:xfrm>
            <a:off x="4434840" y="1508760"/>
            <a:ext cx="3749040" cy="3246120"/>
          </a:xfrm>
          <a:prstGeom prst="roundRect">
            <a:avLst>
              <a:gd name="adj" fmla="val 1690"/>
            </a:avLst>
          </a:prstGeom>
          <a:solidFill>
            <a:srgbClr val="070F14"/>
          </a:solidFill>
          <a:ln w="9525">
            <a:solidFill>
              <a:srgbClr val="2C4756"/>
            </a:solidFill>
            <a:prstDash val="solid"/>
          </a:ln>
        </p:spPr>
      </p:sp>
      <p:pic>
        <p:nvPicPr>
          <p:cNvPr id="9" name="Image 1" descr="C:\Users\pawan\Documents\GitHub\ortho-chronicles\slides\img_calc\c20.jpg"/>
          <p:cNvPicPr>
            <a:picLocks noChangeAspect="1"/>
          </p:cNvPicPr>
          <p:nvPr/>
        </p:nvPicPr>
        <p:blipFill>
          <a:blip r:embed="rId4"/>
          <a:stretch>
            <a:fillRect/>
          </a:stretch>
        </p:blipFill>
        <p:spPr>
          <a:xfrm>
            <a:off x="4489704" y="1896918"/>
            <a:ext cx="3639312" cy="2469804"/>
          </a:xfrm>
          <a:prstGeom prst="rect">
            <a:avLst/>
          </a:prstGeom>
        </p:spPr>
      </p:pic>
      <p:sp>
        <p:nvSpPr>
          <p:cNvPr id="10" name="Text 6"/>
          <p:cNvSpPr txBox="1"/>
          <p:nvPr/>
        </p:nvSpPr>
        <p:spPr>
          <a:xfrm>
            <a:off x="548640" y="4800600"/>
            <a:ext cx="3749040" cy="457200"/>
          </a:xfrm>
          <a:prstGeom prst="rect">
            <a:avLst/>
          </a:prstGeom>
          <a:noFill/>
          <a:ln/>
        </p:spPr>
        <p:txBody>
          <a:bodyPr wrap="square" lIns="0" tIns="0" rIns="0" bIns="0" rtlCol="0" anchor="t"/>
          <a:lstStyle/>
          <a:p>
            <a:pPr marL="0" indent="0" algn="l">
              <a:buNone/>
            </a:pPr>
            <a:r>
              <a:rPr lang="en-US" sz="1000" i="1" dirty="0">
                <a:solidFill>
                  <a:srgbClr val="9FB3BD"/>
                </a:solidFill>
                <a:latin typeface="Calibri" pitchFamily="34" charset="0"/>
                <a:ea typeface="Calibri" pitchFamily="34" charset="-122"/>
                <a:cs typeface="Calibri" pitchFamily="34" charset="-120"/>
              </a:rPr>
              <a:t>Haglund's deformity, posterior heel prominence. Sciencia58 · CC0</a:t>
            </a:r>
            <a:endParaRPr lang="en-US" sz="1000" dirty="0"/>
          </a:p>
        </p:txBody>
      </p:sp>
      <p:sp>
        <p:nvSpPr>
          <p:cNvPr id="11" name="Text 7"/>
          <p:cNvSpPr txBox="1"/>
          <p:nvPr/>
        </p:nvSpPr>
        <p:spPr>
          <a:xfrm>
            <a:off x="4434840" y="4800600"/>
            <a:ext cx="3749040" cy="457200"/>
          </a:xfrm>
          <a:prstGeom prst="rect">
            <a:avLst/>
          </a:prstGeom>
          <a:noFill/>
          <a:ln/>
        </p:spPr>
        <p:txBody>
          <a:bodyPr wrap="square" lIns="0" tIns="0" rIns="0" bIns="0" rtlCol="0" anchor="t"/>
          <a:lstStyle/>
          <a:p>
            <a:pPr marL="0" indent="0" algn="l">
              <a:buNone/>
            </a:pPr>
            <a:r>
              <a:rPr lang="en-US" sz="1000" i="1" dirty="0">
                <a:solidFill>
                  <a:srgbClr val="9FB3BD"/>
                </a:solidFill>
                <a:latin typeface="Calibri" pitchFamily="34" charset="0"/>
                <a:ea typeface="Calibri" pitchFamily="34" charset="-122"/>
                <a:cs typeface="Calibri" pitchFamily="34" charset="-120"/>
              </a:rPr>
              <a:t>Same patient, circle marks the prominence. Sciencia58 · CC0</a:t>
            </a:r>
            <a:endParaRPr lang="en-US" sz="1000" dirty="0"/>
          </a:p>
        </p:txBody>
      </p:sp>
      <p:sp>
        <p:nvSpPr>
          <p:cNvPr id="12" name="Shape 8"/>
          <p:cNvSpPr/>
          <p:nvPr/>
        </p:nvSpPr>
        <p:spPr>
          <a:xfrm>
            <a:off x="8412480" y="1508760"/>
            <a:ext cx="3246120" cy="4800600"/>
          </a:xfrm>
          <a:prstGeom prst="roundRect">
            <a:avLst>
              <a:gd name="adj" fmla="val 2254"/>
            </a:avLst>
          </a:prstGeom>
          <a:solidFill>
            <a:srgbClr val="132A36"/>
          </a:solidFill>
          <a:ln w="9525">
            <a:solidFill>
              <a:srgbClr val="2C4756"/>
            </a:solidFill>
            <a:prstDash val="solid"/>
          </a:ln>
        </p:spPr>
      </p:sp>
      <p:sp>
        <p:nvSpPr>
          <p:cNvPr id="13" name="Text 9"/>
          <p:cNvSpPr txBox="1"/>
          <p:nvPr/>
        </p:nvSpPr>
        <p:spPr>
          <a:xfrm>
            <a:off x="8595360" y="1627632"/>
            <a:ext cx="2926080" cy="365760"/>
          </a:xfrm>
          <a:prstGeom prst="rect">
            <a:avLst/>
          </a:prstGeom>
          <a:noFill/>
          <a:ln/>
        </p:spPr>
        <p:txBody>
          <a:bodyPr wrap="square" lIns="0" tIns="0" rIns="0" bIns="0" rtlCol="0" anchor="t"/>
          <a:lstStyle/>
          <a:p>
            <a:pPr marL="0" indent="0" algn="l">
              <a:buNone/>
            </a:pPr>
            <a:r>
              <a:rPr lang="en-US" sz="1900" b="1" dirty="0">
                <a:solidFill>
                  <a:srgbClr val="FBBF24"/>
                </a:solidFill>
                <a:latin typeface="Cambria" pitchFamily="34" charset="0"/>
                <a:ea typeface="Cambria" pitchFamily="34" charset="-122"/>
                <a:cs typeface="Cambria" pitchFamily="34" charset="-120"/>
              </a:rPr>
              <a:t>Do not confuse</a:t>
            </a:r>
            <a:endParaRPr lang="en-US" sz="1900" dirty="0"/>
          </a:p>
        </p:txBody>
      </p:sp>
      <p:sp>
        <p:nvSpPr>
          <p:cNvPr id="14" name="Text 10"/>
          <p:cNvSpPr txBox="1"/>
          <p:nvPr/>
        </p:nvSpPr>
        <p:spPr>
          <a:xfrm>
            <a:off x="8595360" y="2103120"/>
            <a:ext cx="2926080" cy="4114800"/>
          </a:xfrm>
          <a:prstGeom prst="rect">
            <a:avLst/>
          </a:prstGeom>
          <a:noFill/>
          <a:ln/>
        </p:spPr>
        <p:txBody>
          <a:bodyPr wrap="square" lIns="0" tIns="0" rIns="0" bIns="0" rtlCol="0" anchor="t"/>
          <a:lstStyle/>
          <a:p>
            <a:pPr marL="203200" indent="-203200">
              <a:spcAft>
                <a:spcPts val="600"/>
              </a:spcAft>
              <a:buSzPct val="100000"/>
              <a:buChar char="•"/>
            </a:pPr>
            <a:r>
              <a:rPr lang="en-US" sz="1430" dirty="0">
                <a:solidFill>
                  <a:srgbClr val="F4F1EA"/>
                </a:solidFill>
                <a:latin typeface="Calibri" pitchFamily="34" charset="0"/>
                <a:ea typeface="Calibri" pitchFamily="34" charset="-122"/>
                <a:cs typeface="Calibri" pitchFamily="34" charset="-120"/>
              </a:rPr>
              <a:t>Haglund: posterosuperior prominence and retrocalcaneal bursitis</a:t>
            </a:r>
            <a:endParaRPr lang="en-US" sz="1430" dirty="0"/>
          </a:p>
          <a:p>
            <a:pPr marL="203200" indent="-203200">
              <a:spcAft>
                <a:spcPts val="600"/>
              </a:spcAft>
              <a:buSzPct val="100000"/>
              <a:buChar char="•"/>
            </a:pPr>
            <a:r>
              <a:rPr lang="en-US" sz="1430" dirty="0">
                <a:solidFill>
                  <a:srgbClr val="F4F1EA"/>
                </a:solidFill>
                <a:latin typeface="Calibri" pitchFamily="34" charset="0"/>
                <a:ea typeface="Calibri" pitchFamily="34" charset="-122"/>
                <a:cs typeface="Calibri" pitchFamily="34" charset="-120"/>
              </a:rPr>
              <a:t>Malunited tuberosity or Rowe I fragment</a:t>
            </a:r>
            <a:endParaRPr lang="en-US" sz="1430" dirty="0"/>
          </a:p>
          <a:p>
            <a:pPr marL="203200" indent="-203200">
              <a:spcAft>
                <a:spcPts val="600"/>
              </a:spcAft>
              <a:buSzPct val="100000"/>
              <a:buChar char="•"/>
            </a:pPr>
            <a:r>
              <a:rPr lang="en-US" sz="1430" dirty="0">
                <a:solidFill>
                  <a:srgbClr val="F4F1EA"/>
                </a:solidFill>
                <a:latin typeface="Calibri" pitchFamily="34" charset="0"/>
                <a:ea typeface="Calibri" pitchFamily="34" charset="-122"/>
                <a:cs typeface="Calibri" pitchFamily="34" charset="-120"/>
              </a:rPr>
              <a:t>Stress fracture</a:t>
            </a:r>
            <a:endParaRPr lang="en-US" sz="1430" dirty="0"/>
          </a:p>
          <a:p>
            <a:pPr marL="203200" indent="-203200">
              <a:spcAft>
                <a:spcPts val="600"/>
              </a:spcAft>
              <a:buSzPct val="100000"/>
              <a:buChar char="•"/>
            </a:pPr>
            <a:r>
              <a:rPr lang="en-US" sz="1430" dirty="0">
                <a:solidFill>
                  <a:srgbClr val="F4F1EA"/>
                </a:solidFill>
                <a:latin typeface="Calibri" pitchFamily="34" charset="0"/>
                <a:ea typeface="Calibri" pitchFamily="34" charset="-122"/>
                <a:cs typeface="Calibri" pitchFamily="34" charset="-120"/>
              </a:rPr>
              <a:t>Plantar fasciitis and heel spur</a:t>
            </a:r>
            <a:endParaRPr lang="en-US" sz="1430" dirty="0"/>
          </a:p>
          <a:p>
            <a:pPr marL="203200" indent="-203200">
              <a:spcAft>
                <a:spcPts val="600"/>
              </a:spcAft>
              <a:buSzPct val="100000"/>
              <a:buChar char="•"/>
            </a:pPr>
            <a:r>
              <a:rPr lang="en-US" sz="1430" dirty="0">
                <a:solidFill>
                  <a:srgbClr val="F4F1EA"/>
                </a:solidFill>
                <a:latin typeface="Calibri" pitchFamily="34" charset="0"/>
                <a:ea typeface="Calibri" pitchFamily="34" charset="-122"/>
                <a:cs typeface="Calibri" pitchFamily="34" charset="-120"/>
              </a:rPr>
              <a:t>Sever's disease in children</a:t>
            </a:r>
            <a:endParaRPr lang="en-US" sz="1430" dirty="0"/>
          </a:p>
        </p:txBody>
      </p:sp>
      <p:sp>
        <p:nvSpPr>
          <p:cNvPr id="15" name="Shape 11"/>
          <p:cNvSpPr/>
          <p:nvPr/>
        </p:nvSpPr>
        <p:spPr>
          <a:xfrm>
            <a:off x="548640" y="5349240"/>
            <a:ext cx="7635240" cy="960120"/>
          </a:xfrm>
          <a:prstGeom prst="roundRect">
            <a:avLst>
              <a:gd name="adj" fmla="val 7619"/>
            </a:avLst>
          </a:prstGeom>
          <a:solidFill>
            <a:srgbClr val="132A36"/>
          </a:solidFill>
          <a:ln w="9525">
            <a:solidFill>
              <a:srgbClr val="2C4756"/>
            </a:solidFill>
            <a:prstDash val="solid"/>
          </a:ln>
        </p:spPr>
      </p:sp>
      <p:sp>
        <p:nvSpPr>
          <p:cNvPr id="16" name="Text 12"/>
          <p:cNvSpPr txBox="1"/>
          <p:nvPr/>
        </p:nvSpPr>
        <p:spPr>
          <a:xfrm>
            <a:off x="777240" y="5394960"/>
            <a:ext cx="7178040" cy="868680"/>
          </a:xfrm>
          <a:prstGeom prst="rect">
            <a:avLst/>
          </a:prstGeom>
          <a:noFill/>
          <a:ln/>
        </p:spPr>
        <p:txBody>
          <a:bodyPr wrap="square" lIns="0" tIns="0" rIns="0" bIns="0" rtlCol="0" anchor="ctr"/>
          <a:lstStyle/>
          <a:p>
            <a:pPr marL="0" indent="0" algn="l">
              <a:buNone/>
            </a:pPr>
            <a:r>
              <a:rPr lang="en-US" sz="1485" dirty="0">
                <a:solidFill>
                  <a:srgbClr val="E9DCC0"/>
                </a:solidFill>
                <a:latin typeface="Calibri" pitchFamily="34" charset="0"/>
                <a:ea typeface="Calibri" pitchFamily="34" charset="-122"/>
                <a:cs typeface="Calibri" pitchFamily="34" charset="-120"/>
              </a:rPr>
              <a:t>A history of trauma, a positive squeeze test and a fracture line on the film separate a fracture from a chronic prominence.</a:t>
            </a:r>
            <a:endParaRPr lang="en-US" sz="148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OUTCOME</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Prognostic factors and what to tell the patient</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37</a:t>
            </a:r>
            <a:endParaRPr lang="en-US" sz="1000" dirty="0"/>
          </a:p>
        </p:txBody>
      </p:sp>
      <p:sp>
        <p:nvSpPr>
          <p:cNvPr id="6" name="Shape 4"/>
          <p:cNvSpPr/>
          <p:nvPr/>
        </p:nvSpPr>
        <p:spPr>
          <a:xfrm>
            <a:off x="548640" y="1508760"/>
            <a:ext cx="5440680" cy="3063240"/>
          </a:xfrm>
          <a:prstGeom prst="roundRect">
            <a:avLst>
              <a:gd name="adj" fmla="val 2388"/>
            </a:avLst>
          </a:prstGeom>
          <a:solidFill>
            <a:srgbClr val="132A36"/>
          </a:solidFill>
          <a:ln w="9525">
            <a:solidFill>
              <a:srgbClr val="2C4756"/>
            </a:solidFill>
            <a:prstDash val="solid"/>
          </a:ln>
        </p:spPr>
      </p:sp>
      <p:sp>
        <p:nvSpPr>
          <p:cNvPr id="7" name="Text 5"/>
          <p:cNvSpPr txBox="1"/>
          <p:nvPr/>
        </p:nvSpPr>
        <p:spPr>
          <a:xfrm>
            <a:off x="777240" y="1627632"/>
            <a:ext cx="4937760" cy="365760"/>
          </a:xfrm>
          <a:prstGeom prst="rect">
            <a:avLst/>
          </a:prstGeom>
          <a:noFill/>
          <a:ln/>
        </p:spPr>
        <p:txBody>
          <a:bodyPr wrap="square" lIns="0" tIns="0" rIns="0" bIns="0" rtlCol="0" anchor="t"/>
          <a:lstStyle/>
          <a:p>
            <a:pPr marL="0" indent="0" algn="l">
              <a:buNone/>
            </a:pPr>
            <a:r>
              <a:rPr lang="en-US" sz="2000" b="1" dirty="0">
                <a:solidFill>
                  <a:srgbClr val="FF7A45"/>
                </a:solidFill>
                <a:latin typeface="Cambria" pitchFamily="34" charset="0"/>
                <a:ea typeface="Cambria" pitchFamily="34" charset="-122"/>
                <a:cs typeface="Cambria" pitchFamily="34" charset="-120"/>
              </a:rPr>
              <a:t>Worse outcome</a:t>
            </a:r>
            <a:endParaRPr lang="en-US" sz="2000" dirty="0"/>
          </a:p>
        </p:txBody>
      </p:sp>
      <p:sp>
        <p:nvSpPr>
          <p:cNvPr id="8" name="Text 6"/>
          <p:cNvSpPr txBox="1"/>
          <p:nvPr/>
        </p:nvSpPr>
        <p:spPr>
          <a:xfrm>
            <a:off x="777240" y="2103120"/>
            <a:ext cx="5029200" cy="2423160"/>
          </a:xfrm>
          <a:prstGeom prst="rect">
            <a:avLst/>
          </a:prstGeom>
          <a:noFill/>
          <a:ln/>
        </p:spPr>
        <p:txBody>
          <a:bodyPr wrap="square" lIns="0" tIns="0" rIns="0" bIns="0" rtlCol="0" anchor="t"/>
          <a:lstStyle/>
          <a:p>
            <a:pPr marL="203200" indent="-203200">
              <a:spcAft>
                <a:spcPts val="500"/>
              </a:spcAft>
              <a:buSzPct val="100000"/>
              <a:buChar char="•"/>
            </a:pPr>
            <a:r>
              <a:rPr lang="en-US" sz="1552" dirty="0">
                <a:solidFill>
                  <a:srgbClr val="F4F1EA"/>
                </a:solidFill>
                <a:latin typeface="Calibri" pitchFamily="34" charset="0"/>
                <a:ea typeface="Calibri" pitchFamily="34" charset="-122"/>
                <a:cs typeface="Calibri" pitchFamily="34" charset="-120"/>
              </a:rPr>
              <a:t>Sanders type IV; Böhler angle under 0° at presentation</a:t>
            </a:r>
            <a:endParaRPr lang="en-US" sz="1552" dirty="0"/>
          </a:p>
          <a:p>
            <a:pPr marL="203200" indent="-203200">
              <a:spcAft>
                <a:spcPts val="500"/>
              </a:spcAft>
              <a:buSzPct val="100000"/>
              <a:buChar char="•"/>
            </a:pPr>
            <a:r>
              <a:rPr lang="en-US" sz="1552" dirty="0">
                <a:solidFill>
                  <a:srgbClr val="F4F1EA"/>
                </a:solidFill>
                <a:latin typeface="Calibri" pitchFamily="34" charset="0"/>
                <a:ea typeface="Calibri" pitchFamily="34" charset="-122"/>
                <a:cs typeface="Calibri" pitchFamily="34" charset="-120"/>
              </a:rPr>
              <a:t>Heavy manual work and workers' compensation</a:t>
            </a:r>
            <a:endParaRPr lang="en-US" sz="1552" dirty="0"/>
          </a:p>
          <a:p>
            <a:pPr marL="203200" indent="-203200">
              <a:spcAft>
                <a:spcPts val="500"/>
              </a:spcAft>
              <a:buSzPct val="100000"/>
              <a:buChar char="•"/>
            </a:pPr>
            <a:r>
              <a:rPr lang="en-US" sz="1552" dirty="0">
                <a:solidFill>
                  <a:srgbClr val="F4F1EA"/>
                </a:solidFill>
                <a:latin typeface="Calibri" pitchFamily="34" charset="0"/>
                <a:ea typeface="Calibri" pitchFamily="34" charset="-122"/>
                <a:cs typeface="Calibri" pitchFamily="34" charset="-120"/>
              </a:rPr>
              <a:t>Older age, obesity, smoking, diabetes</a:t>
            </a:r>
            <a:endParaRPr lang="en-US" sz="1552" dirty="0"/>
          </a:p>
          <a:p>
            <a:pPr marL="203200" indent="-203200">
              <a:spcAft>
                <a:spcPts val="500"/>
              </a:spcAft>
              <a:buSzPct val="100000"/>
              <a:buChar char="•"/>
            </a:pPr>
            <a:r>
              <a:rPr lang="en-US" sz="1552" dirty="0">
                <a:solidFill>
                  <a:srgbClr val="F4F1EA"/>
                </a:solidFill>
                <a:latin typeface="Calibri" pitchFamily="34" charset="0"/>
                <a:ea typeface="Calibri" pitchFamily="34" charset="-122"/>
                <a:cs typeface="Calibri" pitchFamily="34" charset="-120"/>
              </a:rPr>
              <a:t>Bilateral or polytrauma</a:t>
            </a:r>
            <a:endParaRPr lang="en-US" sz="1552" dirty="0"/>
          </a:p>
          <a:p>
            <a:pPr marL="203200" indent="-203200">
              <a:spcAft>
                <a:spcPts val="500"/>
              </a:spcAft>
              <a:buSzPct val="100000"/>
              <a:buChar char="•"/>
            </a:pPr>
            <a:r>
              <a:rPr lang="en-US" sz="1552" dirty="0">
                <a:solidFill>
                  <a:srgbClr val="F4F1EA"/>
                </a:solidFill>
                <a:latin typeface="Calibri" pitchFamily="34" charset="0"/>
                <a:ea typeface="Calibri" pitchFamily="34" charset="-122"/>
                <a:cs typeface="Calibri" pitchFamily="34" charset="-120"/>
              </a:rPr>
              <a:t>Residual step-off, varus or widening</a:t>
            </a:r>
            <a:endParaRPr lang="en-US" sz="1552" dirty="0"/>
          </a:p>
        </p:txBody>
      </p:sp>
      <p:sp>
        <p:nvSpPr>
          <p:cNvPr id="9" name="Shape 7"/>
          <p:cNvSpPr/>
          <p:nvPr/>
        </p:nvSpPr>
        <p:spPr>
          <a:xfrm>
            <a:off x="6217920" y="1508760"/>
            <a:ext cx="5440680" cy="3063240"/>
          </a:xfrm>
          <a:prstGeom prst="roundRect">
            <a:avLst>
              <a:gd name="adj" fmla="val 2388"/>
            </a:avLst>
          </a:prstGeom>
          <a:solidFill>
            <a:srgbClr val="132A36"/>
          </a:solidFill>
          <a:ln w="9525">
            <a:solidFill>
              <a:srgbClr val="2C4756"/>
            </a:solidFill>
            <a:prstDash val="solid"/>
          </a:ln>
        </p:spPr>
      </p:sp>
      <p:sp>
        <p:nvSpPr>
          <p:cNvPr id="10" name="Text 8"/>
          <p:cNvSpPr txBox="1"/>
          <p:nvPr/>
        </p:nvSpPr>
        <p:spPr>
          <a:xfrm>
            <a:off x="6446520" y="1627632"/>
            <a:ext cx="4937760" cy="365760"/>
          </a:xfrm>
          <a:prstGeom prst="rect">
            <a:avLst/>
          </a:prstGeom>
          <a:noFill/>
          <a:ln/>
        </p:spPr>
        <p:txBody>
          <a:bodyPr wrap="square" lIns="0" tIns="0" rIns="0" bIns="0" rtlCol="0" anchor="t"/>
          <a:lstStyle/>
          <a:p>
            <a:pPr marL="0" indent="0" algn="l">
              <a:buNone/>
            </a:pPr>
            <a:r>
              <a:rPr lang="en-US" sz="2000" b="1" dirty="0">
                <a:solidFill>
                  <a:srgbClr val="2DD4BF"/>
                </a:solidFill>
                <a:latin typeface="Cambria" pitchFamily="34" charset="0"/>
                <a:ea typeface="Cambria" pitchFamily="34" charset="-122"/>
                <a:cs typeface="Cambria" pitchFamily="34" charset="-120"/>
              </a:rPr>
              <a:t>Better outcome</a:t>
            </a:r>
            <a:endParaRPr lang="en-US" sz="2000" dirty="0"/>
          </a:p>
        </p:txBody>
      </p:sp>
      <p:sp>
        <p:nvSpPr>
          <p:cNvPr id="11" name="Text 9"/>
          <p:cNvSpPr txBox="1"/>
          <p:nvPr/>
        </p:nvSpPr>
        <p:spPr>
          <a:xfrm>
            <a:off x="6446520" y="2103120"/>
            <a:ext cx="4937760" cy="2423160"/>
          </a:xfrm>
          <a:prstGeom prst="rect">
            <a:avLst/>
          </a:prstGeom>
          <a:noFill/>
          <a:ln/>
        </p:spPr>
        <p:txBody>
          <a:bodyPr wrap="square" lIns="0" tIns="0" rIns="0" bIns="0" rtlCol="0" anchor="t"/>
          <a:lstStyle/>
          <a:p>
            <a:pPr marL="203200" indent="-203200">
              <a:spcAft>
                <a:spcPts val="500"/>
              </a:spcAft>
              <a:buSzPct val="100000"/>
              <a:buChar char="•"/>
            </a:pPr>
            <a:r>
              <a:rPr lang="en-US" sz="1552" dirty="0">
                <a:solidFill>
                  <a:srgbClr val="F4F1EA"/>
                </a:solidFill>
                <a:latin typeface="Calibri" pitchFamily="34" charset="0"/>
                <a:ea typeface="Calibri" pitchFamily="34" charset="-122"/>
                <a:cs typeface="Calibri" pitchFamily="34" charset="-120"/>
              </a:rPr>
              <a:t>Anatomic reduction of the posterior facet (under 2 mm step)</a:t>
            </a:r>
            <a:endParaRPr lang="en-US" sz="1552" dirty="0"/>
          </a:p>
          <a:p>
            <a:pPr marL="203200" indent="-203200">
              <a:spcAft>
                <a:spcPts val="500"/>
              </a:spcAft>
              <a:buSzPct val="100000"/>
              <a:buChar char="•"/>
            </a:pPr>
            <a:r>
              <a:rPr lang="en-US" sz="1552" dirty="0">
                <a:solidFill>
                  <a:srgbClr val="F4F1EA"/>
                </a:solidFill>
                <a:latin typeface="Calibri" pitchFamily="34" charset="0"/>
                <a:ea typeface="Calibri" pitchFamily="34" charset="-122"/>
                <a:cs typeface="Calibri" pitchFamily="34" charset="-120"/>
              </a:rPr>
              <a:t>Restored height and neutral or valgus heel</a:t>
            </a:r>
            <a:endParaRPr lang="en-US" sz="1552" dirty="0"/>
          </a:p>
          <a:p>
            <a:pPr marL="203200" indent="-203200">
              <a:spcAft>
                <a:spcPts val="500"/>
              </a:spcAft>
              <a:buSzPct val="100000"/>
              <a:buChar char="•"/>
            </a:pPr>
            <a:r>
              <a:rPr lang="en-US" sz="1552" dirty="0">
                <a:solidFill>
                  <a:srgbClr val="F4F1EA"/>
                </a:solidFill>
                <a:latin typeface="Calibri" pitchFamily="34" charset="0"/>
                <a:ea typeface="Calibri" pitchFamily="34" charset="-122"/>
                <a:cs typeface="Calibri" pitchFamily="34" charset="-120"/>
              </a:rPr>
              <a:t>Younger, non-manual work</a:t>
            </a:r>
            <a:endParaRPr lang="en-US" sz="1552" dirty="0"/>
          </a:p>
          <a:p>
            <a:pPr marL="203200" indent="-203200">
              <a:spcAft>
                <a:spcPts val="500"/>
              </a:spcAft>
              <a:buSzPct val="100000"/>
              <a:buChar char="•"/>
            </a:pPr>
            <a:r>
              <a:rPr lang="en-US" sz="1552" dirty="0">
                <a:solidFill>
                  <a:srgbClr val="F4F1EA"/>
                </a:solidFill>
                <a:latin typeface="Calibri" pitchFamily="34" charset="0"/>
                <a:ea typeface="Calibri" pitchFamily="34" charset="-122"/>
                <a:cs typeface="Calibri" pitchFamily="34" charset="-120"/>
              </a:rPr>
              <a:t>Early motion and a compliant patient</a:t>
            </a:r>
            <a:endParaRPr lang="en-US" sz="1552" dirty="0"/>
          </a:p>
        </p:txBody>
      </p:sp>
      <p:sp>
        <p:nvSpPr>
          <p:cNvPr id="12" name="Shape 10"/>
          <p:cNvSpPr/>
          <p:nvPr/>
        </p:nvSpPr>
        <p:spPr>
          <a:xfrm>
            <a:off x="548640" y="4754880"/>
            <a:ext cx="11109960" cy="1554480"/>
          </a:xfrm>
          <a:prstGeom prst="roundRect">
            <a:avLst>
              <a:gd name="adj" fmla="val 4706"/>
            </a:avLst>
          </a:prstGeom>
          <a:solidFill>
            <a:srgbClr val="132A36"/>
          </a:solidFill>
          <a:ln w="9525">
            <a:solidFill>
              <a:srgbClr val="2C4756"/>
            </a:solidFill>
            <a:prstDash val="solid"/>
          </a:ln>
        </p:spPr>
      </p:sp>
      <p:sp>
        <p:nvSpPr>
          <p:cNvPr id="13" name="Text 11"/>
          <p:cNvSpPr txBox="1"/>
          <p:nvPr/>
        </p:nvSpPr>
        <p:spPr>
          <a:xfrm>
            <a:off x="777240" y="4828032"/>
            <a:ext cx="2743200" cy="365760"/>
          </a:xfrm>
          <a:prstGeom prst="rect">
            <a:avLst/>
          </a:prstGeom>
          <a:noFill/>
          <a:ln/>
        </p:spPr>
        <p:txBody>
          <a:bodyPr wrap="square" lIns="0" tIns="0" rIns="0" bIns="0" rtlCol="0" anchor="t"/>
          <a:lstStyle/>
          <a:p>
            <a:pPr marL="0" indent="0" algn="l">
              <a:buNone/>
            </a:pPr>
            <a:r>
              <a:rPr lang="en-US" sz="2000" b="1" dirty="0">
                <a:solidFill>
                  <a:srgbClr val="FBBF24"/>
                </a:solidFill>
                <a:latin typeface="Cambria" pitchFamily="34" charset="0"/>
                <a:ea typeface="Cambria" pitchFamily="34" charset="-122"/>
                <a:cs typeface="Cambria" pitchFamily="34" charset="-120"/>
              </a:rPr>
              <a:t>Counselling</a:t>
            </a:r>
            <a:endParaRPr lang="en-US" sz="2000" dirty="0"/>
          </a:p>
        </p:txBody>
      </p:sp>
      <p:sp>
        <p:nvSpPr>
          <p:cNvPr id="14" name="Text 12"/>
          <p:cNvSpPr txBox="1"/>
          <p:nvPr/>
        </p:nvSpPr>
        <p:spPr>
          <a:xfrm>
            <a:off x="777240" y="5230368"/>
            <a:ext cx="10652760" cy="1005840"/>
          </a:xfrm>
          <a:prstGeom prst="rect">
            <a:avLst/>
          </a:prstGeom>
          <a:noFill/>
          <a:ln/>
        </p:spPr>
        <p:txBody>
          <a:bodyPr wrap="square" lIns="0" tIns="0" rIns="0" bIns="0" rtlCol="0" anchor="t"/>
          <a:lstStyle/>
          <a:p>
            <a:pPr marL="0" indent="0" algn="l">
              <a:buNone/>
            </a:pPr>
            <a:r>
              <a:rPr lang="en-US" sz="1610" dirty="0">
                <a:solidFill>
                  <a:srgbClr val="F4F1EA"/>
                </a:solidFill>
                <a:latin typeface="Calibri" pitchFamily="34" charset="0"/>
                <a:ea typeface="Calibri" pitchFamily="34" charset="-122"/>
                <a:cs typeface="Calibri" pitchFamily="34" charset="-120"/>
              </a:rPr>
              <a:t>Even with a good result, expect months off work, some permanent heel pain and stiffness, and possibly a later subtalar fusion. Wide, cushioned footwear helps.</a:t>
            </a:r>
            <a:endParaRPr lang="en-US" sz="161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EVIDENCE</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Landmarks in calcaneal fracture surgery</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38</a:t>
            </a:r>
            <a:endParaRPr lang="en-US" sz="1000" dirty="0"/>
          </a:p>
        </p:txBody>
      </p:sp>
      <p:sp>
        <p:nvSpPr>
          <p:cNvPr id="6" name="Shape 4"/>
          <p:cNvSpPr/>
          <p:nvPr/>
        </p:nvSpPr>
        <p:spPr>
          <a:xfrm>
            <a:off x="822960" y="3520440"/>
            <a:ext cx="10607040" cy="0"/>
          </a:xfrm>
          <a:prstGeom prst="line">
            <a:avLst/>
          </a:prstGeom>
          <a:noFill/>
          <a:ln w="38100">
            <a:solidFill>
              <a:srgbClr val="2C4756"/>
            </a:solidFill>
            <a:prstDash val="solid"/>
          </a:ln>
        </p:spPr>
      </p:sp>
      <p:sp>
        <p:nvSpPr>
          <p:cNvPr id="7" name="Shape 5"/>
          <p:cNvSpPr/>
          <p:nvPr/>
        </p:nvSpPr>
        <p:spPr>
          <a:xfrm>
            <a:off x="1051560" y="3310128"/>
            <a:ext cx="384048" cy="384048"/>
          </a:xfrm>
          <a:prstGeom prst="ellipse">
            <a:avLst/>
          </a:prstGeom>
          <a:solidFill>
            <a:srgbClr val="2DD4BF"/>
          </a:solidFill>
          <a:ln w="12700">
            <a:solidFill>
              <a:srgbClr val="2DD4BF"/>
            </a:solidFill>
            <a:prstDash val="solid"/>
          </a:ln>
        </p:spPr>
      </p:sp>
      <p:sp>
        <p:nvSpPr>
          <p:cNvPr id="8" name="Text 6"/>
          <p:cNvSpPr txBox="1"/>
          <p:nvPr/>
        </p:nvSpPr>
        <p:spPr>
          <a:xfrm>
            <a:off x="1051560" y="3310128"/>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548640" y="2651760"/>
            <a:ext cx="1371600" cy="365760"/>
          </a:xfrm>
          <a:prstGeom prst="rect">
            <a:avLst/>
          </a:prstGeom>
          <a:noFill/>
          <a:ln/>
        </p:spPr>
        <p:txBody>
          <a:bodyPr wrap="square" lIns="0" tIns="0" rIns="0" bIns="0" rtlCol="0" anchor="t"/>
          <a:lstStyle/>
          <a:p>
            <a:pPr marL="0" indent="0" algn="ctr">
              <a:buNone/>
            </a:pPr>
            <a:r>
              <a:rPr lang="en-US" sz="1700" b="1" dirty="0">
                <a:solidFill>
                  <a:srgbClr val="2DD4BF"/>
                </a:solidFill>
                <a:latin typeface="Cambria" pitchFamily="34" charset="0"/>
                <a:ea typeface="Cambria" pitchFamily="34" charset="-122"/>
                <a:cs typeface="Cambria" pitchFamily="34" charset="-120"/>
              </a:rPr>
              <a:t>1931</a:t>
            </a:r>
            <a:endParaRPr lang="en-US" sz="1700" dirty="0"/>
          </a:p>
        </p:txBody>
      </p:sp>
      <p:sp>
        <p:nvSpPr>
          <p:cNvPr id="10" name="Text 8"/>
          <p:cNvSpPr txBox="1"/>
          <p:nvPr/>
        </p:nvSpPr>
        <p:spPr>
          <a:xfrm>
            <a:off x="502920" y="1783080"/>
            <a:ext cx="1463040" cy="457200"/>
          </a:xfrm>
          <a:prstGeom prst="rect">
            <a:avLst/>
          </a:prstGeom>
          <a:noFill/>
          <a:ln/>
        </p:spPr>
        <p:txBody>
          <a:bodyPr wrap="square" lIns="0" tIns="0" rIns="0" bIns="0" rtlCol="0" anchor="t"/>
          <a:lstStyle/>
          <a:p>
            <a:pPr marL="0" indent="0" algn="ctr">
              <a:buNone/>
            </a:pPr>
            <a:r>
              <a:rPr lang="en-US" sz="1200" b="1" dirty="0">
                <a:solidFill>
                  <a:srgbClr val="F4F1EA"/>
                </a:solidFill>
                <a:latin typeface="Calibri" pitchFamily="34" charset="0"/>
                <a:ea typeface="Calibri" pitchFamily="34" charset="-122"/>
                <a:cs typeface="Calibri" pitchFamily="34" charset="-120"/>
              </a:rPr>
              <a:t>Böhler</a:t>
            </a:r>
            <a:endParaRPr lang="en-US" sz="1200" dirty="0"/>
          </a:p>
        </p:txBody>
      </p:sp>
      <p:sp>
        <p:nvSpPr>
          <p:cNvPr id="11" name="Text 9"/>
          <p:cNvSpPr txBox="1"/>
          <p:nvPr/>
        </p:nvSpPr>
        <p:spPr>
          <a:xfrm>
            <a:off x="502920" y="2148840"/>
            <a:ext cx="1463040" cy="822960"/>
          </a:xfrm>
          <a:prstGeom prst="rect">
            <a:avLst/>
          </a:prstGeom>
          <a:noFill/>
          <a:ln/>
        </p:spPr>
        <p:txBody>
          <a:bodyPr wrap="square" lIns="0" tIns="0" rIns="0" bIns="0" rtlCol="0" anchor="t"/>
          <a:lstStyle/>
          <a:p>
            <a:pPr marL="0" indent="0" algn="ctr">
              <a:buNone/>
            </a:pPr>
            <a:r>
              <a:rPr lang="en-US" sz="1050" dirty="0">
                <a:solidFill>
                  <a:srgbClr val="9FB3BD"/>
                </a:solidFill>
                <a:latin typeface="Calibri" pitchFamily="34" charset="0"/>
                <a:ea typeface="Calibri" pitchFamily="34" charset="-122"/>
                <a:cs typeface="Calibri" pitchFamily="34" charset="-120"/>
              </a:rPr>
              <a:t>Böhler's angle and early reduction</a:t>
            </a:r>
            <a:endParaRPr lang="en-US" sz="1050" dirty="0"/>
          </a:p>
        </p:txBody>
      </p:sp>
      <p:sp>
        <p:nvSpPr>
          <p:cNvPr id="12" name="Shape 10"/>
          <p:cNvSpPr/>
          <p:nvPr/>
        </p:nvSpPr>
        <p:spPr>
          <a:xfrm>
            <a:off x="2450592" y="3310128"/>
            <a:ext cx="384048" cy="384048"/>
          </a:xfrm>
          <a:prstGeom prst="ellipse">
            <a:avLst/>
          </a:prstGeom>
          <a:solidFill>
            <a:srgbClr val="2DD4BF"/>
          </a:solidFill>
          <a:ln w="12700">
            <a:solidFill>
              <a:srgbClr val="2DD4BF"/>
            </a:solidFill>
            <a:prstDash val="solid"/>
          </a:ln>
        </p:spPr>
      </p:sp>
      <p:sp>
        <p:nvSpPr>
          <p:cNvPr id="13" name="Text 11"/>
          <p:cNvSpPr txBox="1"/>
          <p:nvPr/>
        </p:nvSpPr>
        <p:spPr>
          <a:xfrm>
            <a:off x="2450592" y="3310128"/>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1947672" y="3977640"/>
            <a:ext cx="1371600" cy="365760"/>
          </a:xfrm>
          <a:prstGeom prst="rect">
            <a:avLst/>
          </a:prstGeom>
          <a:noFill/>
          <a:ln/>
        </p:spPr>
        <p:txBody>
          <a:bodyPr wrap="square" lIns="0" tIns="0" rIns="0" bIns="0" rtlCol="0" anchor="t"/>
          <a:lstStyle/>
          <a:p>
            <a:pPr marL="0" indent="0" algn="ctr">
              <a:buNone/>
            </a:pPr>
            <a:r>
              <a:rPr lang="en-US" sz="1700" b="1" dirty="0">
                <a:solidFill>
                  <a:srgbClr val="2DD4BF"/>
                </a:solidFill>
                <a:latin typeface="Cambria" pitchFamily="34" charset="0"/>
                <a:ea typeface="Cambria" pitchFamily="34" charset="-122"/>
                <a:cs typeface="Cambria" pitchFamily="34" charset="-120"/>
              </a:rPr>
              <a:t>1952</a:t>
            </a:r>
            <a:endParaRPr lang="en-US" sz="1700" dirty="0"/>
          </a:p>
        </p:txBody>
      </p:sp>
      <p:sp>
        <p:nvSpPr>
          <p:cNvPr id="15" name="Text 13"/>
          <p:cNvSpPr txBox="1"/>
          <p:nvPr/>
        </p:nvSpPr>
        <p:spPr>
          <a:xfrm>
            <a:off x="1901952" y="4343400"/>
            <a:ext cx="1463040" cy="457200"/>
          </a:xfrm>
          <a:prstGeom prst="rect">
            <a:avLst/>
          </a:prstGeom>
          <a:noFill/>
          <a:ln/>
        </p:spPr>
        <p:txBody>
          <a:bodyPr wrap="square" lIns="0" tIns="0" rIns="0" bIns="0" rtlCol="0" anchor="t"/>
          <a:lstStyle/>
          <a:p>
            <a:pPr marL="0" indent="0" algn="ctr">
              <a:buNone/>
            </a:pPr>
            <a:r>
              <a:rPr lang="en-US" sz="1200" b="1" dirty="0">
                <a:solidFill>
                  <a:srgbClr val="F4F1EA"/>
                </a:solidFill>
                <a:latin typeface="Calibri" pitchFamily="34" charset="0"/>
                <a:ea typeface="Calibri" pitchFamily="34" charset="-122"/>
                <a:cs typeface="Calibri" pitchFamily="34" charset="-120"/>
              </a:rPr>
              <a:t>Essex-Lopresti</a:t>
            </a:r>
            <a:endParaRPr lang="en-US" sz="1200" dirty="0"/>
          </a:p>
        </p:txBody>
      </p:sp>
      <p:sp>
        <p:nvSpPr>
          <p:cNvPr id="16" name="Text 14"/>
          <p:cNvSpPr txBox="1"/>
          <p:nvPr/>
        </p:nvSpPr>
        <p:spPr>
          <a:xfrm>
            <a:off x="1901952" y="4709160"/>
            <a:ext cx="1463040" cy="822960"/>
          </a:xfrm>
          <a:prstGeom prst="rect">
            <a:avLst/>
          </a:prstGeom>
          <a:noFill/>
          <a:ln/>
        </p:spPr>
        <p:txBody>
          <a:bodyPr wrap="square" lIns="0" tIns="0" rIns="0" bIns="0" rtlCol="0" anchor="t"/>
          <a:lstStyle/>
          <a:p>
            <a:pPr marL="0" indent="0" algn="ctr">
              <a:buNone/>
            </a:pPr>
            <a:r>
              <a:rPr lang="en-US" sz="1050" dirty="0">
                <a:solidFill>
                  <a:srgbClr val="9FB3BD"/>
                </a:solidFill>
                <a:latin typeface="Calibri" pitchFamily="34" charset="0"/>
                <a:ea typeface="Calibri" pitchFamily="34" charset="-122"/>
                <a:cs typeface="Calibri" pitchFamily="34" charset="-120"/>
              </a:rPr>
              <a:t>Mechanism and the tongue and joint depression types</a:t>
            </a:r>
            <a:endParaRPr lang="en-US" sz="1050" dirty="0"/>
          </a:p>
        </p:txBody>
      </p:sp>
      <p:sp>
        <p:nvSpPr>
          <p:cNvPr id="17" name="Shape 15"/>
          <p:cNvSpPr/>
          <p:nvPr/>
        </p:nvSpPr>
        <p:spPr>
          <a:xfrm>
            <a:off x="3849624" y="3310128"/>
            <a:ext cx="384048" cy="384048"/>
          </a:xfrm>
          <a:prstGeom prst="ellipse">
            <a:avLst/>
          </a:prstGeom>
          <a:solidFill>
            <a:srgbClr val="FBBF24"/>
          </a:solidFill>
          <a:ln w="12700">
            <a:solidFill>
              <a:srgbClr val="FBBF24"/>
            </a:solidFill>
            <a:prstDash val="solid"/>
          </a:ln>
        </p:spPr>
      </p:sp>
      <p:sp>
        <p:nvSpPr>
          <p:cNvPr id="18" name="Text 16"/>
          <p:cNvSpPr txBox="1"/>
          <p:nvPr/>
        </p:nvSpPr>
        <p:spPr>
          <a:xfrm>
            <a:off x="3849624" y="3310128"/>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3346704" y="2651760"/>
            <a:ext cx="1371600" cy="365760"/>
          </a:xfrm>
          <a:prstGeom prst="rect">
            <a:avLst/>
          </a:prstGeom>
          <a:noFill/>
          <a:ln/>
        </p:spPr>
        <p:txBody>
          <a:bodyPr wrap="square" lIns="0" tIns="0" rIns="0" bIns="0" rtlCol="0" anchor="t"/>
          <a:lstStyle/>
          <a:p>
            <a:pPr marL="0" indent="0" algn="ctr">
              <a:buNone/>
            </a:pPr>
            <a:r>
              <a:rPr lang="en-US" sz="1700" b="1" dirty="0">
                <a:solidFill>
                  <a:srgbClr val="FBBF24"/>
                </a:solidFill>
                <a:latin typeface="Cambria" pitchFamily="34" charset="0"/>
                <a:ea typeface="Cambria" pitchFamily="34" charset="-122"/>
                <a:cs typeface="Cambria" pitchFamily="34" charset="-120"/>
              </a:rPr>
              <a:t>1963</a:t>
            </a:r>
            <a:endParaRPr lang="en-US" sz="1700" dirty="0"/>
          </a:p>
        </p:txBody>
      </p:sp>
      <p:sp>
        <p:nvSpPr>
          <p:cNvPr id="20" name="Text 18"/>
          <p:cNvSpPr txBox="1"/>
          <p:nvPr/>
        </p:nvSpPr>
        <p:spPr>
          <a:xfrm>
            <a:off x="3300984" y="1783080"/>
            <a:ext cx="1463040" cy="457200"/>
          </a:xfrm>
          <a:prstGeom prst="rect">
            <a:avLst/>
          </a:prstGeom>
          <a:noFill/>
          <a:ln/>
        </p:spPr>
        <p:txBody>
          <a:bodyPr wrap="square" lIns="0" tIns="0" rIns="0" bIns="0" rtlCol="0" anchor="t"/>
          <a:lstStyle/>
          <a:p>
            <a:pPr marL="0" indent="0" algn="ctr">
              <a:buNone/>
            </a:pPr>
            <a:r>
              <a:rPr lang="en-US" sz="1200" b="1" dirty="0">
                <a:solidFill>
                  <a:srgbClr val="F4F1EA"/>
                </a:solidFill>
                <a:latin typeface="Calibri" pitchFamily="34" charset="0"/>
                <a:ea typeface="Calibri" pitchFamily="34" charset="-122"/>
                <a:cs typeface="Calibri" pitchFamily="34" charset="-120"/>
              </a:rPr>
              <a:t>Rowe</a:t>
            </a:r>
            <a:endParaRPr lang="en-US" sz="1200" dirty="0"/>
          </a:p>
        </p:txBody>
      </p:sp>
      <p:sp>
        <p:nvSpPr>
          <p:cNvPr id="21" name="Text 19"/>
          <p:cNvSpPr txBox="1"/>
          <p:nvPr/>
        </p:nvSpPr>
        <p:spPr>
          <a:xfrm>
            <a:off x="3300984" y="2148840"/>
            <a:ext cx="1463040" cy="822960"/>
          </a:xfrm>
          <a:prstGeom prst="rect">
            <a:avLst/>
          </a:prstGeom>
          <a:noFill/>
          <a:ln/>
        </p:spPr>
        <p:txBody>
          <a:bodyPr wrap="square" lIns="0" tIns="0" rIns="0" bIns="0" rtlCol="0" anchor="t"/>
          <a:lstStyle/>
          <a:p>
            <a:pPr marL="0" indent="0" algn="ctr">
              <a:buNone/>
            </a:pPr>
            <a:r>
              <a:rPr lang="en-US" sz="1050" dirty="0">
                <a:solidFill>
                  <a:srgbClr val="9FB3BD"/>
                </a:solidFill>
                <a:latin typeface="Calibri" pitchFamily="34" charset="0"/>
                <a:ea typeface="Calibri" pitchFamily="34" charset="-122"/>
                <a:cs typeface="Calibri" pitchFamily="34" charset="-120"/>
              </a:rPr>
              <a:t>146 patients followed long term; anatomic groups</a:t>
            </a:r>
            <a:endParaRPr lang="en-US" sz="1050" dirty="0"/>
          </a:p>
        </p:txBody>
      </p:sp>
      <p:sp>
        <p:nvSpPr>
          <p:cNvPr id="22" name="Shape 20"/>
          <p:cNvSpPr/>
          <p:nvPr/>
        </p:nvSpPr>
        <p:spPr>
          <a:xfrm>
            <a:off x="5248656" y="3310128"/>
            <a:ext cx="384048" cy="384048"/>
          </a:xfrm>
          <a:prstGeom prst="ellipse">
            <a:avLst/>
          </a:prstGeom>
          <a:solidFill>
            <a:srgbClr val="FBBF24"/>
          </a:solidFill>
          <a:ln w="12700">
            <a:solidFill>
              <a:srgbClr val="FBBF24"/>
            </a:solidFill>
            <a:prstDash val="solid"/>
          </a:ln>
        </p:spPr>
      </p:sp>
      <p:sp>
        <p:nvSpPr>
          <p:cNvPr id="23" name="Text 21"/>
          <p:cNvSpPr txBox="1"/>
          <p:nvPr/>
        </p:nvSpPr>
        <p:spPr>
          <a:xfrm>
            <a:off x="5248656" y="3310128"/>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4745736" y="3977640"/>
            <a:ext cx="1371600" cy="365760"/>
          </a:xfrm>
          <a:prstGeom prst="rect">
            <a:avLst/>
          </a:prstGeom>
          <a:noFill/>
          <a:ln/>
        </p:spPr>
        <p:txBody>
          <a:bodyPr wrap="square" lIns="0" tIns="0" rIns="0" bIns="0" rtlCol="0" anchor="t"/>
          <a:lstStyle/>
          <a:p>
            <a:pPr marL="0" indent="0" algn="ctr">
              <a:buNone/>
            </a:pPr>
            <a:r>
              <a:rPr lang="en-US" sz="1700" b="1" dirty="0">
                <a:solidFill>
                  <a:srgbClr val="FBBF24"/>
                </a:solidFill>
                <a:latin typeface="Cambria" pitchFamily="34" charset="0"/>
                <a:ea typeface="Cambria" pitchFamily="34" charset="-122"/>
                <a:cs typeface="Cambria" pitchFamily="34" charset="-120"/>
              </a:rPr>
              <a:t>1993</a:t>
            </a:r>
            <a:endParaRPr lang="en-US" sz="1700" dirty="0"/>
          </a:p>
        </p:txBody>
      </p:sp>
      <p:sp>
        <p:nvSpPr>
          <p:cNvPr id="25" name="Text 23"/>
          <p:cNvSpPr txBox="1"/>
          <p:nvPr/>
        </p:nvSpPr>
        <p:spPr>
          <a:xfrm>
            <a:off x="4700016" y="4343400"/>
            <a:ext cx="1463040" cy="457200"/>
          </a:xfrm>
          <a:prstGeom prst="rect">
            <a:avLst/>
          </a:prstGeom>
          <a:noFill/>
          <a:ln/>
        </p:spPr>
        <p:txBody>
          <a:bodyPr wrap="square" lIns="0" tIns="0" rIns="0" bIns="0" rtlCol="0" anchor="t"/>
          <a:lstStyle/>
          <a:p>
            <a:pPr marL="0" indent="0" algn="ctr">
              <a:buNone/>
            </a:pPr>
            <a:r>
              <a:rPr lang="en-US" sz="1200" b="1" dirty="0">
                <a:solidFill>
                  <a:srgbClr val="F4F1EA"/>
                </a:solidFill>
                <a:latin typeface="Calibri" pitchFamily="34" charset="0"/>
                <a:ea typeface="Calibri" pitchFamily="34" charset="-122"/>
                <a:cs typeface="Calibri" pitchFamily="34" charset="-120"/>
              </a:rPr>
              <a:t>Sanders</a:t>
            </a:r>
            <a:endParaRPr lang="en-US" sz="1200" dirty="0"/>
          </a:p>
        </p:txBody>
      </p:sp>
      <p:sp>
        <p:nvSpPr>
          <p:cNvPr id="26" name="Text 24"/>
          <p:cNvSpPr txBox="1"/>
          <p:nvPr/>
        </p:nvSpPr>
        <p:spPr>
          <a:xfrm>
            <a:off x="4700016" y="4709160"/>
            <a:ext cx="1463040" cy="822960"/>
          </a:xfrm>
          <a:prstGeom prst="rect">
            <a:avLst/>
          </a:prstGeom>
          <a:noFill/>
          <a:ln/>
        </p:spPr>
        <p:txBody>
          <a:bodyPr wrap="square" lIns="0" tIns="0" rIns="0" bIns="0" rtlCol="0" anchor="t"/>
          <a:lstStyle/>
          <a:p>
            <a:pPr marL="0" indent="0" algn="ctr">
              <a:buNone/>
            </a:pPr>
            <a:r>
              <a:rPr lang="en-US" sz="1050" dirty="0">
                <a:solidFill>
                  <a:srgbClr val="9FB3BD"/>
                </a:solidFill>
                <a:latin typeface="Calibri" pitchFamily="34" charset="0"/>
                <a:ea typeface="Calibri" pitchFamily="34" charset="-122"/>
                <a:cs typeface="Calibri" pitchFamily="34" charset="-120"/>
              </a:rPr>
              <a:t>Prognostic CT classification</a:t>
            </a:r>
            <a:endParaRPr lang="en-US" sz="1050" dirty="0"/>
          </a:p>
        </p:txBody>
      </p:sp>
      <p:sp>
        <p:nvSpPr>
          <p:cNvPr id="27" name="Shape 25"/>
          <p:cNvSpPr/>
          <p:nvPr/>
        </p:nvSpPr>
        <p:spPr>
          <a:xfrm>
            <a:off x="6647688" y="3310128"/>
            <a:ext cx="384048" cy="384048"/>
          </a:xfrm>
          <a:prstGeom prst="ellipse">
            <a:avLst/>
          </a:prstGeom>
          <a:solidFill>
            <a:srgbClr val="FF7A45"/>
          </a:solidFill>
          <a:ln w="12700">
            <a:solidFill>
              <a:srgbClr val="FF7A45"/>
            </a:solidFill>
            <a:prstDash val="solid"/>
          </a:ln>
        </p:spPr>
      </p:sp>
      <p:sp>
        <p:nvSpPr>
          <p:cNvPr id="28" name="Text 26"/>
          <p:cNvSpPr txBox="1"/>
          <p:nvPr/>
        </p:nvSpPr>
        <p:spPr>
          <a:xfrm>
            <a:off x="6647688" y="3310128"/>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5</a:t>
            </a:r>
            <a:endParaRPr lang="en-US" sz="1500" dirty="0"/>
          </a:p>
        </p:txBody>
      </p:sp>
      <p:sp>
        <p:nvSpPr>
          <p:cNvPr id="29" name="Text 27"/>
          <p:cNvSpPr txBox="1"/>
          <p:nvPr/>
        </p:nvSpPr>
        <p:spPr>
          <a:xfrm>
            <a:off x="6144768" y="2651760"/>
            <a:ext cx="1371600" cy="365760"/>
          </a:xfrm>
          <a:prstGeom prst="rect">
            <a:avLst/>
          </a:prstGeom>
          <a:noFill/>
          <a:ln/>
        </p:spPr>
        <p:txBody>
          <a:bodyPr wrap="square" lIns="0" tIns="0" rIns="0" bIns="0" rtlCol="0" anchor="t"/>
          <a:lstStyle/>
          <a:p>
            <a:pPr marL="0" indent="0" algn="ctr">
              <a:buNone/>
            </a:pPr>
            <a:r>
              <a:rPr lang="en-US" sz="1700" b="1" dirty="0">
                <a:solidFill>
                  <a:srgbClr val="FF7A45"/>
                </a:solidFill>
                <a:latin typeface="Cambria" pitchFamily="34" charset="0"/>
                <a:ea typeface="Cambria" pitchFamily="34" charset="-122"/>
                <a:cs typeface="Cambria" pitchFamily="34" charset="-120"/>
              </a:rPr>
              <a:t>1993</a:t>
            </a:r>
            <a:endParaRPr lang="en-US" sz="1700" dirty="0"/>
          </a:p>
        </p:txBody>
      </p:sp>
      <p:sp>
        <p:nvSpPr>
          <p:cNvPr id="30" name="Text 28"/>
          <p:cNvSpPr txBox="1"/>
          <p:nvPr/>
        </p:nvSpPr>
        <p:spPr>
          <a:xfrm>
            <a:off x="6099048" y="1783080"/>
            <a:ext cx="1463040" cy="457200"/>
          </a:xfrm>
          <a:prstGeom prst="rect">
            <a:avLst/>
          </a:prstGeom>
          <a:noFill/>
          <a:ln/>
        </p:spPr>
        <p:txBody>
          <a:bodyPr wrap="square" lIns="0" tIns="0" rIns="0" bIns="0" rtlCol="0" anchor="t"/>
          <a:lstStyle/>
          <a:p>
            <a:pPr marL="0" indent="0" algn="ctr">
              <a:buNone/>
            </a:pPr>
            <a:r>
              <a:rPr lang="en-US" sz="1200" b="1" dirty="0">
                <a:solidFill>
                  <a:srgbClr val="F4F1EA"/>
                </a:solidFill>
                <a:latin typeface="Calibri" pitchFamily="34" charset="0"/>
                <a:ea typeface="Calibri" pitchFamily="34" charset="-122"/>
                <a:cs typeface="Calibri" pitchFamily="34" charset="-120"/>
              </a:rPr>
              <a:t>Benirschke and Sangeorzan</a:t>
            </a:r>
            <a:endParaRPr lang="en-US" sz="1200" dirty="0"/>
          </a:p>
        </p:txBody>
      </p:sp>
      <p:sp>
        <p:nvSpPr>
          <p:cNvPr id="31" name="Text 29"/>
          <p:cNvSpPr txBox="1"/>
          <p:nvPr/>
        </p:nvSpPr>
        <p:spPr>
          <a:xfrm>
            <a:off x="6099048" y="2148840"/>
            <a:ext cx="1463040" cy="822960"/>
          </a:xfrm>
          <a:prstGeom prst="rect">
            <a:avLst/>
          </a:prstGeom>
          <a:noFill/>
          <a:ln/>
        </p:spPr>
        <p:txBody>
          <a:bodyPr wrap="square" lIns="0" tIns="0" rIns="0" bIns="0" rtlCol="0" anchor="t"/>
          <a:lstStyle/>
          <a:p>
            <a:pPr marL="0" indent="0" algn="ctr">
              <a:buNone/>
            </a:pPr>
            <a:r>
              <a:rPr lang="en-US" sz="1050" dirty="0">
                <a:solidFill>
                  <a:srgbClr val="9FB3BD"/>
                </a:solidFill>
                <a:latin typeface="Calibri" pitchFamily="34" charset="0"/>
                <a:ea typeface="Calibri" pitchFamily="34" charset="-122"/>
                <a:cs typeface="Calibri" pitchFamily="34" charset="-120"/>
              </a:rPr>
              <a:t>Extensile lateral approach</a:t>
            </a:r>
            <a:endParaRPr lang="en-US" sz="1050" dirty="0"/>
          </a:p>
        </p:txBody>
      </p:sp>
      <p:sp>
        <p:nvSpPr>
          <p:cNvPr id="32" name="Shape 30"/>
          <p:cNvSpPr/>
          <p:nvPr/>
        </p:nvSpPr>
        <p:spPr>
          <a:xfrm>
            <a:off x="8046720" y="3310128"/>
            <a:ext cx="384048" cy="384048"/>
          </a:xfrm>
          <a:prstGeom prst="ellipse">
            <a:avLst/>
          </a:prstGeom>
          <a:solidFill>
            <a:srgbClr val="FF7A45"/>
          </a:solidFill>
          <a:ln w="12700">
            <a:solidFill>
              <a:srgbClr val="FF7A45"/>
            </a:solidFill>
            <a:prstDash val="solid"/>
          </a:ln>
        </p:spPr>
      </p:sp>
      <p:sp>
        <p:nvSpPr>
          <p:cNvPr id="33" name="Text 31"/>
          <p:cNvSpPr txBox="1"/>
          <p:nvPr/>
        </p:nvSpPr>
        <p:spPr>
          <a:xfrm>
            <a:off x="8046720" y="3310128"/>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6</a:t>
            </a:r>
            <a:endParaRPr lang="en-US" sz="1500" dirty="0"/>
          </a:p>
        </p:txBody>
      </p:sp>
      <p:sp>
        <p:nvSpPr>
          <p:cNvPr id="34" name="Text 32"/>
          <p:cNvSpPr txBox="1"/>
          <p:nvPr/>
        </p:nvSpPr>
        <p:spPr>
          <a:xfrm>
            <a:off x="7543800" y="3977640"/>
            <a:ext cx="1371600" cy="365760"/>
          </a:xfrm>
          <a:prstGeom prst="rect">
            <a:avLst/>
          </a:prstGeom>
          <a:noFill/>
          <a:ln/>
        </p:spPr>
        <p:txBody>
          <a:bodyPr wrap="square" lIns="0" tIns="0" rIns="0" bIns="0" rtlCol="0" anchor="t"/>
          <a:lstStyle/>
          <a:p>
            <a:pPr marL="0" indent="0" algn="ctr">
              <a:buNone/>
            </a:pPr>
            <a:r>
              <a:rPr lang="en-US" sz="1700" b="1" dirty="0">
                <a:solidFill>
                  <a:srgbClr val="FF7A45"/>
                </a:solidFill>
                <a:latin typeface="Cambria" pitchFamily="34" charset="0"/>
                <a:ea typeface="Cambria" pitchFamily="34" charset="-122"/>
                <a:cs typeface="Cambria" pitchFamily="34" charset="-120"/>
              </a:rPr>
              <a:t>1996</a:t>
            </a:r>
            <a:endParaRPr lang="en-US" sz="1700" dirty="0"/>
          </a:p>
        </p:txBody>
      </p:sp>
      <p:sp>
        <p:nvSpPr>
          <p:cNvPr id="35" name="Text 33"/>
          <p:cNvSpPr txBox="1"/>
          <p:nvPr/>
        </p:nvSpPr>
        <p:spPr>
          <a:xfrm>
            <a:off x="7498080" y="4343400"/>
            <a:ext cx="1463040" cy="457200"/>
          </a:xfrm>
          <a:prstGeom prst="rect">
            <a:avLst/>
          </a:prstGeom>
          <a:noFill/>
          <a:ln/>
        </p:spPr>
        <p:txBody>
          <a:bodyPr wrap="square" lIns="0" tIns="0" rIns="0" bIns="0" rtlCol="0" anchor="t"/>
          <a:lstStyle/>
          <a:p>
            <a:pPr marL="0" indent="0" algn="ctr">
              <a:buNone/>
            </a:pPr>
            <a:r>
              <a:rPr lang="en-US" sz="1200" b="1" dirty="0">
                <a:solidFill>
                  <a:srgbClr val="F4F1EA"/>
                </a:solidFill>
                <a:latin typeface="Calibri" pitchFamily="34" charset="0"/>
                <a:ea typeface="Calibri" pitchFamily="34" charset="-122"/>
                <a:cs typeface="Calibri" pitchFamily="34" charset="-120"/>
              </a:rPr>
              <a:t>Stephens and Sanders</a:t>
            </a:r>
            <a:endParaRPr lang="en-US" sz="1200" dirty="0"/>
          </a:p>
        </p:txBody>
      </p:sp>
      <p:sp>
        <p:nvSpPr>
          <p:cNvPr id="36" name="Text 34"/>
          <p:cNvSpPr txBox="1"/>
          <p:nvPr/>
        </p:nvSpPr>
        <p:spPr>
          <a:xfrm>
            <a:off x="7498080" y="4709160"/>
            <a:ext cx="1463040" cy="822960"/>
          </a:xfrm>
          <a:prstGeom prst="rect">
            <a:avLst/>
          </a:prstGeom>
          <a:noFill/>
          <a:ln/>
        </p:spPr>
        <p:txBody>
          <a:bodyPr wrap="square" lIns="0" tIns="0" rIns="0" bIns="0" rtlCol="0" anchor="t"/>
          <a:lstStyle/>
          <a:p>
            <a:pPr marL="0" indent="0" algn="ctr">
              <a:buNone/>
            </a:pPr>
            <a:r>
              <a:rPr lang="en-US" sz="1050" dirty="0">
                <a:solidFill>
                  <a:srgbClr val="9FB3BD"/>
                </a:solidFill>
                <a:latin typeface="Calibri" pitchFamily="34" charset="0"/>
                <a:ea typeface="Calibri" pitchFamily="34" charset="-122"/>
                <a:cs typeface="Calibri" pitchFamily="34" charset="-120"/>
              </a:rPr>
              <a:t>Malunion classification</a:t>
            </a:r>
            <a:endParaRPr lang="en-US" sz="1050" dirty="0"/>
          </a:p>
        </p:txBody>
      </p:sp>
      <p:sp>
        <p:nvSpPr>
          <p:cNvPr id="37" name="Shape 35"/>
          <p:cNvSpPr/>
          <p:nvPr/>
        </p:nvSpPr>
        <p:spPr>
          <a:xfrm>
            <a:off x="9445752" y="3310128"/>
            <a:ext cx="384048" cy="384048"/>
          </a:xfrm>
          <a:prstGeom prst="ellipse">
            <a:avLst/>
          </a:prstGeom>
          <a:solidFill>
            <a:srgbClr val="F87171"/>
          </a:solidFill>
          <a:ln w="12700">
            <a:solidFill>
              <a:srgbClr val="F87171"/>
            </a:solidFill>
            <a:prstDash val="solid"/>
          </a:ln>
        </p:spPr>
      </p:sp>
      <p:sp>
        <p:nvSpPr>
          <p:cNvPr id="38" name="Text 36"/>
          <p:cNvSpPr txBox="1"/>
          <p:nvPr/>
        </p:nvSpPr>
        <p:spPr>
          <a:xfrm>
            <a:off x="9445752" y="3310128"/>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7</a:t>
            </a:r>
            <a:endParaRPr lang="en-US" sz="1500" dirty="0"/>
          </a:p>
        </p:txBody>
      </p:sp>
      <p:sp>
        <p:nvSpPr>
          <p:cNvPr id="39" name="Text 37"/>
          <p:cNvSpPr txBox="1"/>
          <p:nvPr/>
        </p:nvSpPr>
        <p:spPr>
          <a:xfrm>
            <a:off x="8942832" y="2651760"/>
            <a:ext cx="1371600" cy="365760"/>
          </a:xfrm>
          <a:prstGeom prst="rect">
            <a:avLst/>
          </a:prstGeom>
          <a:noFill/>
          <a:ln/>
        </p:spPr>
        <p:txBody>
          <a:bodyPr wrap="square" lIns="0" tIns="0" rIns="0" bIns="0" rtlCol="0" anchor="t"/>
          <a:lstStyle/>
          <a:p>
            <a:pPr marL="0" indent="0" algn="ctr">
              <a:buNone/>
            </a:pPr>
            <a:r>
              <a:rPr lang="en-US" sz="1700" b="1" dirty="0">
                <a:solidFill>
                  <a:srgbClr val="F87171"/>
                </a:solidFill>
                <a:latin typeface="Cambria" pitchFamily="34" charset="0"/>
                <a:ea typeface="Cambria" pitchFamily="34" charset="-122"/>
                <a:cs typeface="Cambria" pitchFamily="34" charset="-120"/>
              </a:rPr>
              <a:t>2002</a:t>
            </a:r>
            <a:endParaRPr lang="en-US" sz="1700" dirty="0"/>
          </a:p>
        </p:txBody>
      </p:sp>
      <p:sp>
        <p:nvSpPr>
          <p:cNvPr id="40" name="Text 38"/>
          <p:cNvSpPr txBox="1"/>
          <p:nvPr/>
        </p:nvSpPr>
        <p:spPr>
          <a:xfrm>
            <a:off x="8897112" y="1783080"/>
            <a:ext cx="1463040" cy="457200"/>
          </a:xfrm>
          <a:prstGeom prst="rect">
            <a:avLst/>
          </a:prstGeom>
          <a:noFill/>
          <a:ln/>
        </p:spPr>
        <p:txBody>
          <a:bodyPr wrap="square" lIns="0" tIns="0" rIns="0" bIns="0" rtlCol="0" anchor="t"/>
          <a:lstStyle/>
          <a:p>
            <a:pPr marL="0" indent="0" algn="ctr">
              <a:buNone/>
            </a:pPr>
            <a:r>
              <a:rPr lang="en-US" sz="1200" b="1" dirty="0">
                <a:solidFill>
                  <a:srgbClr val="F4F1EA"/>
                </a:solidFill>
                <a:latin typeface="Calibri" pitchFamily="34" charset="0"/>
                <a:ea typeface="Calibri" pitchFamily="34" charset="-122"/>
                <a:cs typeface="Calibri" pitchFamily="34" charset="-120"/>
              </a:rPr>
              <a:t>Buckley</a:t>
            </a:r>
            <a:endParaRPr lang="en-US" sz="1200" dirty="0"/>
          </a:p>
        </p:txBody>
      </p:sp>
      <p:sp>
        <p:nvSpPr>
          <p:cNvPr id="41" name="Text 39"/>
          <p:cNvSpPr txBox="1"/>
          <p:nvPr/>
        </p:nvSpPr>
        <p:spPr>
          <a:xfrm>
            <a:off x="8897112" y="2148840"/>
            <a:ext cx="1463040" cy="822960"/>
          </a:xfrm>
          <a:prstGeom prst="rect">
            <a:avLst/>
          </a:prstGeom>
          <a:noFill/>
          <a:ln/>
        </p:spPr>
        <p:txBody>
          <a:bodyPr wrap="square" lIns="0" tIns="0" rIns="0" bIns="0" rtlCol="0" anchor="t"/>
          <a:lstStyle/>
          <a:p>
            <a:pPr marL="0" indent="0" algn="ctr">
              <a:buNone/>
            </a:pPr>
            <a:r>
              <a:rPr lang="en-US" sz="1050" dirty="0">
                <a:solidFill>
                  <a:srgbClr val="9FB3BD"/>
                </a:solidFill>
                <a:latin typeface="Calibri" pitchFamily="34" charset="0"/>
                <a:ea typeface="Calibri" pitchFamily="34" charset="-122"/>
                <a:cs typeface="Calibri" pitchFamily="34" charset="-120"/>
              </a:rPr>
              <a:t>Randomised trial: subgroups benefit</a:t>
            </a:r>
            <a:endParaRPr lang="en-US" sz="1050" dirty="0"/>
          </a:p>
        </p:txBody>
      </p:sp>
      <p:sp>
        <p:nvSpPr>
          <p:cNvPr id="42" name="Shape 40"/>
          <p:cNvSpPr/>
          <p:nvPr/>
        </p:nvSpPr>
        <p:spPr>
          <a:xfrm>
            <a:off x="10844784" y="3310128"/>
            <a:ext cx="384048" cy="384048"/>
          </a:xfrm>
          <a:prstGeom prst="ellipse">
            <a:avLst/>
          </a:prstGeom>
          <a:solidFill>
            <a:srgbClr val="F87171"/>
          </a:solidFill>
          <a:ln w="12700">
            <a:solidFill>
              <a:srgbClr val="F87171"/>
            </a:solidFill>
            <a:prstDash val="solid"/>
          </a:ln>
        </p:spPr>
      </p:sp>
      <p:sp>
        <p:nvSpPr>
          <p:cNvPr id="43" name="Text 41"/>
          <p:cNvSpPr txBox="1"/>
          <p:nvPr/>
        </p:nvSpPr>
        <p:spPr>
          <a:xfrm>
            <a:off x="10844784" y="3310128"/>
            <a:ext cx="384048" cy="384048"/>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8</a:t>
            </a:r>
            <a:endParaRPr lang="en-US" sz="1500" dirty="0"/>
          </a:p>
        </p:txBody>
      </p:sp>
      <p:sp>
        <p:nvSpPr>
          <p:cNvPr id="44" name="Text 42"/>
          <p:cNvSpPr txBox="1"/>
          <p:nvPr/>
        </p:nvSpPr>
        <p:spPr>
          <a:xfrm>
            <a:off x="10341864" y="3977640"/>
            <a:ext cx="1371600" cy="365760"/>
          </a:xfrm>
          <a:prstGeom prst="rect">
            <a:avLst/>
          </a:prstGeom>
          <a:noFill/>
          <a:ln/>
        </p:spPr>
        <p:txBody>
          <a:bodyPr wrap="square" lIns="0" tIns="0" rIns="0" bIns="0" rtlCol="0" anchor="t"/>
          <a:lstStyle/>
          <a:p>
            <a:pPr marL="0" indent="0" algn="ctr">
              <a:buNone/>
            </a:pPr>
            <a:r>
              <a:rPr lang="en-US" sz="1700" b="1" dirty="0">
                <a:solidFill>
                  <a:srgbClr val="F87171"/>
                </a:solidFill>
                <a:latin typeface="Cambria" pitchFamily="34" charset="0"/>
                <a:ea typeface="Cambria" pitchFamily="34" charset="-122"/>
                <a:cs typeface="Cambria" pitchFamily="34" charset="-120"/>
              </a:rPr>
              <a:t>2014</a:t>
            </a:r>
            <a:endParaRPr lang="en-US" sz="1700" dirty="0"/>
          </a:p>
        </p:txBody>
      </p:sp>
      <p:sp>
        <p:nvSpPr>
          <p:cNvPr id="45" name="Text 43"/>
          <p:cNvSpPr txBox="1"/>
          <p:nvPr/>
        </p:nvSpPr>
        <p:spPr>
          <a:xfrm>
            <a:off x="10296144" y="4343400"/>
            <a:ext cx="1463040" cy="457200"/>
          </a:xfrm>
          <a:prstGeom prst="rect">
            <a:avLst/>
          </a:prstGeom>
          <a:noFill/>
          <a:ln/>
        </p:spPr>
        <p:txBody>
          <a:bodyPr wrap="square" lIns="0" tIns="0" rIns="0" bIns="0" rtlCol="0" anchor="t"/>
          <a:lstStyle/>
          <a:p>
            <a:pPr marL="0" indent="0" algn="ctr">
              <a:buNone/>
            </a:pPr>
            <a:r>
              <a:rPr lang="en-US" sz="1200" b="1" dirty="0">
                <a:solidFill>
                  <a:srgbClr val="F4F1EA"/>
                </a:solidFill>
                <a:latin typeface="Calibri" pitchFamily="34" charset="0"/>
                <a:ea typeface="Calibri" pitchFamily="34" charset="-122"/>
                <a:cs typeface="Calibri" pitchFamily="34" charset="-120"/>
              </a:rPr>
              <a:t>Griffin (UK)</a:t>
            </a:r>
            <a:endParaRPr lang="en-US" sz="1200" dirty="0"/>
          </a:p>
        </p:txBody>
      </p:sp>
      <p:sp>
        <p:nvSpPr>
          <p:cNvPr id="46" name="Text 44"/>
          <p:cNvSpPr txBox="1"/>
          <p:nvPr/>
        </p:nvSpPr>
        <p:spPr>
          <a:xfrm>
            <a:off x="10296144" y="4709160"/>
            <a:ext cx="1463040" cy="822960"/>
          </a:xfrm>
          <a:prstGeom prst="rect">
            <a:avLst/>
          </a:prstGeom>
          <a:noFill/>
          <a:ln/>
        </p:spPr>
        <p:txBody>
          <a:bodyPr wrap="square" lIns="0" tIns="0" rIns="0" bIns="0" rtlCol="0" anchor="t"/>
          <a:lstStyle/>
          <a:p>
            <a:pPr marL="0" indent="0" algn="ctr">
              <a:buNone/>
            </a:pPr>
            <a:r>
              <a:rPr lang="en-US" sz="1050" dirty="0">
                <a:solidFill>
                  <a:srgbClr val="9FB3BD"/>
                </a:solidFill>
                <a:latin typeface="Calibri" pitchFamily="34" charset="0"/>
                <a:ea typeface="Calibri" pitchFamily="34" charset="-122"/>
                <a:cs typeface="Calibri" pitchFamily="34" charset="-120"/>
              </a:rPr>
              <a:t>Randomised trial: no overall benefit at 2 years</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EXAM PEARLS</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High-yield viva points</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39</a:t>
            </a:r>
            <a:endParaRPr lang="en-US" sz="1000" dirty="0"/>
          </a:p>
        </p:txBody>
      </p:sp>
      <p:sp>
        <p:nvSpPr>
          <p:cNvPr id="6" name="Shape 4"/>
          <p:cNvSpPr/>
          <p:nvPr/>
        </p:nvSpPr>
        <p:spPr>
          <a:xfrm>
            <a:off x="548640" y="1463040"/>
            <a:ext cx="5440680" cy="868680"/>
          </a:xfrm>
          <a:prstGeom prst="roundRect">
            <a:avLst>
              <a:gd name="adj" fmla="val 8421"/>
            </a:avLst>
          </a:prstGeom>
          <a:solidFill>
            <a:srgbClr val="132A36"/>
          </a:solidFill>
          <a:ln w="9525">
            <a:solidFill>
              <a:srgbClr val="2C4756"/>
            </a:solidFill>
            <a:prstDash val="solid"/>
          </a:ln>
        </p:spPr>
      </p:sp>
      <p:sp>
        <p:nvSpPr>
          <p:cNvPr id="7" name="Text 5"/>
          <p:cNvSpPr txBox="1"/>
          <p:nvPr/>
        </p:nvSpPr>
        <p:spPr>
          <a:xfrm>
            <a:off x="731520" y="1517904"/>
            <a:ext cx="5074920" cy="365760"/>
          </a:xfrm>
          <a:prstGeom prst="rect">
            <a:avLst/>
          </a:prstGeom>
          <a:noFill/>
          <a:ln/>
        </p:spPr>
        <p:txBody>
          <a:bodyPr wrap="square" lIns="0" tIns="0" rIns="0" bIns="0" rtlCol="0" anchor="t"/>
          <a:lstStyle/>
          <a:p>
            <a:pPr marL="0" indent="0" algn="l">
              <a:buNone/>
            </a:pPr>
            <a:r>
              <a:rPr lang="en-US" sz="1470" b="1" dirty="0">
                <a:solidFill>
                  <a:srgbClr val="FBBF24"/>
                </a:solidFill>
                <a:latin typeface="Calibri" pitchFamily="34" charset="0"/>
                <a:ea typeface="Calibri" pitchFamily="34" charset="-122"/>
                <a:cs typeface="Calibri" pitchFamily="34" charset="-120"/>
              </a:rPr>
              <a:t>Normal Böhler angle?</a:t>
            </a:r>
            <a:endParaRPr lang="en-US" sz="1470" dirty="0"/>
          </a:p>
        </p:txBody>
      </p:sp>
      <p:sp>
        <p:nvSpPr>
          <p:cNvPr id="8" name="Text 6"/>
          <p:cNvSpPr txBox="1"/>
          <p:nvPr/>
        </p:nvSpPr>
        <p:spPr>
          <a:xfrm>
            <a:off x="731520" y="1892808"/>
            <a:ext cx="5074920" cy="411480"/>
          </a:xfrm>
          <a:prstGeom prst="rect">
            <a:avLst/>
          </a:prstGeom>
          <a:noFill/>
          <a:ln/>
        </p:spPr>
        <p:txBody>
          <a:bodyPr wrap="square" lIns="0" tIns="0" rIns="0" bIns="0" rtlCol="0" anchor="t"/>
          <a:lstStyle/>
          <a:p>
            <a:pPr marL="0" indent="0" algn="l">
              <a:buNone/>
            </a:pPr>
            <a:r>
              <a:rPr lang="en-US" sz="1418" dirty="0">
                <a:solidFill>
                  <a:srgbClr val="F4F1EA"/>
                </a:solidFill>
                <a:latin typeface="Calibri" pitchFamily="34" charset="0"/>
                <a:ea typeface="Calibri" pitchFamily="34" charset="-122"/>
                <a:cs typeface="Calibri" pitchFamily="34" charset="-120"/>
              </a:rPr>
              <a:t>20 to 40°; lower means facet collapse</a:t>
            </a:r>
            <a:endParaRPr lang="en-US" sz="1418" dirty="0"/>
          </a:p>
        </p:txBody>
      </p:sp>
      <p:sp>
        <p:nvSpPr>
          <p:cNvPr id="9" name="Shape 7"/>
          <p:cNvSpPr/>
          <p:nvPr/>
        </p:nvSpPr>
        <p:spPr>
          <a:xfrm>
            <a:off x="6172200" y="1463040"/>
            <a:ext cx="5440680" cy="868680"/>
          </a:xfrm>
          <a:prstGeom prst="roundRect">
            <a:avLst>
              <a:gd name="adj" fmla="val 8421"/>
            </a:avLst>
          </a:prstGeom>
          <a:solidFill>
            <a:srgbClr val="132A36"/>
          </a:solidFill>
          <a:ln w="9525">
            <a:solidFill>
              <a:srgbClr val="2C4756"/>
            </a:solidFill>
            <a:prstDash val="solid"/>
          </a:ln>
        </p:spPr>
      </p:sp>
      <p:sp>
        <p:nvSpPr>
          <p:cNvPr id="10" name="Text 8"/>
          <p:cNvSpPr txBox="1"/>
          <p:nvPr/>
        </p:nvSpPr>
        <p:spPr>
          <a:xfrm>
            <a:off x="6355080" y="1517904"/>
            <a:ext cx="5074920" cy="365760"/>
          </a:xfrm>
          <a:prstGeom prst="rect">
            <a:avLst/>
          </a:prstGeom>
          <a:noFill/>
          <a:ln/>
        </p:spPr>
        <p:txBody>
          <a:bodyPr wrap="square" lIns="0" tIns="0" rIns="0" bIns="0" rtlCol="0" anchor="t"/>
          <a:lstStyle/>
          <a:p>
            <a:pPr marL="0" indent="0" algn="l">
              <a:buNone/>
            </a:pPr>
            <a:r>
              <a:rPr lang="en-US" sz="1470" b="1" dirty="0">
                <a:solidFill>
                  <a:srgbClr val="FBBF24"/>
                </a:solidFill>
                <a:latin typeface="Calibri" pitchFamily="34" charset="0"/>
                <a:ea typeface="Calibri" pitchFamily="34" charset="-122"/>
                <a:cs typeface="Calibri" pitchFamily="34" charset="-120"/>
              </a:rPr>
              <a:t>Constant fragment?</a:t>
            </a:r>
            <a:endParaRPr lang="en-US" sz="1470" dirty="0"/>
          </a:p>
        </p:txBody>
      </p:sp>
      <p:sp>
        <p:nvSpPr>
          <p:cNvPr id="11" name="Text 9"/>
          <p:cNvSpPr txBox="1"/>
          <p:nvPr/>
        </p:nvSpPr>
        <p:spPr>
          <a:xfrm>
            <a:off x="6355080" y="1892808"/>
            <a:ext cx="5074920" cy="411480"/>
          </a:xfrm>
          <a:prstGeom prst="rect">
            <a:avLst/>
          </a:prstGeom>
          <a:noFill/>
          <a:ln/>
        </p:spPr>
        <p:txBody>
          <a:bodyPr wrap="square" lIns="0" tIns="0" rIns="0" bIns="0" rtlCol="0" anchor="t"/>
          <a:lstStyle/>
          <a:p>
            <a:pPr marL="0" indent="0" algn="l">
              <a:buNone/>
            </a:pPr>
            <a:r>
              <a:rPr lang="en-US" sz="1418" dirty="0">
                <a:solidFill>
                  <a:srgbClr val="F4F1EA"/>
                </a:solidFill>
                <a:latin typeface="Calibri" pitchFamily="34" charset="0"/>
                <a:ea typeface="Calibri" pitchFamily="34" charset="-122"/>
                <a:cs typeface="Calibri" pitchFamily="34" charset="-120"/>
              </a:rPr>
              <a:t>Sustentacular fragment, tied to the talus by ligaments</a:t>
            </a:r>
            <a:endParaRPr lang="en-US" sz="1418" dirty="0"/>
          </a:p>
        </p:txBody>
      </p:sp>
      <p:sp>
        <p:nvSpPr>
          <p:cNvPr id="12" name="Shape 10"/>
          <p:cNvSpPr/>
          <p:nvPr/>
        </p:nvSpPr>
        <p:spPr>
          <a:xfrm>
            <a:off x="548640" y="2432304"/>
            <a:ext cx="5440680" cy="868680"/>
          </a:xfrm>
          <a:prstGeom prst="roundRect">
            <a:avLst>
              <a:gd name="adj" fmla="val 8421"/>
            </a:avLst>
          </a:prstGeom>
          <a:solidFill>
            <a:srgbClr val="132A36"/>
          </a:solidFill>
          <a:ln w="9525">
            <a:solidFill>
              <a:srgbClr val="2C4756"/>
            </a:solidFill>
            <a:prstDash val="solid"/>
          </a:ln>
        </p:spPr>
      </p:sp>
      <p:sp>
        <p:nvSpPr>
          <p:cNvPr id="13" name="Text 11"/>
          <p:cNvSpPr txBox="1"/>
          <p:nvPr/>
        </p:nvSpPr>
        <p:spPr>
          <a:xfrm>
            <a:off x="731520" y="2487168"/>
            <a:ext cx="5074920" cy="365760"/>
          </a:xfrm>
          <a:prstGeom prst="rect">
            <a:avLst/>
          </a:prstGeom>
          <a:noFill/>
          <a:ln/>
        </p:spPr>
        <p:txBody>
          <a:bodyPr wrap="square" lIns="0" tIns="0" rIns="0" bIns="0" rtlCol="0" anchor="t"/>
          <a:lstStyle/>
          <a:p>
            <a:pPr marL="0" indent="0" algn="l">
              <a:buNone/>
            </a:pPr>
            <a:r>
              <a:rPr lang="en-US" sz="1470" b="1" dirty="0">
                <a:solidFill>
                  <a:srgbClr val="FBBF24"/>
                </a:solidFill>
                <a:latin typeface="Calibri" pitchFamily="34" charset="0"/>
                <a:ea typeface="Calibri" pitchFamily="34" charset="-122"/>
                <a:cs typeface="Calibri" pitchFamily="34" charset="-120"/>
              </a:rPr>
              <a:t>Best CT plane for Sanders?</a:t>
            </a:r>
            <a:endParaRPr lang="en-US" sz="1470" dirty="0"/>
          </a:p>
        </p:txBody>
      </p:sp>
      <p:sp>
        <p:nvSpPr>
          <p:cNvPr id="14" name="Text 12"/>
          <p:cNvSpPr txBox="1"/>
          <p:nvPr/>
        </p:nvSpPr>
        <p:spPr>
          <a:xfrm>
            <a:off x="731520" y="2862072"/>
            <a:ext cx="5074920" cy="411480"/>
          </a:xfrm>
          <a:prstGeom prst="rect">
            <a:avLst/>
          </a:prstGeom>
          <a:noFill/>
          <a:ln/>
        </p:spPr>
        <p:txBody>
          <a:bodyPr wrap="square" lIns="0" tIns="0" rIns="0" bIns="0" rtlCol="0" anchor="t"/>
          <a:lstStyle/>
          <a:p>
            <a:pPr marL="0" indent="0" algn="l">
              <a:buNone/>
            </a:pPr>
            <a:r>
              <a:rPr lang="en-US" sz="1418" dirty="0">
                <a:solidFill>
                  <a:srgbClr val="F4F1EA"/>
                </a:solidFill>
                <a:latin typeface="Calibri" pitchFamily="34" charset="0"/>
                <a:ea typeface="Calibri" pitchFamily="34" charset="-122"/>
                <a:cs typeface="Calibri" pitchFamily="34" charset="-120"/>
              </a:rPr>
              <a:t>Coronal, through the widest posterior facet</a:t>
            </a:r>
            <a:endParaRPr lang="en-US" sz="1418" dirty="0"/>
          </a:p>
        </p:txBody>
      </p:sp>
      <p:sp>
        <p:nvSpPr>
          <p:cNvPr id="15" name="Shape 13"/>
          <p:cNvSpPr/>
          <p:nvPr/>
        </p:nvSpPr>
        <p:spPr>
          <a:xfrm>
            <a:off x="6172200" y="2432304"/>
            <a:ext cx="5440680" cy="868680"/>
          </a:xfrm>
          <a:prstGeom prst="roundRect">
            <a:avLst>
              <a:gd name="adj" fmla="val 8421"/>
            </a:avLst>
          </a:prstGeom>
          <a:solidFill>
            <a:srgbClr val="132A36"/>
          </a:solidFill>
          <a:ln w="9525">
            <a:solidFill>
              <a:srgbClr val="2C4756"/>
            </a:solidFill>
            <a:prstDash val="solid"/>
          </a:ln>
        </p:spPr>
      </p:sp>
      <p:sp>
        <p:nvSpPr>
          <p:cNvPr id="16" name="Text 14"/>
          <p:cNvSpPr txBox="1"/>
          <p:nvPr/>
        </p:nvSpPr>
        <p:spPr>
          <a:xfrm>
            <a:off x="6355080" y="2487168"/>
            <a:ext cx="5074920" cy="365760"/>
          </a:xfrm>
          <a:prstGeom prst="rect">
            <a:avLst/>
          </a:prstGeom>
          <a:noFill/>
          <a:ln/>
        </p:spPr>
        <p:txBody>
          <a:bodyPr wrap="square" lIns="0" tIns="0" rIns="0" bIns="0" rtlCol="0" anchor="t"/>
          <a:lstStyle/>
          <a:p>
            <a:pPr marL="0" indent="0" algn="l">
              <a:buNone/>
            </a:pPr>
            <a:r>
              <a:rPr lang="en-US" sz="1470" b="1" dirty="0">
                <a:solidFill>
                  <a:srgbClr val="FBBF24"/>
                </a:solidFill>
                <a:latin typeface="Calibri" pitchFamily="34" charset="0"/>
                <a:ea typeface="Calibri" pitchFamily="34" charset="-122"/>
                <a:cs typeface="Calibri" pitchFamily="34" charset="-120"/>
              </a:rPr>
              <a:t>Approach with the sural nerve at risk?</a:t>
            </a:r>
            <a:endParaRPr lang="en-US" sz="1470" dirty="0"/>
          </a:p>
        </p:txBody>
      </p:sp>
      <p:sp>
        <p:nvSpPr>
          <p:cNvPr id="17" name="Text 15"/>
          <p:cNvSpPr txBox="1"/>
          <p:nvPr/>
        </p:nvSpPr>
        <p:spPr>
          <a:xfrm>
            <a:off x="6355080" y="2862072"/>
            <a:ext cx="5074920" cy="411480"/>
          </a:xfrm>
          <a:prstGeom prst="rect">
            <a:avLst/>
          </a:prstGeom>
          <a:noFill/>
          <a:ln/>
        </p:spPr>
        <p:txBody>
          <a:bodyPr wrap="square" lIns="0" tIns="0" rIns="0" bIns="0" rtlCol="0" anchor="t"/>
          <a:lstStyle/>
          <a:p>
            <a:pPr marL="0" indent="0" algn="l">
              <a:buNone/>
            </a:pPr>
            <a:r>
              <a:rPr lang="en-US" sz="1418" dirty="0">
                <a:solidFill>
                  <a:srgbClr val="F4F1EA"/>
                </a:solidFill>
                <a:latin typeface="Calibri" pitchFamily="34" charset="0"/>
                <a:ea typeface="Calibri" pitchFamily="34" charset="-122"/>
                <a:cs typeface="Calibri" pitchFamily="34" charset="-120"/>
              </a:rPr>
              <a:t>Extensile lateral (L-shaped) approach</a:t>
            </a:r>
            <a:endParaRPr lang="en-US" sz="1418" dirty="0"/>
          </a:p>
        </p:txBody>
      </p:sp>
      <p:sp>
        <p:nvSpPr>
          <p:cNvPr id="18" name="Shape 16"/>
          <p:cNvSpPr/>
          <p:nvPr/>
        </p:nvSpPr>
        <p:spPr>
          <a:xfrm>
            <a:off x="548640" y="3401568"/>
            <a:ext cx="5440680" cy="868680"/>
          </a:xfrm>
          <a:prstGeom prst="roundRect">
            <a:avLst>
              <a:gd name="adj" fmla="val 8421"/>
            </a:avLst>
          </a:prstGeom>
          <a:solidFill>
            <a:srgbClr val="132A36"/>
          </a:solidFill>
          <a:ln w="9525">
            <a:solidFill>
              <a:srgbClr val="2C4756"/>
            </a:solidFill>
            <a:prstDash val="solid"/>
          </a:ln>
        </p:spPr>
      </p:sp>
      <p:sp>
        <p:nvSpPr>
          <p:cNvPr id="19" name="Text 17"/>
          <p:cNvSpPr txBox="1"/>
          <p:nvPr/>
        </p:nvSpPr>
        <p:spPr>
          <a:xfrm>
            <a:off x="731520" y="3456432"/>
            <a:ext cx="5074920" cy="365760"/>
          </a:xfrm>
          <a:prstGeom prst="rect">
            <a:avLst/>
          </a:prstGeom>
          <a:noFill/>
          <a:ln/>
        </p:spPr>
        <p:txBody>
          <a:bodyPr wrap="square" lIns="0" tIns="0" rIns="0" bIns="0" rtlCol="0" anchor="t"/>
          <a:lstStyle/>
          <a:p>
            <a:pPr marL="0" indent="0" algn="l">
              <a:buNone/>
            </a:pPr>
            <a:r>
              <a:rPr lang="en-US" sz="1470" b="1" dirty="0">
                <a:solidFill>
                  <a:srgbClr val="FBBF24"/>
                </a:solidFill>
                <a:latin typeface="Calibri" pitchFamily="34" charset="0"/>
                <a:ea typeface="Calibri" pitchFamily="34" charset="-122"/>
                <a:cs typeface="Calibri" pitchFamily="34" charset="-120"/>
              </a:rPr>
              <a:t>Who needs urgent surgery?</a:t>
            </a:r>
            <a:endParaRPr lang="en-US" sz="1470" dirty="0"/>
          </a:p>
        </p:txBody>
      </p:sp>
      <p:sp>
        <p:nvSpPr>
          <p:cNvPr id="20" name="Text 18"/>
          <p:cNvSpPr txBox="1"/>
          <p:nvPr/>
        </p:nvSpPr>
        <p:spPr>
          <a:xfrm>
            <a:off x="731520" y="3831336"/>
            <a:ext cx="5074920" cy="411480"/>
          </a:xfrm>
          <a:prstGeom prst="rect">
            <a:avLst/>
          </a:prstGeom>
          <a:noFill/>
          <a:ln/>
        </p:spPr>
        <p:txBody>
          <a:bodyPr wrap="square" lIns="0" tIns="0" rIns="0" bIns="0" rtlCol="0" anchor="t"/>
          <a:lstStyle/>
          <a:p>
            <a:pPr marL="0" indent="0" algn="l">
              <a:buNone/>
            </a:pPr>
            <a:r>
              <a:rPr lang="en-US" sz="1418" dirty="0">
                <a:solidFill>
                  <a:srgbClr val="F4F1EA"/>
                </a:solidFill>
                <a:latin typeface="Calibri" pitchFamily="34" charset="0"/>
                <a:ea typeface="Calibri" pitchFamily="34" charset="-122"/>
                <a:cs typeface="Calibri" pitchFamily="34" charset="-120"/>
              </a:rPr>
              <a:t>Open, compartment syndrome, tongue with skin threat</a:t>
            </a:r>
            <a:endParaRPr lang="en-US" sz="1418" dirty="0"/>
          </a:p>
        </p:txBody>
      </p:sp>
      <p:sp>
        <p:nvSpPr>
          <p:cNvPr id="21" name="Shape 19"/>
          <p:cNvSpPr/>
          <p:nvPr/>
        </p:nvSpPr>
        <p:spPr>
          <a:xfrm>
            <a:off x="6172200" y="3401568"/>
            <a:ext cx="5440680" cy="868680"/>
          </a:xfrm>
          <a:prstGeom prst="roundRect">
            <a:avLst>
              <a:gd name="adj" fmla="val 8421"/>
            </a:avLst>
          </a:prstGeom>
          <a:solidFill>
            <a:srgbClr val="132A36"/>
          </a:solidFill>
          <a:ln w="9525">
            <a:solidFill>
              <a:srgbClr val="2C4756"/>
            </a:solidFill>
            <a:prstDash val="solid"/>
          </a:ln>
        </p:spPr>
      </p:sp>
      <p:sp>
        <p:nvSpPr>
          <p:cNvPr id="22" name="Text 20"/>
          <p:cNvSpPr txBox="1"/>
          <p:nvPr/>
        </p:nvSpPr>
        <p:spPr>
          <a:xfrm>
            <a:off x="6355080" y="3456432"/>
            <a:ext cx="5074920" cy="365760"/>
          </a:xfrm>
          <a:prstGeom prst="rect">
            <a:avLst/>
          </a:prstGeom>
          <a:noFill/>
          <a:ln/>
        </p:spPr>
        <p:txBody>
          <a:bodyPr wrap="square" lIns="0" tIns="0" rIns="0" bIns="0" rtlCol="0" anchor="t"/>
          <a:lstStyle/>
          <a:p>
            <a:pPr marL="0" indent="0" algn="l">
              <a:buNone/>
            </a:pPr>
            <a:r>
              <a:rPr lang="en-US" sz="1470" b="1" dirty="0">
                <a:solidFill>
                  <a:srgbClr val="FBBF24"/>
                </a:solidFill>
                <a:latin typeface="Calibri" pitchFamily="34" charset="0"/>
                <a:ea typeface="Calibri" pitchFamily="34" charset="-122"/>
                <a:cs typeface="Calibri" pitchFamily="34" charset="-120"/>
              </a:rPr>
              <a:t>Best timing for ORIF?</a:t>
            </a:r>
            <a:endParaRPr lang="en-US" sz="1470" dirty="0"/>
          </a:p>
        </p:txBody>
      </p:sp>
      <p:sp>
        <p:nvSpPr>
          <p:cNvPr id="23" name="Text 21"/>
          <p:cNvSpPr txBox="1"/>
          <p:nvPr/>
        </p:nvSpPr>
        <p:spPr>
          <a:xfrm>
            <a:off x="6355080" y="3831336"/>
            <a:ext cx="5074920" cy="411480"/>
          </a:xfrm>
          <a:prstGeom prst="rect">
            <a:avLst/>
          </a:prstGeom>
          <a:noFill/>
          <a:ln/>
        </p:spPr>
        <p:txBody>
          <a:bodyPr wrap="square" lIns="0" tIns="0" rIns="0" bIns="0" rtlCol="0" anchor="t"/>
          <a:lstStyle/>
          <a:p>
            <a:pPr marL="0" indent="0" algn="l">
              <a:buNone/>
            </a:pPr>
            <a:r>
              <a:rPr lang="en-US" sz="1418" dirty="0">
                <a:solidFill>
                  <a:srgbClr val="F4F1EA"/>
                </a:solidFill>
                <a:latin typeface="Calibri" pitchFamily="34" charset="0"/>
                <a:ea typeface="Calibri" pitchFamily="34" charset="-122"/>
                <a:cs typeface="Calibri" pitchFamily="34" charset="-120"/>
              </a:rPr>
              <a:t>When wrinkle sign appears, about 7 to 14 days</a:t>
            </a:r>
            <a:endParaRPr lang="en-US" sz="1418" dirty="0"/>
          </a:p>
        </p:txBody>
      </p:sp>
      <p:sp>
        <p:nvSpPr>
          <p:cNvPr id="24" name="Shape 22"/>
          <p:cNvSpPr/>
          <p:nvPr/>
        </p:nvSpPr>
        <p:spPr>
          <a:xfrm>
            <a:off x="548640" y="4370832"/>
            <a:ext cx="5440680" cy="868680"/>
          </a:xfrm>
          <a:prstGeom prst="roundRect">
            <a:avLst>
              <a:gd name="adj" fmla="val 8421"/>
            </a:avLst>
          </a:prstGeom>
          <a:solidFill>
            <a:srgbClr val="132A36"/>
          </a:solidFill>
          <a:ln w="9525">
            <a:solidFill>
              <a:srgbClr val="2C4756"/>
            </a:solidFill>
            <a:prstDash val="solid"/>
          </a:ln>
        </p:spPr>
      </p:sp>
      <p:sp>
        <p:nvSpPr>
          <p:cNvPr id="25" name="Text 23"/>
          <p:cNvSpPr txBox="1"/>
          <p:nvPr/>
        </p:nvSpPr>
        <p:spPr>
          <a:xfrm>
            <a:off x="731520" y="4425696"/>
            <a:ext cx="5074920" cy="365760"/>
          </a:xfrm>
          <a:prstGeom prst="rect">
            <a:avLst/>
          </a:prstGeom>
          <a:noFill/>
          <a:ln/>
        </p:spPr>
        <p:txBody>
          <a:bodyPr wrap="square" lIns="0" tIns="0" rIns="0" bIns="0" rtlCol="0" anchor="t"/>
          <a:lstStyle/>
          <a:p>
            <a:pPr marL="0" indent="0" algn="l">
              <a:buNone/>
            </a:pPr>
            <a:r>
              <a:rPr lang="en-US" sz="1470" b="1" dirty="0">
                <a:solidFill>
                  <a:srgbClr val="FBBF24"/>
                </a:solidFill>
                <a:latin typeface="Calibri" pitchFamily="34" charset="0"/>
                <a:ea typeface="Calibri" pitchFamily="34" charset="-122"/>
                <a:cs typeface="Calibri" pitchFamily="34" charset="-120"/>
              </a:rPr>
              <a:t>Sanders type with poorest results?</a:t>
            </a:r>
            <a:endParaRPr lang="en-US" sz="1470" dirty="0"/>
          </a:p>
        </p:txBody>
      </p:sp>
      <p:sp>
        <p:nvSpPr>
          <p:cNvPr id="26" name="Text 24"/>
          <p:cNvSpPr txBox="1"/>
          <p:nvPr/>
        </p:nvSpPr>
        <p:spPr>
          <a:xfrm>
            <a:off x="731520" y="4800600"/>
            <a:ext cx="5074920" cy="411480"/>
          </a:xfrm>
          <a:prstGeom prst="rect">
            <a:avLst/>
          </a:prstGeom>
          <a:noFill/>
          <a:ln/>
        </p:spPr>
        <p:txBody>
          <a:bodyPr wrap="square" lIns="0" tIns="0" rIns="0" bIns="0" rtlCol="0" anchor="t"/>
          <a:lstStyle/>
          <a:p>
            <a:pPr marL="0" indent="0" algn="l">
              <a:buNone/>
            </a:pPr>
            <a:r>
              <a:rPr lang="en-US" sz="1418" dirty="0">
                <a:solidFill>
                  <a:srgbClr val="F4F1EA"/>
                </a:solidFill>
                <a:latin typeface="Calibri" pitchFamily="34" charset="0"/>
                <a:ea typeface="Calibri" pitchFamily="34" charset="-122"/>
                <a:cs typeface="Calibri" pitchFamily="34" charset="-120"/>
              </a:rPr>
              <a:t>Type IV; think primary subtalar fusion</a:t>
            </a:r>
            <a:endParaRPr lang="en-US" sz="1418" dirty="0"/>
          </a:p>
        </p:txBody>
      </p:sp>
      <p:sp>
        <p:nvSpPr>
          <p:cNvPr id="27" name="Shape 25"/>
          <p:cNvSpPr/>
          <p:nvPr/>
        </p:nvSpPr>
        <p:spPr>
          <a:xfrm>
            <a:off x="6172200" y="4370832"/>
            <a:ext cx="5440680" cy="868680"/>
          </a:xfrm>
          <a:prstGeom prst="roundRect">
            <a:avLst>
              <a:gd name="adj" fmla="val 8421"/>
            </a:avLst>
          </a:prstGeom>
          <a:solidFill>
            <a:srgbClr val="132A36"/>
          </a:solidFill>
          <a:ln w="9525">
            <a:solidFill>
              <a:srgbClr val="2C4756"/>
            </a:solidFill>
            <a:prstDash val="solid"/>
          </a:ln>
        </p:spPr>
      </p:sp>
      <p:sp>
        <p:nvSpPr>
          <p:cNvPr id="28" name="Text 26"/>
          <p:cNvSpPr txBox="1"/>
          <p:nvPr/>
        </p:nvSpPr>
        <p:spPr>
          <a:xfrm>
            <a:off x="6355080" y="4425696"/>
            <a:ext cx="5074920" cy="365760"/>
          </a:xfrm>
          <a:prstGeom prst="rect">
            <a:avLst/>
          </a:prstGeom>
          <a:noFill/>
          <a:ln/>
        </p:spPr>
        <p:txBody>
          <a:bodyPr wrap="square" lIns="0" tIns="0" rIns="0" bIns="0" rtlCol="0" anchor="t"/>
          <a:lstStyle/>
          <a:p>
            <a:pPr marL="0" indent="0" algn="l">
              <a:buNone/>
            </a:pPr>
            <a:r>
              <a:rPr lang="en-US" sz="1470" b="1" dirty="0">
                <a:solidFill>
                  <a:srgbClr val="FBBF24"/>
                </a:solidFill>
                <a:latin typeface="Calibri" pitchFamily="34" charset="0"/>
                <a:ea typeface="Calibri" pitchFamily="34" charset="-122"/>
                <a:cs typeface="Calibri" pitchFamily="34" charset="-120"/>
              </a:rPr>
              <a:t>Commonest late complication?</a:t>
            </a:r>
            <a:endParaRPr lang="en-US" sz="1470" dirty="0"/>
          </a:p>
        </p:txBody>
      </p:sp>
      <p:sp>
        <p:nvSpPr>
          <p:cNvPr id="29" name="Text 27"/>
          <p:cNvSpPr txBox="1"/>
          <p:nvPr/>
        </p:nvSpPr>
        <p:spPr>
          <a:xfrm>
            <a:off x="6355080" y="4800600"/>
            <a:ext cx="5074920" cy="411480"/>
          </a:xfrm>
          <a:prstGeom prst="rect">
            <a:avLst/>
          </a:prstGeom>
          <a:noFill/>
          <a:ln/>
        </p:spPr>
        <p:txBody>
          <a:bodyPr wrap="square" lIns="0" tIns="0" rIns="0" bIns="0" rtlCol="0" anchor="t"/>
          <a:lstStyle/>
          <a:p>
            <a:pPr marL="0" indent="0" algn="l">
              <a:buNone/>
            </a:pPr>
            <a:r>
              <a:rPr lang="en-US" sz="1418" dirty="0">
                <a:solidFill>
                  <a:srgbClr val="F4F1EA"/>
                </a:solidFill>
                <a:latin typeface="Calibri" pitchFamily="34" charset="0"/>
                <a:ea typeface="Calibri" pitchFamily="34" charset="-122"/>
                <a:cs typeface="Calibri" pitchFamily="34" charset="-120"/>
              </a:rPr>
              <a:t>Post-traumatic subtalar arthritis</a:t>
            </a:r>
            <a:endParaRPr lang="en-US" sz="1418" dirty="0"/>
          </a:p>
        </p:txBody>
      </p:sp>
      <p:sp>
        <p:nvSpPr>
          <p:cNvPr id="30" name="Shape 28"/>
          <p:cNvSpPr/>
          <p:nvPr/>
        </p:nvSpPr>
        <p:spPr>
          <a:xfrm>
            <a:off x="548640" y="5340096"/>
            <a:ext cx="5440680" cy="868680"/>
          </a:xfrm>
          <a:prstGeom prst="roundRect">
            <a:avLst>
              <a:gd name="adj" fmla="val 8421"/>
            </a:avLst>
          </a:prstGeom>
          <a:solidFill>
            <a:srgbClr val="132A36"/>
          </a:solidFill>
          <a:ln w="9525">
            <a:solidFill>
              <a:srgbClr val="2C4756"/>
            </a:solidFill>
            <a:prstDash val="solid"/>
          </a:ln>
        </p:spPr>
      </p:sp>
      <p:sp>
        <p:nvSpPr>
          <p:cNvPr id="31" name="Text 29"/>
          <p:cNvSpPr txBox="1"/>
          <p:nvPr/>
        </p:nvSpPr>
        <p:spPr>
          <a:xfrm>
            <a:off x="731520" y="5394960"/>
            <a:ext cx="5074920" cy="365760"/>
          </a:xfrm>
          <a:prstGeom prst="rect">
            <a:avLst/>
          </a:prstGeom>
          <a:noFill/>
          <a:ln/>
        </p:spPr>
        <p:txBody>
          <a:bodyPr wrap="square" lIns="0" tIns="0" rIns="0" bIns="0" rtlCol="0" anchor="t"/>
          <a:lstStyle/>
          <a:p>
            <a:pPr marL="0" indent="0" algn="l">
              <a:buNone/>
            </a:pPr>
            <a:r>
              <a:rPr lang="en-US" sz="1470" b="1" dirty="0">
                <a:solidFill>
                  <a:srgbClr val="FBBF24"/>
                </a:solidFill>
                <a:latin typeface="Calibri" pitchFamily="34" charset="0"/>
                <a:ea typeface="Calibri" pitchFamily="34" charset="-122"/>
                <a:cs typeface="Calibri" pitchFamily="34" charset="-120"/>
              </a:rPr>
              <a:t>Sanders type if nothing is displaced?</a:t>
            </a:r>
            <a:endParaRPr lang="en-US" sz="1470" dirty="0"/>
          </a:p>
        </p:txBody>
      </p:sp>
      <p:sp>
        <p:nvSpPr>
          <p:cNvPr id="32" name="Text 30"/>
          <p:cNvSpPr txBox="1"/>
          <p:nvPr/>
        </p:nvSpPr>
        <p:spPr>
          <a:xfrm>
            <a:off x="731520" y="5769864"/>
            <a:ext cx="5074920" cy="411480"/>
          </a:xfrm>
          <a:prstGeom prst="rect">
            <a:avLst/>
          </a:prstGeom>
          <a:noFill/>
          <a:ln/>
        </p:spPr>
        <p:txBody>
          <a:bodyPr wrap="square" lIns="0" tIns="0" rIns="0" bIns="0" rtlCol="0" anchor="t"/>
          <a:lstStyle/>
          <a:p>
            <a:pPr marL="0" indent="0" algn="l">
              <a:buNone/>
            </a:pPr>
            <a:r>
              <a:rPr lang="en-US" sz="1418" dirty="0">
                <a:solidFill>
                  <a:srgbClr val="F4F1EA"/>
                </a:solidFill>
                <a:latin typeface="Calibri" pitchFamily="34" charset="0"/>
                <a:ea typeface="Calibri" pitchFamily="34" charset="-122"/>
                <a:cs typeface="Calibri" pitchFamily="34" charset="-120"/>
              </a:rPr>
              <a:t>Type I: all fragments &lt;2 mm apart, any number of lines</a:t>
            </a:r>
            <a:endParaRPr lang="en-US" sz="1418" dirty="0"/>
          </a:p>
        </p:txBody>
      </p:sp>
      <p:sp>
        <p:nvSpPr>
          <p:cNvPr id="33" name="Shape 31"/>
          <p:cNvSpPr/>
          <p:nvPr/>
        </p:nvSpPr>
        <p:spPr>
          <a:xfrm>
            <a:off x="6172200" y="5340096"/>
            <a:ext cx="5440680" cy="868680"/>
          </a:xfrm>
          <a:prstGeom prst="roundRect">
            <a:avLst>
              <a:gd name="adj" fmla="val 8421"/>
            </a:avLst>
          </a:prstGeom>
          <a:solidFill>
            <a:srgbClr val="132A36"/>
          </a:solidFill>
          <a:ln w="9525">
            <a:solidFill>
              <a:srgbClr val="2C4756"/>
            </a:solidFill>
            <a:prstDash val="solid"/>
          </a:ln>
        </p:spPr>
      </p:sp>
      <p:sp>
        <p:nvSpPr>
          <p:cNvPr id="34" name="Text 32"/>
          <p:cNvSpPr txBox="1"/>
          <p:nvPr/>
        </p:nvSpPr>
        <p:spPr>
          <a:xfrm>
            <a:off x="6355080" y="5394960"/>
            <a:ext cx="5074920" cy="365760"/>
          </a:xfrm>
          <a:prstGeom prst="rect">
            <a:avLst/>
          </a:prstGeom>
          <a:noFill/>
          <a:ln/>
        </p:spPr>
        <p:txBody>
          <a:bodyPr wrap="square" lIns="0" tIns="0" rIns="0" bIns="0" rtlCol="0" anchor="t"/>
          <a:lstStyle/>
          <a:p>
            <a:pPr marL="0" indent="0" algn="l">
              <a:buNone/>
            </a:pPr>
            <a:r>
              <a:rPr lang="en-US" sz="1470" b="1" dirty="0">
                <a:solidFill>
                  <a:srgbClr val="FBBF24"/>
                </a:solidFill>
                <a:latin typeface="Calibri" pitchFamily="34" charset="0"/>
                <a:ea typeface="Calibri" pitchFamily="34" charset="-122"/>
                <a:cs typeface="Calibri" pitchFamily="34" charset="-120"/>
              </a:rPr>
              <a:t>Trial message?</a:t>
            </a:r>
            <a:endParaRPr lang="en-US" sz="1470" dirty="0"/>
          </a:p>
        </p:txBody>
      </p:sp>
      <p:sp>
        <p:nvSpPr>
          <p:cNvPr id="35" name="Text 33"/>
          <p:cNvSpPr txBox="1"/>
          <p:nvPr/>
        </p:nvSpPr>
        <p:spPr>
          <a:xfrm>
            <a:off x="6355080" y="5769864"/>
            <a:ext cx="5074920" cy="411480"/>
          </a:xfrm>
          <a:prstGeom prst="rect">
            <a:avLst/>
          </a:prstGeom>
          <a:noFill/>
          <a:ln/>
        </p:spPr>
        <p:txBody>
          <a:bodyPr wrap="square" lIns="0" tIns="0" rIns="0" bIns="0" rtlCol="0" anchor="t"/>
          <a:lstStyle/>
          <a:p>
            <a:pPr marL="0" indent="0" algn="l">
              <a:buNone/>
            </a:pPr>
            <a:r>
              <a:rPr lang="en-US" sz="1418" dirty="0">
                <a:solidFill>
                  <a:srgbClr val="F4F1EA"/>
                </a:solidFill>
                <a:latin typeface="Calibri" pitchFamily="34" charset="0"/>
                <a:ea typeface="Calibri" pitchFamily="34" charset="-122"/>
                <a:cs typeface="Calibri" pitchFamily="34" charset="-120"/>
              </a:rPr>
              <a:t>Selected patients gain; routine ORIF for all is not proven</a:t>
            </a:r>
            <a:endParaRPr lang="en-US" sz="1418"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SUMMARY</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Take-home messages</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40</a:t>
            </a:r>
            <a:endParaRPr lang="en-US" sz="1000" dirty="0"/>
          </a:p>
        </p:txBody>
      </p:sp>
      <p:sp>
        <p:nvSpPr>
          <p:cNvPr id="6" name="Shape 4"/>
          <p:cNvSpPr/>
          <p:nvPr/>
        </p:nvSpPr>
        <p:spPr>
          <a:xfrm>
            <a:off x="548640" y="1508760"/>
            <a:ext cx="5440680" cy="1481328"/>
          </a:xfrm>
          <a:prstGeom prst="roundRect">
            <a:avLst>
              <a:gd name="adj" fmla="val 4938"/>
            </a:avLst>
          </a:prstGeom>
          <a:solidFill>
            <a:srgbClr val="132A36"/>
          </a:solidFill>
          <a:ln w="9525">
            <a:solidFill>
              <a:srgbClr val="2C4756"/>
            </a:solidFill>
            <a:prstDash val="solid"/>
          </a:ln>
        </p:spPr>
      </p:sp>
      <p:sp>
        <p:nvSpPr>
          <p:cNvPr id="7" name="Shape 5"/>
          <p:cNvSpPr/>
          <p:nvPr/>
        </p:nvSpPr>
        <p:spPr>
          <a:xfrm>
            <a:off x="731520" y="1691640"/>
            <a:ext cx="457200" cy="457200"/>
          </a:xfrm>
          <a:prstGeom prst="ellipse">
            <a:avLst/>
          </a:prstGeom>
          <a:solidFill>
            <a:srgbClr val="2DD4BF"/>
          </a:solidFill>
          <a:ln w="12700">
            <a:solidFill>
              <a:srgbClr val="2DD4BF"/>
            </a:solidFill>
            <a:prstDash val="solid"/>
          </a:ln>
        </p:spPr>
      </p:sp>
      <p:sp>
        <p:nvSpPr>
          <p:cNvPr id="8" name="Text 6"/>
          <p:cNvSpPr txBox="1"/>
          <p:nvPr/>
        </p:nvSpPr>
        <p:spPr>
          <a:xfrm>
            <a:off x="731520" y="1691640"/>
            <a:ext cx="457200" cy="457200"/>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371600" y="1645920"/>
            <a:ext cx="4480560" cy="411480"/>
          </a:xfrm>
          <a:prstGeom prst="rect">
            <a:avLst/>
          </a:prstGeom>
          <a:noFill/>
          <a:ln/>
        </p:spPr>
        <p:txBody>
          <a:bodyPr wrap="square" lIns="0" tIns="0" rIns="0" bIns="0" rtlCol="0" anchor="t"/>
          <a:lstStyle/>
          <a:p>
            <a:pPr marL="0" indent="0" algn="l">
              <a:buNone/>
            </a:pPr>
            <a:r>
              <a:rPr lang="en-US" sz="1900" b="1" dirty="0">
                <a:solidFill>
                  <a:srgbClr val="F4F1EA"/>
                </a:solidFill>
                <a:latin typeface="Cambria" pitchFamily="34" charset="0"/>
                <a:ea typeface="Cambria" pitchFamily="34" charset="-122"/>
                <a:cs typeface="Cambria" pitchFamily="34" charset="-120"/>
              </a:rPr>
              <a:t>Anatomy</a:t>
            </a:r>
            <a:endParaRPr lang="en-US" sz="1900" dirty="0"/>
          </a:p>
        </p:txBody>
      </p:sp>
      <p:sp>
        <p:nvSpPr>
          <p:cNvPr id="10" name="Text 8"/>
          <p:cNvSpPr txBox="1"/>
          <p:nvPr/>
        </p:nvSpPr>
        <p:spPr>
          <a:xfrm>
            <a:off x="1371600" y="2130552"/>
            <a:ext cx="4480560" cy="822960"/>
          </a:xfrm>
          <a:prstGeom prst="rect">
            <a:avLst/>
          </a:prstGeom>
          <a:noFill/>
          <a:ln/>
        </p:spPr>
        <p:txBody>
          <a:bodyPr wrap="square" lIns="0" tIns="0" rIns="0" bIns="0" rtlCol="0" anchor="t"/>
          <a:lstStyle/>
          <a:p>
            <a:pPr marL="0" indent="0" algn="l">
              <a:buNone/>
            </a:pPr>
            <a:r>
              <a:rPr lang="en-US" sz="1485" dirty="0">
                <a:solidFill>
                  <a:srgbClr val="9FB3BD"/>
                </a:solidFill>
                <a:latin typeface="Calibri" pitchFamily="34" charset="0"/>
                <a:ea typeface="Calibri" pitchFamily="34" charset="-122"/>
                <a:cs typeface="Calibri" pitchFamily="34" charset="-120"/>
              </a:rPr>
              <a:t>The posterior facet, sustentaculum and thin lateral skin dictate everything.</a:t>
            </a:r>
            <a:endParaRPr lang="en-US" sz="1485" dirty="0"/>
          </a:p>
        </p:txBody>
      </p:sp>
      <p:sp>
        <p:nvSpPr>
          <p:cNvPr id="11" name="Shape 9"/>
          <p:cNvSpPr/>
          <p:nvPr/>
        </p:nvSpPr>
        <p:spPr>
          <a:xfrm>
            <a:off x="6172200" y="1508760"/>
            <a:ext cx="5440680" cy="1481328"/>
          </a:xfrm>
          <a:prstGeom prst="roundRect">
            <a:avLst>
              <a:gd name="adj" fmla="val 4938"/>
            </a:avLst>
          </a:prstGeom>
          <a:solidFill>
            <a:srgbClr val="132A36"/>
          </a:solidFill>
          <a:ln w="9525">
            <a:solidFill>
              <a:srgbClr val="2C4756"/>
            </a:solidFill>
            <a:prstDash val="solid"/>
          </a:ln>
        </p:spPr>
      </p:sp>
      <p:sp>
        <p:nvSpPr>
          <p:cNvPr id="12" name="Shape 10"/>
          <p:cNvSpPr/>
          <p:nvPr/>
        </p:nvSpPr>
        <p:spPr>
          <a:xfrm>
            <a:off x="6355080" y="1691640"/>
            <a:ext cx="457200" cy="457200"/>
          </a:xfrm>
          <a:prstGeom prst="ellipse">
            <a:avLst/>
          </a:prstGeom>
          <a:solidFill>
            <a:srgbClr val="2DD4BF"/>
          </a:solidFill>
          <a:ln w="12700">
            <a:solidFill>
              <a:srgbClr val="2DD4BF"/>
            </a:solidFill>
            <a:prstDash val="solid"/>
          </a:ln>
        </p:spPr>
      </p:sp>
      <p:sp>
        <p:nvSpPr>
          <p:cNvPr id="13" name="Text 11"/>
          <p:cNvSpPr txBox="1"/>
          <p:nvPr/>
        </p:nvSpPr>
        <p:spPr>
          <a:xfrm>
            <a:off x="6355080" y="1691640"/>
            <a:ext cx="457200" cy="457200"/>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6995160" y="1645920"/>
            <a:ext cx="4480560" cy="411480"/>
          </a:xfrm>
          <a:prstGeom prst="rect">
            <a:avLst/>
          </a:prstGeom>
          <a:noFill/>
          <a:ln/>
        </p:spPr>
        <p:txBody>
          <a:bodyPr wrap="square" lIns="0" tIns="0" rIns="0" bIns="0" rtlCol="0" anchor="t"/>
          <a:lstStyle/>
          <a:p>
            <a:pPr marL="0" indent="0" algn="l">
              <a:buNone/>
            </a:pPr>
            <a:r>
              <a:rPr lang="en-US" sz="1900" b="1" dirty="0">
                <a:solidFill>
                  <a:srgbClr val="F4F1EA"/>
                </a:solidFill>
                <a:latin typeface="Cambria" pitchFamily="34" charset="0"/>
                <a:ea typeface="Cambria" pitchFamily="34" charset="-122"/>
                <a:cs typeface="Cambria" pitchFamily="34" charset="-120"/>
              </a:rPr>
              <a:t>Imaging</a:t>
            </a:r>
            <a:endParaRPr lang="en-US" sz="1900" dirty="0"/>
          </a:p>
        </p:txBody>
      </p:sp>
      <p:sp>
        <p:nvSpPr>
          <p:cNvPr id="15" name="Text 13"/>
          <p:cNvSpPr txBox="1"/>
          <p:nvPr/>
        </p:nvSpPr>
        <p:spPr>
          <a:xfrm>
            <a:off x="6995160" y="2130552"/>
            <a:ext cx="4480560" cy="822960"/>
          </a:xfrm>
          <a:prstGeom prst="rect">
            <a:avLst/>
          </a:prstGeom>
          <a:noFill/>
          <a:ln/>
        </p:spPr>
        <p:txBody>
          <a:bodyPr wrap="square" lIns="0" tIns="0" rIns="0" bIns="0" rtlCol="0" anchor="t"/>
          <a:lstStyle/>
          <a:p>
            <a:pPr marL="0" indent="0" algn="l">
              <a:buNone/>
            </a:pPr>
            <a:r>
              <a:rPr lang="en-US" sz="1485" dirty="0">
                <a:solidFill>
                  <a:srgbClr val="9FB3BD"/>
                </a:solidFill>
                <a:latin typeface="Calibri" pitchFamily="34" charset="0"/>
                <a:ea typeface="Calibri" pitchFamily="34" charset="-122"/>
                <a:cs typeface="Calibri" pitchFamily="34" charset="-120"/>
              </a:rPr>
              <a:t>Lateral, axial and Broden films, then a CT for any intra-articular fracture.</a:t>
            </a:r>
            <a:endParaRPr lang="en-US" sz="1485" dirty="0"/>
          </a:p>
        </p:txBody>
      </p:sp>
      <p:sp>
        <p:nvSpPr>
          <p:cNvPr id="16" name="Shape 14"/>
          <p:cNvSpPr/>
          <p:nvPr/>
        </p:nvSpPr>
        <p:spPr>
          <a:xfrm>
            <a:off x="548640" y="3136392"/>
            <a:ext cx="5440680" cy="1481328"/>
          </a:xfrm>
          <a:prstGeom prst="roundRect">
            <a:avLst>
              <a:gd name="adj" fmla="val 4938"/>
            </a:avLst>
          </a:prstGeom>
          <a:solidFill>
            <a:srgbClr val="132A36"/>
          </a:solidFill>
          <a:ln w="9525">
            <a:solidFill>
              <a:srgbClr val="2C4756"/>
            </a:solidFill>
            <a:prstDash val="solid"/>
          </a:ln>
        </p:spPr>
      </p:sp>
      <p:sp>
        <p:nvSpPr>
          <p:cNvPr id="17" name="Shape 15"/>
          <p:cNvSpPr/>
          <p:nvPr/>
        </p:nvSpPr>
        <p:spPr>
          <a:xfrm>
            <a:off x="731520" y="3319272"/>
            <a:ext cx="457200" cy="457200"/>
          </a:xfrm>
          <a:prstGeom prst="ellipse">
            <a:avLst/>
          </a:prstGeom>
          <a:solidFill>
            <a:srgbClr val="FBBF24"/>
          </a:solidFill>
          <a:ln w="12700">
            <a:solidFill>
              <a:srgbClr val="FBBF24"/>
            </a:solidFill>
            <a:prstDash val="solid"/>
          </a:ln>
        </p:spPr>
      </p:sp>
      <p:sp>
        <p:nvSpPr>
          <p:cNvPr id="18" name="Text 16"/>
          <p:cNvSpPr txBox="1"/>
          <p:nvPr/>
        </p:nvSpPr>
        <p:spPr>
          <a:xfrm>
            <a:off x="731520" y="3319272"/>
            <a:ext cx="457200" cy="457200"/>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1371600" y="3273552"/>
            <a:ext cx="4480560" cy="411480"/>
          </a:xfrm>
          <a:prstGeom prst="rect">
            <a:avLst/>
          </a:prstGeom>
          <a:noFill/>
          <a:ln/>
        </p:spPr>
        <p:txBody>
          <a:bodyPr wrap="square" lIns="0" tIns="0" rIns="0" bIns="0" rtlCol="0" anchor="t"/>
          <a:lstStyle/>
          <a:p>
            <a:pPr marL="0" indent="0" algn="l">
              <a:buNone/>
            </a:pPr>
            <a:r>
              <a:rPr lang="en-US" sz="1900" b="1" dirty="0">
                <a:solidFill>
                  <a:srgbClr val="F4F1EA"/>
                </a:solidFill>
                <a:latin typeface="Cambria" pitchFamily="34" charset="0"/>
                <a:ea typeface="Cambria" pitchFamily="34" charset="-122"/>
                <a:cs typeface="Cambria" pitchFamily="34" charset="-120"/>
              </a:rPr>
              <a:t>Classify</a:t>
            </a:r>
            <a:endParaRPr lang="en-US" sz="1900" dirty="0"/>
          </a:p>
        </p:txBody>
      </p:sp>
      <p:sp>
        <p:nvSpPr>
          <p:cNvPr id="20" name="Text 18"/>
          <p:cNvSpPr txBox="1"/>
          <p:nvPr/>
        </p:nvSpPr>
        <p:spPr>
          <a:xfrm>
            <a:off x="1371600" y="3758184"/>
            <a:ext cx="4480560" cy="822960"/>
          </a:xfrm>
          <a:prstGeom prst="rect">
            <a:avLst/>
          </a:prstGeom>
          <a:noFill/>
          <a:ln/>
        </p:spPr>
        <p:txBody>
          <a:bodyPr wrap="square" lIns="0" tIns="0" rIns="0" bIns="0" rtlCol="0" anchor="t"/>
          <a:lstStyle/>
          <a:p>
            <a:pPr marL="0" indent="0" algn="l">
              <a:buNone/>
            </a:pPr>
            <a:r>
              <a:rPr lang="en-US" sz="1485" dirty="0">
                <a:solidFill>
                  <a:srgbClr val="9FB3BD"/>
                </a:solidFill>
                <a:latin typeface="Calibri" pitchFamily="34" charset="0"/>
                <a:ea typeface="Calibri" pitchFamily="34" charset="-122"/>
                <a:cs typeface="Calibri" pitchFamily="34" charset="-120"/>
              </a:rPr>
              <a:t>Rowe, Essex-Lopresti and Sanders; Sanders type predicts the result.</a:t>
            </a:r>
            <a:endParaRPr lang="en-US" sz="1485" dirty="0"/>
          </a:p>
        </p:txBody>
      </p:sp>
      <p:sp>
        <p:nvSpPr>
          <p:cNvPr id="21" name="Shape 19"/>
          <p:cNvSpPr/>
          <p:nvPr/>
        </p:nvSpPr>
        <p:spPr>
          <a:xfrm>
            <a:off x="6172200" y="3136392"/>
            <a:ext cx="5440680" cy="1481328"/>
          </a:xfrm>
          <a:prstGeom prst="roundRect">
            <a:avLst>
              <a:gd name="adj" fmla="val 4938"/>
            </a:avLst>
          </a:prstGeom>
          <a:solidFill>
            <a:srgbClr val="132A36"/>
          </a:solidFill>
          <a:ln w="9525">
            <a:solidFill>
              <a:srgbClr val="2C4756"/>
            </a:solidFill>
            <a:prstDash val="solid"/>
          </a:ln>
        </p:spPr>
      </p:sp>
      <p:sp>
        <p:nvSpPr>
          <p:cNvPr id="22" name="Shape 20"/>
          <p:cNvSpPr/>
          <p:nvPr/>
        </p:nvSpPr>
        <p:spPr>
          <a:xfrm>
            <a:off x="6355080" y="3319272"/>
            <a:ext cx="457200" cy="457200"/>
          </a:xfrm>
          <a:prstGeom prst="ellipse">
            <a:avLst/>
          </a:prstGeom>
          <a:solidFill>
            <a:srgbClr val="FBBF24"/>
          </a:solidFill>
          <a:ln w="12700">
            <a:solidFill>
              <a:srgbClr val="FBBF24"/>
            </a:solidFill>
            <a:prstDash val="solid"/>
          </a:ln>
        </p:spPr>
      </p:sp>
      <p:sp>
        <p:nvSpPr>
          <p:cNvPr id="23" name="Text 21"/>
          <p:cNvSpPr txBox="1"/>
          <p:nvPr/>
        </p:nvSpPr>
        <p:spPr>
          <a:xfrm>
            <a:off x="6355080" y="3319272"/>
            <a:ext cx="457200" cy="457200"/>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6995160" y="3273552"/>
            <a:ext cx="4480560" cy="411480"/>
          </a:xfrm>
          <a:prstGeom prst="rect">
            <a:avLst/>
          </a:prstGeom>
          <a:noFill/>
          <a:ln/>
        </p:spPr>
        <p:txBody>
          <a:bodyPr wrap="square" lIns="0" tIns="0" rIns="0" bIns="0" rtlCol="0" anchor="t"/>
          <a:lstStyle/>
          <a:p>
            <a:pPr marL="0" indent="0" algn="l">
              <a:buNone/>
            </a:pPr>
            <a:r>
              <a:rPr lang="en-US" sz="1900" b="1" dirty="0">
                <a:solidFill>
                  <a:srgbClr val="F4F1EA"/>
                </a:solidFill>
                <a:latin typeface="Cambria" pitchFamily="34" charset="0"/>
                <a:ea typeface="Cambria" pitchFamily="34" charset="-122"/>
                <a:cs typeface="Cambria" pitchFamily="34" charset="-120"/>
              </a:rPr>
              <a:t>Decide</a:t>
            </a:r>
            <a:endParaRPr lang="en-US" sz="1900" dirty="0"/>
          </a:p>
        </p:txBody>
      </p:sp>
      <p:sp>
        <p:nvSpPr>
          <p:cNvPr id="25" name="Text 23"/>
          <p:cNvSpPr txBox="1"/>
          <p:nvPr/>
        </p:nvSpPr>
        <p:spPr>
          <a:xfrm>
            <a:off x="6995160" y="3758184"/>
            <a:ext cx="4480560" cy="822960"/>
          </a:xfrm>
          <a:prstGeom prst="rect">
            <a:avLst/>
          </a:prstGeom>
          <a:noFill/>
          <a:ln/>
        </p:spPr>
        <p:txBody>
          <a:bodyPr wrap="square" lIns="0" tIns="0" rIns="0" bIns="0" rtlCol="0" anchor="t"/>
          <a:lstStyle/>
          <a:p>
            <a:pPr marL="0" indent="0" algn="l">
              <a:buNone/>
            </a:pPr>
            <a:r>
              <a:rPr lang="en-US" sz="1485" dirty="0">
                <a:solidFill>
                  <a:srgbClr val="9FB3BD"/>
                </a:solidFill>
                <a:latin typeface="Calibri" pitchFamily="34" charset="0"/>
                <a:ea typeface="Calibri" pitchFamily="34" charset="-122"/>
                <a:cs typeface="Calibri" pitchFamily="34" charset="-120"/>
              </a:rPr>
              <a:t>Choose the patient: soft tissues, host, demand and fracture pattern.</a:t>
            </a:r>
            <a:endParaRPr lang="en-US" sz="1485" dirty="0"/>
          </a:p>
        </p:txBody>
      </p:sp>
      <p:sp>
        <p:nvSpPr>
          <p:cNvPr id="26" name="Shape 24"/>
          <p:cNvSpPr/>
          <p:nvPr/>
        </p:nvSpPr>
        <p:spPr>
          <a:xfrm>
            <a:off x="548640" y="4764024"/>
            <a:ext cx="5440680" cy="1481328"/>
          </a:xfrm>
          <a:prstGeom prst="roundRect">
            <a:avLst>
              <a:gd name="adj" fmla="val 4938"/>
            </a:avLst>
          </a:prstGeom>
          <a:solidFill>
            <a:srgbClr val="132A36"/>
          </a:solidFill>
          <a:ln w="9525">
            <a:solidFill>
              <a:srgbClr val="2C4756"/>
            </a:solidFill>
            <a:prstDash val="solid"/>
          </a:ln>
        </p:spPr>
      </p:sp>
      <p:sp>
        <p:nvSpPr>
          <p:cNvPr id="27" name="Shape 25"/>
          <p:cNvSpPr/>
          <p:nvPr/>
        </p:nvSpPr>
        <p:spPr>
          <a:xfrm>
            <a:off x="731520" y="4946904"/>
            <a:ext cx="457200" cy="457200"/>
          </a:xfrm>
          <a:prstGeom prst="ellipse">
            <a:avLst/>
          </a:prstGeom>
          <a:solidFill>
            <a:srgbClr val="FF7A45"/>
          </a:solidFill>
          <a:ln w="12700">
            <a:solidFill>
              <a:srgbClr val="FF7A45"/>
            </a:solidFill>
            <a:prstDash val="solid"/>
          </a:ln>
        </p:spPr>
      </p:sp>
      <p:sp>
        <p:nvSpPr>
          <p:cNvPr id="28" name="Text 26"/>
          <p:cNvSpPr txBox="1"/>
          <p:nvPr/>
        </p:nvSpPr>
        <p:spPr>
          <a:xfrm>
            <a:off x="731520" y="4946904"/>
            <a:ext cx="457200" cy="457200"/>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5</a:t>
            </a:r>
            <a:endParaRPr lang="en-US" sz="1500" dirty="0"/>
          </a:p>
        </p:txBody>
      </p:sp>
      <p:sp>
        <p:nvSpPr>
          <p:cNvPr id="29" name="Text 27"/>
          <p:cNvSpPr txBox="1"/>
          <p:nvPr/>
        </p:nvSpPr>
        <p:spPr>
          <a:xfrm>
            <a:off x="1371600" y="4901184"/>
            <a:ext cx="4480560" cy="411480"/>
          </a:xfrm>
          <a:prstGeom prst="rect">
            <a:avLst/>
          </a:prstGeom>
          <a:noFill/>
          <a:ln/>
        </p:spPr>
        <p:txBody>
          <a:bodyPr wrap="square" lIns="0" tIns="0" rIns="0" bIns="0" rtlCol="0" anchor="t"/>
          <a:lstStyle/>
          <a:p>
            <a:pPr marL="0" indent="0" algn="l">
              <a:buNone/>
            </a:pPr>
            <a:r>
              <a:rPr lang="en-US" sz="1900" b="1" dirty="0">
                <a:solidFill>
                  <a:srgbClr val="F4F1EA"/>
                </a:solidFill>
                <a:latin typeface="Cambria" pitchFamily="34" charset="0"/>
                <a:ea typeface="Cambria" pitchFamily="34" charset="-122"/>
                <a:cs typeface="Cambria" pitchFamily="34" charset="-120"/>
              </a:rPr>
              <a:t>Operate late, not last</a:t>
            </a:r>
            <a:endParaRPr lang="en-US" sz="1900" dirty="0"/>
          </a:p>
        </p:txBody>
      </p:sp>
      <p:sp>
        <p:nvSpPr>
          <p:cNvPr id="30" name="Text 28"/>
          <p:cNvSpPr txBox="1"/>
          <p:nvPr/>
        </p:nvSpPr>
        <p:spPr>
          <a:xfrm>
            <a:off x="1371600" y="5385816"/>
            <a:ext cx="4480560" cy="822960"/>
          </a:xfrm>
          <a:prstGeom prst="rect">
            <a:avLst/>
          </a:prstGeom>
          <a:noFill/>
          <a:ln/>
        </p:spPr>
        <p:txBody>
          <a:bodyPr wrap="square" lIns="0" tIns="0" rIns="0" bIns="0" rtlCol="0" anchor="t"/>
          <a:lstStyle/>
          <a:p>
            <a:pPr marL="0" indent="0" algn="l">
              <a:buNone/>
            </a:pPr>
            <a:r>
              <a:rPr lang="en-US" sz="1485" dirty="0">
                <a:solidFill>
                  <a:srgbClr val="9FB3BD"/>
                </a:solidFill>
                <a:latin typeface="Calibri" pitchFamily="34" charset="0"/>
                <a:ea typeface="Calibri" pitchFamily="34" charset="-122"/>
                <a:cs typeface="Calibri" pitchFamily="34" charset="-120"/>
              </a:rPr>
              <a:t>Wait for the wrinkle sign; hurry only for skin, compartments and open injuries.</a:t>
            </a:r>
            <a:endParaRPr lang="en-US" sz="1485" dirty="0"/>
          </a:p>
        </p:txBody>
      </p:sp>
      <p:sp>
        <p:nvSpPr>
          <p:cNvPr id="31" name="Shape 29"/>
          <p:cNvSpPr/>
          <p:nvPr/>
        </p:nvSpPr>
        <p:spPr>
          <a:xfrm>
            <a:off x="6172200" y="4764024"/>
            <a:ext cx="5440680" cy="1481328"/>
          </a:xfrm>
          <a:prstGeom prst="roundRect">
            <a:avLst>
              <a:gd name="adj" fmla="val 4938"/>
            </a:avLst>
          </a:prstGeom>
          <a:solidFill>
            <a:srgbClr val="132A36"/>
          </a:solidFill>
          <a:ln w="9525">
            <a:solidFill>
              <a:srgbClr val="2C4756"/>
            </a:solidFill>
            <a:prstDash val="solid"/>
          </a:ln>
        </p:spPr>
      </p:sp>
      <p:sp>
        <p:nvSpPr>
          <p:cNvPr id="32" name="Shape 30"/>
          <p:cNvSpPr/>
          <p:nvPr/>
        </p:nvSpPr>
        <p:spPr>
          <a:xfrm>
            <a:off x="6355080" y="4946904"/>
            <a:ext cx="457200" cy="457200"/>
          </a:xfrm>
          <a:prstGeom prst="ellipse">
            <a:avLst/>
          </a:prstGeom>
          <a:solidFill>
            <a:srgbClr val="FF7A45"/>
          </a:solidFill>
          <a:ln w="12700">
            <a:solidFill>
              <a:srgbClr val="FF7A45"/>
            </a:solidFill>
            <a:prstDash val="solid"/>
          </a:ln>
        </p:spPr>
      </p:sp>
      <p:sp>
        <p:nvSpPr>
          <p:cNvPr id="33" name="Text 31"/>
          <p:cNvSpPr txBox="1"/>
          <p:nvPr/>
        </p:nvSpPr>
        <p:spPr>
          <a:xfrm>
            <a:off x="6355080" y="4946904"/>
            <a:ext cx="457200" cy="457200"/>
          </a:xfrm>
          <a:prstGeom prst="rect">
            <a:avLst/>
          </a:prstGeom>
          <a:noFill/>
          <a:ln/>
        </p:spPr>
        <p:txBody>
          <a:bodyPr wrap="square" lIns="0" tIns="0" rIns="0" bIns="0" rtlCol="0" anchor="ctr"/>
          <a:lstStyle/>
          <a:p>
            <a:pPr marL="0" indent="0" algn="ctr">
              <a:buNone/>
            </a:pPr>
            <a:r>
              <a:rPr lang="en-US" sz="1500" b="1" dirty="0">
                <a:solidFill>
                  <a:srgbClr val="0D1B24"/>
                </a:solidFill>
                <a:latin typeface="Calibri" pitchFamily="34" charset="0"/>
                <a:ea typeface="Calibri" pitchFamily="34" charset="-122"/>
                <a:cs typeface="Calibri" pitchFamily="34" charset="-120"/>
              </a:rPr>
              <a:t>6</a:t>
            </a:r>
            <a:endParaRPr lang="en-US" sz="1500" dirty="0"/>
          </a:p>
        </p:txBody>
      </p:sp>
      <p:sp>
        <p:nvSpPr>
          <p:cNvPr id="34" name="Text 32"/>
          <p:cNvSpPr txBox="1"/>
          <p:nvPr/>
        </p:nvSpPr>
        <p:spPr>
          <a:xfrm>
            <a:off x="6995160" y="4901184"/>
            <a:ext cx="4480560" cy="411480"/>
          </a:xfrm>
          <a:prstGeom prst="rect">
            <a:avLst/>
          </a:prstGeom>
          <a:noFill/>
          <a:ln/>
        </p:spPr>
        <p:txBody>
          <a:bodyPr wrap="square" lIns="0" tIns="0" rIns="0" bIns="0" rtlCol="0" anchor="t"/>
          <a:lstStyle/>
          <a:p>
            <a:pPr marL="0" indent="0" algn="l">
              <a:buNone/>
            </a:pPr>
            <a:r>
              <a:rPr lang="en-US" sz="1900" b="1" dirty="0">
                <a:solidFill>
                  <a:srgbClr val="F4F1EA"/>
                </a:solidFill>
                <a:latin typeface="Cambria" pitchFamily="34" charset="0"/>
                <a:ea typeface="Cambria" pitchFamily="34" charset="-122"/>
                <a:cs typeface="Cambria" pitchFamily="34" charset="-120"/>
              </a:rPr>
              <a:t>Complications</a:t>
            </a:r>
            <a:endParaRPr lang="en-US" sz="1900" dirty="0"/>
          </a:p>
        </p:txBody>
      </p:sp>
      <p:sp>
        <p:nvSpPr>
          <p:cNvPr id="35" name="Text 33"/>
          <p:cNvSpPr txBox="1"/>
          <p:nvPr/>
        </p:nvSpPr>
        <p:spPr>
          <a:xfrm>
            <a:off x="6995160" y="5385816"/>
            <a:ext cx="4480560" cy="822960"/>
          </a:xfrm>
          <a:prstGeom prst="rect">
            <a:avLst/>
          </a:prstGeom>
          <a:noFill/>
          <a:ln/>
        </p:spPr>
        <p:txBody>
          <a:bodyPr wrap="square" lIns="0" tIns="0" rIns="0" bIns="0" rtlCol="0" anchor="t"/>
          <a:lstStyle/>
          <a:p>
            <a:pPr marL="0" indent="0" algn="l">
              <a:buNone/>
            </a:pPr>
            <a:r>
              <a:rPr lang="en-US" sz="1485" dirty="0">
                <a:solidFill>
                  <a:srgbClr val="9FB3BD"/>
                </a:solidFill>
                <a:latin typeface="Calibri" pitchFamily="34" charset="0"/>
                <a:ea typeface="Calibri" pitchFamily="34" charset="-122"/>
                <a:cs typeface="Calibri" pitchFamily="34" charset="-120"/>
              </a:rPr>
              <a:t>Wound, infection, malunion and subtalar arthritis: plan for them.</a:t>
            </a:r>
            <a:endParaRPr lang="en-US" sz="148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0D1B24"/>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marL="0" indent="0">
              <a:buNone/>
            </a:pPr>
            <a:r>
              <a:rPr lang="en-US" sz="1200" b="1" kern="0" spc="300" dirty="0">
                <a:solidFill>
                  <a:srgbClr val="2DD4BF"/>
                </a:solidFill>
                <a:latin typeface="Calibri" pitchFamily="34" charset="0"/>
                <a:ea typeface="Calibri" pitchFamily="34" charset="-122"/>
                <a:cs typeface="Calibri" pitchFamily="34" charset="-120"/>
              </a:rPr>
              <a:t>SOURCES</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200" b="1" dirty="0">
                <a:solidFill>
                  <a:srgbClr val="F4F1EA"/>
                </a:solidFill>
                <a:latin typeface="Cambria" pitchFamily="34" charset="0"/>
                <a:ea typeface="Cambria" pitchFamily="34" charset="-122"/>
                <a:cs typeface="Cambria" pitchFamily="34" charset="-120"/>
              </a:rPr>
              <a:t>Image credits and key references</a:t>
            </a:r>
            <a:endParaRPr lang="en-US" sz="3200" dirty="0"/>
          </a:p>
        </p:txBody>
      </p:sp>
      <p:sp>
        <p:nvSpPr>
          <p:cNvPr id="4" name="Text 2"/>
          <p:cNvSpPr txBox="1"/>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rgbClr val="9FB3BD"/>
                </a:solidFill>
                <a:latin typeface="Calibri" pitchFamily="34" charset="0"/>
                <a:ea typeface="Calibri" pitchFamily="34" charset="-122"/>
                <a:cs typeface="Calibri" pitchFamily="34" charset="-120"/>
              </a:rPr>
              <a:t>Calcaneum Fractures  ·  Orthopaedics PG Seminar</a:t>
            </a:r>
            <a:endParaRPr lang="en-US" sz="1000" dirty="0"/>
          </a:p>
        </p:txBody>
      </p:sp>
      <p:sp>
        <p:nvSpPr>
          <p:cNvPr id="5" name="Text 3"/>
          <p:cNvSpPr txBox="1"/>
          <p:nvPr/>
        </p:nvSpPr>
        <p:spPr>
          <a:xfrm>
            <a:off x="10972800" y="6455664"/>
            <a:ext cx="685800" cy="274320"/>
          </a:xfrm>
          <a:prstGeom prst="rect">
            <a:avLst/>
          </a:prstGeom>
          <a:noFill/>
          <a:ln/>
        </p:spPr>
        <p:txBody>
          <a:bodyPr wrap="square" lIns="0" tIns="0" rIns="0" bIns="0" rtlCol="0" anchor="ctr"/>
          <a:lstStyle/>
          <a:p>
            <a:pPr marL="0" indent="0" algn="r">
              <a:buNone/>
            </a:pPr>
            <a:r>
              <a:rPr lang="en-US" sz="1000" dirty="0">
                <a:solidFill>
                  <a:srgbClr val="9FB3BD"/>
                </a:solidFill>
                <a:latin typeface="Calibri" pitchFamily="34" charset="0"/>
                <a:ea typeface="Calibri" pitchFamily="34" charset="-122"/>
                <a:cs typeface="Calibri" pitchFamily="34" charset="-120"/>
              </a:rPr>
              <a:t>41</a:t>
            </a:r>
            <a:endParaRPr lang="en-US" sz="1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532120" cy="2715768"/>
        </p:xfrm>
        <a:graphic>
          <a:graphicData uri="http://schemas.openxmlformats.org/drawingml/2006/table">
            <a:tbl>
              <a:tblPr/>
              <a:tblGrid>
                <a:gridCol w="29260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301752">
                <a:tc>
                  <a:txBody>
                    <a:bodyPr/>
                    <a:lstStyle/>
                    <a:p>
                      <a:pPr marL="0" indent="0">
                        <a:buNone/>
                      </a:pPr>
                      <a:r>
                        <a:rPr lang="en-US" sz="950" b="1" dirty="0">
                          <a:solidFill>
                            <a:srgbClr val="FBBF24"/>
                          </a:solidFill>
                          <a:latin typeface="Calibri" pitchFamily="34" charset="0"/>
                          <a:ea typeface="Calibri" pitchFamily="34" charset="-122"/>
                          <a:cs typeface="Calibri" pitchFamily="34" charset="-120"/>
                        </a:rPr>
                        <a:t>Image</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950" b="1" dirty="0">
                          <a:solidFill>
                            <a:srgbClr val="FBBF24"/>
                          </a:solidFill>
                          <a:latin typeface="Calibri" pitchFamily="34" charset="0"/>
                          <a:ea typeface="Calibri" pitchFamily="34" charset="-122"/>
                          <a:cs typeface="Calibri" pitchFamily="34" charset="-120"/>
                        </a:rPr>
                        <a:t>Author</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950" b="1" dirty="0">
                          <a:solidFill>
                            <a:srgbClr val="FBBF24"/>
                          </a:solidFill>
                          <a:latin typeface="Calibri" pitchFamily="34" charset="0"/>
                          <a:ea typeface="Calibri" pitchFamily="34" charset="-122"/>
                          <a:cs typeface="Calibri" pitchFamily="34" charset="-120"/>
                        </a:rPr>
                        <a:t>Licence</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extLst>
                  <a:ext uri="{0D108BD9-81ED-4DB2-BD59-A6C34878D82A}">
                    <a16:rowId xmlns:a16="http://schemas.microsoft.com/office/drawing/2014/main" val="10000"/>
                  </a:ext>
                </a:extLst>
              </a:tr>
              <a:tr h="301752">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Calcaneus Fracture</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Jojo</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CC BY-SA 3.0</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1"/>
                  </a:ext>
                </a:extLst>
              </a:tr>
              <a:tr h="301752">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FracturedCal2008</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James Heilman</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CC BY-SA 3.0</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2"/>
                  </a:ext>
                </a:extLst>
              </a:tr>
              <a:tr h="301752">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CalcanealfractCT</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James Heilman</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CC BY-SA 3.0</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3"/>
                  </a:ext>
                </a:extLst>
              </a:tr>
              <a:tr h="301752">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CalFrac</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James Heilman</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CC BY-SA 4.0</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4"/>
                  </a:ext>
                </a:extLst>
              </a:tr>
              <a:tr h="301752">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STIR MRI of of calcaneal fracture</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Mohamed Jarraya</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CC BY 3.0</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5"/>
                  </a:ext>
                </a:extLst>
              </a:tr>
              <a:tr h="301752">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T1 MRI of calcaneal fracture</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Mohamed Jarraya</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CC BY 3.0</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6"/>
                  </a:ext>
                </a:extLst>
              </a:tr>
              <a:tr h="301752">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CT scan of calcaneal fracture</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Cerevisae</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CC BY-SA 4.0</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7"/>
                  </a:ext>
                </a:extLst>
              </a:tr>
              <a:tr h="301752">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CT scan of calcaneocuboid joint with calcaneal fract</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Cerevisae</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CC BY-SA 4.0</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8"/>
                  </a:ext>
                </a:extLst>
              </a:tr>
            </a:tbl>
          </a:graphicData>
        </a:graphic>
      </p:graphicFrame>
      <p:graphicFrame>
        <p:nvGraphicFramePr>
          <p:cNvPr id="83" name="Table 1"/>
          <p:cNvGraphicFramePr>
            <a:graphicFrameLocks noGrp="1"/>
          </p:cNvGraphicFramePr>
          <p:nvPr>
            <p:extLst>
              <p:ext uri="{D42A27DB-BD31-4B8C-83A1-F6EECF244321}">
                <p14:modId xmlns:p14="http://schemas.microsoft.com/office/powerpoint/2010/main" val="1579011935"/>
              </p:ext>
            </p:extLst>
          </p:nvPr>
        </p:nvGraphicFramePr>
        <p:xfrm>
          <a:off x="6126480" y="1463040"/>
          <a:ext cx="5532120" cy="2715768"/>
        </p:xfrm>
        <a:graphic>
          <a:graphicData uri="http://schemas.openxmlformats.org/drawingml/2006/table">
            <a:tbl>
              <a:tblPr/>
              <a:tblGrid>
                <a:gridCol w="29260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301752">
                <a:tc>
                  <a:txBody>
                    <a:bodyPr/>
                    <a:lstStyle/>
                    <a:p>
                      <a:pPr marL="0" indent="0">
                        <a:buNone/>
                      </a:pPr>
                      <a:r>
                        <a:rPr lang="en-US" sz="950" b="1" dirty="0">
                          <a:solidFill>
                            <a:srgbClr val="FBBF24"/>
                          </a:solidFill>
                          <a:latin typeface="Calibri" pitchFamily="34" charset="0"/>
                          <a:ea typeface="Calibri" pitchFamily="34" charset="-122"/>
                          <a:cs typeface="Calibri" pitchFamily="34" charset="-120"/>
                        </a:rPr>
                        <a:t>Image</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950" b="1" dirty="0">
                          <a:solidFill>
                            <a:srgbClr val="FBBF24"/>
                          </a:solidFill>
                          <a:latin typeface="Calibri" pitchFamily="34" charset="0"/>
                          <a:ea typeface="Calibri" pitchFamily="34" charset="-122"/>
                          <a:cs typeface="Calibri" pitchFamily="34" charset="-120"/>
                        </a:rPr>
                        <a:t>Author</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tc>
                  <a:txBody>
                    <a:bodyPr/>
                    <a:lstStyle/>
                    <a:p>
                      <a:pPr marL="0" indent="0">
                        <a:buNone/>
                      </a:pPr>
                      <a:r>
                        <a:rPr lang="en-US" sz="950" b="1" dirty="0">
                          <a:solidFill>
                            <a:srgbClr val="FBBF24"/>
                          </a:solidFill>
                          <a:latin typeface="Calibri" pitchFamily="34" charset="0"/>
                          <a:ea typeface="Calibri" pitchFamily="34" charset="-122"/>
                          <a:cs typeface="Calibri" pitchFamily="34" charset="-120"/>
                        </a:rPr>
                        <a:t>Licence</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B3B4A"/>
                    </a:solidFill>
                  </a:tcPr>
                </a:tc>
                <a:extLst>
                  <a:ext uri="{0D108BD9-81ED-4DB2-BD59-A6C34878D82A}">
                    <a16:rowId xmlns:a16="http://schemas.microsoft.com/office/drawing/2014/main" val="10000"/>
                  </a:ext>
                </a:extLst>
              </a:tr>
              <a:tr h="301752">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CT scan of talonavicular joint with fractured calcan</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Cerevisae</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CC BY-SA 4.0</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1"/>
                  </a:ext>
                </a:extLst>
              </a:tr>
              <a:tr h="301752">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Bohler's angle</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Gilo1969</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CC BY-SA 3.0</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2"/>
                  </a:ext>
                </a:extLst>
              </a:tr>
              <a:tr h="301752">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Intraoseous calcaneal nail C-Nail - rtg</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Fry72 Karel Frydrýšek</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CC BY-SA 4.0</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3"/>
                  </a:ext>
                </a:extLst>
              </a:tr>
              <a:tr h="301752">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Heel with Haglund exotose 1</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Sciencia58</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CC0</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4"/>
                  </a:ext>
                </a:extLst>
              </a:tr>
              <a:tr h="301752">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Heel with Haglund exotose 2</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Sciencia58</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CC0</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5"/>
                  </a:ext>
                </a:extLst>
              </a:tr>
              <a:tr h="301752">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Calcfx</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Ladyde12</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Public domain</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6"/>
                  </a:ext>
                </a:extLst>
              </a:tr>
              <a:tr h="301752">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Ferse rs</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Bran at de.wikipedia</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Public domain</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0232D"/>
                    </a:solidFill>
                  </a:tcPr>
                </a:tc>
                <a:extLst>
                  <a:ext uri="{0D108BD9-81ED-4DB2-BD59-A6C34878D82A}">
                    <a16:rowId xmlns:a16="http://schemas.microsoft.com/office/drawing/2014/main" val="10007"/>
                  </a:ext>
                </a:extLst>
              </a:tr>
              <a:tr h="301752">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Calcaneus Vue supérieure</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Berichard</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tc>
                  <a:txBody>
                    <a:bodyPr/>
                    <a:lstStyle/>
                    <a:p>
                      <a:pPr marL="0" indent="0">
                        <a:buNone/>
                      </a:pPr>
                      <a:r>
                        <a:rPr lang="en-US" sz="950" dirty="0">
                          <a:solidFill>
                            <a:srgbClr val="F4F1EA"/>
                          </a:solidFill>
                          <a:latin typeface="Calibri" pitchFamily="34" charset="0"/>
                          <a:ea typeface="Calibri" pitchFamily="34" charset="-122"/>
                          <a:cs typeface="Calibri" pitchFamily="34" charset="-120"/>
                        </a:rPr>
                        <a:t>CC BY-SA 3.0</a:t>
                      </a:r>
                      <a:endParaRPr lang="en-US" sz="950" dirty="0">
                        <a:latin typeface="Calibri" charset="0"/>
                        <a:ea typeface="Calibri" charset="0"/>
                        <a:cs typeface="Calibri" charset="0"/>
                      </a:endParaRPr>
                    </a:p>
                  </a:txBody>
                  <a:tcPr anchor="ctr">
                    <a:lnL w="9525" cap="flat" cmpd="sng" algn="ctr">
                      <a:solidFill>
                        <a:srgbClr val="2C4756"/>
                      </a:solidFill>
                      <a:prstDash val="solid"/>
                      <a:round/>
                      <a:headEnd type="none" w="med" len="med"/>
                      <a:tailEnd type="none" w="med" len="med"/>
                    </a:lnL>
                    <a:lnR w="9525" cap="flat" cmpd="sng" algn="ctr">
                      <a:solidFill>
                        <a:srgbClr val="2C4756"/>
                      </a:solidFill>
                      <a:prstDash val="solid"/>
                      <a:round/>
                      <a:headEnd type="none" w="med" len="med"/>
                      <a:tailEnd type="none" w="med" len="med"/>
                    </a:lnR>
                    <a:lnT w="9525" cap="flat" cmpd="sng" algn="ctr">
                      <a:solidFill>
                        <a:srgbClr val="2C4756"/>
                      </a:solidFill>
                      <a:prstDash val="solid"/>
                      <a:round/>
                      <a:headEnd type="none" w="med" len="med"/>
                      <a:tailEnd type="none" w="med" len="med"/>
                    </a:lnT>
                    <a:lnB w="9525" cap="flat" cmpd="sng" algn="ctr">
                      <a:solidFill>
                        <a:srgbClr val="2C4756"/>
                      </a:solidFill>
                      <a:prstDash val="solid"/>
                      <a:round/>
                      <a:headEnd type="none" w="med" len="med"/>
                      <a:tailEnd type="none" w="med" len="med"/>
                    </a:lnB>
                    <a:solidFill>
                      <a:srgbClr val="132A36"/>
                    </a:solidFill>
                  </a:tcPr>
                </a:tc>
                <a:extLst>
                  <a:ext uri="{0D108BD9-81ED-4DB2-BD59-A6C34878D82A}">
                    <a16:rowId xmlns:a16="http://schemas.microsoft.com/office/drawing/2014/main" val="10008"/>
                  </a:ext>
                </a:extLst>
              </a:tr>
            </a:tbl>
          </a:graphicData>
        </a:graphic>
      </p:graphicFrame>
      <p:sp>
        <p:nvSpPr>
          <p:cNvPr id="8" name="Text 4"/>
          <p:cNvSpPr txBox="1"/>
          <p:nvPr/>
        </p:nvSpPr>
        <p:spPr>
          <a:xfrm>
            <a:off x="548640" y="4617720"/>
            <a:ext cx="11109960" cy="457200"/>
          </a:xfrm>
          <a:prstGeom prst="rect">
            <a:avLst/>
          </a:prstGeom>
          <a:noFill/>
          <a:ln/>
        </p:spPr>
        <p:txBody>
          <a:bodyPr wrap="square" lIns="0" tIns="0" rIns="0" bIns="0" rtlCol="0" anchor="t"/>
          <a:lstStyle/>
          <a:p>
            <a:pPr marL="0" indent="0" algn="l">
              <a:buNone/>
            </a:pPr>
            <a:r>
              <a:rPr lang="en-US" sz="1100" i="1" dirty="0">
                <a:solidFill>
                  <a:srgbClr val="9FB3BD"/>
                </a:solidFill>
                <a:latin typeface="Calibri" pitchFamily="34" charset="0"/>
                <a:ea typeface="Calibri" pitchFamily="34" charset="-122"/>
                <a:cs typeface="Calibri" pitchFamily="34" charset="-120"/>
              </a:rPr>
              <a:t>All images from Wikimedia Commons under the licences shown. The diagrams (angles, fracture lines, Sanders, approaches) were drawn for this deck.</a:t>
            </a:r>
            <a:endParaRPr lang="en-US" sz="1100" dirty="0"/>
          </a:p>
        </p:txBody>
      </p:sp>
      <p:sp>
        <p:nvSpPr>
          <p:cNvPr id="9" name="Shape 5"/>
          <p:cNvSpPr/>
          <p:nvPr/>
        </p:nvSpPr>
        <p:spPr>
          <a:xfrm>
            <a:off x="548640" y="5074920"/>
            <a:ext cx="11109960" cy="1234440"/>
          </a:xfrm>
          <a:prstGeom prst="roundRect">
            <a:avLst>
              <a:gd name="adj" fmla="val 5926"/>
            </a:avLst>
          </a:prstGeom>
          <a:solidFill>
            <a:srgbClr val="132A36"/>
          </a:solidFill>
          <a:ln w="9525">
            <a:solidFill>
              <a:srgbClr val="2C4756"/>
            </a:solidFill>
            <a:prstDash val="solid"/>
          </a:ln>
        </p:spPr>
      </p:sp>
      <p:sp>
        <p:nvSpPr>
          <p:cNvPr id="10" name="Text 6"/>
          <p:cNvSpPr txBox="1"/>
          <p:nvPr/>
        </p:nvSpPr>
        <p:spPr>
          <a:xfrm>
            <a:off x="777240" y="5138928"/>
            <a:ext cx="10652760" cy="1097280"/>
          </a:xfrm>
          <a:prstGeom prst="rect">
            <a:avLst/>
          </a:prstGeom>
          <a:noFill/>
          <a:ln/>
        </p:spPr>
        <p:txBody>
          <a:bodyPr wrap="square" lIns="0" tIns="0" rIns="0" bIns="0" rtlCol="0" anchor="ctr"/>
          <a:lstStyle/>
          <a:p>
            <a:pPr marL="0" indent="0" algn="l">
              <a:buNone/>
            </a:pPr>
            <a:r>
              <a:rPr lang="en-US" sz="1150" dirty="0">
                <a:solidFill>
                  <a:srgbClr val="F4F1EA"/>
                </a:solidFill>
                <a:latin typeface="Calibri" pitchFamily="34" charset="0"/>
                <a:ea typeface="Calibri" pitchFamily="34" charset="-122"/>
                <a:cs typeface="Calibri" pitchFamily="34" charset="-120"/>
              </a:rPr>
              <a:t>Key references: Essex-Lopresti P, Br J Surg 1952 · Sanders R et al, Clin Orthop 1993;290:87 · Benirschke SK, Sangeorzan BJ, Clin Orthop 1993;292:128 · Stephens HM, Sanders R, Foot Ankle Int 1996 · Buckley R et al, J Bone Joint Surg Am 2002;84:1733 · Griffin D et al, BMJ 2014;349:g4483.</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2E2FF6-AF77-A5F1-43C7-26F4A70050A2}"/>
              </a:ext>
            </a:extLst>
          </p:cNvPr>
          <p:cNvSpPr txBox="1"/>
          <p:nvPr/>
        </p:nvSpPr>
        <p:spPr>
          <a:xfrm>
            <a:off x="3962400" y="2437775"/>
            <a:ext cx="5200650" cy="1446550"/>
          </a:xfrm>
          <a:prstGeom prst="rect">
            <a:avLst/>
          </a:prstGeom>
          <a:noFill/>
        </p:spPr>
        <p:txBody>
          <a:bodyPr wrap="square" rtlCol="0">
            <a:spAutoFit/>
          </a:bodyPr>
          <a:lstStyle/>
          <a:p>
            <a:r>
              <a:rPr lang="en-IN" sz="8800" b="1" u="sng" dirty="0">
                <a:solidFill>
                  <a:srgbClr val="00B0F0"/>
                </a:solidFill>
              </a:rPr>
              <a:t>Thanks</a:t>
            </a:r>
          </a:p>
        </p:txBody>
      </p:sp>
      <p:sp>
        <p:nvSpPr>
          <p:cNvPr id="4" name="TextBox 3">
            <a:extLst>
              <a:ext uri="{FF2B5EF4-FFF2-40B4-BE49-F238E27FC236}">
                <a16:creationId xmlns:a16="http://schemas.microsoft.com/office/drawing/2014/main" id="{F1BE02F2-D107-C259-C9A0-7499F7CACC08}"/>
              </a:ext>
            </a:extLst>
          </p:cNvPr>
          <p:cNvSpPr txBox="1"/>
          <p:nvPr/>
        </p:nvSpPr>
        <p:spPr>
          <a:xfrm>
            <a:off x="3225800" y="3835400"/>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4133565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TM03457485[[fn=Mesh]]</Template>
  <TotalTime>144</TotalTime>
  <Words>5201</Words>
  <Application>Microsoft Office PowerPoint</Application>
  <PresentationFormat>Widescreen</PresentationFormat>
  <Paragraphs>887</Paragraphs>
  <Slides>43</Slides>
  <Notes>41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Cambria</vt:lpstr>
      <vt:lpstr>Century Gothic</vt:lpstr>
      <vt:lpstr>Mesh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Calcaneum Fractures</dc:title>
  <dc:subject>PptxGenJS Presentation</dc:subject>
  <dc:creator>Orthopaedics PG Seminar</dc:creator>
  <cp:lastModifiedBy>Dr Pawanpreet Singh</cp:lastModifiedBy>
  <cp:revision>12</cp:revision>
  <dcterms:created xsi:type="dcterms:W3CDTF">2026-09-20T10:44:28Z</dcterms:created>
  <dcterms:modified xsi:type="dcterms:W3CDTF">2026-09-25T20:48:14Z</dcterms:modified>
</cp:coreProperties>
</file>