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FRACTURES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50292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Classification, Emergency Care &amp; Surgical Decision-Making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Maninder Singh  |  MS Orthopedics  |  GMCH Amritsar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of Spine Fractures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612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Vehicle Accidents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1612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from Height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1612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Injuries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9748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072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7432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/ Assault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69748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69748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28072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15468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SCI Cases / Year in India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69748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69748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8072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T12–L1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03504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Level (52%)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Anatomy &amp; Three-Column Concept (Denis)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body: weight-bearing unit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Pedicles: bridge body to posterior arch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Lamina, facets, spinous process: posterior elements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canal: houses neural elements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Intervertebral disc: shock absorber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Ligamentous complex: PLL, ALL, LF, SSL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Three-Column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Column: ALL + anterior ½ vertebral body + disc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Column: PLL + posterior ½ vertebral body + disc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Column: facets, lamina, pedicles, ligaments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Middle column disruption = INSTABILITY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failure = mechanically unstable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failure = most unstable — surgical mandatory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&amp; TLICS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Classification (Magerl):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A: Compression (A1–A4)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B: Distraction / flexion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C: Rotation / translation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TLICS Scoring System: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1–4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integrity: 0–3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status: 0–4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≤3 = conservative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≥5 = surgical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TLICS Scoring Details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Morphology Score: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Compression: 1 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Burst: 2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Translational/rotational: 3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Distraction: 4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Status: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Intact: 0 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injury: 2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Disrupted: 3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Status: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Intact: 0 pt  |  Complete: 2 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/ cauda equina: 3 pts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Fractures — Stable vs Unstable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Type A3 (Incomplete Burst) — posterior wall disrupted, single endplate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Type A4 (Complete Burst) — both endplates involved, more canal compromise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Radiological Criteria for Instability: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Kyphotic angle &gt; 30°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vertebral height loss &gt; 50%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wall retropulsion &gt; 50% canal occlusion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Interpedicular distance widening on AP X-ray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is mandatory to assess retropulsed fragments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assesses posterior ligamentous complex (PLC) integrity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Neurological Assessment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Survey: ABCDE — Airway, Breathing, Circulation, Disability, Exposure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Precautions: Log-roll, hard collar if cervical injury suspected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Examination Checklist: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level: key muscle groups C5–S1 (MRC grading 0–5)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level: pinprick + light touch, bilateral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Sacral sparing: perianal sensation, voluntary anal contraction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Rectal exam mandatory for complete injury assessment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Shock: Flaccid areflexia — resolves when bulbocavernosus reflex returns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Neurogenic Shock: Hypotension + bradycardia (T6 and above) — treat with fluids + vasopressors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Impairment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A — Complete: No motor or sensory below injury level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B — Sensory Incomplete: Sensation preserved, no motor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C — Motor Incomplete: Motor preserved, most key muscles &lt; grade 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D — Motor Incomplete: Motor preserved, most key muscles ≥ grade 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E — Normal: Full motor and sensory function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Motor Landmarks: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Elbow flexion  |  C6 = Wrist extension  |  C7 = Elbow extension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 = Finger flexion  |  T1 = Finger abduction  |  L2 = Hip flexion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= Knee extension  |  L4 = Ankle dorsiflexion  |  L5 = Great toe extension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Ankle plantarflexion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Protocol for Spine Fractures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Radiography &amp; MRI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(Mandatory — AP + Lateral):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morphology screening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Kyphotic angle measurement (Cobb)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height assessment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Interpedicular distance (burst marker)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Pedicle alignment (rotation fractures)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Indications: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deficit present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integrity assessment (STIR sequence)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herniation / epidural haematoma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 contusion vs compression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 (Gold Standard):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bony detail and fracture pattern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+ sagittal + coronal reconstruction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compromise measurement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Retropulsed fragment quantification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Pedicle integrity for screw planning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 for complex injuries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Sequences: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anatomy, marrow signal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cord oedema, disc pathology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STIR: PLC injury (high sensitivity)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DWI: acute cord ischaemia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Non-operative Treatment: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Neurologically intact patient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 stable fracture (TLICS ≤ 3)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Kyphosis &lt; 25–30°, height loss &lt; 40–50%, no PLC disruption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Orthosis Options: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Thoracolumbar: TLSO (thoracolumbar sacral orthosis) — 6–12 weeks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Cervical: Philadelphia collar (soft) or Miami J (semi-rigid) or Halo vest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Lumbosacral: LSO for lower lumbar fractures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Protocol: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X-rays at 6 weeks, 3 months, 6 months, 1 year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kyphosis progression &gt; 5° — reassess for surgery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Indications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TLICS ≥ 5 — Surgical treatment recommended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Indications: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neurological deficit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fracture / penetrating injury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locked facets (cervical)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Indications: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Kyphotic deformity &gt; 30°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body height loss &gt; 50%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compromise &gt; 50% with neurological symptoms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disruption on MRI (STIR hyperintensity)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Polytrauma patient (early fixation = earlier mobilisation)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conservative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Pedicle Screw Instrumentation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thoracolumbar fractures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Pedicle screws: strongest fixation point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Construct: 2 levels above + 2 below injury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Short-segment fixation (±intermediate screws)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 or stainless steel rod systems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bone trajectory (CBT): greater cortical purchase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Percutaneous MIS approach: less blood loss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Decompression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Three-column control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Deformity correction and restoration of sagittal balance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mobilisation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indirect decompression via distraction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 Options: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ligamentotaxis via instrumentation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laminectomy / laminotomy for retropulsed fragments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Transpedicular decompression (through pedicle approach)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Surgical Approaches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column compromise requiring reconstruction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retropulsed bone fragments causing cord compression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posterior decompression / kyphosis recurrence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Access (Transthoracic):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Single-lung ventilation; rib resection for access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Corpectomy + expandable cage + plate fixation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Lumbar Access (Retroperitoneal):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Flank incision, retroperitoneal dissection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 (anterior lumbar interbody fusion) for lower lumbar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 Options: Titanium mesh cage, expandable cage, structural allograft + autograft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Spine Injuries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&amp; Subaxial Injuries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Cervical (C1–C2):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Jefferson burst fracture (C1) — axial load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Odontoid Type I: stable, collar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Odontoid Type II: unstable — surgical (halo vs C1-C2 fusion)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Odontoid Type III: stable, halo vest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Hangman's fracture (C2 bilateral pedicle) — usually stable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Subaxial (C3–C7):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CSISS (Cervical Spine Injury Severity Score)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 dislocation — traction then ACDF or posterior fusion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— anterior corpectomy + cage + plate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Techniques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ACDF (Anterior Cervical Discectomy &amp; Fusion):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Smith-Robinson approach (right side)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Discectomy / corpectomy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 + plate fixation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levels most common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Surgery: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Laminectomy + lateral mass screws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Laminoplasty (open-door / French-door)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 multi-level myelopathy, OPLL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Halo-Vest Orthosis: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6–12 kg traction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70–90% odontoid Type II success rate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Recovery — Prognosis by ASIA Grade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612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&lt; 5% chance of motor recovery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1612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convert to community ambulators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1612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C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achieve community ambulation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9748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072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D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7432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independent ambulators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69748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69748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28072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48–72h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15468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window for surgical decompression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697480"/>
            <a:ext cx="2651760" cy="1463040"/>
          </a:xfrm>
          <a:prstGeom prst="rect">
            <a:avLst/>
          </a:prstGeom>
          <a:solidFill>
            <a:srgbClr val="0F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697480"/>
            <a:ext cx="265176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8072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03504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Methylprednisolone — NOT routinely recommended (NASCIS)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of Spinal Injuries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Complications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Respiratory: C3–C5 = phrenic nerve risk, ventilator dependency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DVT / PE: prophylaxis mandatory (LMWH + compression stockings)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sores: 2-hourly turning protocol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tract infections: early catheter care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dysreflexia: T6 and above — HTN crisis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Neurogenic bowel &amp; bladder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Complications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Kyphosis progression: common in conservative management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segment disease: degeneration above/below fusion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 failure: screw pull-out, rod breakage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Pseudarthrosis: failed fusion — revision surgery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pain: neuropathic + mechanical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Infection: deep surgical site infection (1–2%)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leak: durotomy — repair intraoperatively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Rehabilitation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ICU / Acute (0–2 weeks):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physiotherapy, mechanical ventilation weaning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protocol, skin care, early PROM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Ward (2–6 weeks):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tolerance, postural hypotension management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limb strengthening, wheelchair skills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Rehabilitation Unit (6 weeks – 3 months):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training with aids, ADL independence, bladder/bowel program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Community Reintegration: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rehabilitation, home modification, psychological support, driving assessment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Osteoporotic Vertebral Compression Fractures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Procedures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 postmenopausal women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most common site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pain + progressive kyphosis (Dowager's hump)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6 weeks bracing + analgesia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Vertebroplasty: cement injection, no height restoration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Kyphoplasty: balloon inflation then cement — restores height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pain relief &gt; 80%, same functional outcomes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 Long-term Management: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Bisphosphonates: alendronate, zoledronic acid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+ Vitamin D supplementation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Denosumab: for bisphosphonate intolerance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Teriparatide: anabolic — builds new bone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prevention: physiotherapy, home assessment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vertebra fracture risk post-kyphoplasty: 20%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leak: 5–7% (usually asymptomatic)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ASIA grading is mandatory — defines prognosis and guides management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 is gold standard — always obtain in suspected spine fracture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TLICS ≥ 5 = surgical intervention required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Pedicle screw fixation is the workhorse of spinal stabilisation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is essential to assess PLC integrity and cord status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decompression (&lt; 24–48h) improves neurological outcomes in incomplete injury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secondary injury: avoid hypoxia (SpO2 &gt; 95%) and hypotension (MAP &gt; 85 mmHg)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rehabilitation begins on Day 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Spine Fractures &amp; Management</dc:title>
  <dc:subject>PptxGenJS Presentation</dc:subject>
  <dc:creator>Dr. Maninder Singh</dc:creator>
  <cp:lastModifiedBy>Dr. Maninder Singh</cp:lastModifiedBy>
  <cp:revision>1</cp:revision>
  <dcterms:created xsi:type="dcterms:W3CDTF">2026-06-15T16:37:10Z</dcterms:created>
  <dcterms:modified xsi:type="dcterms:W3CDTF">2026-06-15T16:37:10Z</dcterms:modified>
</cp:coreProperties>
</file>