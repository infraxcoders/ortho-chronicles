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D3A"/>
              </a:solidFill>
              <a:effectLst/>
            </c:spPr>
          </c:dPt>
          <c:dPt>
            <c:idx val="1"/>
            <c:bubble3D val="0"/>
            <c:spPr>
              <a:solidFill>
                <a:srgbClr val="B8963E"/>
              </a:solidFill>
              <a:effectLst/>
            </c:spPr>
          </c:dPt>
          <c:dPt>
            <c:idx val="2"/>
            <c:bubble3D val="0"/>
            <c:spPr>
              <a:solidFill>
                <a:srgbClr val="1A5A68"/>
              </a:solidFill>
              <a:effectLst/>
            </c:spPr>
          </c:dPt>
          <c:dPt>
            <c:idx val="3"/>
            <c:bubble3D val="0"/>
            <c:spPr>
              <a:solidFill>
                <a:srgbClr val="D4AF5A"/>
              </a:solidFill>
              <a:effectLst/>
            </c:spPr>
          </c:dPt>
          <c:dPt>
            <c:idx val="4"/>
            <c:bubble3D val="0"/>
            <c:spPr>
              <a:solidFill>
                <a:srgbClr val="2A4A8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MVA</c:v>
                </c:pt>
                <c:pt idx="1">
                  <c:v>Falls</c:v>
                </c:pt>
                <c:pt idx="2">
                  <c:v>Sports</c:v>
                </c:pt>
                <c:pt idx="3">
                  <c:v>Violence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Achieving Community Ambulation</c:v>
                </c:pt>
              </c:strCache>
            </c:strRef>
          </c:tx>
          <c:spPr>
            <a:solidFill>
              <a:srgbClr val="B896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96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ASIA A</c:v>
                  </c:pt>
                  <c:pt idx="1">
                    <c:v>ASIA B</c:v>
                  </c:pt>
                  <c:pt idx="2">
                    <c:v>ASIA C</c:v>
                  </c:pt>
                  <c:pt idx="3">
                    <c:v>ASIA 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30</c:v>
                </c:pt>
                <c:pt idx="2">
                  <c:v>75</c:v>
                </c:pt>
                <c:pt idx="3">
                  <c:v>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ASIA Grade Improvement at 6 Months</c:v>
                </c:pt>
              </c:strCache>
            </c:strRef>
          </c:tx>
          <c:spPr>
            <a:solidFill>
              <a:srgbClr val="B896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96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Surgical &lt; 24h</c:v>
                  </c:pt>
                  <c:pt idx="1">
                    <c:v>Surgical 24–72h</c:v>
                  </c:pt>
                  <c:pt idx="2">
                    <c:v>Surgical &gt; 72h</c:v>
                  </c:pt>
                  <c:pt idx="3">
                    <c:v>Conservative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44</c:v>
                </c:pt>
                <c:pt idx="2">
                  <c:v>35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SF-36 Physical Component Score (%)</c:v>
                </c:pt>
              </c:strCache>
            </c:strRef>
          </c:tx>
          <c:spPr>
            <a:solidFill>
              <a:srgbClr val="B896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96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A3060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ASIA A 1yr</c:v>
                  </c:pt>
                  <c:pt idx="1">
                    <c:v>ASIA B 1yr</c:v>
                  </c:pt>
                  <c:pt idx="2">
                    <c:v>ASIA C 1yr</c:v>
                  </c:pt>
                  <c:pt idx="3">
                    <c:v>ASIA D 1yr</c:v>
                  </c:pt>
                  <c:pt idx="4">
                    <c:v>ASIA A 5yr</c:v>
                  </c:pt>
                  <c:pt idx="5">
                    <c:v>ASIA B 5yr</c:v>
                  </c:pt>
                  <c:pt idx="6">
                    <c:v>ASIA C 5yr</c:v>
                  </c:pt>
                  <c:pt idx="7">
                    <c:v>ASIA D 5yr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</c:v>
                </c:pt>
                <c:pt idx="1">
                  <c:v>38</c:v>
                </c:pt>
                <c:pt idx="2">
                  <c:v>68</c:v>
                </c:pt>
                <c:pt idx="3">
                  <c:v>87</c:v>
                </c:pt>
                <c:pt idx="4">
                  <c:v>26</c:v>
                </c:pt>
                <c:pt idx="5">
                  <c:v>45</c:v>
                </c:pt>
                <c:pt idx="6">
                  <c:v>78</c:v>
                </c:pt>
                <c:pt idx="7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FRACTURES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MANAGEMENT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Classification · Emergency Care · Surgical Techniques · Recent Evidence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4572000" cy="36576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Maninder Singh  |  MS Orthopedics  |  GMCH Amritsar  |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9144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Epidemiology &amp; Anatomy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Classification (AO &amp; TLICS)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5544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Imaging Protocol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Emergency Assessment &amp; ASIA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219456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" y="21945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Conservative Management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1945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Surgical Techniques (Posterior &amp; Anterior)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83464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28346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Cervical Injuries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28346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Neurological Recovery &amp; Rehab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347472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65760" y="34747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Complications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Recent Evidence &amp; Outcomes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411480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4114800"/>
            <a:ext cx="3931920" cy="50292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65760" y="41148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Case Studies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41148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Algorithm &amp; Conclusions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of Spine Fractures — Mechanisms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91440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1280160"/>
            <a:ext cx="27432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10,000+ new SCI/year in India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T12–L1 junction: 52%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 spine: 30%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Lumbar: 18%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: Female = 4:1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age: 15–30 yrs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Spinal Column — Anatomy Overview</a:t>
            </a:r>
            <a:endParaRPr lang="en-US" sz="2100" dirty="0"/>
          </a:p>
        </p:txBody>
      </p:sp>
      <p:pic>
        <p:nvPicPr>
          <p:cNvPr id="5" name="Image 0" descr="https://upload.wikimedia.org/wikipedia/commons/thumb/7/72/Gray_111_-_Vertebral_column.png/300px-Gray_111_-_Vertebral_colu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256032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914400"/>
            <a:ext cx="5669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Cervical vertebrae (C1–C7)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Thoracic vertebrae (T1–T12)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Lumbar vertebrae (L1–L5)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Sacrum (S1–S5 fused) + Coccyx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Lordosis: cervical + lumbar (concave posterior)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Kyphosis: thoracic + sacral (convex posterior)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sagittal balance critical for spinal function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vulnerable to fracture: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Thoracolumbar junction T11–L2 — transition from rigid rib cage to mobile lumbar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Gray's Anatomy (Public Domain)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Vertebral Anatomy &amp; Three-Column Concept (Denis)</a:t>
            </a:r>
            <a:endParaRPr lang="en-US" sz="2100" dirty="0"/>
          </a:p>
        </p:txBody>
      </p:sp>
      <p:pic>
        <p:nvPicPr>
          <p:cNvPr id="5" name="Image 0" descr="https://upload.wikimedia.org/wikipedia/commons/thumb/e/e5/Gray82.png/300px-Gray8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32004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0" y="91440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Vertebral Components: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weight-bearing; endplates (superior + inferior)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Pedicles: bridge body to posterior arch — pedicle screws inserted here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Laminae: roof of neural canal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 joints: superior + inferior articular processes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Spinous + transverse processes: muscle attachments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Denis Three-Column Model: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Anterior: ALL + anterior ½ body + disc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Middle: PLL + posterior ½ body + disc (KEY COLUMN)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Posterior: pedicles, facets, laminae, posterior ligaments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column failure = instability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/ Magerl Classification System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40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Wedge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Axial load + 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T12 wedge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Coronal 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coronal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Incomplete 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Axial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 Complete 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energy axial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Distraction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Posterior ligament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Flexion-distraction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Distraction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Posterior bone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Seat-belt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bilateral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Distraction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 Anterior disc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T12 disc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+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Flexion +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Fracture-dislocation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+ Distraction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Torsional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+ Rotation-shear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Shear forces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facet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TLICS Scoring System — Treatment Decision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316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 Morphology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 Morphology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 Morphology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/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 Morphology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Ligamentous Complex (PLC)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Ligamentous Complex (PLC)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Suspected injury (indeterminate)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Ligamentous Complex (PLC)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Injured (disrupted on MRI/X-ray)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Nerve root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cord injury (ASIA 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 cord / cauda equina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≤ 3 = Conservative  |  Score 4 = Either  |  Score ≥ 5 = SURGICAL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Impairment Scale — Neurological Classification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22860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 Grade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Below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Below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Complete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motor or sensory function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5% motor recovery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Sensory Incomplete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only below injury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~30% become ambulators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Motor Incomplete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preserved, majority &lt; MRC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Grade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community walkers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— Motor Incomplete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preserved, majority ≥ MRC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Grade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 independent walkers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— 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motor and sensory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recovery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32461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Motor Landmarks for Level Determination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11880"/>
          <a:ext cx="8595360" cy="1463040"/>
        </p:xfrm>
        <a:graphic>
          <a:graphicData uri="http://schemas.openxmlformats.org/drawingml/2006/table">
            <a:tbl>
              <a:tblPr/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Muscle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Muscle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Elbow 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Iliopsoas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 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Quadriceps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Knee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Elbow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Tibialis anterior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Ankle dorsiflexion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 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EHL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toe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 abduction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Gastrocnemius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Ankle plantarflexion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Modalities — Comparison &amp; Indications</a:t>
            </a:r>
            <a:endParaRPr lang="en-US" sz="2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 Best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(AP + Lateral)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 morphology, alignment, kyphotic angle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suspected fractures — first-line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30–40% undisplaced; poor soft tissue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 Scan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detail, fracture pattern, canal compromise, 3D reconstruction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95–99%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significant spine trauma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Radiation; misses cord/disc/ligament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 T1/T2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Cord oedema, disc herniation, epidural haematoma, bone marrow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90–95% cord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 deficit; post-op 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costly; poor bony detail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 STIR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ligamentous complex (PLC) injury — fluid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85–90% PLC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PLC assessment; undisplaced fractures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Time-intensive; implant artefact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 Myelogram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compromise when MRI contraindicated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to MRI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Pacemaker / claustrophobia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Invasive; dye injection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Scan — Key Findings in Burst Fractures</a:t>
            </a:r>
            <a:endParaRPr lang="en-US" sz="2100" dirty="0"/>
          </a:p>
        </p:txBody>
      </p:sp>
      <p:pic>
        <p:nvPicPr>
          <p:cNvPr id="5" name="Image 0" descr="https://upload.wikimedia.org/wikipedia/commons/thumb/2/2d/Gray_111_-_Vertebral_column.png/300px-Gray_111_-_Vertebral_colu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60120"/>
            <a:ext cx="2743200" cy="3657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960120"/>
            <a:ext cx="2743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Findings to Assess: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Retropulsion of posterior cortex into canal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compromise (% cross-sectional area occupied)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Pedicle widening on axial cuts (burst marker)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Vertebral body comminution degree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element fractures (facets, pedicles, lamina)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Kyphotic angle: Cobb method on sagittal CT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Radiological Instability Criteria: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Kyphosis &gt; 30°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loss &gt; 50%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compromise &gt; 50%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Pedicle widening (AO A4)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217920" y="960120"/>
            <a:ext cx="2651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 Cannot Show: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Spinal cord contusion / oedema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soft tissue disruption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 herniation into canal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Epidural haematoma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add MRI when: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deficit present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disruption suspected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decompression level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Assessment — Primary &amp; Secondary Survey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Survey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Survey (ATLS):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Airway with C-spine control (hard collar)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Breathing (C3-C5 phrenic nerve risk)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Circulation: distinguish neurogenic vs haemorrhagic shock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Disability: GCS, pupil response, gross motor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Exposure + log roll (one person holds head)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Spinal Shock: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Flaccid areflexia below injury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Bulbocavernosus reflex: absent in shock, returns at resolution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hours to weeks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neurological assessment only after shock resolves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Survey — Neurological Exam: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motor exam (C5–S1 key muscles, MRC 0–5)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Sensory: pinprick + light touch, bilateral, all dermatomes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Sacral sparing: perianal sensation, voluntary anal contraction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Rectal examination mandatory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ASIA grade clearly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Differentiating Shock Types: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Hypovolaemic: ↑HR, ↑BP response to fluids, vasoconstriction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Neurogenic (T6+): ↓HR, ↓BP, paradoxical vasodilation, priapism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fluid resuscitation + vasopressors (MAP &gt; 85 mmHg)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Indications — Evidence-Based Decision Making</a:t>
            </a:r>
            <a:endParaRPr lang="en-US" sz="2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TLICS 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Neurological deterioration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deficit on exam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A — absolute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+ 3 (incomplete)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cord injury with imaging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Decompression &lt; 24h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 — strong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+ 2 (complete)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 instability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TLICS ≥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 ≥5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Sagittal imbalance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Kyphosis &gt; 30°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+ 1–3 (morphology)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Vertebral body height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50% anterior height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 =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PLC disruption on MRI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STIR hyperintensity at posterior elements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+ 2–3 (PLC)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Cauda equina syndrome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Bladder/bowel dysfunction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A — urgent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+ 3 (cauda equina)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conservative 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Kyphosis progression &gt; 5° at follow-up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Reassess TLICS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Polytrauma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fixation for nursing, ICU, physiotherapy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Pedicle Screw Fixation — Surgical Technique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&amp; Screw Insertion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Positioning: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on Jackson table or Wilson frame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chest rolls placed for respiratory excursion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Fluoroscopy access: true AP + lateral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Neuromonitoring: SSEP + MEP baseline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Insertion: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Pedicle entry point: Magerl technique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Breech probe, tap, confirm with 4-view fluoro or O-arm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Cannulated or solid screws (6.5–7.5 mm diameter)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Titanium preferred (MRI compatibility)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&amp; Decompression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Design: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Standard: 2 levels above + 2 below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segment: fracture level + 1 above + 1 below (with intermediate screws at fracture)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 contouring: match native lordosis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/ distraction for deformity correction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Decompression Options: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ligamentotaxis (best &lt; 72 hours)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posterior decompression (laminectomy/laminotomy)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Transpedicular decompression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approach for significant anterior compression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Pedicle Screw Fixation — Radiological Assessment</a:t>
            </a:r>
            <a:endParaRPr lang="en-US" sz="2100" dirty="0"/>
          </a:p>
        </p:txBody>
      </p:sp>
      <p:pic>
        <p:nvPicPr>
          <p:cNvPr id="5" name="Image 0" descr="https://upload.wikimedia.org/wikipedia/commons/thumb/8/8a/X-ray_of_spinal_fusion.jpg/300px-X-ray_of_spinal_fu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914400"/>
            <a:ext cx="640080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365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Postoperative X-ray showing multi-level pedicle screw and rod construct with correction of kyphotic deformity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Minimally Invasive Spine Surgery (MIS)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Percutaneous Pedicle Screws: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 incisions at each pedicle level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Jamshidi needle → guidewire → cannulated screw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Percutaneous rod insertion and connection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posterior muscle stripping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Fluoroscopy or O-arm navigation guided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MIS: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blood loss (50% reduction)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post-op pain — earlier mobilisation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wound infection rate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posterior musculature (erector spinae)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stay reduced by 1–2 days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&amp; Limitations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Navigation-Assisted Surgery: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CT (O-arm) + navigation (Stryker / Medtronic)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&lt; 1 mm screw placement error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radiation to surgeon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curve: 20–30 cases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MIS: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radiation dose to patient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perform direct decompression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suitable for highly unstable injuries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fracture-dislocations require open approach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expensive — requires navigation suite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Surgery — Corpectomy &amp; Cage Reconstruction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&amp; Thoracic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column compromise not correctable posteriorly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retropulsed fragments with cord compression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Kyphosis recurrence / failed posterior fixation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Single-level burst with &gt; 70% canal compromise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 (T4–T12) — Transthoracic: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Right-sided approach preferred (T4–T10)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Single-lung ventilation (DLT / bronchial blocker)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 head resection provides adequate access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Thoracoscopic approach possible for selected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Lumbar &amp; Cages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Lumbar (L1–L5) — Retroperitoneal: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flank approach (sigmoid mobilisation avoided)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protect ureter, iliac vessels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L4-L5: risk of superior hypogastric plexus injury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lumbar interbody fusion (ALIF) for lower lumbar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Cage Options: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Titanium mesh cage: malleable, cut to size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Expandable cage (PEEK / titanium): in-situ expansion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allograft: femoral ring, fibula strut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graft: autograft (iliac crest) + BMP-2 for fusion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 Spine Injuries — Classification &amp; Management</a:t>
            </a:r>
            <a:endParaRPr lang="en-US" sz="2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40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Occiput-C1 dislocation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Powers ratio &gt;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Halo / Occipito-cervical fusion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mortality; 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Jefferson 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of C1 lateral masses &gt; 7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if transverse lig torn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Halo vest 12 wks / C1-C2 fusion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'Open-mouth' odontoid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Odontoid Type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 avulsion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Cervical collar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Odontoid Type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 odontoid waist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Halo vest OR C1-C2 fusion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Pseudarthrosis 30% with halo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Odontoid Type III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 C2 body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Halo vest 12 weeks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union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Hangman's (Levine 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C2 pedicle — &lt; 3 mm displacement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Cervical collar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Hyperextension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Hangman's (Levine II/III)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 mm displacement + angulation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ACDF C2-C3 or halo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 disruption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Subaxial — 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Wedge; AO A1-A2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Cervical collar / ACDF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CSISS &lt;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Subaxial — Burst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 A3-A4; canal compromise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ACDF + cage / plate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CSISS scoring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Subaxial — Facet dislocation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Unilateral or bilateral 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Traction → ACDF or posterior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 MRI mandatory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Recovery Rates by ASIA Grade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035040" y="1005840"/>
            <a:ext cx="2834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NSCISC Database: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A: &lt; 5% motor recovery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B: ~30% ambulatory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C: 75% community ambulators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D: 90%+ independent walking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&lt; 50: better recovery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injury: best outcomes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&lt; 24h: improves ASIA grade in incomplete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of partial preservation important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— Systematic Overview</a:t>
            </a:r>
            <a:endParaRPr lang="en-US" sz="2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Prevention /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20–60% (SCI patients)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LMWH + compression stockings + early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Pulmonary embolism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 SCI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Acute–subacute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IVC filter if anticoag contraindicated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sores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(complete SCI)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Acute/chronic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2-hourly turning, pressure-relieving mattress, nutrition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C3–C5 injuries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Intubation, NIV, early tracheostomy if prolonged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Autonomic dysreflexia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T6+ injuries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trigger (UTI/constipation), nitrates, nifedipine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Kyphosis progression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10–25% conservative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X-rays; surgery if &gt; 5° progression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 segment disease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15–25% at 10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motion where possible; dynamic implants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Pseudarthrosis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 (anterior)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(6–12 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Revision with graft augmentation, BMP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Subacute–late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 fusion; revision fixation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 / Wound breakdown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Prophylactic ABx, meticulous closure, negative pressure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CSF leak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Intraoperative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Watertight repair; lumbar drain if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Evidence &amp; Guidelines — Key Trials</a:t>
            </a:r>
            <a:endParaRPr lang="en-US" sz="2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Guideline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STASCIS (Fehlings et al.)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decompression &lt; 24h: ASIA grade improvement 2× greater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surgery for incomplete SCI is standard of 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AOSpine Guidelines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Updated TLICS (AOSpine Score) — neurology modifier added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Nerve root injuries now get +2 (previously 0 in TLICS)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Cochrane Review — SCS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strong RCT evidence for methylprednisolone benefit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 not recommended routinely (NASCI III discredited)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AOSPINE Thoracolumbar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Short-segment fixation ± intermediate screws: non-inferior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4-screw construct valid if intermediate screw added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 Spinal Stenosis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superior to conservative at 8 years for most outcomes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for symptomatic burst + neurological findings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Percutaneous MIS meta-analysis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MIS: less blood loss (235 vs 487 mL), same fusion rates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 preferred for suitable thoracolumbar burst fractures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Vertebroplasty VERTOS IV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difference vs sham in osteoporotic VCF pain at 1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selection crucial; early acute fractures may benefit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Kyphoplasty KAVIAR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Kyphoplasty: better height restoration, similar pain relief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Kyphoplasty preferred when height restoration is the 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vs Conservative Outcomes — Neurological Recovery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960120"/>
          <a:ext cx="8412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STASCIS trial + systematic review (Fehlings et al., Spine 2012)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Vertebroplasty &amp; Kyphoplasty — Technique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Vertebroplasty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Vertebroplasty: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Bipedicle approach under fluoroscopy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11G Jamshidi needle through pedicle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PMMA bone cement injected under pressure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Cement fills fractured trabecular space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45–60 minutes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acute VCF &lt; 6 weeks, failed conservative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relief &gt; 80% at 1 month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height restoration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Cement leak rate: 5–8% (mostly asymptomatic)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level fracture: 20% at 1 year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 Kyphoplasty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 Kyphoplasty: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Bipedicle approach (larger cannula)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 inflated to create void and restore height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Cement injected under low pressure into void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restoration: 40–60% of lost height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over Vertebroplasty: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cement leak rate (2–3%)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restoration possible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sagittal balance correction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longer procedure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Fracture &gt; 3 months (healed)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compromise (posterior wall breach)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infection / coagulopathy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1 — High-Energy Burst Fracture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32M, MVA, restrained driver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15, BP 100/70, HR 98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back pain, bilateral leg weakness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C neurological deficit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CT: L1 burst fracture (AO A4)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canal compromise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cortex retropulsed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Kyphosis 22°, height loss 45%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TLICS = 8 (Burst 2 + PLC suspected 2 + incomplete 3 + MVA risk)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surgery within 8 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T12-L3 posterior pedicle screws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Transpedicular decompression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Post-op: ASIA C → ASIA D at 6 weeks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weight-bearing at 2 months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D → E at 6 months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 work at 9 months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— Osteoporotic Vertebral Fracture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72F, fall from standing height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 meds, DM2, postmenopausal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back pain, TLSO-limited mobility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neurological deficit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X-ray: L2 wedge fracture (Genant Grade 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loss 35%, no burst pattern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DXA: T-score −3.1 (Lumbar)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Conservative: TLSO brace 8 weeks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at 6 weeks — persistent severe pain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Kyphoplasty (balloon) — bilateral bipedicle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Bisphosphonate + Ca/VitD initiated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VAS 8/10 → 2/10 at 48 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restoration 60% of loss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Discharged day 2 post-procedure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adjacent fracture at 18 months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Algorithm — Thoracolumbar Spine Fracture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0F1D3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SPINE FRACTURE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3931920" cy="457200"/>
          </a:xfrm>
          <a:prstGeom prst="rect">
            <a:avLst/>
          </a:prstGeom>
          <a:solidFill>
            <a:srgbClr val="1A5A68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087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NEUROLOGICALLY INTACT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508760"/>
            <a:ext cx="4023360" cy="457200"/>
          </a:xfrm>
          <a:prstGeom prst="rect">
            <a:avLst/>
          </a:prstGeom>
          <a:solidFill>
            <a:srgbClr val="8B1A1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5087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DEFICIT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3931920" cy="45720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20574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+ Calculate TLICS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2057400"/>
            <a:ext cx="4023360" cy="45720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057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+ MRI + URGENT TLICS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1828800" cy="457200"/>
          </a:xfrm>
          <a:prstGeom prst="rect">
            <a:avLst/>
          </a:prstGeom>
          <a:solidFill>
            <a:srgbClr val="1A5A68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4320" y="2606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TLICS ≤3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40280" y="2606040"/>
            <a:ext cx="1920240" cy="457200"/>
          </a:xfrm>
          <a:prstGeom prst="rect">
            <a:avLst/>
          </a:prstGeom>
          <a:solidFill>
            <a:srgbClr val="B8963E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40280" y="26060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TLICS =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2606040"/>
            <a:ext cx="1920240" cy="457200"/>
          </a:xfrm>
          <a:prstGeom prst="rect">
            <a:avLst/>
          </a:prstGeom>
          <a:solidFill>
            <a:srgbClr val="8B3A1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297680" y="26060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TLICS ≥5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606040"/>
            <a:ext cx="4023360" cy="457200"/>
          </a:xfrm>
          <a:prstGeom prst="rect">
            <a:avLst/>
          </a:prstGeom>
          <a:solidFill>
            <a:srgbClr val="8B1A1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2606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DECOMPRESSION &lt; 24h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154680"/>
            <a:ext cx="3931920" cy="457200"/>
          </a:xfrm>
          <a:prstGeom prst="rect">
            <a:avLst/>
          </a:prstGeom>
          <a:solidFill>
            <a:srgbClr val="2A4070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74320" y="31546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TLSO Brace · Follow-up X-rays at 6w, 3m, 6m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97680" y="3154680"/>
            <a:ext cx="4663440" cy="457200"/>
          </a:xfrm>
          <a:prstGeom prst="rect">
            <a:avLst/>
          </a:prstGeom>
          <a:solidFill>
            <a:srgbClr val="2A4070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97680" y="31546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pedicle screw fixation ± decompression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703320"/>
            <a:ext cx="8595360" cy="457200"/>
          </a:xfrm>
          <a:prstGeom prst="rect">
            <a:avLst/>
          </a:prstGeom>
          <a:solidFill>
            <a:srgbClr val="B8963E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74320" y="37033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 REHABILITATION — Begin Day 1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 &amp; Emerging Technologies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Innovation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Innovation: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Robotics-assisted pedicle screw placement (Mazor X, ExcelsiusGPS)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99.5% vs 96.5% freehand in meta-analysis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 reality (AR) navigation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neurophysiological monitoring: closed-loop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patient-specific implants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cell therapy for disc regeneration (Phase II trials)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 &amp; Imaging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Therapies: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Granulocyte-colony stimulating factor (G-CSF) trials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Riluzole (sodium channel blocker) — neuroprotection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Anti-NOGO-A antibodies (spinal cord regeneration)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Epidural electrical stimulation for chronic SCI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 rehabilitation (ReWalk, Ekso)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Advances: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tensor imaging (DTI): axonal tract integrity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MRI: cortical reorganisation assessment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fracture classification (AUC 0.94 vs 0.87 radiologist)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 &amp; Guidelines</a:t>
            </a:r>
            <a:endParaRPr lang="en-US" sz="2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Fehlings et al., STASCIS, 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&lt; 24h for incomplete SCI — standard of 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AOSpine thoracolumbar guidelines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Updated classification with neurology modifier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consensus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Verlaan et al., Eur Spine J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Percutaneous fixation non-inferior to open for AO A3/A4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 et al., Spine 2021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Short-segment fixation with intermediate screws — adequate 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Rachkidi et al., meta-analysis 2019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Pedicle screw accuracy: robotics 99.5% vs freehand 96.5%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B meta-analysis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NASS Clinical Guidelines 2019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TLICS ≥5 = surgical; CT mandatory; MRI for neurology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A/B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 Spine International 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AOSpine Score — combines morphology + PLC + neurology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Buchbinder et al., NEJM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Vertebroplasty vs sham: no significant pain benefit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A RCT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Rehabilitation Protocol — Phase Timeline</a:t>
            </a:r>
            <a:endParaRPr lang="en-US" sz="2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— Acute ICU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0–2 weeks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Respiratory, haemodynamic stability; prevent secondary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Ventilator management, positioning, PROM, skin care, DVT prophylaxis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2 — Ward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2–6 weeks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Sitting tolerance, postural hypotension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 for upper limb, PT for bed mobility, bladder/bowel programme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3 — Rehab 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wks – 3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Gait training, wheelchair skills, ADL independence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Physiotherapy, OT, psychology, speech therapy, dietitian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4 — 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3–12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Vocational rehabilitation, social reintegration, driving 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Outpatient PT, home modification, peer support, workplace 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 — Chronic SCI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Maintain function, prevent complications, quality of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review, spasticity management, pain clinic, sexual health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Outcomes — Quality of Life Data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960120"/>
          <a:ext cx="84124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NSCISC Annual Statistical Report 2023 — Normalised SF-36 physical component vs general population (norm = 100)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Thoracolumbar spine fractures are best classified using the TLICS / AOSpine system — this directly drives surgical decision-making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scan is mandatory; MRI is essential when neurological deficit is present or PLC injury is suspected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within 24 hours for incomplete cord injury improves neurological outcomes (Grade B evidence, STASCIS)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Pedicle screw fixation is the gold standard — robotics and navigation increase accuracy to &gt; 99%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percutaneous fixation reduces blood loss by 50% with equivalent fusion rates in suitable patients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 rehabilitation beginning Day 1 is essential — psychological and social factors determine long-term outcomes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Osteoporotic vertebral fractures: kyphoplasty for pain relief when conservative management fails at 6 weeks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of secondary injury (MAP &gt; 85 mmHg, SpO₂ &gt; 95%) is as important as surgical intervention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Spine Fractures &amp; Management</dc:title>
  <dc:subject>PptxGenJS Presentation</dc:subject>
  <dc:creator>PptxGenJS</dc:creator>
  <cp:lastModifiedBy>PptxGenJS</cp:lastModifiedBy>
  <cp:revision>1</cp:revision>
  <dcterms:created xsi:type="dcterms:W3CDTF">2026-06-15T17:06:29Z</dcterms:created>
  <dcterms:modified xsi:type="dcterms:W3CDTF">2026-06-15T17:06:29Z</dcterms:modified>
</cp:coreProperties>
</file>