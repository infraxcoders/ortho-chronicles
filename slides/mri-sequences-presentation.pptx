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5"/>
  </p:notesMasterIdLst>
  <p:sldIdLst>
    <p:sldId id="256" r:id="rId2"/>
    <p:sldId id="257" r:id="rId3"/>
    <p:sldId id="375" r:id="rId4"/>
    <p:sldId id="365" r:id="rId5"/>
    <p:sldId id="366" r:id="rId6"/>
    <p:sldId id="373" r:id="rId7"/>
    <p:sldId id="374" r:id="rId8"/>
    <p:sldId id="372" r:id="rId9"/>
    <p:sldId id="258" r:id="rId10"/>
    <p:sldId id="261" r:id="rId11"/>
    <p:sldId id="259" r:id="rId12"/>
    <p:sldId id="262" r:id="rId13"/>
    <p:sldId id="268" r:id="rId14"/>
    <p:sldId id="407" r:id="rId15"/>
    <p:sldId id="408" r:id="rId16"/>
    <p:sldId id="409" r:id="rId17"/>
    <p:sldId id="410" r:id="rId18"/>
    <p:sldId id="294" r:id="rId19"/>
    <p:sldId id="456" r:id="rId20"/>
    <p:sldId id="457" r:id="rId21"/>
    <p:sldId id="458" r:id="rId22"/>
    <p:sldId id="453" r:id="rId23"/>
    <p:sldId id="455" r:id="rId24"/>
    <p:sldId id="286" r:id="rId25"/>
    <p:sldId id="289" r:id="rId26"/>
    <p:sldId id="291" r:id="rId27"/>
    <p:sldId id="300" r:id="rId28"/>
    <p:sldId id="411" r:id="rId29"/>
    <p:sldId id="438" r:id="rId30"/>
    <p:sldId id="446" r:id="rId31"/>
    <p:sldId id="440" r:id="rId32"/>
    <p:sldId id="443" r:id="rId33"/>
    <p:sldId id="308" r:id="rId34"/>
    <p:sldId id="390" r:id="rId35"/>
    <p:sldId id="391" r:id="rId36"/>
    <p:sldId id="350" r:id="rId37"/>
    <p:sldId id="395" r:id="rId38"/>
    <p:sldId id="418" r:id="rId39"/>
    <p:sldId id="312" r:id="rId40"/>
    <p:sldId id="313" r:id="rId41"/>
    <p:sldId id="378" r:id="rId42"/>
    <p:sldId id="420" r:id="rId43"/>
    <p:sldId id="421" r:id="rId44"/>
    <p:sldId id="422" r:id="rId45"/>
    <p:sldId id="425" r:id="rId46"/>
    <p:sldId id="383" r:id="rId47"/>
    <p:sldId id="384" r:id="rId48"/>
    <p:sldId id="314" r:id="rId49"/>
    <p:sldId id="315" r:id="rId50"/>
    <p:sldId id="385" r:id="rId51"/>
    <p:sldId id="452" r:id="rId52"/>
    <p:sldId id="316" r:id="rId53"/>
    <p:sldId id="317" r:id="rId54"/>
    <p:sldId id="318" r:id="rId55"/>
    <p:sldId id="319" r:id="rId56"/>
    <p:sldId id="320" r:id="rId57"/>
    <p:sldId id="321" r:id="rId58"/>
    <p:sldId id="353" r:id="rId59"/>
    <p:sldId id="326" r:id="rId60"/>
    <p:sldId id="322" r:id="rId61"/>
    <p:sldId id="354" r:id="rId62"/>
    <p:sldId id="325" r:id="rId63"/>
    <p:sldId id="327" r:id="rId64"/>
    <p:sldId id="454" r:id="rId65"/>
    <p:sldId id="328" r:id="rId66"/>
    <p:sldId id="329" r:id="rId67"/>
    <p:sldId id="355" r:id="rId68"/>
    <p:sldId id="398" r:id="rId69"/>
    <p:sldId id="399" r:id="rId70"/>
    <p:sldId id="400" r:id="rId71"/>
    <p:sldId id="401" r:id="rId72"/>
    <p:sldId id="335" r:id="rId73"/>
    <p:sldId id="402" r:id="rId74"/>
    <p:sldId id="396" r:id="rId75"/>
    <p:sldId id="333" r:id="rId76"/>
    <p:sldId id="336" r:id="rId77"/>
    <p:sldId id="337" r:id="rId78"/>
    <p:sldId id="427" r:id="rId79"/>
    <p:sldId id="428" r:id="rId80"/>
    <p:sldId id="433" r:id="rId81"/>
    <p:sldId id="434" r:id="rId82"/>
    <p:sldId id="435" r:id="rId83"/>
    <p:sldId id="339" r:id="rId84"/>
    <p:sldId id="340" r:id="rId85"/>
    <p:sldId id="358" r:id="rId86"/>
    <p:sldId id="341" r:id="rId87"/>
    <p:sldId id="359" r:id="rId88"/>
    <p:sldId id="342" r:id="rId89"/>
    <p:sldId id="343" r:id="rId90"/>
    <p:sldId id="344" r:id="rId91"/>
    <p:sldId id="345" r:id="rId92"/>
    <p:sldId id="377" r:id="rId93"/>
    <p:sldId id="360" r:id="rId9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3614723-3629-4E81-B4C6-08F7355EA4E7}">
          <p14:sldIdLst>
            <p14:sldId id="256"/>
            <p14:sldId id="257"/>
            <p14:sldId id="375"/>
            <p14:sldId id="365"/>
            <p14:sldId id="366"/>
            <p14:sldId id="373"/>
            <p14:sldId id="374"/>
            <p14:sldId id="372"/>
            <p14:sldId id="258"/>
            <p14:sldId id="261"/>
            <p14:sldId id="259"/>
            <p14:sldId id="262"/>
            <p14:sldId id="268"/>
            <p14:sldId id="407"/>
            <p14:sldId id="408"/>
            <p14:sldId id="409"/>
            <p14:sldId id="410"/>
            <p14:sldId id="294"/>
            <p14:sldId id="456"/>
            <p14:sldId id="457"/>
            <p14:sldId id="458"/>
            <p14:sldId id="453"/>
            <p14:sldId id="455"/>
            <p14:sldId id="286"/>
            <p14:sldId id="289"/>
            <p14:sldId id="291"/>
            <p14:sldId id="300"/>
            <p14:sldId id="411"/>
          </p14:sldIdLst>
        </p14:section>
        <p14:section name="Untitled Section" id="{D0A1036F-001E-40C2-8C64-21FF8F1B93AE}">
          <p14:sldIdLst>
            <p14:sldId id="438"/>
            <p14:sldId id="446"/>
            <p14:sldId id="440"/>
            <p14:sldId id="443"/>
            <p14:sldId id="308"/>
            <p14:sldId id="390"/>
            <p14:sldId id="391"/>
            <p14:sldId id="350"/>
            <p14:sldId id="395"/>
            <p14:sldId id="418"/>
            <p14:sldId id="312"/>
            <p14:sldId id="313"/>
            <p14:sldId id="378"/>
            <p14:sldId id="420"/>
            <p14:sldId id="421"/>
            <p14:sldId id="422"/>
            <p14:sldId id="425"/>
            <p14:sldId id="383"/>
            <p14:sldId id="384"/>
            <p14:sldId id="314"/>
            <p14:sldId id="315"/>
            <p14:sldId id="385"/>
            <p14:sldId id="452"/>
            <p14:sldId id="316"/>
            <p14:sldId id="317"/>
            <p14:sldId id="318"/>
            <p14:sldId id="319"/>
            <p14:sldId id="320"/>
            <p14:sldId id="321"/>
            <p14:sldId id="353"/>
            <p14:sldId id="326"/>
            <p14:sldId id="322"/>
            <p14:sldId id="354"/>
            <p14:sldId id="325"/>
            <p14:sldId id="327"/>
            <p14:sldId id="454"/>
            <p14:sldId id="328"/>
            <p14:sldId id="329"/>
            <p14:sldId id="355"/>
            <p14:sldId id="398"/>
            <p14:sldId id="399"/>
            <p14:sldId id="400"/>
            <p14:sldId id="401"/>
            <p14:sldId id="335"/>
            <p14:sldId id="402"/>
            <p14:sldId id="396"/>
            <p14:sldId id="333"/>
            <p14:sldId id="336"/>
            <p14:sldId id="337"/>
            <p14:sldId id="427"/>
            <p14:sldId id="428"/>
            <p14:sldId id="433"/>
            <p14:sldId id="434"/>
            <p14:sldId id="435"/>
            <p14:sldId id="339"/>
            <p14:sldId id="340"/>
            <p14:sldId id="358"/>
            <p14:sldId id="341"/>
            <p14:sldId id="359"/>
            <p14:sldId id="342"/>
            <p14:sldId id="343"/>
            <p14:sldId id="344"/>
            <p14:sldId id="345"/>
            <p14:sldId id="377"/>
            <p14:sldId id="36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52" autoAdjust="0"/>
  </p:normalViewPr>
  <p:slideViewPr>
    <p:cSldViewPr>
      <p:cViewPr varScale="1">
        <p:scale>
          <a:sx n="69" d="100"/>
          <a:sy n="69" d="100"/>
        </p:scale>
        <p:origin x="1203"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5:44:21.805"/>
    </inkml:context>
    <inkml:brush xml:id="br0">
      <inkml:brushProperty name="width" value="0.2" units="cm"/>
      <inkml:brushProperty name="height" value="0.2" units="cm"/>
      <inkml:brushProperty name="color" value="#FFFFFF"/>
    </inkml:brush>
  </inkml:definitions>
  <inkml:trace contextRef="#ctx0" brushRef="#br0">1 359 24575,'1'-2'0,"0"-1"0,0 1 0,0-1 0,0 1 0,1-1 0,-1 1 0,1 0 0,0 0 0,-1 0 0,1 0 0,0 0 0,0 0 0,0 0 0,5-2 0,5-6 0,91-86 0,-65 62 0,-21 21 0,1 0 0,0 1 0,24-12 0,25-16 0,-63 38 6,20-15-463,0 0 0,28-29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5:44:43.062"/>
    </inkml:context>
    <inkml:brush xml:id="br0">
      <inkml:brushProperty name="width" value="0.35" units="cm"/>
      <inkml:brushProperty name="height" value="0.35" units="cm"/>
      <inkml:brushProperty name="color" value="#FFFFFF"/>
    </inkml:brush>
  </inkml:definitions>
  <inkml:trace contextRef="#ctx0" brushRef="#br0">2967 528 24575,'0'-1'0,"0"0"0,-1 0 0,1 0 0,0 0 0,-1 0 0,0-1 0,1 1 0,-1 0 0,0 0 0,1 0 0,-1 1 0,0-1 0,0 0 0,0 0 0,0 0 0,0 1 0,0-1 0,0 0 0,0 1 0,0-1 0,0 1 0,0-1 0,0 1 0,0-1 0,-1 1 0,1 0 0,-1-1 0,-38-5 0,37 5 0,-57-2 0,41 2 0,-1 0 0,1 0 0,0-2 0,1-1 0,-24-7 0,-23-15 0,-44-15 0,81 32 0,-53-25 0,25 8 0,29 15 0,0 1 0,0 1 0,-30-6 0,46 13 0,0-1 0,0 0 0,0-1 0,1 0 0,-1-1 0,1 0 0,0-1 0,0 0 0,-11-9 0,-13-7 0,-1 1 0,-1 3 0,-1 0 0,-1 3 0,-42-13 0,29 13 0,0 2 0,-1 2 0,-1 2 0,-103-3 0,-827 13 0,961-1 0,1 1 0,-1 1 0,1 0 0,0 2 0,0 1 0,0 0 0,-39 16 0,23-5 0,-1-3 0,-71 17 0,108-30 0,-9 1 0,0 1 0,0 0 0,1 1 0,-1 0 0,1 0 0,0 1 0,0 0 0,0 1 0,-10 7 0,18-12 0,1 1 0,0-1 0,-1 0 0,1 1 0,0-1 0,-1 0 0,1 1 0,0-1 0,0 0 0,-1 1 0,1-1 0,0 1 0,0-1 0,0 0 0,-1 1 0,1-1 0,0 1 0,0-1 0,0 1 0,0-1 0,0 1 0,0-1 0,0 1 0,0-1 0,0 0 0,0 1 0,0-1 0,0 1 0,1-1 0,-1 1 0,0-1 0,0 0 0,0 1 0,0-1 0,1 1 0,-1-1 0,0 0 0,1 1 0,-1-1 0,0 0 0,1 1 0,-1-1 0,0 0 0,1 1 0,-1-1 0,0 0 0,1 0 0,-1 0 0,1 1 0,-1-1 0,1 0 0,-1 0 0,0 0 0,1 0 0,-1 0 0,1 0 0,31 8 0,-28-7 0,71 13 0,1-3 0,100 1 0,597-14 0,-726 0 0,63-11 0,-64 6 0,49-1 0,-93 8 0,0 0 0,0 0 0,0 0 0,1 0 0,-1 0 0,0 0 0,0 0 0,0 1 0,0-1 0,0 1 0,0-1 0,0 1 0,0 0 0,0 0 0,0 0 0,-1 0 0,1 0 0,2 2 0,-4-3 0,1 1 0,-1 0 0,0-1 0,0 1 0,1 0 0,-1-1 0,0 1 0,0 0 0,0-1 0,0 1 0,0 0 0,0-1 0,0 1 0,0 0 0,0 0 0,0-1 0,-1 1 0,1 0 0,0 0 0,-13 21 0,5-13 0,1-1 0,-1 1 0,-1-1 0,1-1 0,-2 0 0,1 0 0,-1 0 0,-16 7 0,9-6 0,-1-1 0,-1-1 0,1 0 0,-30 4 0,-10-3 0,1-3 0,-84-5 0,130 1 0,-7-1 0,6 0 0,0 1 0,0 0 0,0 0 0,0 1 0,1 1 0,-1 0 0,-12 4 0,25-6 0,-1 0 0,0 0 0,0 0 0,0 0 0,0 0 0,1 0 0,-1 0 0,0 0 0,0 0 0,0 0 0,0 0 0,0 0 0,1 0 0,-1 1 0,0-1 0,0 0 0,0 0 0,0 0 0,0 0 0,0 0 0,0 0 0,0 0 0,1 1 0,-1-1 0,0 0 0,0 0 0,0 0 0,0 0 0,0 1 0,0-1 0,0 0 0,0 0 0,0 0 0,0 0 0,0 0 0,0 1 0,0-1 0,0 0 0,0 0 0,0 0 0,0 0 0,0 1 0,0-1 0,0 0 0,0 0 0,0 0 0,-1 0 0,1 0 0,0 1 0,0-1 0,0 0 0,0 0 0,0 0 0,0 0 0,0 0 0,0 0 0,-1 0 0,1 0 0,0 1 0,0-1 0,0 0 0,17 4 0,82 4 0,126-7 0,-118-2 0,11 1-47,232-5-409,-256 0 294,156-31-1,-176 20 163,115-22 0,-155 31 143,1-3 1,49-20-1,-49 17-10,0 1 0,40-8-1,-19 12-132,82 0 0,-85 6 0,0-1 0,60-13 0,198-46 0,-281 55 0,0-2 0,30-12 0,-37 12 0,1 1 0,0 0 0,44-6 0,-23 10 0,-27 4 0,1-2 0,0-1 0,-1 0 0,26-8 0,30-15 0,-56 18 0,-19 7 0,1 1 0,0 0 0,0 0 0,0 0 0,0-1 0,0 1 0,0 0 0,0 0 0,0 0 0,0-1 0,0 1 0,0 0 0,0 0 0,-1 0 0,1 0 0,0-1 0,0 1 0,0 0 0,0 0 0,-1 0 0,1 0 0,0 0 0,0 0 0,0 0 0,0-1 0,-1 1 0,1 0 0,0 0 0,0 0 0,0 0 0,-1 0 0,1 0 0,0 0 0,0 0 0,0 0 0,-1 0 0,1 0 0,0 0 0,0 0 0,-1 0 0,1 0 0,-42 1 0,-195 45-412,139-23 153,-93 26 93,56-13 197,98-25 225,0 2-1,-54 26 0,65-28-215,10-5-40,0 0 0,-1-2 0,1 0 0,-23 2 0,23-4 0,0 1 0,0 0 0,0 1 0,1 1 0,-16 7 0,12-4 0,0 0 0,0-1 0,0-2 0,-1 1 0,0-2 0,0-1 0,-1 0 0,-29-1 0,13-2 0,0 1 0,0 3 0,1 0 0,-46 13 0,-243 80 0,278-83 0,-18 6 0,0-3 0,-86 11 0,183-29 0,93-7 0,535-138-796,-624 137 789,269-84 7,-98 27 0,-164 53 0,143-37 0,-149 42 0,0 2 0,0 1 0,43 1 0,25 7 143,-45 0 77,-1-3 0,108-14 0,-78-1-220,176-35 0,-205 40 0,-1 2 0,1 4 0,86 3 0,-144 0 0,0 1 0,0 0 0,0 0 0,0 0 0,1 0 0,-1 1 0,0-1 0,0 0 0,0 1 0,0 0 0,0-1 0,0 1 0,0 0 0,0 0 0,2 2 0,-3-3 0,-1 1 0,0-1 0,0 0 0,0 1 0,0-1 0,0 1 0,0-1 0,0 0 0,0 1 0,0-1 0,0 1 0,0-1 0,0 0 0,0 1 0,0-1 0,-1 1 0,1-1 0,0 0 0,0 1 0,0-1 0,0 0 0,-1 1 0,1-1 0,0 0 0,0 1 0,-1-1 0,1 1 0,-21 15 0,-335 190-953,27-54-1139,-8-22 175,325-126 1853,-157 56-429,167-59 519,-1 0 1,1-1 0,0 1 0,0 1 0,-1-1-1,1 0 1,0 0 0,0 1 0,-3 2 0,5-3-20,0-1 0,0 0 0,0 0-1,0 0 1,0 0 0,0 1 0,0-1 0,0 0 0,0 0 0,0 0 0,0 0 0,0 1 0,0-1 0,0 0 0,0 0 0,0 0 0,0 0 0,1 0 0,-1 1 0,0-1 0,0 0 0,0 0-1,0 0 1,0 0 0,0 0 0,0 0 0,1 0 0,-1 1 0,0-1 0,0 0 0,0 0 0,0 0 0,0 0 0,1 0 0,-1 0 0,0 0 0,0 0 0,0 0 0,0 0 0,1 0 0,17 2 333,29-3-8,-1-2 1,86-17-1,-77 10 45,281-68-183,-8-23-315,-299 92 121,-19 7 0,0-1 0,-1 0 0,0 0 0,1-1 0,-1 0 0,-1-1 0,15-9 0,-23 14 0,0 0 0,1 0 0,-1-1 0,0 1 0,0 0 0,0 0 0,1-1 0,-1 1 0,0 0 0,0 0 0,0-1 0,0 1 0,0 0 0,1 0 0,-1-1 0,0 1 0,0 0 0,0 0 0,0-1 0,0 1 0,0 0 0,0-1 0,0 1 0,0 0 0,0-1 0,0 1 0,0 0 0,-1 0 0,1-1 0,0 1 0,0 0 0,0 0 0,0-1 0,0 1 0,0 0 0,-1 0 0,1-1 0,0 1 0,0 0 0,0 0 0,-1 0 0,1-1 0,0 1 0,0 0 0,-1 0 0,1 0 0,0 0 0,0 0 0,-1-1 0,1 1 0,0 0 0,-1 0 0,1 0 0,0 0 0,0 0 0,-1 0 0,1 0 0,0 0 0,-1 0 0,-11-2 0,0 0 0,0 1 0,0 0 0,0 0 0,0 2 0,-17 1 0,10 0 0,-87 5 165,0 5 1,-139 35-1,205-36 202,-1-2-1,-1-2 0,1-1 1,-47 0-1,-1061-10 485,4458 4-851,-3303 0-105,1 0 0,-1 0 0,0-1 0,0 0 0,0 0 0,0-1 0,0 1 0,0-1 0,0-1 0,-1 1 0,1-1 0,7-5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5:45:27.012"/>
    </inkml:context>
    <inkml:brush xml:id="br0">
      <inkml:brushProperty name="width" value="0.35" units="cm"/>
      <inkml:brushProperty name="height" value="0.35" units="cm"/>
      <inkml:brushProperty name="color" value="#FFFFFF"/>
    </inkml:brush>
  </inkml:definitions>
  <inkml:trace contextRef="#ctx0" brushRef="#br0">1 20 24575,'0'-6'0,"6"-7"0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5:45:28.60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5:45:32.972"/>
    </inkml:context>
    <inkml:brush xml:id="br0">
      <inkml:brushProperty name="width" value="0.35" units="cm"/>
      <inkml:brushProperty name="height" value="0.35" units="cm"/>
      <inkml:brushProperty name="color" value="#FFFFFF"/>
    </inkml:brush>
  </inkml:definitions>
  <inkml:trace contextRef="#ctx0" brushRef="#br0">0 132 24575,'0'-1'0,"1"0"0,-1 0 0,0 0 0,1 0 0,-1 0 0,1 0 0,-1 0 0,1 0 0,0 0 0,-1 0 0,1 0 0,0 0 0,0 0 0,-1 0 0,1 1 0,0-1 0,0 0 0,0 0 0,0 1 0,0-1 0,0 1 0,0-1 0,2 0 0,32-10 0,-22 7 0,14-4 0,1 0 0,0 3 0,1 0 0,34-1 0,119 5 0,-110 3 0,-57-2 0,29 0 0,1 2 0,60 10 0,122 29 0,-139-31 0,0-4 0,117-7 0,-86-1 0,-96 2 0,3-1 0,0 1 0,1 1 0,-1 1 0,0 2 0,34 9 0,75 24 0,73 25 0,-175-50 0,2-2 0,-1-1 0,2-2 0,-1-1 0,1-2 0,-1-1 0,46-3 0,-56 1 0,1 1 0,0 1 0,-1 2 0,1 0 0,30 11 0,-14-6 0,0-1 0,1-2 0,0-3 0,50 0 0,-38-1 0,107 11 0,50 1 0,-145-14 0,176 11 0,70 12 0,2-25 0,-111-1 0,-123 3 0,100-3 0,-175 1 0,0 1 0,0-1 0,-1 0 0,1 0 0,-1-1 0,7-2 0,-10 4 0,-1-1 0,0 0 0,0 0 0,1 1 0,-1-1 0,0 0 0,0 0 0,0 0 0,0 0 0,0 0 0,0 0 0,0 0 0,0 0 0,-1-1 0,1 1 0,0 0 0,-1-1 0,1 1 0,-1 0 0,1-1 0,-1 1 0,1 0 0,-1-1 0,0 1 0,0-1 0,0 1 0,0-1 0,0-2 0,-2-5 0,0 0 0,-1 0 0,0 0 0,0 1 0,-1-1 0,0 1 0,0 0 0,-1 0 0,0 0 0,-1 1 0,-6-8 0,0 2 0,0 0 0,-1 1 0,0 0 0,-29-19 0,31 25 0,-1 0 0,0 1 0,0 0 0,0 1 0,0 0 0,-1 1 0,1 1 0,-25-3 0,-9 4 0,-53 4 0,34 0 0,-723 1 0,462-6 0,295 0 0,0-1 0,1-2 0,0-1 0,-33-11 0,-57-11 0,39 19 0,-24-4 0,56 6 0,0 2 0,-61 1 0,0 1 0,4-12 0,69 8 0,-41-2 0,-46-8 341,-5 1-2047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5:55:22.155"/>
    </inkml:context>
    <inkml:brush xml:id="br0">
      <inkml:brushProperty name="width" value="0.35" units="cm"/>
      <inkml:brushProperty name="height" value="0.35" units="cm"/>
      <inkml:brushProperty name="color" value="#FFFFFF"/>
    </inkml:brush>
  </inkml:definitions>
  <inkml:trace contextRef="#ctx0" brushRef="#br0">2450 369 24575,'-633'0'0,"605"2"0,0 0 0,-32 8 0,-12 2 0,-61 10 0,38-4 0,24-6 0,-67 9 0,-26-20 0,-2 1 0,138 1 0,-31 8 0,-25 3 0,-161-10 0,178-4 0,52-1 0,-1 0 0,1-1 0,1 0 0,-1-2 0,0 1 0,1-2 0,0 0 0,0-1 0,0 0 0,0-1 0,-19-13 0,12 4 0,0 0 0,1-2 0,1 0 0,1-1 0,-29-39 0,41 51 0,1-1 0,0 1 0,0-1 0,1 0 0,0-1 0,-4-13 0,7 21 0,1-1 0,-1 0 0,1 0 0,0 0 0,-1 0 0,1 0 0,0 0 0,0 0 0,1 0 0,-1 1 0,0-1 0,1 0 0,-1 0 0,1 0 0,-1 0 0,1 1 0,0-1 0,0 0 0,0 1 0,0-1 0,0 0 0,0 1 0,0-1 0,1 1 0,-1 0 0,0-1 0,1 1 0,-1 0 0,1 0 0,0 0 0,-1 0 0,1 0 0,0 0 0,0 0 0,-1 1 0,4-2 0,13-2 0,1 0 0,0 2 0,-1 0 0,1 0 0,0 2 0,32 3 0,-16-1 0,3-1 0,3 2 0,1-3 0,-1-1 0,51-8 0,-37 0 0,-27 5 0,0-1 0,50-17 0,-42 10 0,1 2 0,0 1 0,0 2 0,71-5 0,157 12 0,-130 3 0,-98-3 0,0-2 0,57-9 0,43-8 0,-20 3 0,-15 4-96,0 5 1,118 6-1,-132 2-982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6:19:41.805"/>
    </inkml:context>
    <inkml:brush xml:id="br0">
      <inkml:brushProperty name="width" value="0.35" units="cm"/>
      <inkml:brushProperty name="height" value="0.35" units="cm"/>
      <inkml:brushProperty name="color" value="#FFFFFF"/>
    </inkml:brush>
  </inkml:definitions>
  <inkml:trace contextRef="#ctx0" brushRef="#br0">2006 11 24551,'-2005'0'0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6:19:47.148"/>
    </inkml:context>
    <inkml:brush xml:id="br0">
      <inkml:brushProperty name="width" value="0.35" units="cm"/>
      <inkml:brushProperty name="height" value="0.35" units="cm"/>
      <inkml:brushProperty name="color" value="#FFFFFF"/>
    </inkml:brush>
  </inkml:definitions>
  <inkml:trace contextRef="#ctx0" brushRef="#br0">0 0 23892,'1940'0'0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8:11:11.53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8:11:12.160"/>
    </inkml:context>
    <inkml:brush xml:id="br0">
      <inkml:brushProperty name="width" value="0.35" units="cm"/>
      <inkml:brushProperty name="height" value="0.35" units="cm"/>
      <inkml:brushProperty name="color" value="#FFFFFF"/>
    </inkml:brush>
  </inkml:definitions>
  <inkml:trace contextRef="#ctx0" brushRef="#br0">1 1 24575,'11'0'0,"15"0"0,9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8:07:52.289"/>
    </inkml:context>
    <inkml:brush xml:id="br0">
      <inkml:brushProperty name="width" value="0.35" units="cm"/>
      <inkml:brushProperty name="height" value="0.35" units="cm"/>
      <inkml:brushProperty name="color" value="#FFFFFF"/>
    </inkml:brush>
  </inkml:definitions>
  <inkml:trace contextRef="#ctx0" brushRef="#br0">13 32 24560,'0'1'0,"0"0"0,0 0 0,0 1 0,0-1 0,0 0 0,0 0 0,0 0 0,0 1 0,0-1 0,0 0 0,0 0 0,-1 0 0,1 0 0,0 0 0,0 0 0,0 0 0,0 0 0,0 0 0,-1 0 0,1 0 0,0 0 0,0 0 0,0-1 0,-1 1 0,1 0 0,0-1 0,0 1 0,-1-1 0,1 1 0,0-1 0,0 1 0,-1-1 0,1 0 0,0 1 0,0-1 0,-1 0 0,1 0 0,0 0 0,0 0 0,-1 0 0,1 0 0,0 0 0,0 0 0,-1 0 0,1-1 0,0 1 0,0 0 0,-1-1 0,1 1 0,0-1 0,0 1 0,-1-1 0,1 1 0,0-1 0,0 0 0,0 1 0,-1-1 0,1 0 0,0 0 0,0 0 0,0 0 0,-1 0 0,1 0 0,0 0 0,0 0 0,0 0 0,0 0 0,0 0 0,0 0 0,-1 0 0,1-1 0,0 1 0,0 0 0,0 0 0,0 0 0,0-1 0,0 1 0,0 0 0,0 0 0,0-1 0,0 1 0,0 0 0,0 0 0,0 0 0,0-1 0,0 1 0,0 0 0,0 0 0,1 0 0,-1-1 0,0 1 0,0 0 0,0 0 0,0 0 0,0 0 0,0 0 0,1 0 0,-1 0 0,0 0 0,0 0 0,0 1 0,1-1 0,-1 0 0,0 0 0,0 1 0,0-1 0,1 1 0,-1-1 0,0 0 0,0 1 0,1 0 0,-1-1 0,0 1 0,0 0 0,1-1 0,-1 1 0,0 0 0,0 0 0,1 0 0,-1 0 0,0 0 0,0 0 0,1 0 0,-1 1 0,0-1 0,0 0 0,1 1 0,-1-1 0,0 0 0,0 1 0,1 0 0,-1-1 0,0 1 0,0-1 0,1 1 0,-1 0 0,0 0 0,0-1 0,0 1 0,1 0 0,-1 0 0,0 0 0,0 0 0,0 0 0,0 0 0,0 0 0,1 0 0,-1 0 0,0 1 0,0-1 0,0 0 0,0 0 0,0 0 0,0 1 0,0-1 0,0 0 0,0 0 0,0 0 0,0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8:07:59.405"/>
    </inkml:context>
    <inkml:brush xml:id="br0">
      <inkml:brushProperty name="width" value="0.35" units="cm"/>
      <inkml:brushProperty name="height" value="0.35" units="cm"/>
      <inkml:brushProperty name="color" value="#FFFFFF"/>
    </inkml:brush>
  </inkml:definitions>
  <inkml:trace contextRef="#ctx0" brushRef="#br0">0 0 24575,'0'6'0,"0"8"0,0 6 0,0 12 0,6 6 0,2 3 0,-1-1 0,4-7 0,7 2 0,-1 1 0,-3 7 0,-3 0 0,-4 5 0,-4 6 0,-1-2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1T18:08:00.876"/>
    </inkml:context>
    <inkml:brush xml:id="br0">
      <inkml:brushProperty name="width" value="0.35" units="cm"/>
      <inkml:brushProperty name="height" value="0.35" units="cm"/>
      <inkml:brushProperty name="color" value="#FFFFFF"/>
    </inkml:brush>
  </inkml:definitions>
  <inkml:trace contextRef="#ctx0" brushRef="#br0">1 151 24575,'6'-6'0,"7"-7"0,2-8 0,4-5 0,4-4 0,4 3 0,3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3:47:31.668"/>
    </inkml:context>
    <inkml:brush xml:id="br0">
      <inkml:brushProperty name="width" value="0.35" units="cm"/>
      <inkml:brushProperty name="height" value="0.35" units="cm"/>
      <inkml:brushProperty name="color" value="#FFFFFF"/>
    </inkml:brush>
  </inkml:definitions>
  <inkml:trace contextRef="#ctx0" brushRef="#br0">0 93 24575,'0'-4'0,"0"0"0,0 1 0,0-1 0,1 1 0,-1-1 0,1 1 0,0-1 0,0 1 0,0-1 0,1 1 0,-1-1 0,1 1 0,0 0 0,2-4 0,-1 4 0,0 1 0,0-1 0,0 1 0,0 0 0,0 0 0,1 0 0,-1 0 0,1 0 0,-1 1 0,1 0 0,-1 0 0,1 0 0,7-1 0,33-3 0,1 1 0,0 3 0,49 4 0,-11-1 0,532-1-1365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3:47:33.771"/>
    </inkml:context>
    <inkml:brush xml:id="br0">
      <inkml:brushProperty name="width" value="0.35" units="cm"/>
      <inkml:brushProperty name="height" value="0.35" units="cm"/>
      <inkml:brushProperty name="color" value="#FFFFFF"/>
    </inkml:brush>
  </inkml:definitions>
  <inkml:trace contextRef="#ctx0" brushRef="#br0">1 29 24575,'0'-5'0,"0"-6"0,5-1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3:47:34.988"/>
    </inkml:context>
    <inkml:brush xml:id="br0">
      <inkml:brushProperty name="width" value="0.35" units="cm"/>
      <inkml:brushProperty name="height" value="0.35" units="cm"/>
      <inkml:brushProperty name="color" value="#FFFFFF"/>
    </inkml:brush>
  </inkml:definitions>
  <inkml:trace contextRef="#ctx0" brushRef="#br0">0 1 24575,'5'0'0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3:47:36.533"/>
    </inkml:context>
    <inkml:brush xml:id="br0">
      <inkml:brushProperty name="width" value="0.35" units="cm"/>
      <inkml:brushProperty name="height" value="0.35" units="cm"/>
      <inkml:brushProperty name="color" value="#FFFFFF"/>
    </inkml:brush>
  </inkml:definitions>
  <inkml:trace contextRef="#ctx0" brushRef="#br0">0 17 24575,'732'0'0,"-718"0"-195,1-1 0,-1 0 0,1-1 0,-1 0 0,0-1 0,14-5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3:47:39.260"/>
    </inkml:context>
    <inkml:brush xml:id="br0">
      <inkml:brushProperty name="width" value="0.35" units="cm"/>
      <inkml:brushProperty name="height" value="0.35" units="cm"/>
      <inkml:brushProperty name="color" value="#FFFFFF"/>
    </inkml:brush>
  </inkml:definitions>
  <inkml:trace contextRef="#ctx0" brushRef="#br0">0 39 24575,'5'0'0,"7"0"0,10 0 0,8 0 0,2-5 0,1-1 0,0 0 0,4 2 0,-5-5 0,3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4:07:37.381"/>
    </inkml:context>
    <inkml:brush xml:id="br0">
      <inkml:brushProperty name="width" value="0.35" units="cm"/>
      <inkml:brushProperty name="height" value="0.35" units="cm"/>
      <inkml:brushProperty name="color" value="#FFFFFF"/>
    </inkml:brush>
  </inkml:definitions>
  <inkml:trace contextRef="#ctx0" brushRef="#br0">1 0 24517,'713'0'0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4:18:44.066"/>
    </inkml:context>
    <inkml:brush xml:id="br0">
      <inkml:brushProperty name="width" value="0.35" units="cm"/>
      <inkml:brushProperty name="height" value="0.35" units="cm"/>
      <inkml:brushProperty name="color" value="#FFFFFF"/>
    </inkml:brush>
  </inkml:definitions>
  <inkml:trace contextRef="#ctx0" brushRef="#br0">0 61 24575,'67'0'0,"74"1"0,-114 1 0,0 1 0,1 1 0,27 8 0,12 6 0,-27-8 0,0 2 0,69 30 0,-95-36 0,1 0 0,0 0 0,0-2 0,0 0 0,24 3 0,77 0 0,-56-5 0,-41-1 0,0 1 0,0 1 0,-1 0 0,0 2 0,0 0 0,35 15 0,-17-6 0,0-2 0,1-1 0,54 9 0,44 11 0,-88-18 0,0-2 0,1-2 0,56 3 0,-78-9 0,1 2 0,37 12 0,-36-9 0,53 9 0,13-11 0,110-7 0,-73-1 0,-89 2 0,53-1 0,-89 0 0,0 0 0,0-1 0,-1 0 0,1 0 0,0 0 0,0 0 0,-1-1 0,0 0 0,1 0 0,-1-1 0,0 0 0,8-8 0,5-6 0,28-36 0,-31 35 0,-11 14 0,1-1 0,-1 0 0,0 0 0,3-8 0,-6 13 0,0-1 0,-1 0 0,1 0 0,0 1 0,-1-1 0,0 0 0,1 0 0,-1 1 0,0-1 0,0 0 0,0 0 0,0 0 0,0 1 0,0-1 0,-1 0 0,1 0 0,-1 0 0,1 1 0,-1-1 0,0 0 0,1 1 0,-3-4 0,-1 0 0,0 0 0,-1 0 0,1 1 0,-1-1 0,0 1 0,0 0 0,-1 1 0,1-1 0,-1 1 0,1 0 0,-1 1 0,-11-4 0,-3 0 0,-1 2 0,-33-4 0,32 6 0,1-1 0,-27-8 0,14-1 0,-63-34 0,-9-3 0,91 44 0,0 0 0,0 1 0,0 0 0,0 1 0,-26-1 0,-204 6 0,79 1 0,-362-3 0,489 1-170,0 3-1,0 1 0,0 2 1,0 1-1,1 2 0,0 2 1,-56 26-1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4:41:15.986"/>
    </inkml:context>
    <inkml:brush xml:id="br0">
      <inkml:brushProperty name="width" value="0.35" units="cm"/>
      <inkml:brushProperty name="height" value="0.35" units="cm"/>
      <inkml:brushProperty name="color" value="#FFFFFF"/>
    </inkml:brush>
  </inkml:definitions>
  <inkml:trace contextRef="#ctx0" brushRef="#br0">0 287 24575,'10'0'0,"0"-1"0,-1-1 0,1 1 0,0-2 0,-1 1 0,0-1 0,0-1 0,1 0 0,-2 0 0,1 0 0,8-7 0,3 0 0,-8 5 0,-1 1 0,1 0 0,-1 1 0,1 1 0,0 0 0,16-2 0,73-2 0,-56 6 0,-2-5 0,-40 6 0,0-1 0,-1 0 0,1 1 0,0-2 0,-1 1 0,1 0 0,-1 0 0,0-1 0,1 1 0,-1-1 0,0 0 0,4-3 0,-6 4 0,1 1 0,-1 0 0,0-1 0,0 1 0,1 0 0,-1-1 0,0 1 0,0 0 0,0-1 0,0 1 0,1 0 0,-1-1 0,0 1 0,0 0 0,0-1 0,0 1 0,0-1 0,0 1 0,0 0 0,0-1 0,0 1 0,0-1 0,0 1 0,0 0 0,0-1 0,0 1 0,-1-1 0,1 1 0,0 0 0,0-1 0,0 1 0,-1 0 0,1-1 0,-1 1 0,-15-9 0,-21 3 0,-245 4 0,169 4 0,137-2 0,78 1 0,152-20 0,-181 11 0,-42 5 0,0-1 0,54-15 0,-48 8 0,1 3 0,68-8 0,-78 11 0,0 0 0,30-11 0,-31 7 0,0 2 0,35-4 0,235 6 0,-167 8 0,614-3 0,-716 2 0,0 1 0,0 1 0,0 2 0,0 1 0,30 12 0,-24-8 0,1-1 0,55 9 0,24-12 0,122-7 0,-88-3 0,-25 2 0,147 3 0,-261-2 0,-1 1 0,0 0 0,0 0 0,0 1 0,0 0 0,-1 1 0,1-1 0,9 6 0,-14-6 0,1 0 0,-1 0 0,0 0 0,0 1 0,0 0 0,0-1 0,-1 1 0,1 0 0,-1 0 0,1 1 0,-1-1 0,0 0 0,0 1 0,-1-1 0,1 1 0,-1 0 0,0 0 0,0-1 0,1 7 0,1 11 0,-1 0 0,0 36 0,-3-48 0,1 0 0,-1-1 0,0 1 0,-1 0 0,0-1 0,-1 0 0,1 1 0,-2-1 0,-5 10 0,7-14 0,-1-1 0,1 0 0,-1 0 0,0 0 0,0 0 0,-1-1 0,1 1 0,0-1 0,-1 0 0,0 0 0,1 0 0,-1 0 0,0-1 0,0 1 0,0-1 0,0 0 0,0 0 0,-7 0 0,-8 0 0,1 0 0,-37-5 0,22 2 0,-501-4 0,330 7 0,176 0 0,1 2 0,0 0 0,1 2 0,-27 7 0,-104 40 0,143-47 0,-125 55 0,105-42 0,0-2 0,-2-2 0,0-1 0,0-2 0,-40 7 0,47-12 0,-42 13 0,45-11 0,-1-1 0,-36 5 0,11-9 0,-58-4 0,-40 2 0,70 12 0,55-7 0,-41 3 0,-221-7 0,152-4 0,116 1 0,1-2 0,0 0 0,0-1 0,0 0 0,-29-13 0,-19-4 0,60 19 0,0 1 0,0-2 0,0 1 0,1 0 0,-1-1 0,1 0 0,-1-1 0,-7-5 0,11 7 0,1 1 0,-1-1 0,1 1 0,0-1 0,-1 0 0,1 1 0,0-1 0,0 0 0,0 0 0,0 0 0,1 0 0,-1 0 0,0 0 0,1 0 0,-1 0 0,1 0 0,0 0 0,0 0 0,0 0 0,0 0 0,0 0 0,0 0 0,0 0 0,1-1 0,-1 1 0,1 0 0,-1 0 0,3-3 0,0-1 0,0 1 0,0 0 0,1 1 0,0-1 0,0 1 0,0-1 0,1 1 0,-1 0 0,1 1 0,9-7 0,4 0 0,35-16 0,-31 18 0,0 2 0,0 0 0,32-3 0,24-7 0,3-7 0,-26 7 0,77-13 0,-118 26 0,-1-1 0,0 1 0,17-9 0,18-5 0,-4 5 0,-15 3 0,0 1 0,59-7 0,246 12 0,-172 5 0,-54 0 0,118-4 0,-144-12 0,-56 9 0,39-4 0,288 6 0,-180 5 0,-94-2-1365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4:41:17.980"/>
    </inkml:context>
    <inkml:brush xml:id="br0">
      <inkml:brushProperty name="width" value="0.35" units="cm"/>
      <inkml:brushProperty name="height" value="0.35" units="cm"/>
      <inkml:brushProperty name="color" value="#FFFFFF"/>
    </inkml:brush>
  </inkml:definitions>
  <inkml:trace contextRef="#ctx0" brushRef="#br0">0 0 24575,'0'5'0,"0"6"0,0 6 0,0 6 0,0 3 0,0 2 0,0 6 0,0 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7F02BB-824E-4294-B860-3F1E15D10949}" type="datetimeFigureOut">
              <a:rPr lang="en-US" smtClean="0"/>
              <a:pPr/>
              <a:t>6/14/2026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FB223B-6278-4620-B026-7B0318907858}" type="slidenum">
              <a:rPr lang="en-US" smtClean="0"/>
              <a:pPr/>
              <a:t>‹#›</a:t>
            </a:fld>
            <a:endParaRPr lang="en-US"/>
          </a:p>
        </p:txBody>
      </p:sp>
    </p:spTree>
    <p:extLst>
      <p:ext uri="{BB962C8B-B14F-4D97-AF65-F5344CB8AC3E}">
        <p14:creationId xmlns:p14="http://schemas.microsoft.com/office/powerpoint/2010/main" val="681793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FB223B-6278-4620-B026-7B0318907858}" type="slidenum">
              <a:rPr lang="en-US" smtClean="0"/>
              <a:pPr/>
              <a:t>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Inversion recovery (IR) is a conventional spin echo (SE) sequence preceded by a 180° inverting pulse.</a:t>
            </a:r>
          </a:p>
          <a:p>
            <a:r>
              <a:rPr lang="en-US" dirty="0"/>
              <a:t>The time between the 180° inverting pulse and the 90°-pulse is called the </a:t>
            </a:r>
            <a:r>
              <a:rPr lang="en-US" b="1" i="1" dirty="0"/>
              <a:t>inversion time (TI)</a:t>
            </a:r>
            <a:r>
              <a:rPr lang="en-US" dirty="0"/>
              <a:t>. The repetition time (</a:t>
            </a:r>
            <a:r>
              <a:rPr lang="en-US" i="1" dirty="0"/>
              <a:t>TR</a:t>
            </a:r>
            <a:r>
              <a:rPr lang="en-US" dirty="0"/>
              <a:t>) and echo time (</a:t>
            </a:r>
            <a:r>
              <a:rPr lang="en-US" i="1" dirty="0"/>
              <a:t>TE</a:t>
            </a:r>
            <a:r>
              <a:rPr lang="en-US" dirty="0"/>
              <a:t>) are defined as they are for spin echo. </a:t>
            </a:r>
          </a:p>
          <a:p>
            <a:endParaRPr lang="en-IN" dirty="0"/>
          </a:p>
        </p:txBody>
      </p:sp>
      <p:sp>
        <p:nvSpPr>
          <p:cNvPr id="4" name="Slide Number Placeholder 3"/>
          <p:cNvSpPr>
            <a:spLocks noGrp="1"/>
          </p:cNvSpPr>
          <p:nvPr>
            <p:ph type="sldNum" sz="quarter" idx="10"/>
          </p:nvPr>
        </p:nvSpPr>
        <p:spPr/>
        <p:txBody>
          <a:bodyPr/>
          <a:lstStyle/>
          <a:p>
            <a:fld id="{EC40D5D7-1AF9-4770-BF9B-4B9771295A6B}" type="slidenum">
              <a:rPr lang="en-IN" smtClean="0"/>
              <a:pPr/>
              <a:t>34</a:t>
            </a:fld>
            <a:endParaRPr lang="en-IN"/>
          </a:p>
        </p:txBody>
      </p:sp>
    </p:spTree>
    <p:extLst>
      <p:ext uri="{BB962C8B-B14F-4D97-AF65-F5344CB8AC3E}">
        <p14:creationId xmlns:p14="http://schemas.microsoft.com/office/powerpoint/2010/main" val="3664337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latin typeface="Plantin"/>
              </a:rPr>
              <a:t>this finding indicates that the stroke is old. In contrast, the affected area of the left parietal lobe (double arrows) appears bright in </a:t>
            </a:r>
            <a:r>
              <a:rPr lang="en-US" b="1" dirty="0">
                <a:latin typeface="Plantin-Bold"/>
              </a:rPr>
              <a:t>b </a:t>
            </a:r>
            <a:r>
              <a:rPr lang="en-US" dirty="0">
                <a:latin typeface="Plantin"/>
              </a:rPr>
              <a:t>and dark in </a:t>
            </a:r>
            <a:r>
              <a:rPr lang="en-US" b="1" dirty="0">
                <a:latin typeface="Plantin-Bold"/>
              </a:rPr>
              <a:t>c</a:t>
            </a:r>
            <a:r>
              <a:rPr lang="en-US" dirty="0">
                <a:latin typeface="Plantin"/>
              </a:rPr>
              <a:t>, evidence of restricted diffusion indicative of the most recent stroke. The area of the second most recent stroke, that in the left frontal lobe (single arrow), appears bright in both </a:t>
            </a:r>
            <a:r>
              <a:rPr lang="en-US" b="1" dirty="0">
                <a:latin typeface="Plantin-Bold"/>
              </a:rPr>
              <a:t>b </a:t>
            </a:r>
            <a:r>
              <a:rPr lang="en-US" dirty="0">
                <a:latin typeface="Plantin"/>
              </a:rPr>
              <a:t>and </a:t>
            </a:r>
            <a:r>
              <a:rPr lang="en-US" b="1" dirty="0">
                <a:latin typeface="Plantin-Bold"/>
              </a:rPr>
              <a:t>c</a:t>
            </a:r>
            <a:r>
              <a:rPr lang="en-US" dirty="0">
                <a:latin typeface="Plantin"/>
              </a:rPr>
              <a:t>; and the area of the oldest stroke, that in the right frontal operculum (single arrow),appears dark in </a:t>
            </a:r>
            <a:r>
              <a:rPr lang="en-US" b="1" dirty="0">
                <a:latin typeface="Plantin-Bold"/>
              </a:rPr>
              <a:t>b </a:t>
            </a:r>
            <a:r>
              <a:rPr lang="en-US" dirty="0">
                <a:latin typeface="Plantin"/>
              </a:rPr>
              <a:t>and bright in </a:t>
            </a:r>
            <a:r>
              <a:rPr lang="en-US" b="1" dirty="0">
                <a:latin typeface="Plantin-Bold"/>
              </a:rPr>
              <a:t>c</a:t>
            </a:r>
            <a:r>
              <a:rPr lang="en-US" dirty="0">
                <a:latin typeface="Plantin"/>
              </a:rPr>
              <a:t>.</a:t>
            </a:r>
            <a:endParaRPr lang="en-US" dirty="0"/>
          </a:p>
        </p:txBody>
      </p:sp>
      <p:sp>
        <p:nvSpPr>
          <p:cNvPr id="4" name="Slide Number Placeholder 3"/>
          <p:cNvSpPr>
            <a:spLocks noGrp="1"/>
          </p:cNvSpPr>
          <p:nvPr>
            <p:ph type="sldNum" sz="quarter" idx="10"/>
          </p:nvPr>
        </p:nvSpPr>
        <p:spPr/>
        <p:txBody>
          <a:bodyPr/>
          <a:lstStyle/>
          <a:p>
            <a:fld id="{59FB223B-6278-4620-B026-7B0318907858}" type="slidenum">
              <a:rPr lang="en-US" smtClean="0"/>
              <a:pPr/>
              <a:t>65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FB223B-6278-4620-B026-7B0318907858}" type="slidenum">
              <a:rPr lang="en-US" smtClean="0"/>
              <a:pPr/>
              <a:t>73</a:t>
            </a:fld>
            <a:endParaRPr lang="en-US"/>
          </a:p>
        </p:txBody>
      </p:sp>
    </p:spTree>
    <p:extLst>
      <p:ext uri="{BB962C8B-B14F-4D97-AF65-F5344CB8AC3E}">
        <p14:creationId xmlns:p14="http://schemas.microsoft.com/office/powerpoint/2010/main" val="3571486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6/14/2026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6/14/2026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26.png"/><Relationship Id="rId4" Type="http://schemas.openxmlformats.org/officeDocument/2006/relationships/image" Target="../media/image23.png"/><Relationship Id="rId9" Type="http://schemas.openxmlformats.org/officeDocument/2006/relationships/customXml" Target="../ink/ink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customXml" Target="../ink/ink8.xml"/><Relationship Id="rId5" Type="http://schemas.openxmlformats.org/officeDocument/2006/relationships/image" Target="../media/image38.png"/><Relationship Id="rId4" Type="http://schemas.openxmlformats.org/officeDocument/2006/relationships/customXml" Target="../ink/ink7.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ustomXml" Target="../ink/ink9.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6.png"/><Relationship Id="rId4" Type="http://schemas.openxmlformats.org/officeDocument/2006/relationships/customXml" Target="../ink/ink10.xml"/></Relationships>
</file>

<file path=ppt/slides/_rels/slide4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customXml" Target="../ink/ink11.xml"/><Relationship Id="rId7" Type="http://schemas.openxmlformats.org/officeDocument/2006/relationships/customXml" Target="../ink/ink13.xml"/><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customXml" Target="../ink/ink12.xml"/><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8" Type="http://schemas.openxmlformats.org/officeDocument/2006/relationships/customXml" Target="../ink/ink16.xml"/><Relationship Id="rId13" Type="http://schemas.openxmlformats.org/officeDocument/2006/relationships/image" Target="../media/image76.png"/><Relationship Id="rId3" Type="http://schemas.openxmlformats.org/officeDocument/2006/relationships/image" Target="../media/image70.png"/><Relationship Id="rId7" Type="http://schemas.openxmlformats.org/officeDocument/2006/relationships/image" Target="../media/image73.png"/><Relationship Id="rId12" Type="http://schemas.openxmlformats.org/officeDocument/2006/relationships/customXml" Target="../ink/ink18.xml"/><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customXml" Target="../ink/ink15.xml"/><Relationship Id="rId11" Type="http://schemas.openxmlformats.org/officeDocument/2006/relationships/image" Target="../media/image75.png"/><Relationship Id="rId5" Type="http://schemas.openxmlformats.org/officeDocument/2006/relationships/image" Target="../media/image720.png"/><Relationship Id="rId15" Type="http://schemas.openxmlformats.org/officeDocument/2006/relationships/image" Target="../media/image72.png"/><Relationship Id="rId10" Type="http://schemas.openxmlformats.org/officeDocument/2006/relationships/customXml" Target="../ink/ink17.xml"/><Relationship Id="rId4" Type="http://schemas.openxmlformats.org/officeDocument/2006/relationships/customXml" Target="../ink/ink14.xml"/><Relationship Id="rId9" Type="http://schemas.openxmlformats.org/officeDocument/2006/relationships/image" Target="../media/image74.png"/><Relationship Id="rId14" Type="http://schemas.openxmlformats.org/officeDocument/2006/relationships/image" Target="../media/image71.jpeg"/></Relationships>
</file>

<file path=ppt/slides/_rels/slide8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customXml" Target="../ink/ink19.xml"/><Relationship Id="rId4" Type="http://schemas.openxmlformats.org/officeDocument/2006/relationships/image" Target="../media/image79.png"/></Relationships>
</file>

<file path=ppt/slides/_rels/slide82.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customXml" Target="../ink/ink20.xml"/><Relationship Id="rId7" Type="http://schemas.openxmlformats.org/officeDocument/2006/relationships/customXml" Target="../ink/ink22.xml"/><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customXml" Target="../ink/ink21.xml"/><Relationship Id="rId4" Type="http://schemas.openxmlformats.org/officeDocument/2006/relationships/image" Target="../media/image8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a:spLocks noGrp="1"/>
          </p:cNvSpPr>
          <p:nvPr>
            <p:ph type="subTitle" idx="1"/>
          </p:nvPr>
        </p:nvSpPr>
        <p:spPr>
          <a:xfrm>
            <a:off x="2438400" y="4473574"/>
            <a:ext cx="6477000" cy="2003426"/>
          </a:xfrm>
        </p:spPr>
        <p:txBody>
          <a:bodyPr>
            <a:normAutofit fontScale="47500" lnSpcReduction="20000"/>
          </a:bodyPr>
          <a:lstStyle/>
          <a:p>
            <a:endParaRPr lang="en-US" dirty="0"/>
          </a:p>
          <a:p>
            <a:pPr lvl="6" algn="l"/>
            <a:r>
              <a:rPr lang="en-US" sz="5000" dirty="0"/>
              <a:t>PRESENTER: Dr Sabah</a:t>
            </a:r>
          </a:p>
          <a:p>
            <a:pPr lvl="6" algn="l"/>
            <a:r>
              <a:rPr lang="en-US" sz="5000" dirty="0"/>
              <a:t>Junior Resident</a:t>
            </a:r>
          </a:p>
          <a:p>
            <a:pPr lvl="6" algn="l"/>
            <a:r>
              <a:rPr lang="en-US" sz="5000" dirty="0"/>
              <a:t>Department of radiodiagnosis</a:t>
            </a:r>
          </a:p>
          <a:p>
            <a:pPr lvl="6" algn="l"/>
            <a:r>
              <a:rPr lang="en-US" sz="5000" dirty="0"/>
              <a:t>GMC &amp; RH Patiala</a:t>
            </a:r>
          </a:p>
        </p:txBody>
      </p:sp>
      <p:sp>
        <p:nvSpPr>
          <p:cNvPr id="2" name="Title 1"/>
          <p:cNvSpPr>
            <a:spLocks noGrp="1"/>
          </p:cNvSpPr>
          <p:nvPr>
            <p:ph type="ctrTitle"/>
          </p:nvPr>
        </p:nvSpPr>
        <p:spPr/>
        <p:txBody>
          <a:bodyPr>
            <a:noAutofit/>
          </a:bodyPr>
          <a:lstStyle/>
          <a:p>
            <a:r>
              <a:rPr lang="en-IN" sz="4000" dirty="0"/>
              <a:t>MRI SEQUENCES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 PULSE SEQUENCE</a:t>
            </a:r>
          </a:p>
        </p:txBody>
      </p:sp>
      <p:sp>
        <p:nvSpPr>
          <p:cNvPr id="5" name="Content Placeholder 4"/>
          <p:cNvSpPr>
            <a:spLocks noGrp="1"/>
          </p:cNvSpPr>
          <p:nvPr>
            <p:ph sz="quarter" idx="1"/>
          </p:nvPr>
        </p:nvSpPr>
        <p:spPr/>
        <p:txBody>
          <a:bodyPr/>
          <a:lstStyle/>
          <a:p>
            <a:r>
              <a:rPr lang="en-IN" dirty="0"/>
              <a:t>Is a sequence of events, which are needed to acquire MRI images. </a:t>
            </a:r>
          </a:p>
          <a:p>
            <a:r>
              <a:rPr lang="en-IN" dirty="0"/>
              <a:t>These events are: RF pulses, gradient switches and signal collecting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PULSE SEQUENCES</a:t>
            </a:r>
          </a:p>
        </p:txBody>
      </p:sp>
      <p:sp>
        <p:nvSpPr>
          <p:cNvPr id="3" name="Content Placeholder 2"/>
          <p:cNvSpPr>
            <a:spLocks noGrp="1"/>
          </p:cNvSpPr>
          <p:nvPr>
            <p:ph sz="quarter" idx="1"/>
          </p:nvPr>
        </p:nvSpPr>
        <p:spPr/>
        <p:txBody>
          <a:bodyPr/>
          <a:lstStyle/>
          <a:p>
            <a:r>
              <a:rPr lang="en-US" dirty="0"/>
              <a:t>SPIN ECHO(SE)</a:t>
            </a:r>
          </a:p>
          <a:p>
            <a:r>
              <a:rPr lang="en-US" dirty="0"/>
              <a:t>GRADIENT ECHO(GE)</a:t>
            </a:r>
          </a:p>
          <a:p>
            <a:r>
              <a:rPr lang="en-US" dirty="0"/>
              <a:t>INVERSION RECOVERY(IR)</a:t>
            </a:r>
          </a:p>
          <a:p>
            <a:r>
              <a:rPr lang="en-US" dirty="0"/>
              <a:t>ECHO PLANAR IMAGING(EPI) – BOLD, DWI, PI</a:t>
            </a:r>
          </a:p>
          <a:p>
            <a:r>
              <a:rPr lang="en-US" dirty="0"/>
              <a:t>MR SPECTROSCOPY</a:t>
            </a:r>
          </a:p>
          <a:p>
            <a:r>
              <a:rPr lang="en-US" dirty="0"/>
              <a:t>MR ANGIOGRAPHY</a:t>
            </a:r>
          </a:p>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450994" y="381000"/>
            <a:ext cx="82296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Arial" pitchFamily="34" charset="0"/>
                <a:ea typeface="SimSun" pitchFamily="2" charset="-122"/>
              </a:defRPr>
            </a:lvl2pPr>
            <a:lvl3pPr algn="l" rtl="0" eaLnBrk="0" fontAlgn="base" hangingPunct="0">
              <a:spcBef>
                <a:spcPct val="0"/>
              </a:spcBef>
              <a:spcAft>
                <a:spcPct val="0"/>
              </a:spcAft>
              <a:defRPr sz="3600">
                <a:solidFill>
                  <a:schemeClr val="tx1"/>
                </a:solidFill>
                <a:latin typeface="Arial" pitchFamily="34" charset="0"/>
                <a:ea typeface="SimSun" pitchFamily="2" charset="-122"/>
              </a:defRPr>
            </a:lvl3pPr>
            <a:lvl4pPr algn="l" rtl="0" eaLnBrk="0" fontAlgn="base" hangingPunct="0">
              <a:spcBef>
                <a:spcPct val="0"/>
              </a:spcBef>
              <a:spcAft>
                <a:spcPct val="0"/>
              </a:spcAft>
              <a:defRPr sz="3600">
                <a:solidFill>
                  <a:schemeClr val="tx1"/>
                </a:solidFill>
                <a:latin typeface="Arial" pitchFamily="34" charset="0"/>
                <a:ea typeface="SimSun" pitchFamily="2" charset="-122"/>
              </a:defRPr>
            </a:lvl4pPr>
            <a:lvl5pPr algn="l" rtl="0" eaLnBrk="0" fontAlgn="base" hangingPunct="0">
              <a:spcBef>
                <a:spcPct val="0"/>
              </a:spcBef>
              <a:spcAft>
                <a:spcPct val="0"/>
              </a:spcAft>
              <a:defRPr sz="3600">
                <a:solidFill>
                  <a:schemeClr val="tx1"/>
                </a:solidFill>
                <a:latin typeface="Arial" pitchFamily="34" charset="0"/>
                <a:ea typeface="SimSun" pitchFamily="2" charset="-122"/>
              </a:defRPr>
            </a:lvl5pPr>
            <a:lvl6pPr marL="457200" algn="l" rtl="0" eaLnBrk="0" fontAlgn="base" hangingPunct="0">
              <a:spcBef>
                <a:spcPct val="0"/>
              </a:spcBef>
              <a:spcAft>
                <a:spcPct val="0"/>
              </a:spcAft>
              <a:defRPr sz="3600">
                <a:solidFill>
                  <a:schemeClr val="tx1"/>
                </a:solidFill>
                <a:latin typeface="Arial" pitchFamily="34" charset="0"/>
                <a:ea typeface="SimSun" pitchFamily="2" charset="-122"/>
              </a:defRPr>
            </a:lvl6pPr>
            <a:lvl7pPr marL="914400" algn="l" rtl="0" eaLnBrk="0" fontAlgn="base" hangingPunct="0">
              <a:spcBef>
                <a:spcPct val="0"/>
              </a:spcBef>
              <a:spcAft>
                <a:spcPct val="0"/>
              </a:spcAft>
              <a:defRPr sz="3600">
                <a:solidFill>
                  <a:schemeClr val="tx1"/>
                </a:solidFill>
                <a:latin typeface="Arial" pitchFamily="34" charset="0"/>
                <a:ea typeface="SimSun" pitchFamily="2" charset="-122"/>
              </a:defRPr>
            </a:lvl7pPr>
            <a:lvl8pPr marL="1371600" algn="l" rtl="0" eaLnBrk="0" fontAlgn="base" hangingPunct="0">
              <a:spcBef>
                <a:spcPct val="0"/>
              </a:spcBef>
              <a:spcAft>
                <a:spcPct val="0"/>
              </a:spcAft>
              <a:defRPr sz="3600">
                <a:solidFill>
                  <a:schemeClr val="tx1"/>
                </a:solidFill>
                <a:latin typeface="Arial" pitchFamily="34" charset="0"/>
                <a:ea typeface="SimSun" pitchFamily="2" charset="-122"/>
              </a:defRPr>
            </a:lvl8pPr>
            <a:lvl9pPr marL="1828800" algn="l" rtl="0" eaLnBrk="0" fontAlgn="base" hangingPunct="0">
              <a:spcBef>
                <a:spcPct val="0"/>
              </a:spcBef>
              <a:spcAft>
                <a:spcPct val="0"/>
              </a:spcAft>
              <a:defRPr sz="3600">
                <a:solidFill>
                  <a:schemeClr val="tx1"/>
                </a:solidFill>
                <a:latin typeface="Arial" pitchFamily="34" charset="0"/>
                <a:ea typeface="SimSun" pitchFamily="2" charset="-122"/>
              </a:defRPr>
            </a:lvl9pPr>
          </a:lstStyle>
          <a:p>
            <a:pPr algn="ctr" eaLnBrk="1" hangingPunct="1"/>
            <a:r>
              <a:rPr lang="en-US" dirty="0">
                <a:latin typeface="Constantia" pitchFamily="18" charset="0"/>
              </a:rPr>
              <a:t>The NMR Phenomenon – B</a:t>
            </a:r>
            <a:r>
              <a:rPr lang="en-US" sz="2400" dirty="0">
                <a:latin typeface="Constantia" pitchFamily="18" charset="0"/>
              </a:rPr>
              <a:t>o</a:t>
            </a:r>
            <a:endParaRPr lang="en-US" dirty="0">
              <a:latin typeface="Constantia" pitchFamily="18" charset="0"/>
            </a:endParaRPr>
          </a:p>
        </p:txBody>
      </p:sp>
      <p:sp>
        <p:nvSpPr>
          <p:cNvPr id="3" name="Rectangle 2"/>
          <p:cNvSpPr>
            <a:spLocks noGrp="1" noChangeArrowheads="1"/>
          </p:cNvSpPr>
          <p:nvPr/>
        </p:nvSpPr>
        <p:spPr bwMode="auto">
          <a:xfrm>
            <a:off x="176357" y="1524000"/>
            <a:ext cx="8778875" cy="578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defRPr/>
            </a:pPr>
            <a:endParaRPr lang="en-US" altLang="en-US" sz="2000" dirty="0">
              <a:solidFill>
                <a:prstClr val="white"/>
              </a:solidFill>
              <a:latin typeface="Goudy Old Style" pitchFamily="18" charset="0"/>
            </a:endParaRPr>
          </a:p>
          <a:p>
            <a:pPr marL="0" indent="0" eaLnBrk="1" hangingPunct="1">
              <a:buFontTx/>
              <a:buNone/>
              <a:defRPr/>
            </a:pPr>
            <a:endParaRPr lang="en-US" altLang="en-US" sz="2000" dirty="0">
              <a:solidFill>
                <a:prstClr val="white"/>
              </a:solidFill>
              <a:latin typeface="Goudy Old Style" pitchFamily="18" charset="0"/>
            </a:endParaRPr>
          </a:p>
        </p:txBody>
      </p:sp>
      <p:pic>
        <p:nvPicPr>
          <p:cNvPr id="11266" name="Picture 2" descr="E:\M.D.RD\AA\Presentations\MR Sequences and Artifacts\Images\Mag Field.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448737" y="1295400"/>
            <a:ext cx="6234113" cy="4362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396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spTree>
    <p:extLst>
      <p:ext uri="{BB962C8B-B14F-4D97-AF65-F5344CB8AC3E}">
        <p14:creationId xmlns:p14="http://schemas.microsoft.com/office/powerpoint/2010/main" val="525213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IN" dirty="0"/>
              <a:t>To localize from where in the body signals are coming three more magnetic fields are superimposed on main magnetic field along X, Y, and Z axes</a:t>
            </a:r>
            <a:endParaRPr lang="en-US" dirty="0"/>
          </a:p>
          <a:p>
            <a:r>
              <a:rPr lang="en-IN" dirty="0"/>
              <a:t>Consists of three sets of coils that produce field with changing strength in X, Y, Z directions. </a:t>
            </a:r>
          </a:p>
          <a:p>
            <a:r>
              <a:rPr lang="en-US" dirty="0"/>
              <a:t>The three gradients are:</a:t>
            </a:r>
          </a:p>
          <a:p>
            <a:pPr>
              <a:buNone/>
            </a:pPr>
            <a:r>
              <a:rPr lang="en-US" dirty="0"/>
              <a:t>1. Z-axis—Slice selection gradient</a:t>
            </a:r>
          </a:p>
          <a:p>
            <a:pPr>
              <a:buNone/>
            </a:pPr>
            <a:r>
              <a:rPr lang="en-US" dirty="0"/>
              <a:t>2. Y-axis—Frequency encoding gradient</a:t>
            </a:r>
          </a:p>
          <a:p>
            <a:pPr>
              <a:buNone/>
            </a:pPr>
            <a:r>
              <a:rPr lang="en-US" dirty="0"/>
              <a:t>3. X-axis—Phase encoding gradient.</a:t>
            </a:r>
            <a:endParaRPr lang="ta-IN" dirty="0"/>
          </a:p>
          <a:p>
            <a:r>
              <a:rPr lang="en-US" dirty="0"/>
              <a:t>These gradients are applied at different stages </a:t>
            </a:r>
          </a:p>
        </p:txBody>
      </p:sp>
      <p:sp>
        <p:nvSpPr>
          <p:cNvPr id="4" name="Rectangle 3"/>
          <p:cNvSpPr/>
          <p:nvPr/>
        </p:nvSpPr>
        <p:spPr>
          <a:xfrm>
            <a:off x="2286000" y="2967335"/>
            <a:ext cx="4572000" cy="369332"/>
          </a:xfrm>
          <a:prstGeom prst="rect">
            <a:avLst/>
          </a:prstGeom>
        </p:spPr>
        <p:txBody>
          <a:bodyPr>
            <a:spAutoFit/>
          </a:body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a-IN"/>
          </a:p>
        </p:txBody>
      </p:sp>
      <p:pic>
        <p:nvPicPr>
          <p:cNvPr id="2050" name="Picture 2"/>
          <p:cNvPicPr>
            <a:picLocks noGrp="1" noChangeAspect="1" noChangeArrowheads="1"/>
          </p:cNvPicPr>
          <p:nvPr>
            <p:ph idx="1"/>
          </p:nvPr>
        </p:nvPicPr>
        <p:blipFill>
          <a:blip r:embed="rId2"/>
          <a:srcRect/>
          <a:stretch>
            <a:fillRect/>
          </a:stretch>
        </p:blipFill>
        <p:spPr bwMode="auto">
          <a:xfrm>
            <a:off x="457200" y="1762007"/>
            <a:ext cx="8229600" cy="4202349"/>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FORMATION :</a:t>
            </a:r>
          </a:p>
        </p:txBody>
      </p:sp>
      <p:sp>
        <p:nvSpPr>
          <p:cNvPr id="5" name="Content Placeholder 4"/>
          <p:cNvSpPr>
            <a:spLocks noGrp="1"/>
          </p:cNvSpPr>
          <p:nvPr>
            <p:ph idx="1"/>
          </p:nvPr>
        </p:nvSpPr>
        <p:spPr>
          <a:xfrm>
            <a:off x="508001" y="1635618"/>
            <a:ext cx="6447501" cy="4405745"/>
          </a:xfrm>
        </p:spPr>
        <p:txBody>
          <a:bodyPr/>
          <a:lstStyle/>
          <a:p>
            <a:pPr marL="0" indent="0">
              <a:buNone/>
            </a:pPr>
            <a:r>
              <a:rPr lang="en-US" dirty="0"/>
              <a:t>Image formation can be divided into the following steps :</a:t>
            </a:r>
          </a:p>
          <a:p>
            <a:pPr>
              <a:buFont typeface="+mj-lt"/>
              <a:buAutoNum type="arabicPeriod"/>
            </a:pPr>
            <a:r>
              <a:rPr lang="en-US" dirty="0"/>
              <a:t>Excitation, </a:t>
            </a:r>
          </a:p>
          <a:p>
            <a:pPr>
              <a:buFont typeface="+mj-lt"/>
              <a:buAutoNum type="arabicPeriod"/>
            </a:pPr>
            <a:r>
              <a:rPr lang="en-US" dirty="0"/>
              <a:t>Relaxation,</a:t>
            </a:r>
          </a:p>
          <a:p>
            <a:pPr>
              <a:buFont typeface="+mj-lt"/>
              <a:buAutoNum type="arabicPeriod"/>
            </a:pPr>
            <a:r>
              <a:rPr lang="en-US" dirty="0"/>
              <a:t> Acquisition, </a:t>
            </a:r>
          </a:p>
          <a:p>
            <a:pPr>
              <a:buFont typeface="+mj-lt"/>
              <a:buAutoNum type="arabicPeriod"/>
            </a:pPr>
            <a:r>
              <a:rPr lang="en-US" dirty="0"/>
              <a:t>Computing and Display. </a:t>
            </a:r>
          </a:p>
        </p:txBody>
      </p:sp>
    </p:spTree>
    <p:extLst>
      <p:ext uri="{BB962C8B-B14F-4D97-AF65-F5344CB8AC3E}">
        <p14:creationId xmlns:p14="http://schemas.microsoft.com/office/powerpoint/2010/main" val="432647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SEQUENCE </a:t>
            </a:r>
          </a:p>
        </p:txBody>
      </p:sp>
      <p:sp>
        <p:nvSpPr>
          <p:cNvPr id="3" name="Content Placeholder 2"/>
          <p:cNvSpPr>
            <a:spLocks noGrp="1"/>
          </p:cNvSpPr>
          <p:nvPr>
            <p:ph sz="quarter" idx="1"/>
          </p:nvPr>
        </p:nvSpPr>
        <p:spPr/>
        <p:txBody>
          <a:bodyPr>
            <a:normAutofit/>
          </a:bodyPr>
          <a:lstStyle/>
          <a:p>
            <a:pPr>
              <a:buNone/>
            </a:pPr>
            <a:r>
              <a:rPr lang="en-IN" dirty="0"/>
              <a:t>1) Switching on the </a:t>
            </a:r>
            <a:r>
              <a:rPr lang="en-IN" dirty="0">
                <a:solidFill>
                  <a:srgbClr val="FF0000"/>
                </a:solidFill>
              </a:rPr>
              <a:t>slice select gradient </a:t>
            </a:r>
            <a:r>
              <a:rPr lang="en-IN" dirty="0"/>
              <a:t>(G</a:t>
            </a:r>
            <a:r>
              <a:rPr lang="en-IN" baseline="30000" dirty="0"/>
              <a:t>SS</a:t>
            </a:r>
            <a:r>
              <a:rPr lang="en-IN" dirty="0"/>
              <a:t>).</a:t>
            </a:r>
          </a:p>
          <a:p>
            <a:pPr>
              <a:buNone/>
            </a:pPr>
            <a:r>
              <a:rPr lang="en-IN" dirty="0"/>
              <a:t>2) Simultaneously a </a:t>
            </a:r>
            <a:r>
              <a:rPr lang="en-IN" dirty="0">
                <a:solidFill>
                  <a:srgbClr val="FF0000"/>
                </a:solidFill>
              </a:rPr>
              <a:t>90º RF-pulse </a:t>
            </a:r>
            <a:r>
              <a:rPr lang="en-IN" dirty="0"/>
              <a:t>was given to ‘flip’ the net-magnetization into the x-y plane. </a:t>
            </a:r>
          </a:p>
          <a:p>
            <a:pPr>
              <a:buNone/>
            </a:pPr>
            <a:r>
              <a:rPr lang="en-IN" dirty="0"/>
              <a:t>3) The </a:t>
            </a:r>
            <a:r>
              <a:rPr lang="en-IN" dirty="0">
                <a:solidFill>
                  <a:srgbClr val="FF0000"/>
                </a:solidFill>
              </a:rPr>
              <a:t>phase encoding gradient </a:t>
            </a:r>
            <a:r>
              <a:rPr lang="en-IN" dirty="0"/>
              <a:t>(</a:t>
            </a:r>
            <a:r>
              <a:rPr lang="en-IN" dirty="0" err="1"/>
              <a:t>g</a:t>
            </a:r>
            <a:r>
              <a:rPr lang="en-IN" baseline="30000" dirty="0" err="1"/>
              <a:t>pe</a:t>
            </a:r>
            <a:r>
              <a:rPr lang="en-IN" dirty="0"/>
              <a:t>) was switched on to do the first phase encoding.</a:t>
            </a:r>
          </a:p>
          <a:p>
            <a:pPr>
              <a:buNone/>
            </a:pPr>
            <a:r>
              <a:rPr lang="en-IN" dirty="0"/>
              <a:t>4) The </a:t>
            </a:r>
            <a:r>
              <a:rPr lang="en-IN" dirty="0">
                <a:solidFill>
                  <a:srgbClr val="FF0000"/>
                </a:solidFill>
              </a:rPr>
              <a:t>frequency encoding </a:t>
            </a:r>
            <a:r>
              <a:rPr lang="en-IN" dirty="0"/>
              <a:t>or read out gradient (</a:t>
            </a:r>
            <a:r>
              <a:rPr lang="en-IN" dirty="0" err="1"/>
              <a:t>g</a:t>
            </a:r>
            <a:r>
              <a:rPr lang="en-IN" baseline="30000" dirty="0" err="1"/>
              <a:t>ro</a:t>
            </a:r>
            <a:r>
              <a:rPr lang="en-IN" dirty="0"/>
              <a:t>) was switched on during which </a:t>
            </a:r>
            <a:r>
              <a:rPr lang="en-IN" dirty="0">
                <a:sym typeface="Wingdings" pitchFamily="2" charset="2"/>
              </a:rPr>
              <a:t></a:t>
            </a:r>
            <a:r>
              <a:rPr lang="en-IN" dirty="0">
                <a:solidFill>
                  <a:srgbClr val="FF0000"/>
                </a:solidFill>
              </a:rPr>
              <a:t>the signal, the free induction decay </a:t>
            </a:r>
            <a:r>
              <a:rPr lang="en-IN" dirty="0"/>
              <a:t>(fid), was sampled. </a:t>
            </a:r>
          </a:p>
          <a:p>
            <a:pPr>
              <a:buNone/>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3400" y="228600"/>
            <a:ext cx="7989752" cy="1083329"/>
          </a:xfrm>
        </p:spPr>
        <p:txBody>
          <a:bodyPr/>
          <a:lstStyle/>
          <a:p>
            <a:r>
              <a:rPr lang="en-IN" i="1" dirty="0"/>
              <a:t>“SEQUENCE DIAGRAM”</a:t>
            </a:r>
            <a:endParaRPr lang="en-US" dirty="0"/>
          </a:p>
        </p:txBody>
      </p:sp>
      <p:pic>
        <p:nvPicPr>
          <p:cNvPr id="4098" name="Picture 2"/>
          <p:cNvPicPr>
            <a:picLocks noChangeAspect="1" noChangeArrowheads="1"/>
          </p:cNvPicPr>
          <p:nvPr/>
        </p:nvPicPr>
        <p:blipFill>
          <a:blip r:embed="rId2" cstate="print"/>
          <a:srcRect l="15625" t="14286" r="47917" b="39286"/>
          <a:stretch>
            <a:fillRect/>
          </a:stretch>
        </p:blipFill>
        <p:spPr bwMode="auto">
          <a:xfrm>
            <a:off x="1905000" y="1307918"/>
            <a:ext cx="4739054" cy="5029200"/>
          </a:xfrm>
          <a:prstGeom prst="rect">
            <a:avLst/>
          </a:prstGeom>
          <a:noFill/>
          <a:ln w="9525">
            <a:noFill/>
            <a:miter lim="800000"/>
            <a:headEnd/>
            <a:tailEnd/>
          </a:ln>
          <a:effectLst/>
        </p:spPr>
      </p:pic>
    </p:spTree>
    <p:extLst>
      <p:ext uri="{BB962C8B-B14F-4D97-AF65-F5344CB8AC3E}">
        <p14:creationId xmlns:p14="http://schemas.microsoft.com/office/powerpoint/2010/main" val="4049001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8229600" cy="5668963"/>
          </a:xfrm>
        </p:spPr>
        <p:txBody>
          <a:bodyPr>
            <a:normAutofit/>
          </a:bodyPr>
          <a:lstStyle/>
          <a:p>
            <a:r>
              <a:rPr lang="en-IN" dirty="0"/>
              <a:t>Very simple and basic sequence.</a:t>
            </a:r>
          </a:p>
          <a:p>
            <a:r>
              <a:rPr lang="en-IN" dirty="0"/>
              <a:t>The signal dies out very quickly.</a:t>
            </a:r>
          </a:p>
          <a:p>
            <a:r>
              <a:rPr lang="en-IN" dirty="0"/>
              <a:t>Entire signal </a:t>
            </a:r>
            <a:r>
              <a:rPr lang="en-IN" dirty="0" err="1"/>
              <a:t>couldnt</a:t>
            </a:r>
            <a:r>
              <a:rPr lang="en-IN" dirty="0"/>
              <a:t> be sampled. </a:t>
            </a:r>
          </a:p>
          <a:p>
            <a:r>
              <a:rPr lang="en-IN" dirty="0"/>
              <a:t>In order to improve the amount of signal they came up  </a:t>
            </a:r>
            <a:r>
              <a:rPr lang="en-IN" dirty="0">
                <a:solidFill>
                  <a:srgbClr val="FF0000"/>
                </a:solidFill>
              </a:rPr>
              <a:t>SPIN ECHO SEQUENCE</a:t>
            </a:r>
            <a:r>
              <a:rPr lang="en-IN"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SPIN ECHO SEQUENCE </a:t>
            </a:r>
            <a:br>
              <a:rPr lang="en-IN" dirty="0"/>
            </a:br>
            <a:endParaRPr lang="en-IN" dirty="0"/>
          </a:p>
        </p:txBody>
      </p:sp>
      <p:sp>
        <p:nvSpPr>
          <p:cNvPr id="3" name="Content Placeholder 2"/>
          <p:cNvSpPr>
            <a:spLocks noGrp="1"/>
          </p:cNvSpPr>
          <p:nvPr>
            <p:ph sz="quarter" idx="1"/>
          </p:nvPr>
        </p:nvSpPr>
        <p:spPr>
          <a:xfrm>
            <a:off x="0" y="762000"/>
            <a:ext cx="9220200" cy="3962400"/>
          </a:xfrm>
        </p:spPr>
        <p:txBody>
          <a:bodyPr>
            <a:normAutofit/>
          </a:bodyPr>
          <a:lstStyle/>
          <a:p>
            <a:r>
              <a:rPr lang="en-IN" sz="1600" dirty="0"/>
              <a:t>It consists of 90º and 180º RF pulses </a:t>
            </a:r>
          </a:p>
          <a:p>
            <a:r>
              <a:rPr lang="en-IN" sz="1600" dirty="0"/>
              <a:t>After the 90º-excitation pulse, the net-magnetization is in the X-Y plane (Transverse plane).</a:t>
            </a:r>
          </a:p>
          <a:p>
            <a:r>
              <a:rPr lang="en-IN" sz="1600" dirty="0"/>
              <a:t> It immediately starts to </a:t>
            </a:r>
            <a:r>
              <a:rPr lang="en-IN" sz="1600" dirty="0" err="1"/>
              <a:t>dephase</a:t>
            </a:r>
            <a:r>
              <a:rPr lang="en-IN" sz="1600" dirty="0"/>
              <a:t> due to T2 relaxation (spin-spin interactions). </a:t>
            </a:r>
          </a:p>
          <a:p>
            <a:r>
              <a:rPr lang="en-IN" sz="1600" dirty="0"/>
              <a:t>It is because of this </a:t>
            </a:r>
            <a:r>
              <a:rPr lang="en-IN" sz="1600" dirty="0" err="1"/>
              <a:t>dephasing</a:t>
            </a:r>
            <a:r>
              <a:rPr lang="en-IN" sz="1600" dirty="0"/>
              <a:t> that the signal drops </a:t>
            </a:r>
          </a:p>
          <a:p>
            <a:r>
              <a:rPr lang="en-IN" sz="1600" dirty="0" err="1"/>
              <a:t>Therefore,a</a:t>
            </a:r>
            <a:r>
              <a:rPr lang="en-IN" sz="1600" dirty="0"/>
              <a:t> short time after the 90º RF-pulse, a rephasing  180</a:t>
            </a:r>
            <a:r>
              <a:rPr lang="en-US" sz="1600" dirty="0"/>
              <a:t>° pulse is sent to bring protons back into phase.</a:t>
            </a:r>
            <a:endParaRPr lang="en-IN" sz="1600" dirty="0"/>
          </a:p>
          <a:p>
            <a:r>
              <a:rPr lang="en-IN" sz="1600" dirty="0"/>
              <a:t>The 180º pulse causes the spins to rephase. When all the spins are rephased the signal is high again-which is sampled.</a:t>
            </a:r>
          </a:p>
          <a:p>
            <a:r>
              <a:rPr lang="en-IN" sz="1600" dirty="0"/>
              <a:t>The time between 90</a:t>
            </a:r>
            <a:r>
              <a:rPr lang="en-US" sz="1600" dirty="0"/>
              <a:t>° pulse and reception of echo (signal) is TE (time to echo).</a:t>
            </a:r>
          </a:p>
          <a:p>
            <a:r>
              <a:rPr lang="en-US" sz="1600" dirty="0"/>
              <a:t>For localization of signal, slice selection gradient is turned on when pulse is sent. Phase encoding gradient is turned on between excitation pulse (90° pulse) and signal measurement. Phase encoding gradient has different strength for each TR. Frequency encoding (read out Gradient) is turned out during signal measurement.</a:t>
            </a:r>
          </a:p>
          <a:p>
            <a:endParaRPr lang="en-US" sz="1600" dirty="0"/>
          </a:p>
          <a:p>
            <a:endParaRPr lang="en-US" sz="1600" dirty="0"/>
          </a:p>
          <a:p>
            <a:endParaRPr lang="en-IN" sz="1600" dirty="0"/>
          </a:p>
          <a:p>
            <a:endParaRPr lang="en-IN" sz="1600" dirty="0"/>
          </a:p>
        </p:txBody>
      </p:sp>
      <p:pic>
        <p:nvPicPr>
          <p:cNvPr id="5" name="Picture 4">
            <a:extLst>
              <a:ext uri="{FF2B5EF4-FFF2-40B4-BE49-F238E27FC236}">
                <a16:creationId xmlns:a16="http://schemas.microsoft.com/office/drawing/2014/main" id="{805276D0-D2DF-3B0D-CFFC-997F3A3EB88D}"/>
              </a:ext>
            </a:extLst>
          </p:cNvPr>
          <p:cNvPicPr>
            <a:picLocks noChangeAspect="1"/>
          </p:cNvPicPr>
          <p:nvPr/>
        </p:nvPicPr>
        <p:blipFill>
          <a:blip r:embed="rId2"/>
          <a:stretch>
            <a:fillRect/>
          </a:stretch>
        </p:blipFill>
        <p:spPr>
          <a:xfrm>
            <a:off x="2324775" y="4152153"/>
            <a:ext cx="4494449" cy="21192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41437"/>
            <a:ext cx="8229600" cy="5516563"/>
          </a:xfrm>
        </p:spPr>
        <p:txBody>
          <a:bodyPr>
            <a:normAutofit/>
          </a:bodyPr>
          <a:lstStyle/>
          <a:p>
            <a:pPr>
              <a:buNone/>
            </a:pPr>
            <a:r>
              <a:rPr lang="en-IN" dirty="0"/>
              <a:t>Advantages: </a:t>
            </a:r>
          </a:p>
          <a:p>
            <a:pPr>
              <a:buNone/>
            </a:pPr>
            <a:r>
              <a:rPr lang="en-IN" dirty="0"/>
              <a:t>• The signal is strong </a:t>
            </a:r>
          </a:p>
          <a:p>
            <a:pPr>
              <a:buNone/>
            </a:pPr>
            <a:r>
              <a:rPr lang="en-IN" dirty="0"/>
              <a:t>• Compensation for local field </a:t>
            </a:r>
            <a:r>
              <a:rPr lang="en-IN" dirty="0" err="1"/>
              <a:t>inhomogeneities</a:t>
            </a:r>
            <a:r>
              <a:rPr lang="en-IN" dirty="0"/>
              <a:t>: less </a:t>
            </a:r>
            <a:r>
              <a:rPr lang="en-IN" dirty="0" err="1"/>
              <a:t>artifacts</a:t>
            </a:r>
            <a:r>
              <a:rPr lang="en-IN" dirty="0"/>
              <a:t>. </a:t>
            </a:r>
          </a:p>
          <a:p>
            <a:endParaRPr lang="en-IN" dirty="0"/>
          </a:p>
          <a:p>
            <a:pPr>
              <a:buNone/>
            </a:pPr>
            <a:r>
              <a:rPr lang="en-IN" dirty="0"/>
              <a:t>Disadvantages: </a:t>
            </a:r>
          </a:p>
          <a:p>
            <a:pPr>
              <a:buNone/>
            </a:pPr>
            <a:r>
              <a:rPr lang="en-IN" dirty="0"/>
              <a:t>• It takes time to do the </a:t>
            </a:r>
            <a:r>
              <a:rPr lang="en-IN" dirty="0" err="1"/>
              <a:t>rephasing</a:t>
            </a:r>
            <a:r>
              <a:rPr lang="en-IN" dirty="0"/>
              <a:t> step- The total scan time is increased. </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DCF3D-597C-2BCA-86CF-E4557CE99638}"/>
              </a:ext>
            </a:extLst>
          </p:cNvPr>
          <p:cNvSpPr>
            <a:spLocks noGrp="1"/>
          </p:cNvSpPr>
          <p:nvPr>
            <p:ph type="title"/>
          </p:nvPr>
        </p:nvSpPr>
        <p:spPr/>
        <p:txBody>
          <a:bodyPr/>
          <a:lstStyle/>
          <a:p>
            <a:r>
              <a:rPr lang="en-US" dirty="0"/>
              <a:t>Modifications of SE sequences</a:t>
            </a:r>
            <a:endParaRPr lang="en-IN" dirty="0"/>
          </a:p>
        </p:txBody>
      </p:sp>
      <p:pic>
        <p:nvPicPr>
          <p:cNvPr id="5" name="Content Placeholder 4">
            <a:extLst>
              <a:ext uri="{FF2B5EF4-FFF2-40B4-BE49-F238E27FC236}">
                <a16:creationId xmlns:a16="http://schemas.microsoft.com/office/drawing/2014/main" id="{E9657AB3-0616-A120-B5C1-6BDAC72AB14B}"/>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14300" y="1440657"/>
            <a:ext cx="8915400" cy="2239962"/>
          </a:xfrm>
          <a:prstGeom prst="rect">
            <a:avLst/>
          </a:prstGeom>
        </p:spPr>
      </p:pic>
    </p:spTree>
    <p:extLst>
      <p:ext uri="{BB962C8B-B14F-4D97-AF65-F5344CB8AC3E}">
        <p14:creationId xmlns:p14="http://schemas.microsoft.com/office/powerpoint/2010/main" val="2702817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D46DB-7CF0-0882-A308-72F25DE0C14B}"/>
              </a:ext>
            </a:extLst>
          </p:cNvPr>
          <p:cNvSpPr>
            <a:spLocks noGrp="1"/>
          </p:cNvSpPr>
          <p:nvPr>
            <p:ph type="title"/>
          </p:nvPr>
        </p:nvSpPr>
        <p:spPr/>
        <p:txBody>
          <a:bodyPr/>
          <a:lstStyle/>
          <a:p>
            <a:r>
              <a:rPr lang="en-US" i="1" u="sng" dirty="0">
                <a:solidFill>
                  <a:schemeClr val="accent1"/>
                </a:solidFill>
              </a:rPr>
              <a:t>1. DUAL SPIN ECHO Sequence</a:t>
            </a:r>
            <a:endParaRPr lang="en-IN" i="1" u="sng" dirty="0">
              <a:solidFill>
                <a:schemeClr val="accent1"/>
              </a:solidFill>
            </a:endParaRPr>
          </a:p>
        </p:txBody>
      </p:sp>
      <p:pic>
        <p:nvPicPr>
          <p:cNvPr id="5" name="Content Placeholder 4">
            <a:extLst>
              <a:ext uri="{FF2B5EF4-FFF2-40B4-BE49-F238E27FC236}">
                <a16:creationId xmlns:a16="http://schemas.microsoft.com/office/drawing/2014/main" id="{169D2F46-7FDA-F8B9-1652-C7A144B1EBCC}"/>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1981200"/>
            <a:ext cx="8380717" cy="35814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61BB6F63-0C2D-C9F1-DE7C-49E872A81116}"/>
                  </a:ext>
                </a:extLst>
              </p14:cNvPr>
              <p14:cNvContentPartPr/>
              <p14:nvPr/>
            </p14:nvContentPartPr>
            <p14:xfrm>
              <a:off x="745427" y="2132375"/>
              <a:ext cx="161280" cy="129600"/>
            </p14:xfrm>
          </p:contentPart>
        </mc:Choice>
        <mc:Fallback xmlns="">
          <p:pic>
            <p:nvPicPr>
              <p:cNvPr id="7" name="Ink 6">
                <a:extLst>
                  <a:ext uri="{FF2B5EF4-FFF2-40B4-BE49-F238E27FC236}">
                    <a16:creationId xmlns:a16="http://schemas.microsoft.com/office/drawing/2014/main" id="{61BB6F63-0C2D-C9F1-DE7C-49E872A81116}"/>
                  </a:ext>
                </a:extLst>
              </p:cNvPr>
              <p:cNvPicPr/>
              <p:nvPr/>
            </p:nvPicPr>
            <p:blipFill>
              <a:blip r:embed="rId4"/>
              <a:stretch>
                <a:fillRect/>
              </a:stretch>
            </p:blipFill>
            <p:spPr>
              <a:xfrm>
                <a:off x="709787" y="2096375"/>
                <a:ext cx="23292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B5B05E12-F8D6-8750-328F-50088E80AEBD}"/>
                  </a:ext>
                </a:extLst>
              </p14:cNvPr>
              <p14:cNvContentPartPr/>
              <p14:nvPr/>
            </p14:nvContentPartPr>
            <p14:xfrm>
              <a:off x="568307" y="2011415"/>
              <a:ext cx="2108160" cy="228960"/>
            </p14:xfrm>
          </p:contentPart>
        </mc:Choice>
        <mc:Fallback xmlns="">
          <p:pic>
            <p:nvPicPr>
              <p:cNvPr id="9" name="Ink 8">
                <a:extLst>
                  <a:ext uri="{FF2B5EF4-FFF2-40B4-BE49-F238E27FC236}">
                    <a16:creationId xmlns:a16="http://schemas.microsoft.com/office/drawing/2014/main" id="{B5B05E12-F8D6-8750-328F-50088E80AEBD}"/>
                  </a:ext>
                </a:extLst>
              </p:cNvPr>
              <p:cNvPicPr/>
              <p:nvPr/>
            </p:nvPicPr>
            <p:blipFill>
              <a:blip r:embed="rId6"/>
              <a:stretch>
                <a:fillRect/>
              </a:stretch>
            </p:blipFill>
            <p:spPr>
              <a:xfrm>
                <a:off x="505667" y="1948415"/>
                <a:ext cx="223380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CA3C7C79-B76D-8BA1-408A-27B0E5F989DE}"/>
                  </a:ext>
                </a:extLst>
              </p14:cNvPr>
              <p14:cNvContentPartPr/>
              <p14:nvPr/>
            </p14:nvContentPartPr>
            <p14:xfrm>
              <a:off x="8337467" y="1677335"/>
              <a:ext cx="2520" cy="7200"/>
            </p14:xfrm>
          </p:contentPart>
        </mc:Choice>
        <mc:Fallback xmlns="">
          <p:pic>
            <p:nvPicPr>
              <p:cNvPr id="10" name="Ink 9">
                <a:extLst>
                  <a:ext uri="{FF2B5EF4-FFF2-40B4-BE49-F238E27FC236}">
                    <a16:creationId xmlns:a16="http://schemas.microsoft.com/office/drawing/2014/main" id="{CA3C7C79-B76D-8BA1-408A-27B0E5F989DE}"/>
                  </a:ext>
                </a:extLst>
              </p:cNvPr>
              <p:cNvPicPr/>
              <p:nvPr/>
            </p:nvPicPr>
            <p:blipFill>
              <a:blip r:embed="rId8"/>
              <a:stretch>
                <a:fillRect/>
              </a:stretch>
            </p:blipFill>
            <p:spPr>
              <a:xfrm>
                <a:off x="8274827" y="1614695"/>
                <a:ext cx="1281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B456F269-78C3-68AB-8D74-3025C782A7D1}"/>
                  </a:ext>
                </a:extLst>
              </p14:cNvPr>
              <p14:cNvContentPartPr/>
              <p14:nvPr/>
            </p14:nvContentPartPr>
            <p14:xfrm>
              <a:off x="5787227" y="5041175"/>
              <a:ext cx="360" cy="360"/>
            </p14:xfrm>
          </p:contentPart>
        </mc:Choice>
        <mc:Fallback xmlns="">
          <p:pic>
            <p:nvPicPr>
              <p:cNvPr id="11" name="Ink 10">
                <a:extLst>
                  <a:ext uri="{FF2B5EF4-FFF2-40B4-BE49-F238E27FC236}">
                    <a16:creationId xmlns:a16="http://schemas.microsoft.com/office/drawing/2014/main" id="{B456F269-78C3-68AB-8D74-3025C782A7D1}"/>
                  </a:ext>
                </a:extLst>
              </p:cNvPr>
              <p:cNvPicPr/>
              <p:nvPr/>
            </p:nvPicPr>
            <p:blipFill>
              <a:blip r:embed="rId10"/>
              <a:stretch>
                <a:fillRect/>
              </a:stretch>
            </p:blipFill>
            <p:spPr>
              <a:xfrm>
                <a:off x="5724227" y="497817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756762BE-AF77-1AA3-E6DD-C747465D2CCA}"/>
                  </a:ext>
                </a:extLst>
              </p14:cNvPr>
              <p14:cNvContentPartPr/>
              <p14:nvPr/>
            </p14:nvContentPartPr>
            <p14:xfrm>
              <a:off x="5774987" y="5089775"/>
              <a:ext cx="1678320" cy="157680"/>
            </p14:xfrm>
          </p:contentPart>
        </mc:Choice>
        <mc:Fallback xmlns="">
          <p:pic>
            <p:nvPicPr>
              <p:cNvPr id="12" name="Ink 11">
                <a:extLst>
                  <a:ext uri="{FF2B5EF4-FFF2-40B4-BE49-F238E27FC236}">
                    <a16:creationId xmlns:a16="http://schemas.microsoft.com/office/drawing/2014/main" id="{756762BE-AF77-1AA3-E6DD-C747465D2CCA}"/>
                  </a:ext>
                </a:extLst>
              </p:cNvPr>
              <p:cNvPicPr/>
              <p:nvPr/>
            </p:nvPicPr>
            <p:blipFill>
              <a:blip r:embed="rId12"/>
              <a:stretch>
                <a:fillRect/>
              </a:stretch>
            </p:blipFill>
            <p:spPr>
              <a:xfrm>
                <a:off x="5711987" y="5026775"/>
                <a:ext cx="1803960" cy="283320"/>
              </a:xfrm>
              <a:prstGeom prst="rect">
                <a:avLst/>
              </a:prstGeom>
            </p:spPr>
          </p:pic>
        </mc:Fallback>
      </mc:AlternateContent>
    </p:spTree>
    <p:extLst>
      <p:ext uri="{BB962C8B-B14F-4D97-AF65-F5344CB8AC3E}">
        <p14:creationId xmlns:p14="http://schemas.microsoft.com/office/powerpoint/2010/main" val="1957179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383C-0A45-266E-2C34-6EF353B8C724}"/>
              </a:ext>
            </a:extLst>
          </p:cNvPr>
          <p:cNvSpPr>
            <a:spLocks noGrp="1"/>
          </p:cNvSpPr>
          <p:nvPr>
            <p:ph type="title"/>
          </p:nvPr>
        </p:nvSpPr>
        <p:spPr/>
        <p:txBody>
          <a:bodyPr>
            <a:normAutofit fontScale="90000"/>
          </a:bodyPr>
          <a:lstStyle/>
          <a:p>
            <a:r>
              <a:rPr lang="en-US" dirty="0">
                <a:solidFill>
                  <a:schemeClr val="accent1"/>
                </a:solidFill>
              </a:rPr>
              <a:t>2. </a:t>
            </a:r>
            <a:r>
              <a:rPr lang="en-US" i="1" u="sng" dirty="0">
                <a:solidFill>
                  <a:schemeClr val="accent1"/>
                </a:solidFill>
              </a:rPr>
              <a:t>FAST (TURBO) SPIN ECHO Sequence</a:t>
            </a:r>
            <a:endParaRPr lang="en-IN" i="1" u="sng" dirty="0">
              <a:solidFill>
                <a:schemeClr val="accent1"/>
              </a:solidFill>
            </a:endParaRPr>
          </a:p>
        </p:txBody>
      </p:sp>
      <p:pic>
        <p:nvPicPr>
          <p:cNvPr id="5" name="Content Placeholder 4">
            <a:extLst>
              <a:ext uri="{FF2B5EF4-FFF2-40B4-BE49-F238E27FC236}">
                <a16:creationId xmlns:a16="http://schemas.microsoft.com/office/drawing/2014/main" id="{62F45984-9A3C-082E-1B7D-476BE63BE948}"/>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31131" y="1905000"/>
            <a:ext cx="8335616" cy="3390900"/>
          </a:xfrm>
          <a:prstGeom prst="rect">
            <a:avLst/>
          </a:prstGeom>
        </p:spPr>
      </p:pic>
    </p:spTree>
    <p:extLst>
      <p:ext uri="{BB962C8B-B14F-4D97-AF65-F5344CB8AC3E}">
        <p14:creationId xmlns:p14="http://schemas.microsoft.com/office/powerpoint/2010/main" val="208008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E5C64-23E8-FD8A-56E7-7B95EEFCC28F}"/>
              </a:ext>
            </a:extLst>
          </p:cNvPr>
          <p:cNvSpPr>
            <a:spLocks noGrp="1"/>
          </p:cNvSpPr>
          <p:nvPr>
            <p:ph type="title"/>
          </p:nvPr>
        </p:nvSpPr>
        <p:spPr>
          <a:xfrm>
            <a:off x="381000" y="228600"/>
            <a:ext cx="8305800" cy="1189038"/>
          </a:xfrm>
        </p:spPr>
        <p:txBody>
          <a:bodyPr>
            <a:normAutofit/>
          </a:bodyPr>
          <a:lstStyle/>
          <a:p>
            <a:r>
              <a:rPr lang="en-US" sz="3200" i="1" u="sng" dirty="0">
                <a:solidFill>
                  <a:schemeClr val="accent1"/>
                </a:solidFill>
              </a:rPr>
              <a:t>3. SINGLE SHOT FAST SPIN ECHO Sequence</a:t>
            </a:r>
            <a:br>
              <a:rPr lang="en-US" sz="3200" i="1" u="sng" dirty="0">
                <a:solidFill>
                  <a:schemeClr val="accent1"/>
                </a:solidFill>
              </a:rPr>
            </a:br>
            <a:endParaRPr lang="en-IN" sz="3200" i="1" u="sng" dirty="0">
              <a:solidFill>
                <a:schemeClr val="accent1"/>
              </a:solidFill>
            </a:endParaRPr>
          </a:p>
        </p:txBody>
      </p:sp>
      <p:pic>
        <p:nvPicPr>
          <p:cNvPr id="5" name="Content Placeholder 4">
            <a:extLst>
              <a:ext uri="{FF2B5EF4-FFF2-40B4-BE49-F238E27FC236}">
                <a16:creationId xmlns:a16="http://schemas.microsoft.com/office/drawing/2014/main" id="{2D91B3E3-4C76-F5DD-D56B-5D87D3E1564B}"/>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7200" y="1432193"/>
            <a:ext cx="7737613" cy="3124200"/>
          </a:xfrm>
          <a:prstGeom prst="rect">
            <a:avLst/>
          </a:prstGeom>
        </p:spPr>
      </p:pic>
    </p:spTree>
    <p:extLst>
      <p:ext uri="{BB962C8B-B14F-4D97-AF65-F5344CB8AC3E}">
        <p14:creationId xmlns:p14="http://schemas.microsoft.com/office/powerpoint/2010/main" val="1260237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47620"/>
            <a:ext cx="7772400" cy="1143000"/>
          </a:xfrm>
        </p:spPr>
        <p:txBody>
          <a:bodyPr/>
          <a:lstStyle/>
          <a:p>
            <a:r>
              <a:rPr lang="en-IN" dirty="0"/>
              <a:t>T1 Contrast </a:t>
            </a:r>
          </a:p>
        </p:txBody>
      </p:sp>
      <p:sp>
        <p:nvSpPr>
          <p:cNvPr id="3" name="Content Placeholder 2"/>
          <p:cNvSpPr>
            <a:spLocks noGrp="1"/>
          </p:cNvSpPr>
          <p:nvPr>
            <p:ph sz="quarter" idx="1"/>
          </p:nvPr>
        </p:nvSpPr>
        <p:spPr>
          <a:xfrm>
            <a:off x="457200" y="679338"/>
            <a:ext cx="7772400" cy="1600200"/>
          </a:xfrm>
        </p:spPr>
        <p:txBody>
          <a:bodyPr>
            <a:normAutofit lnSpcReduction="10000"/>
          </a:bodyPr>
          <a:lstStyle/>
          <a:p>
            <a:r>
              <a:rPr lang="en-IN" dirty="0"/>
              <a:t>T1-weighted images usually have excellent contrast: fluids are very dark (unless they are flowing into the imaging volume), water-based tissues are mid-grey and fat-based tissues are very bright.</a:t>
            </a:r>
          </a:p>
        </p:txBody>
      </p:sp>
      <p:pic>
        <p:nvPicPr>
          <p:cNvPr id="5" name="Picture 4">
            <a:extLst>
              <a:ext uri="{FF2B5EF4-FFF2-40B4-BE49-F238E27FC236}">
                <a16:creationId xmlns:a16="http://schemas.microsoft.com/office/drawing/2014/main" id="{B429F331-F2A4-CD08-C844-6B610D45BC4E}"/>
              </a:ext>
            </a:extLst>
          </p:cNvPr>
          <p:cNvPicPr>
            <a:picLocks noChangeAspect="1"/>
          </p:cNvPicPr>
          <p:nvPr/>
        </p:nvPicPr>
        <p:blipFill>
          <a:blip r:embed="rId2"/>
          <a:stretch>
            <a:fillRect/>
          </a:stretch>
        </p:blipFill>
        <p:spPr>
          <a:xfrm>
            <a:off x="609600" y="2279538"/>
            <a:ext cx="6629400" cy="1562318"/>
          </a:xfrm>
          <a:prstGeom prst="rect">
            <a:avLst/>
          </a:prstGeom>
        </p:spPr>
      </p:pic>
      <p:pic>
        <p:nvPicPr>
          <p:cNvPr id="7" name="Picture 6">
            <a:extLst>
              <a:ext uri="{FF2B5EF4-FFF2-40B4-BE49-F238E27FC236}">
                <a16:creationId xmlns:a16="http://schemas.microsoft.com/office/drawing/2014/main" id="{3AFA5E52-CB13-DAFC-FEAF-127CAE21833A}"/>
              </a:ext>
            </a:extLst>
          </p:cNvPr>
          <p:cNvPicPr>
            <a:picLocks noChangeAspect="1"/>
          </p:cNvPicPr>
          <p:nvPr/>
        </p:nvPicPr>
        <p:blipFill>
          <a:blip r:embed="rId3"/>
          <a:stretch>
            <a:fillRect/>
          </a:stretch>
        </p:blipFill>
        <p:spPr>
          <a:xfrm>
            <a:off x="228600" y="4042810"/>
            <a:ext cx="7086600" cy="279849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6E0E7-9DA4-A272-A986-7E4AFD004251}"/>
              </a:ext>
            </a:extLst>
          </p:cNvPr>
          <p:cNvSpPr>
            <a:spLocks noGrp="1"/>
          </p:cNvSpPr>
          <p:nvPr>
            <p:ph type="title"/>
          </p:nvPr>
        </p:nvSpPr>
        <p:spPr/>
        <p:txBody>
          <a:bodyPr/>
          <a:lstStyle/>
          <a:p>
            <a:r>
              <a:rPr lang="en-US" dirty="0">
                <a:solidFill>
                  <a:schemeClr val="accent1"/>
                </a:solidFill>
              </a:rPr>
              <a:t>PROTON DENSITY </a:t>
            </a:r>
            <a:endParaRPr lang="en-IN" dirty="0">
              <a:solidFill>
                <a:schemeClr val="accent1"/>
              </a:solidFill>
            </a:endParaRPr>
          </a:p>
        </p:txBody>
      </p:sp>
      <p:sp>
        <p:nvSpPr>
          <p:cNvPr id="3" name="Content Placeholder 2">
            <a:extLst>
              <a:ext uri="{FF2B5EF4-FFF2-40B4-BE49-F238E27FC236}">
                <a16:creationId xmlns:a16="http://schemas.microsoft.com/office/drawing/2014/main" id="{EE0FBC14-7246-883E-73B6-4E7EAA77D10B}"/>
              </a:ext>
            </a:extLst>
          </p:cNvPr>
          <p:cNvSpPr>
            <a:spLocks noGrp="1"/>
          </p:cNvSpPr>
          <p:nvPr>
            <p:ph sz="quarter" idx="1"/>
          </p:nvPr>
        </p:nvSpPr>
        <p:spPr/>
        <p:txBody>
          <a:bodyPr/>
          <a:lstStyle/>
          <a:p>
            <a:pPr marL="0" indent="0">
              <a:buNone/>
            </a:pPr>
            <a:r>
              <a:rPr lang="en-US" b="1" dirty="0"/>
              <a:t>Proton Density (PD) with Fat Saturation</a:t>
            </a:r>
            <a:r>
              <a:rPr lang="en-US" dirty="0"/>
              <a:t>: It offers high spatial resolution and excellent contrast for imaging of articular cartilage which appear bright against dark joint fluid and subchondral bone.</a:t>
            </a:r>
          </a:p>
          <a:p>
            <a:pPr marL="0" indent="0">
              <a:buNone/>
            </a:pPr>
            <a:r>
              <a:rPr lang="en-IN" dirty="0"/>
              <a:t>2D fast spin echo (FSE) fat-suppressed intermediate-weighted (IW) sequences are considered the cornerstone for clinical morphological assessment of articular cartilage, offering the best balance of sensitivity and specificity for detecting defects, synovitis, and bone marrow changes.</a:t>
            </a:r>
          </a:p>
        </p:txBody>
      </p:sp>
    </p:spTree>
    <p:extLst>
      <p:ext uri="{BB962C8B-B14F-4D97-AF65-F5344CB8AC3E}">
        <p14:creationId xmlns:p14="http://schemas.microsoft.com/office/powerpoint/2010/main" val="491528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2268A-80B4-0265-C2BD-AAFCA7D072A2}"/>
              </a:ext>
            </a:extLst>
          </p:cNvPr>
          <p:cNvSpPr>
            <a:spLocks noGrp="1"/>
          </p:cNvSpPr>
          <p:nvPr>
            <p:ph type="title"/>
          </p:nvPr>
        </p:nvSpPr>
        <p:spPr>
          <a:xfrm>
            <a:off x="228600" y="274638"/>
            <a:ext cx="5181600" cy="1173162"/>
          </a:xfrm>
        </p:spPr>
        <p:txBody>
          <a:bodyPr>
            <a:normAutofit fontScale="90000"/>
          </a:bodyPr>
          <a:lstStyle/>
          <a:p>
            <a:r>
              <a:rPr lang="en-US" dirty="0"/>
              <a:t>Other sequences used for imaging cartilages-</a:t>
            </a:r>
            <a:endParaRPr lang="en-IN" dirty="0"/>
          </a:p>
        </p:txBody>
      </p:sp>
      <p:sp>
        <p:nvSpPr>
          <p:cNvPr id="3" name="Content Placeholder 2">
            <a:extLst>
              <a:ext uri="{FF2B5EF4-FFF2-40B4-BE49-F238E27FC236}">
                <a16:creationId xmlns:a16="http://schemas.microsoft.com/office/drawing/2014/main" id="{B842F40A-7C03-412F-1DB9-EC40B98BA6DE}"/>
              </a:ext>
            </a:extLst>
          </p:cNvPr>
          <p:cNvSpPr>
            <a:spLocks noGrp="1"/>
          </p:cNvSpPr>
          <p:nvPr>
            <p:ph sz="quarter" idx="1"/>
          </p:nvPr>
        </p:nvSpPr>
        <p:spPr>
          <a:xfrm>
            <a:off x="142373" y="1905000"/>
            <a:ext cx="8859254" cy="3810000"/>
          </a:xfrm>
        </p:spPr>
        <p:txBody>
          <a:bodyPr>
            <a:normAutofit/>
          </a:bodyPr>
          <a:lstStyle/>
          <a:p>
            <a:r>
              <a:rPr lang="en-IN" b="1" dirty="0"/>
              <a:t>3D Spoiled Gradient Echo (SPGR/FLASH):</a:t>
            </a:r>
            <a:r>
              <a:rPr lang="en-IN" dirty="0"/>
              <a:t> Provides high spatial resolution and isotropic voxels for multiplanar reformatting, though it may have lower contrast between cartilage and fluid.</a:t>
            </a:r>
          </a:p>
          <a:p>
            <a:r>
              <a:rPr lang="en-IN" b="1" dirty="0"/>
              <a:t>Dual Echo in the Steady State (DESS):</a:t>
            </a:r>
            <a:r>
              <a:rPr lang="en-IN" dirty="0"/>
              <a:t> A 3D coherent gradient echo sequence with high contrast between cartilage and synovial fluid, commonly used in large studies like the Osteoarthritis Initiative.</a:t>
            </a:r>
          </a:p>
          <a:p>
            <a:r>
              <a:rPr lang="en-IN" b="1" dirty="0"/>
              <a:t>3D Balanced Steady-State Free Precession (SSFP):</a:t>
            </a:r>
            <a:r>
              <a:rPr lang="en-IN" dirty="0"/>
              <a:t> Offers high signal-to-noise ratio and good cartilage-fluid contrast but is vulnerable to off-resonance artifacts.</a:t>
            </a:r>
          </a:p>
          <a:p>
            <a:endParaRPr lang="en-IN" dirty="0"/>
          </a:p>
        </p:txBody>
      </p:sp>
    </p:spTree>
    <p:extLst>
      <p:ext uri="{BB962C8B-B14F-4D97-AF65-F5344CB8AC3E}">
        <p14:creationId xmlns:p14="http://schemas.microsoft.com/office/powerpoint/2010/main" val="1245031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F7D11-89A5-E877-60F7-B255AD028274}"/>
              </a:ext>
            </a:extLst>
          </p:cNvPr>
          <p:cNvSpPr>
            <a:spLocks noGrp="1"/>
          </p:cNvSpPr>
          <p:nvPr>
            <p:ph type="title"/>
          </p:nvPr>
        </p:nvSpPr>
        <p:spPr/>
        <p:txBody>
          <a:bodyPr>
            <a:normAutofit fontScale="90000"/>
          </a:bodyPr>
          <a:lstStyle/>
          <a:p>
            <a:r>
              <a:rPr lang="en-IN" b="1" dirty="0"/>
              <a:t>Advanced compositional sequences</a:t>
            </a:r>
            <a:endParaRPr lang="en-IN" dirty="0"/>
          </a:p>
        </p:txBody>
      </p:sp>
      <p:sp>
        <p:nvSpPr>
          <p:cNvPr id="3" name="Content Placeholder 2">
            <a:extLst>
              <a:ext uri="{FF2B5EF4-FFF2-40B4-BE49-F238E27FC236}">
                <a16:creationId xmlns:a16="http://schemas.microsoft.com/office/drawing/2014/main" id="{A48AA870-AED9-AEDB-2BCF-4D8A68277E23}"/>
              </a:ext>
            </a:extLst>
          </p:cNvPr>
          <p:cNvSpPr>
            <a:spLocks noGrp="1"/>
          </p:cNvSpPr>
          <p:nvPr>
            <p:ph sz="quarter" idx="1"/>
          </p:nvPr>
        </p:nvSpPr>
        <p:spPr/>
        <p:txBody>
          <a:bodyPr/>
          <a:lstStyle/>
          <a:p>
            <a:r>
              <a:rPr lang="en-US" b="1" dirty="0"/>
              <a:t>T2 mapping </a:t>
            </a:r>
            <a:r>
              <a:rPr lang="en-US" dirty="0"/>
              <a:t>: Assesses collagen orientation and organization.</a:t>
            </a:r>
          </a:p>
          <a:p>
            <a:r>
              <a:rPr lang="en-US" b="1" dirty="0"/>
              <a:t>T1 rho </a:t>
            </a:r>
            <a:r>
              <a:rPr lang="en-US" dirty="0"/>
              <a:t>and </a:t>
            </a:r>
            <a:r>
              <a:rPr lang="en-US" b="1" dirty="0"/>
              <a:t>Sodium imaging</a:t>
            </a:r>
            <a:r>
              <a:rPr lang="en-US" dirty="0"/>
              <a:t>: </a:t>
            </a:r>
            <a:r>
              <a:rPr lang="en-US" dirty="0" err="1"/>
              <a:t>Evaluares</a:t>
            </a:r>
            <a:r>
              <a:rPr lang="en-US" dirty="0"/>
              <a:t> </a:t>
            </a:r>
            <a:r>
              <a:rPr lang="en-US" dirty="0" err="1"/>
              <a:t>gyycosaminoglycan</a:t>
            </a:r>
            <a:r>
              <a:rPr lang="en-US" dirty="0"/>
              <a:t> (GAG) content.</a:t>
            </a:r>
          </a:p>
          <a:p>
            <a:r>
              <a:rPr lang="en-US" b="1" dirty="0" err="1"/>
              <a:t>dGEMRIC</a:t>
            </a:r>
            <a:r>
              <a:rPr lang="en-US" dirty="0"/>
              <a:t> (</a:t>
            </a:r>
            <a:r>
              <a:rPr lang="en-IN" dirty="0"/>
              <a:t>delayed gadolinium-enhanced MRI of cartilage)</a:t>
            </a:r>
            <a:r>
              <a:rPr lang="en-IN" b="1" dirty="0"/>
              <a:t>:</a:t>
            </a:r>
            <a:r>
              <a:rPr lang="en-IN" dirty="0"/>
              <a:t> Measures GAG content by assessing the distribution of contrast agents.</a:t>
            </a:r>
          </a:p>
        </p:txBody>
      </p:sp>
    </p:spTree>
    <p:extLst>
      <p:ext uri="{BB962C8B-B14F-4D97-AF65-F5344CB8AC3E}">
        <p14:creationId xmlns:p14="http://schemas.microsoft.com/office/powerpoint/2010/main" val="3588625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2FBA9-BBA0-2688-155A-B021AAF40A56}"/>
              </a:ext>
            </a:extLst>
          </p:cNvPr>
          <p:cNvSpPr>
            <a:spLocks noGrp="1"/>
          </p:cNvSpPr>
          <p:nvPr>
            <p:ph type="title"/>
          </p:nvPr>
        </p:nvSpPr>
        <p:spPr/>
        <p:txBody>
          <a:bodyPr/>
          <a:lstStyle/>
          <a:p>
            <a:r>
              <a:rPr lang="en-US" dirty="0">
                <a:solidFill>
                  <a:schemeClr val="accent1"/>
                </a:solidFill>
              </a:rPr>
              <a:t>SS FSE/HASTE </a:t>
            </a:r>
            <a:endParaRPr lang="en-IN" dirty="0">
              <a:solidFill>
                <a:schemeClr val="accent1"/>
              </a:solidFill>
            </a:endParaRPr>
          </a:p>
        </p:txBody>
      </p:sp>
      <p:sp>
        <p:nvSpPr>
          <p:cNvPr id="3" name="Content Placeholder 2">
            <a:extLst>
              <a:ext uri="{FF2B5EF4-FFF2-40B4-BE49-F238E27FC236}">
                <a16:creationId xmlns:a16="http://schemas.microsoft.com/office/drawing/2014/main" id="{A17DBBCD-FFCC-3A5E-EA31-2F0F062973DB}"/>
              </a:ext>
            </a:extLst>
          </p:cNvPr>
          <p:cNvSpPr>
            <a:spLocks noGrp="1"/>
          </p:cNvSpPr>
          <p:nvPr>
            <p:ph sz="quarter" idx="1"/>
          </p:nvPr>
        </p:nvSpPr>
        <p:spPr/>
        <p:txBody>
          <a:bodyPr>
            <a:normAutofit/>
          </a:bodyPr>
          <a:lstStyle/>
          <a:p>
            <a:pPr marL="0" indent="0">
              <a:buNone/>
            </a:pPr>
            <a:r>
              <a:rPr lang="en-US" sz="1800" dirty="0"/>
              <a:t>The HASTE sequence allows acquisitions of 2D slices in less than a second. Because of its long echo train (all the echoes take place in a single TR), HASTE images will be </a:t>
            </a:r>
            <a:r>
              <a:rPr lang="en-US" sz="1800" b="1" dirty="0"/>
              <a:t>T2-weighted.</a:t>
            </a:r>
          </a:p>
          <a:p>
            <a:pPr marL="0" indent="0">
              <a:buNone/>
            </a:pPr>
            <a:r>
              <a:rPr lang="en-US" sz="1800" b="1" dirty="0"/>
              <a:t>USES:</a:t>
            </a:r>
          </a:p>
          <a:p>
            <a:r>
              <a:rPr lang="en-US" sz="1800" b="1" dirty="0"/>
              <a:t>The HASTE sequence provides strong T2 weighting and is used in MR cholangiopancreatography and MR urography to demonstrate stones and other filling defects as areas of low signal intensity within bright fluid-filled structures . </a:t>
            </a:r>
          </a:p>
          <a:p>
            <a:r>
              <a:rPr lang="en-US" sz="1800" b="1" dirty="0"/>
              <a:t>High speed makes the HASTE sequence a suitable choice for uncooperative patients, Bowel, Cardiac MRI and Fetal imaging.</a:t>
            </a:r>
          </a:p>
          <a:p>
            <a:pPr marL="0" indent="0">
              <a:buNone/>
            </a:pPr>
            <a:r>
              <a:rPr lang="en-US" sz="1800" b="1" dirty="0"/>
              <a:t>LIMITATIONS:</a:t>
            </a:r>
          </a:p>
          <a:p>
            <a:r>
              <a:rPr lang="en-US" sz="1800" b="1" dirty="0"/>
              <a:t>Less signal to noise ratio and resolution, (</a:t>
            </a:r>
            <a:r>
              <a:rPr lang="en-US" sz="1800" b="1" dirty="0" err="1"/>
              <a:t>E.g</a:t>
            </a:r>
            <a:r>
              <a:rPr lang="en-US" sz="1800" b="1" dirty="0"/>
              <a:t> CMD is not well </a:t>
            </a:r>
            <a:r>
              <a:rPr lang="en-US" sz="1800" b="1" dirty="0" err="1"/>
              <a:t>appretiated</a:t>
            </a:r>
            <a:r>
              <a:rPr lang="en-US" sz="1800" b="1" dirty="0"/>
              <a:t>)</a:t>
            </a:r>
          </a:p>
          <a:p>
            <a:endParaRPr lang="en-US" sz="1800" b="1" dirty="0"/>
          </a:p>
        </p:txBody>
      </p:sp>
    </p:spTree>
    <p:extLst>
      <p:ext uri="{BB962C8B-B14F-4D97-AF65-F5344CB8AC3E}">
        <p14:creationId xmlns:p14="http://schemas.microsoft.com/office/powerpoint/2010/main" val="4054746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950A4-D3CC-2DE3-81DE-B214DBA58919}"/>
              </a:ext>
            </a:extLst>
          </p:cNvPr>
          <p:cNvSpPr>
            <a:spLocks noGrp="1"/>
          </p:cNvSpPr>
          <p:nvPr>
            <p:ph type="title"/>
          </p:nvPr>
        </p:nvSpPr>
        <p:spPr>
          <a:xfrm>
            <a:off x="926432" y="152400"/>
            <a:ext cx="7772400" cy="1143000"/>
          </a:xfrm>
        </p:spPr>
        <p:txBody>
          <a:bodyPr/>
          <a:lstStyle/>
          <a:p>
            <a:r>
              <a:rPr lang="en-US" dirty="0">
                <a:solidFill>
                  <a:schemeClr val="accent1"/>
                </a:solidFill>
              </a:rPr>
              <a:t>PROPELLER/ BLADE </a:t>
            </a:r>
            <a:endParaRPr lang="en-IN" dirty="0">
              <a:solidFill>
                <a:schemeClr val="accent1"/>
              </a:solidFill>
            </a:endParaRPr>
          </a:p>
        </p:txBody>
      </p:sp>
      <p:sp>
        <p:nvSpPr>
          <p:cNvPr id="3" name="Content Placeholder 2">
            <a:extLst>
              <a:ext uri="{FF2B5EF4-FFF2-40B4-BE49-F238E27FC236}">
                <a16:creationId xmlns:a16="http://schemas.microsoft.com/office/drawing/2014/main" id="{A8818302-9233-D4EB-797B-5C229D6E472E}"/>
              </a:ext>
            </a:extLst>
          </p:cNvPr>
          <p:cNvSpPr>
            <a:spLocks noGrp="1"/>
          </p:cNvSpPr>
          <p:nvPr>
            <p:ph sz="quarter" idx="1"/>
          </p:nvPr>
        </p:nvSpPr>
        <p:spPr>
          <a:xfrm>
            <a:off x="304800" y="1600200"/>
            <a:ext cx="8610600" cy="4800599"/>
          </a:xfrm>
        </p:spPr>
        <p:txBody>
          <a:bodyPr>
            <a:normAutofit fontScale="92500" lnSpcReduction="10000"/>
          </a:bodyPr>
          <a:lstStyle/>
          <a:p>
            <a:r>
              <a:rPr lang="en-IN" dirty="0"/>
              <a:t>MRI sequence that uses a radial k-space sampling technique designed to reduce motion artifacts and improve image quality. Instead of acquiring data line-by-line, BLADE collects it in rotating rectangular strips—or “blades”—that overlap at the </a:t>
            </a:r>
            <a:r>
              <a:rPr lang="en-IN" dirty="0" err="1"/>
              <a:t>center</a:t>
            </a:r>
            <a:r>
              <a:rPr lang="en-IN" dirty="0"/>
              <a:t> of k-space, which is sampled repeatedly to enhance signal averaging and artifact suppression. This method is commonly applied to </a:t>
            </a:r>
            <a:r>
              <a:rPr lang="en-IN" b="1" dirty="0"/>
              <a:t>turbo spin echo (TSE) </a:t>
            </a:r>
            <a:r>
              <a:rPr lang="en-IN" dirty="0"/>
              <a:t>sequences, including T2-weighted, T1-weighted, and FLAIR imaging.</a:t>
            </a:r>
          </a:p>
          <a:p>
            <a:pPr marL="0" indent="0">
              <a:buNone/>
            </a:pPr>
            <a:endParaRPr lang="en-IN" b="1" dirty="0"/>
          </a:p>
          <a:p>
            <a:pPr marL="0" indent="0">
              <a:buNone/>
            </a:pPr>
            <a:r>
              <a:rPr lang="en-IN" b="1" dirty="0"/>
              <a:t>USES:</a:t>
            </a:r>
          </a:p>
          <a:p>
            <a:r>
              <a:rPr lang="en-IN" dirty="0"/>
              <a:t>Minimize motion-related artifacts from patient movement, respiration, or swallowing, making it highly valuable in applications such as brain, spine, head and neck, and </a:t>
            </a:r>
            <a:r>
              <a:rPr lang="en-IN" dirty="0" err="1"/>
              <a:t>pediatric</a:t>
            </a:r>
            <a:r>
              <a:rPr lang="en-IN" dirty="0"/>
              <a:t> imaging.</a:t>
            </a:r>
          </a:p>
          <a:p>
            <a:r>
              <a:rPr lang="en-IN" dirty="0"/>
              <a:t>Particularly useful in patients who have difficulty remaining still.</a:t>
            </a:r>
          </a:p>
        </p:txBody>
      </p:sp>
    </p:spTree>
    <p:extLst>
      <p:ext uri="{BB962C8B-B14F-4D97-AF65-F5344CB8AC3E}">
        <p14:creationId xmlns:p14="http://schemas.microsoft.com/office/powerpoint/2010/main" val="1435787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Gradient Echo Sequence</a:t>
            </a:r>
          </a:p>
        </p:txBody>
      </p:sp>
      <p:sp>
        <p:nvSpPr>
          <p:cNvPr id="3" name="Content Placeholder 2"/>
          <p:cNvSpPr>
            <a:spLocks noGrp="1"/>
          </p:cNvSpPr>
          <p:nvPr>
            <p:ph sz="quarter" idx="1"/>
          </p:nvPr>
        </p:nvSpPr>
        <p:spPr>
          <a:xfrm>
            <a:off x="228600" y="1417638"/>
            <a:ext cx="8686800" cy="5821362"/>
          </a:xfrm>
        </p:spPr>
        <p:txBody>
          <a:bodyPr>
            <a:normAutofit/>
          </a:bodyPr>
          <a:lstStyle/>
          <a:p>
            <a:r>
              <a:rPr lang="en-IN" sz="2000" dirty="0"/>
              <a:t>They differ from the Spin Echo sequence in the way the echo is formed. </a:t>
            </a:r>
          </a:p>
          <a:p>
            <a:r>
              <a:rPr lang="en-IN" sz="2000" b="1" dirty="0"/>
              <a:t>Basic differences between SE and GRE sequences-</a:t>
            </a:r>
          </a:p>
          <a:p>
            <a:pPr marL="0" indent="0">
              <a:buNone/>
            </a:pPr>
            <a:r>
              <a:rPr lang="en-IN" sz="2000" dirty="0"/>
              <a:t>1. There is no 180 degree pulse in GRE. Rephasing is done by gradients; particularly </a:t>
            </a:r>
            <a:r>
              <a:rPr lang="en-IN" sz="2000" i="1" dirty="0"/>
              <a:t>by </a:t>
            </a:r>
            <a:r>
              <a:rPr lang="en-IN" sz="2000" b="1" i="1" dirty="0"/>
              <a:t>reversal of the frequency encoding gradient</a:t>
            </a:r>
            <a:r>
              <a:rPr lang="en-IN" sz="2000" dirty="0"/>
              <a:t>. Since rephasing by gradient gives signal, this sequence is called as Gradient echo sequence.</a:t>
            </a:r>
          </a:p>
          <a:p>
            <a:pPr marL="0" indent="0">
              <a:buNone/>
            </a:pPr>
            <a:r>
              <a:rPr lang="en-IN" sz="2000" dirty="0"/>
              <a:t>2. Th flip angle in GRE is smaller than 90</a:t>
            </a:r>
            <a:r>
              <a:rPr lang="en-US" sz="2000" dirty="0"/>
              <a:t>°. Since flip angle is smaller there will be early recovery of longitudinal magnetization (LM) such that TR can be reduced, and hence the scanning time.</a:t>
            </a:r>
          </a:p>
          <a:p>
            <a:pPr marL="0" indent="0">
              <a:buNone/>
            </a:pPr>
            <a:r>
              <a:rPr lang="en-IN" sz="2000" dirty="0"/>
              <a:t>3. Transverse relaxation can be caused by-</a:t>
            </a:r>
          </a:p>
          <a:p>
            <a:r>
              <a:rPr lang="en-IN" sz="1800" dirty="0"/>
              <a:t>Irreversible dephasing of TM resulting from nuclear, molecular and macromolecular magnetic interactions with protons.</a:t>
            </a:r>
          </a:p>
          <a:p>
            <a:r>
              <a:rPr lang="en-IN" sz="1800" dirty="0"/>
              <a:t>Dephasing caused by magnetic field </a:t>
            </a:r>
            <a:r>
              <a:rPr lang="en-IN" sz="1800" dirty="0" err="1"/>
              <a:t>inhomogeneties</a:t>
            </a:r>
            <a:r>
              <a:rPr lang="en-IN" sz="1800" dirty="0"/>
              <a:t> which translates into the presence of artifacts in the image.</a:t>
            </a:r>
          </a:p>
          <a:p>
            <a:r>
              <a:rPr lang="en-IN" sz="1800" dirty="0"/>
              <a:t>Because gradients do not refocus field inhomogeneities, GRE sequences with long TEs are T2* weighted (because of magnetic susceptibility) rather than T2 weighted like SE sequences</a:t>
            </a:r>
          </a:p>
          <a:p>
            <a:pPr marL="0" indent="0">
              <a:buNone/>
            </a:pPr>
            <a:r>
              <a:rPr lang="en-IN" sz="1800" dirty="0"/>
              <a:t>    </a:t>
            </a:r>
          </a:p>
          <a:p>
            <a:endParaRPr lang="en-IN"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6683" y="533400"/>
            <a:ext cx="6172200" cy="1143000"/>
          </a:xfrm>
        </p:spPr>
        <p:txBody>
          <a:bodyPr>
            <a:normAutofit fontScale="90000"/>
          </a:bodyPr>
          <a:lstStyle/>
          <a:p>
            <a:br>
              <a:rPr lang="en-US" dirty="0"/>
            </a:br>
            <a:endParaRPr lang="en-US" dirty="0"/>
          </a:p>
        </p:txBody>
      </p:sp>
      <p:pic>
        <p:nvPicPr>
          <p:cNvPr id="4" name="Picture 3">
            <a:extLst>
              <a:ext uri="{FF2B5EF4-FFF2-40B4-BE49-F238E27FC236}">
                <a16:creationId xmlns:a16="http://schemas.microsoft.com/office/drawing/2014/main" id="{0CF8AAB8-D9CE-7C6A-6652-9B2DB64628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257156"/>
            <a:ext cx="7159040" cy="4343687"/>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C921289A-E9EC-CEC9-F599-80CCE49B7EE1}"/>
                  </a:ext>
                </a:extLst>
              </p14:cNvPr>
              <p14:cNvContentPartPr/>
              <p14:nvPr/>
            </p14:nvContentPartPr>
            <p14:xfrm>
              <a:off x="886907" y="4679735"/>
              <a:ext cx="882360" cy="181440"/>
            </p14:xfrm>
          </p:contentPart>
        </mc:Choice>
        <mc:Fallback xmlns="">
          <p:pic>
            <p:nvPicPr>
              <p:cNvPr id="6" name="Ink 5">
                <a:extLst>
                  <a:ext uri="{FF2B5EF4-FFF2-40B4-BE49-F238E27FC236}">
                    <a16:creationId xmlns:a16="http://schemas.microsoft.com/office/drawing/2014/main" id="{C921289A-E9EC-CEC9-F599-80CCE49B7EE1}"/>
                  </a:ext>
                </a:extLst>
              </p:cNvPr>
              <p:cNvPicPr/>
              <p:nvPr/>
            </p:nvPicPr>
            <p:blipFill>
              <a:blip r:embed="rId4"/>
              <a:stretch>
                <a:fillRect/>
              </a:stretch>
            </p:blipFill>
            <p:spPr>
              <a:xfrm>
                <a:off x="823907" y="4616735"/>
                <a:ext cx="1008000" cy="307080"/>
              </a:xfrm>
              <a:prstGeom prst="rect">
                <a:avLst/>
              </a:prstGeom>
            </p:spPr>
          </p:pic>
        </mc:Fallback>
      </mc:AlternateContent>
    </p:spTree>
    <p:extLst>
      <p:ext uri="{BB962C8B-B14F-4D97-AF65-F5344CB8AC3E}">
        <p14:creationId xmlns:p14="http://schemas.microsoft.com/office/powerpoint/2010/main" val="481471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IMAGE CONTRAST</a:t>
            </a:r>
          </a:p>
        </p:txBody>
      </p:sp>
      <p:sp>
        <p:nvSpPr>
          <p:cNvPr id="5" name="Content Placeholder 4"/>
          <p:cNvSpPr>
            <a:spLocks noGrp="1"/>
          </p:cNvSpPr>
          <p:nvPr>
            <p:ph sz="quarter" idx="1"/>
          </p:nvPr>
        </p:nvSpPr>
        <p:spPr/>
        <p:txBody>
          <a:bodyPr/>
          <a:lstStyle/>
          <a:p>
            <a:r>
              <a:rPr lang="en-IN" dirty="0"/>
              <a:t>The image contrast of GE sequences is determined mainly by FA (Flip angle) and TE . </a:t>
            </a:r>
          </a:p>
          <a:p>
            <a:r>
              <a:rPr lang="en-IN" dirty="0"/>
              <a:t>A high FA and short TE gives T1 weighted contrast. </a:t>
            </a:r>
          </a:p>
          <a:p>
            <a:r>
              <a:rPr lang="en-IN" dirty="0"/>
              <a:t>A medium FA and short TE gives pd contrast. </a:t>
            </a:r>
          </a:p>
          <a:p>
            <a:r>
              <a:rPr lang="en-IN" dirty="0"/>
              <a:t>A low FA and long TE gives T2 weighted contrast.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lstStyle/>
          <a:p>
            <a:r>
              <a:rPr lang="en-US" dirty="0"/>
              <a:t>GE</a:t>
            </a:r>
          </a:p>
        </p:txBody>
      </p:sp>
      <p:pic>
        <p:nvPicPr>
          <p:cNvPr id="16386" name="Picture 2"/>
          <p:cNvPicPr>
            <a:picLocks noChangeAspect="1" noChangeArrowheads="1"/>
          </p:cNvPicPr>
          <p:nvPr/>
        </p:nvPicPr>
        <p:blipFill>
          <a:blip r:embed="rId2" cstate="print"/>
          <a:srcRect l="17113" t="35714" r="61310" b="32143"/>
          <a:stretch>
            <a:fillRect/>
          </a:stretch>
        </p:blipFill>
        <p:spPr bwMode="auto">
          <a:xfrm>
            <a:off x="1828800" y="990600"/>
            <a:ext cx="4457700" cy="5533697"/>
          </a:xfrm>
          <a:prstGeom prst="rect">
            <a:avLst/>
          </a:prstGeom>
          <a:noFill/>
          <a:ln w="9525">
            <a:noFill/>
            <a:miter lim="800000"/>
            <a:headEnd/>
            <a:tailEnd/>
          </a:ln>
          <a:effectLst/>
        </p:spPr>
      </p:pic>
    </p:spTree>
    <p:extLst>
      <p:ext uri="{BB962C8B-B14F-4D97-AF65-F5344CB8AC3E}">
        <p14:creationId xmlns:p14="http://schemas.microsoft.com/office/powerpoint/2010/main" val="4228284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58D89-2727-FEDF-5BD3-1C7AFA86C0AA}"/>
              </a:ext>
            </a:extLst>
          </p:cNvPr>
          <p:cNvSpPr>
            <a:spLocks noGrp="1"/>
          </p:cNvSpPr>
          <p:nvPr>
            <p:ph type="title"/>
          </p:nvPr>
        </p:nvSpPr>
        <p:spPr/>
        <p:txBody>
          <a:bodyPr/>
          <a:lstStyle/>
          <a:p>
            <a:r>
              <a:rPr lang="en-US" dirty="0"/>
              <a:t>TYPES OF GRE Sequences</a:t>
            </a:r>
            <a:endParaRPr lang="en-IN" dirty="0"/>
          </a:p>
        </p:txBody>
      </p:sp>
      <p:pic>
        <p:nvPicPr>
          <p:cNvPr id="5" name="Content Placeholder 4">
            <a:extLst>
              <a:ext uri="{FF2B5EF4-FFF2-40B4-BE49-F238E27FC236}">
                <a16:creationId xmlns:a16="http://schemas.microsoft.com/office/drawing/2014/main" id="{8BCE27F1-75F4-377E-CBC2-24C6D6C117A9}"/>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51981" y="1676400"/>
            <a:ext cx="8840038" cy="4114800"/>
          </a:xfrm>
          <a:prstGeom prst="rect">
            <a:avLst/>
          </a:prstGeom>
        </p:spPr>
      </p:pic>
    </p:spTree>
    <p:extLst>
      <p:ext uri="{BB962C8B-B14F-4D97-AF65-F5344CB8AC3E}">
        <p14:creationId xmlns:p14="http://schemas.microsoft.com/office/powerpoint/2010/main" val="10136291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85875-7EBD-8AB1-CABA-0F6488FDDC16}"/>
              </a:ext>
            </a:extLst>
          </p:cNvPr>
          <p:cNvSpPr>
            <a:spLocks noGrp="1"/>
          </p:cNvSpPr>
          <p:nvPr>
            <p:ph type="title" idx="4294967295"/>
          </p:nvPr>
        </p:nvSpPr>
        <p:spPr>
          <a:xfrm>
            <a:off x="0" y="304800"/>
            <a:ext cx="7772400" cy="1143000"/>
          </a:xfrm>
        </p:spPr>
        <p:txBody>
          <a:bodyPr>
            <a:normAutofit/>
          </a:bodyPr>
          <a:lstStyle/>
          <a:p>
            <a:r>
              <a:rPr lang="en-US" dirty="0">
                <a:solidFill>
                  <a:schemeClr val="accent1"/>
                </a:solidFill>
              </a:rPr>
              <a:t>1. Spoiled gradient echo- SPGR</a:t>
            </a:r>
            <a:endParaRPr lang="en-IN" dirty="0">
              <a:solidFill>
                <a:schemeClr val="accent1"/>
              </a:solidFill>
            </a:endParaRPr>
          </a:p>
        </p:txBody>
      </p:sp>
      <p:graphicFrame>
        <p:nvGraphicFramePr>
          <p:cNvPr id="4" name="Content Placeholder 3">
            <a:extLst>
              <a:ext uri="{FF2B5EF4-FFF2-40B4-BE49-F238E27FC236}">
                <a16:creationId xmlns:a16="http://schemas.microsoft.com/office/drawing/2014/main" id="{EC14B980-E19E-0867-903E-67E7FD751E91}"/>
              </a:ext>
            </a:extLst>
          </p:cNvPr>
          <p:cNvGraphicFramePr>
            <a:graphicFrameLocks noGrp="1"/>
          </p:cNvGraphicFramePr>
          <p:nvPr>
            <p:ph sz="quarter" idx="4294967295"/>
            <p:extLst>
              <p:ext uri="{D42A27DB-BD31-4B8C-83A1-F6EECF244321}">
                <p14:modId xmlns:p14="http://schemas.microsoft.com/office/powerpoint/2010/main" val="908822642"/>
              </p:ext>
            </p:extLst>
          </p:nvPr>
        </p:nvGraphicFramePr>
        <p:xfrm>
          <a:off x="0" y="1447800"/>
          <a:ext cx="8458198" cy="1097280"/>
        </p:xfrm>
        <a:graphic>
          <a:graphicData uri="http://schemas.openxmlformats.org/drawingml/2006/table">
            <a:tbl>
              <a:tblPr firstRow="1" bandRow="1">
                <a:tableStyleId>{5C22544A-7EE6-4342-B048-85BDC9FD1C3A}</a:tableStyleId>
              </a:tblPr>
              <a:tblGrid>
                <a:gridCol w="4229100">
                  <a:extLst>
                    <a:ext uri="{9D8B030D-6E8A-4147-A177-3AD203B41FA5}">
                      <a16:colId xmlns:a16="http://schemas.microsoft.com/office/drawing/2014/main" val="3731284132"/>
                    </a:ext>
                  </a:extLst>
                </a:gridCol>
                <a:gridCol w="4229098">
                  <a:extLst>
                    <a:ext uri="{9D8B030D-6E8A-4147-A177-3AD203B41FA5}">
                      <a16:colId xmlns:a16="http://schemas.microsoft.com/office/drawing/2014/main" val="3996329964"/>
                    </a:ext>
                  </a:extLst>
                </a:gridCol>
              </a:tblGrid>
              <a:tr h="355600">
                <a:tc>
                  <a:txBody>
                    <a:bodyPr/>
                    <a:lstStyle/>
                    <a:p>
                      <a:r>
                        <a:rPr lang="en-US" dirty="0"/>
                        <a:t>FLASH</a:t>
                      </a:r>
                      <a:endParaRPr lang="en-IN" dirty="0"/>
                    </a:p>
                  </a:txBody>
                  <a:tcPr/>
                </a:tc>
                <a:tc>
                  <a:txBody>
                    <a:bodyPr/>
                    <a:lstStyle/>
                    <a:p>
                      <a:r>
                        <a:rPr lang="en-US" dirty="0"/>
                        <a:t>SEIMENS</a:t>
                      </a:r>
                      <a:endParaRPr lang="en-IN" dirty="0"/>
                    </a:p>
                  </a:txBody>
                  <a:tcPr/>
                </a:tc>
                <a:extLst>
                  <a:ext uri="{0D108BD9-81ED-4DB2-BD59-A6C34878D82A}">
                    <a16:rowId xmlns:a16="http://schemas.microsoft.com/office/drawing/2014/main" val="4046999353"/>
                  </a:ext>
                </a:extLst>
              </a:tr>
              <a:tr h="355600">
                <a:tc>
                  <a:txBody>
                    <a:bodyPr/>
                    <a:lstStyle/>
                    <a:p>
                      <a:r>
                        <a:rPr lang="en-US" dirty="0"/>
                        <a:t>SPGR</a:t>
                      </a:r>
                      <a:endParaRPr lang="en-IN" dirty="0"/>
                    </a:p>
                  </a:txBody>
                  <a:tcPr/>
                </a:tc>
                <a:tc>
                  <a:txBody>
                    <a:bodyPr/>
                    <a:lstStyle/>
                    <a:p>
                      <a:r>
                        <a:rPr lang="en-US" dirty="0"/>
                        <a:t>GE</a:t>
                      </a:r>
                      <a:endParaRPr lang="en-IN" dirty="0"/>
                    </a:p>
                  </a:txBody>
                  <a:tcPr/>
                </a:tc>
                <a:extLst>
                  <a:ext uri="{0D108BD9-81ED-4DB2-BD59-A6C34878D82A}">
                    <a16:rowId xmlns:a16="http://schemas.microsoft.com/office/drawing/2014/main" val="2943748552"/>
                  </a:ext>
                </a:extLst>
              </a:tr>
              <a:tr h="355600">
                <a:tc>
                  <a:txBody>
                    <a:bodyPr/>
                    <a:lstStyle/>
                    <a:p>
                      <a:r>
                        <a:rPr lang="en-US" dirty="0"/>
                        <a:t>T1 FFE</a:t>
                      </a:r>
                      <a:endParaRPr lang="en-IN" dirty="0"/>
                    </a:p>
                  </a:txBody>
                  <a:tcPr/>
                </a:tc>
                <a:tc>
                  <a:txBody>
                    <a:bodyPr/>
                    <a:lstStyle/>
                    <a:p>
                      <a:r>
                        <a:rPr lang="en-US" dirty="0"/>
                        <a:t>PHILLIPS</a:t>
                      </a:r>
                      <a:endParaRPr lang="en-IN" dirty="0"/>
                    </a:p>
                  </a:txBody>
                  <a:tcPr/>
                </a:tc>
                <a:extLst>
                  <a:ext uri="{0D108BD9-81ED-4DB2-BD59-A6C34878D82A}">
                    <a16:rowId xmlns:a16="http://schemas.microsoft.com/office/drawing/2014/main" val="639930988"/>
                  </a:ext>
                </a:extLst>
              </a:tr>
            </a:tbl>
          </a:graphicData>
        </a:graphic>
      </p:graphicFrame>
      <p:pic>
        <p:nvPicPr>
          <p:cNvPr id="6" name="Picture 5">
            <a:extLst>
              <a:ext uri="{FF2B5EF4-FFF2-40B4-BE49-F238E27FC236}">
                <a16:creationId xmlns:a16="http://schemas.microsoft.com/office/drawing/2014/main" id="{B5A42E3F-B7A1-398C-1367-C80BE8345111}"/>
              </a:ext>
            </a:extLst>
          </p:cNvPr>
          <p:cNvPicPr>
            <a:picLocks noChangeAspect="1"/>
          </p:cNvPicPr>
          <p:nvPr/>
        </p:nvPicPr>
        <p:blipFill>
          <a:blip r:embed="rId2"/>
          <a:stretch>
            <a:fillRect/>
          </a:stretch>
        </p:blipFill>
        <p:spPr>
          <a:xfrm>
            <a:off x="152400" y="3834656"/>
            <a:ext cx="3794954" cy="2108943"/>
          </a:xfrm>
          <a:prstGeom prst="rect">
            <a:avLst/>
          </a:prstGeom>
        </p:spPr>
      </p:pic>
      <p:pic>
        <p:nvPicPr>
          <p:cNvPr id="8" name="Picture 7">
            <a:extLst>
              <a:ext uri="{FF2B5EF4-FFF2-40B4-BE49-F238E27FC236}">
                <a16:creationId xmlns:a16="http://schemas.microsoft.com/office/drawing/2014/main" id="{7FDC2F91-FD5F-FCEB-233A-4203C6E3519A}"/>
              </a:ext>
            </a:extLst>
          </p:cNvPr>
          <p:cNvPicPr>
            <a:picLocks noChangeAspect="1"/>
          </p:cNvPicPr>
          <p:nvPr/>
        </p:nvPicPr>
        <p:blipFill>
          <a:blip r:embed="rId3"/>
          <a:stretch>
            <a:fillRect/>
          </a:stretch>
        </p:blipFill>
        <p:spPr>
          <a:xfrm>
            <a:off x="3988662" y="3688080"/>
            <a:ext cx="3783738" cy="2489944"/>
          </a:xfrm>
          <a:prstGeom prst="rect">
            <a:avLst/>
          </a:prstGeom>
        </p:spPr>
      </p:pic>
      <p:pic>
        <p:nvPicPr>
          <p:cNvPr id="14" name="Picture 13">
            <a:extLst>
              <a:ext uri="{FF2B5EF4-FFF2-40B4-BE49-F238E27FC236}">
                <a16:creationId xmlns:a16="http://schemas.microsoft.com/office/drawing/2014/main" id="{6BC41C4F-486F-48BA-3E93-D476EE7178A7}"/>
              </a:ext>
            </a:extLst>
          </p:cNvPr>
          <p:cNvPicPr>
            <a:picLocks noChangeAspect="1"/>
          </p:cNvPicPr>
          <p:nvPr/>
        </p:nvPicPr>
        <p:blipFill>
          <a:blip r:embed="rId4"/>
          <a:stretch>
            <a:fillRect/>
          </a:stretch>
        </p:blipFill>
        <p:spPr>
          <a:xfrm>
            <a:off x="298318" y="2582654"/>
            <a:ext cx="6559681" cy="1280486"/>
          </a:xfrm>
          <a:prstGeom prst="rect">
            <a:avLst/>
          </a:prstGeom>
        </p:spPr>
      </p:pic>
    </p:spTree>
    <p:extLst>
      <p:ext uri="{BB962C8B-B14F-4D97-AF65-F5344CB8AC3E}">
        <p14:creationId xmlns:p14="http://schemas.microsoft.com/office/powerpoint/2010/main" val="3930493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F6E5-B05D-7083-D2AB-10DD7ED9A488}"/>
              </a:ext>
            </a:extLst>
          </p:cNvPr>
          <p:cNvSpPr>
            <a:spLocks noGrp="1"/>
          </p:cNvSpPr>
          <p:nvPr>
            <p:ph type="title"/>
          </p:nvPr>
        </p:nvSpPr>
        <p:spPr>
          <a:xfrm>
            <a:off x="685800" y="198120"/>
            <a:ext cx="7772400" cy="1143000"/>
          </a:xfrm>
        </p:spPr>
        <p:txBody>
          <a:bodyPr>
            <a:normAutofit fontScale="90000"/>
          </a:bodyPr>
          <a:lstStyle/>
          <a:p>
            <a:r>
              <a:rPr lang="en-US" dirty="0">
                <a:solidFill>
                  <a:schemeClr val="accent1"/>
                </a:solidFill>
              </a:rPr>
              <a:t>2. Balanced SSFP- FID</a:t>
            </a:r>
            <a:br>
              <a:rPr lang="en-US" dirty="0"/>
            </a:br>
            <a:r>
              <a:rPr lang="en-US" dirty="0"/>
              <a:t>       </a:t>
            </a:r>
            <a:r>
              <a:rPr lang="en-US" sz="2700" dirty="0"/>
              <a:t>Steady state GRE sequence</a:t>
            </a:r>
            <a:endParaRPr lang="en-IN" sz="2700" dirty="0"/>
          </a:p>
        </p:txBody>
      </p:sp>
      <p:graphicFrame>
        <p:nvGraphicFramePr>
          <p:cNvPr id="4" name="Content Placeholder 3">
            <a:extLst>
              <a:ext uri="{FF2B5EF4-FFF2-40B4-BE49-F238E27FC236}">
                <a16:creationId xmlns:a16="http://schemas.microsoft.com/office/drawing/2014/main" id="{626DBDBB-262A-3958-6B77-449D63B9CA99}"/>
              </a:ext>
            </a:extLst>
          </p:cNvPr>
          <p:cNvGraphicFramePr>
            <a:graphicFrameLocks noGrp="1"/>
          </p:cNvGraphicFramePr>
          <p:nvPr>
            <p:ph sz="quarter" idx="1"/>
            <p:extLst>
              <p:ext uri="{D42A27DB-BD31-4B8C-83A1-F6EECF244321}">
                <p14:modId xmlns:p14="http://schemas.microsoft.com/office/powerpoint/2010/main" val="1582742787"/>
              </p:ext>
            </p:extLst>
          </p:nvPr>
        </p:nvGraphicFramePr>
        <p:xfrm>
          <a:off x="152400" y="1447800"/>
          <a:ext cx="8534398" cy="1112520"/>
        </p:xfrm>
        <a:graphic>
          <a:graphicData uri="http://schemas.openxmlformats.org/drawingml/2006/table">
            <a:tbl>
              <a:tblPr firstRow="1" bandRow="1">
                <a:tableStyleId>{5C22544A-7EE6-4342-B048-85BDC9FD1C3A}</a:tableStyleId>
              </a:tblPr>
              <a:tblGrid>
                <a:gridCol w="4267199">
                  <a:extLst>
                    <a:ext uri="{9D8B030D-6E8A-4147-A177-3AD203B41FA5}">
                      <a16:colId xmlns:a16="http://schemas.microsoft.com/office/drawing/2014/main" val="972840925"/>
                    </a:ext>
                  </a:extLst>
                </a:gridCol>
                <a:gridCol w="4267199">
                  <a:extLst>
                    <a:ext uri="{9D8B030D-6E8A-4147-A177-3AD203B41FA5}">
                      <a16:colId xmlns:a16="http://schemas.microsoft.com/office/drawing/2014/main" val="826385479"/>
                    </a:ext>
                  </a:extLst>
                </a:gridCol>
              </a:tblGrid>
              <a:tr h="370840">
                <a:tc>
                  <a:txBody>
                    <a:bodyPr/>
                    <a:lstStyle/>
                    <a:p>
                      <a:r>
                        <a:rPr lang="en-US" dirty="0"/>
                        <a:t>FISP</a:t>
                      </a:r>
                      <a:endParaRPr lang="en-IN" dirty="0"/>
                    </a:p>
                  </a:txBody>
                  <a:tcPr/>
                </a:tc>
                <a:tc>
                  <a:txBody>
                    <a:bodyPr/>
                    <a:lstStyle/>
                    <a:p>
                      <a:r>
                        <a:rPr lang="en-US" dirty="0"/>
                        <a:t>SEIMENS</a:t>
                      </a:r>
                      <a:endParaRPr lang="en-IN" dirty="0"/>
                    </a:p>
                  </a:txBody>
                  <a:tcPr/>
                </a:tc>
                <a:extLst>
                  <a:ext uri="{0D108BD9-81ED-4DB2-BD59-A6C34878D82A}">
                    <a16:rowId xmlns:a16="http://schemas.microsoft.com/office/drawing/2014/main" val="1825963823"/>
                  </a:ext>
                </a:extLst>
              </a:tr>
              <a:tr h="370840">
                <a:tc>
                  <a:txBody>
                    <a:bodyPr/>
                    <a:lstStyle/>
                    <a:p>
                      <a:r>
                        <a:rPr lang="en-US" dirty="0"/>
                        <a:t>FIESTA</a:t>
                      </a:r>
                      <a:endParaRPr lang="en-IN" dirty="0"/>
                    </a:p>
                  </a:txBody>
                  <a:tcPr/>
                </a:tc>
                <a:tc>
                  <a:txBody>
                    <a:bodyPr/>
                    <a:lstStyle/>
                    <a:p>
                      <a:r>
                        <a:rPr lang="en-US" dirty="0"/>
                        <a:t>GE</a:t>
                      </a:r>
                      <a:endParaRPr lang="en-IN" dirty="0"/>
                    </a:p>
                  </a:txBody>
                  <a:tcPr/>
                </a:tc>
                <a:extLst>
                  <a:ext uri="{0D108BD9-81ED-4DB2-BD59-A6C34878D82A}">
                    <a16:rowId xmlns:a16="http://schemas.microsoft.com/office/drawing/2014/main" val="2333395559"/>
                  </a:ext>
                </a:extLst>
              </a:tr>
              <a:tr h="370840">
                <a:tc>
                  <a:txBody>
                    <a:bodyPr/>
                    <a:lstStyle/>
                    <a:p>
                      <a:r>
                        <a:rPr lang="en-US" dirty="0"/>
                        <a:t>Balanced FFE</a:t>
                      </a:r>
                      <a:endParaRPr lang="en-IN" dirty="0"/>
                    </a:p>
                  </a:txBody>
                  <a:tcPr/>
                </a:tc>
                <a:tc>
                  <a:txBody>
                    <a:bodyPr/>
                    <a:lstStyle/>
                    <a:p>
                      <a:r>
                        <a:rPr lang="en-US" dirty="0"/>
                        <a:t>PHILLIPS</a:t>
                      </a:r>
                      <a:endParaRPr lang="en-IN" dirty="0"/>
                    </a:p>
                  </a:txBody>
                  <a:tcPr/>
                </a:tc>
                <a:extLst>
                  <a:ext uri="{0D108BD9-81ED-4DB2-BD59-A6C34878D82A}">
                    <a16:rowId xmlns:a16="http://schemas.microsoft.com/office/drawing/2014/main" val="4231425495"/>
                  </a:ext>
                </a:extLst>
              </a:tr>
            </a:tbl>
          </a:graphicData>
        </a:graphic>
      </p:graphicFrame>
      <p:sp>
        <p:nvSpPr>
          <p:cNvPr id="6" name="TextBox 5">
            <a:extLst>
              <a:ext uri="{FF2B5EF4-FFF2-40B4-BE49-F238E27FC236}">
                <a16:creationId xmlns:a16="http://schemas.microsoft.com/office/drawing/2014/main" id="{A9DC24E2-8DED-5833-054B-67B4E72A426C}"/>
              </a:ext>
            </a:extLst>
          </p:cNvPr>
          <p:cNvSpPr txBox="1"/>
          <p:nvPr/>
        </p:nvSpPr>
        <p:spPr>
          <a:xfrm>
            <a:off x="457200" y="2667000"/>
            <a:ext cx="6553200" cy="4247317"/>
          </a:xfrm>
          <a:prstGeom prst="rect">
            <a:avLst/>
          </a:prstGeom>
          <a:noFill/>
        </p:spPr>
        <p:txBody>
          <a:bodyPr wrap="square" rtlCol="0">
            <a:spAutoFit/>
          </a:bodyPr>
          <a:lstStyle/>
          <a:p>
            <a:r>
              <a:rPr lang="en-US" dirty="0"/>
              <a:t>It’s a T2WI Sequence</a:t>
            </a:r>
          </a:p>
          <a:p>
            <a:endParaRPr lang="en-US" dirty="0"/>
          </a:p>
          <a:p>
            <a:pPr marL="285750" indent="-285750">
              <a:buFont typeface="Arial" panose="020B0604020202020204" pitchFamily="34" charset="0"/>
              <a:buChar char="•"/>
            </a:pPr>
            <a:r>
              <a:rPr lang="en-US" dirty="0"/>
              <a:t>Residual TM is rephased like in coherent GRE.</a:t>
            </a:r>
          </a:p>
          <a:p>
            <a:pPr marL="285750" indent="-285750">
              <a:buFont typeface="Arial" panose="020B0604020202020204" pitchFamily="34" charset="0"/>
              <a:buChar char="•"/>
            </a:pPr>
            <a:r>
              <a:rPr lang="en-US" dirty="0"/>
              <a:t>Fast sequence. Hence, can be used in breath holding. Signal to noise ratio is better than that of a spoiled gradient-echo (FLASH) sequence.</a:t>
            </a:r>
          </a:p>
          <a:p>
            <a:pPr marL="285750" indent="-285750">
              <a:buFont typeface="Arial" panose="020B0604020202020204" pitchFamily="34" charset="0"/>
              <a:buChar char="•"/>
            </a:pPr>
            <a:r>
              <a:rPr lang="en-US" dirty="0"/>
              <a:t>Motion insensitive as all three axes gradients are balanced.</a:t>
            </a:r>
          </a:p>
          <a:p>
            <a:endParaRPr lang="en-US" dirty="0"/>
          </a:p>
          <a:p>
            <a:r>
              <a:rPr lang="en-US" dirty="0"/>
              <a:t>Sequence of choice in : </a:t>
            </a:r>
          </a:p>
          <a:p>
            <a:pPr marL="285750" indent="-285750">
              <a:buFont typeface="Arial" panose="020B0604020202020204" pitchFamily="34" charset="0"/>
              <a:buChar char="•"/>
            </a:pPr>
            <a:r>
              <a:rPr lang="en-US" dirty="0"/>
              <a:t>Cardiac MRI</a:t>
            </a:r>
          </a:p>
          <a:p>
            <a:pPr marL="285750" indent="-285750">
              <a:buFont typeface="Arial" panose="020B0604020202020204" pitchFamily="34" charset="0"/>
              <a:buChar char="•"/>
            </a:pPr>
            <a:r>
              <a:rPr lang="en-US" dirty="0"/>
              <a:t>Imaging of bowel.</a:t>
            </a:r>
          </a:p>
          <a:p>
            <a:pPr marL="285750" indent="-285750">
              <a:buFont typeface="Arial" panose="020B0604020202020204" pitchFamily="34" charset="0"/>
              <a:buChar char="•"/>
            </a:pPr>
            <a:r>
              <a:rPr lang="en-US" dirty="0"/>
              <a:t>Fetal imaging</a:t>
            </a:r>
          </a:p>
          <a:p>
            <a:pPr marL="285750" indent="-285750">
              <a:buFont typeface="Arial" panose="020B0604020202020204" pitchFamily="34" charset="0"/>
              <a:buChar char="•"/>
            </a:pPr>
            <a:r>
              <a:rPr lang="en-US" dirty="0"/>
              <a:t>To demonstrate vascular anatomy.</a:t>
            </a:r>
          </a:p>
          <a:p>
            <a:endParaRPr lang="en-US" dirty="0"/>
          </a:p>
          <a:p>
            <a:r>
              <a:rPr lang="en-US" dirty="0"/>
              <a:t>Limitations: Poor internal spatial resolution. CMD and G-W matter junction differentiation ill-defined.</a:t>
            </a:r>
          </a:p>
        </p:txBody>
      </p:sp>
    </p:spTree>
    <p:extLst>
      <p:ext uri="{BB962C8B-B14F-4D97-AF65-F5344CB8AC3E}">
        <p14:creationId xmlns:p14="http://schemas.microsoft.com/office/powerpoint/2010/main" val="2538773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5A563C-A979-BDCC-7DCE-82CBAAF2EC05}"/>
              </a:ext>
            </a:extLst>
          </p:cNvPr>
          <p:cNvPicPr>
            <a:picLocks noChangeAspect="1"/>
          </p:cNvPicPr>
          <p:nvPr/>
        </p:nvPicPr>
        <p:blipFill>
          <a:blip r:embed="rId2"/>
          <a:stretch>
            <a:fillRect/>
          </a:stretch>
        </p:blipFill>
        <p:spPr>
          <a:xfrm>
            <a:off x="533400" y="228600"/>
            <a:ext cx="2657846" cy="3400900"/>
          </a:xfrm>
          <a:prstGeom prst="rect">
            <a:avLst/>
          </a:prstGeom>
        </p:spPr>
      </p:pic>
      <p:sp>
        <p:nvSpPr>
          <p:cNvPr id="6" name="TextBox 5">
            <a:extLst>
              <a:ext uri="{FF2B5EF4-FFF2-40B4-BE49-F238E27FC236}">
                <a16:creationId xmlns:a16="http://schemas.microsoft.com/office/drawing/2014/main" id="{A6FB0E42-F31A-C6DE-119E-F25B0AEAB176}"/>
              </a:ext>
            </a:extLst>
          </p:cNvPr>
          <p:cNvSpPr txBox="1"/>
          <p:nvPr/>
        </p:nvSpPr>
        <p:spPr>
          <a:xfrm>
            <a:off x="838200" y="3629500"/>
            <a:ext cx="1793440" cy="369332"/>
          </a:xfrm>
          <a:prstGeom prst="rect">
            <a:avLst/>
          </a:prstGeom>
          <a:noFill/>
        </p:spPr>
        <p:txBody>
          <a:bodyPr wrap="none" rtlCol="0">
            <a:spAutoFit/>
          </a:bodyPr>
          <a:lstStyle/>
          <a:p>
            <a:r>
              <a:rPr lang="en-US" dirty="0" err="1"/>
              <a:t>Enterography</a:t>
            </a:r>
            <a:r>
              <a:rPr lang="en-US" dirty="0"/>
              <a:t> MRI </a:t>
            </a:r>
            <a:endParaRPr lang="en-IN" dirty="0"/>
          </a:p>
        </p:txBody>
      </p:sp>
      <p:pic>
        <p:nvPicPr>
          <p:cNvPr id="10" name="Picture 9">
            <a:extLst>
              <a:ext uri="{FF2B5EF4-FFF2-40B4-BE49-F238E27FC236}">
                <a16:creationId xmlns:a16="http://schemas.microsoft.com/office/drawing/2014/main" id="{9F94491C-C9E0-468D-BBC7-14A0CFA0C6E5}"/>
              </a:ext>
            </a:extLst>
          </p:cNvPr>
          <p:cNvPicPr>
            <a:picLocks noChangeAspect="1"/>
          </p:cNvPicPr>
          <p:nvPr/>
        </p:nvPicPr>
        <p:blipFill>
          <a:blip r:embed="rId3"/>
          <a:stretch>
            <a:fillRect/>
          </a:stretch>
        </p:blipFill>
        <p:spPr>
          <a:xfrm>
            <a:off x="5497842" y="3362827"/>
            <a:ext cx="3134162" cy="3248478"/>
          </a:xfrm>
          <a:prstGeom prst="rect">
            <a:avLst/>
          </a:prstGeom>
        </p:spPr>
      </p:pic>
      <p:pic>
        <p:nvPicPr>
          <p:cNvPr id="12" name="Picture 11">
            <a:extLst>
              <a:ext uri="{FF2B5EF4-FFF2-40B4-BE49-F238E27FC236}">
                <a16:creationId xmlns:a16="http://schemas.microsoft.com/office/drawing/2014/main" id="{DD2F6E5F-73D3-48E3-2DFF-E0D1C30D050C}"/>
              </a:ext>
            </a:extLst>
          </p:cNvPr>
          <p:cNvPicPr>
            <a:picLocks noChangeAspect="1"/>
          </p:cNvPicPr>
          <p:nvPr/>
        </p:nvPicPr>
        <p:blipFill>
          <a:blip r:embed="rId4"/>
          <a:stretch>
            <a:fillRect/>
          </a:stretch>
        </p:blipFill>
        <p:spPr>
          <a:xfrm>
            <a:off x="256573" y="3998832"/>
            <a:ext cx="4315427" cy="2612473"/>
          </a:xfrm>
          <a:prstGeom prst="rect">
            <a:avLst/>
          </a:prstGeom>
        </p:spPr>
      </p:pic>
      <p:pic>
        <p:nvPicPr>
          <p:cNvPr id="14" name="Picture 13">
            <a:extLst>
              <a:ext uri="{FF2B5EF4-FFF2-40B4-BE49-F238E27FC236}">
                <a16:creationId xmlns:a16="http://schemas.microsoft.com/office/drawing/2014/main" id="{8A7A4BF5-5B61-3231-1EEA-3612F17C38DB}"/>
              </a:ext>
            </a:extLst>
          </p:cNvPr>
          <p:cNvPicPr>
            <a:picLocks noChangeAspect="1"/>
          </p:cNvPicPr>
          <p:nvPr/>
        </p:nvPicPr>
        <p:blipFill>
          <a:blip r:embed="rId5"/>
          <a:stretch>
            <a:fillRect/>
          </a:stretch>
        </p:blipFill>
        <p:spPr>
          <a:xfrm>
            <a:off x="4098036" y="76200"/>
            <a:ext cx="4533968" cy="2612474"/>
          </a:xfrm>
          <a:prstGeom prst="rect">
            <a:avLst/>
          </a:prstGeom>
        </p:spPr>
      </p:pic>
    </p:spTree>
    <p:extLst>
      <p:ext uri="{BB962C8B-B14F-4D97-AF65-F5344CB8AC3E}">
        <p14:creationId xmlns:p14="http://schemas.microsoft.com/office/powerpoint/2010/main" val="2433363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EAEE-898E-0C82-1340-FFC2AB8EBC53}"/>
              </a:ext>
            </a:extLst>
          </p:cNvPr>
          <p:cNvSpPr>
            <a:spLocks noGrp="1"/>
          </p:cNvSpPr>
          <p:nvPr>
            <p:ph type="title"/>
          </p:nvPr>
        </p:nvSpPr>
        <p:spPr/>
        <p:txBody>
          <a:bodyPr>
            <a:normAutofit fontScale="90000"/>
          </a:bodyPr>
          <a:lstStyle/>
          <a:p>
            <a:r>
              <a:rPr lang="en-US" dirty="0">
                <a:solidFill>
                  <a:schemeClr val="accent1"/>
                </a:solidFill>
              </a:rPr>
              <a:t>CISS</a:t>
            </a:r>
            <a:r>
              <a:rPr lang="en-US" dirty="0"/>
              <a:t>- Constructive Interference in the steady State.</a:t>
            </a:r>
            <a:endParaRPr lang="en-IN" dirty="0"/>
          </a:p>
        </p:txBody>
      </p:sp>
      <p:sp>
        <p:nvSpPr>
          <p:cNvPr id="3" name="Content Placeholder 2">
            <a:extLst>
              <a:ext uri="{FF2B5EF4-FFF2-40B4-BE49-F238E27FC236}">
                <a16:creationId xmlns:a16="http://schemas.microsoft.com/office/drawing/2014/main" id="{6F66749F-C405-FA39-D61A-72AB3902F180}"/>
              </a:ext>
            </a:extLst>
          </p:cNvPr>
          <p:cNvSpPr>
            <a:spLocks noGrp="1"/>
          </p:cNvSpPr>
          <p:nvPr>
            <p:ph sz="quarter" idx="1"/>
          </p:nvPr>
        </p:nvSpPr>
        <p:spPr>
          <a:xfrm>
            <a:off x="914400" y="1447800"/>
            <a:ext cx="7772400" cy="2438400"/>
          </a:xfrm>
        </p:spPr>
        <p:txBody>
          <a:bodyPr>
            <a:normAutofit fontScale="70000" lnSpcReduction="20000"/>
          </a:bodyPr>
          <a:lstStyle/>
          <a:p>
            <a:r>
              <a:rPr lang="en-US" sz="2000" dirty="0"/>
              <a:t>Balanced SSFP sequences are subject to a "banding artifact." In the CISS sequence, two balanced SSFP images in each acquisition are obtained. One image is acquired with an "alternating phase" RF pulse as in a standard balanced SSFP sequence, and the other is acquired with a non–alternating phase RF pulse. The banding artifact in each image will be displaced relative to the banding artifact in the other image. By combining the two images, the banding artifact is eliminated</a:t>
            </a:r>
            <a:r>
              <a:rPr lang="en-US" dirty="0"/>
              <a:t>.</a:t>
            </a:r>
          </a:p>
          <a:p>
            <a:pPr marL="0" indent="0">
              <a:buNone/>
            </a:pPr>
            <a:r>
              <a:rPr lang="en-US" sz="2000" b="1" dirty="0"/>
              <a:t>Features:</a:t>
            </a:r>
          </a:p>
          <a:p>
            <a:r>
              <a:rPr lang="en-US" sz="2000" b="1" dirty="0"/>
              <a:t> </a:t>
            </a:r>
            <a:r>
              <a:rPr lang="en-US" sz="2000" dirty="0"/>
              <a:t>The CISS sequence provides T2-weighted 3D images with submillimeter resolution and is used for imaging the cochlea, labyrinth, and cerebellum.</a:t>
            </a:r>
          </a:p>
          <a:p>
            <a:r>
              <a:rPr lang="en-US" sz="2000" dirty="0"/>
              <a:t>Also useful in imaging of CP angle, Internal acoustic meatus and optic nerves.</a:t>
            </a:r>
          </a:p>
          <a:p>
            <a:r>
              <a:rPr lang="en-US" sz="2000" dirty="0"/>
              <a:t>  Slower than balanced SSFP, it uses a longer TR</a:t>
            </a:r>
            <a:r>
              <a:rPr lang="en-US" dirty="0"/>
              <a:t>.</a:t>
            </a:r>
            <a:endParaRPr lang="en-IN" dirty="0"/>
          </a:p>
        </p:txBody>
      </p:sp>
      <p:pic>
        <p:nvPicPr>
          <p:cNvPr id="5" name="Picture 4">
            <a:extLst>
              <a:ext uri="{FF2B5EF4-FFF2-40B4-BE49-F238E27FC236}">
                <a16:creationId xmlns:a16="http://schemas.microsoft.com/office/drawing/2014/main" id="{659108F3-446F-6C51-31D2-1401DAEBDBC3}"/>
              </a:ext>
            </a:extLst>
          </p:cNvPr>
          <p:cNvPicPr>
            <a:picLocks noChangeAspect="1"/>
          </p:cNvPicPr>
          <p:nvPr/>
        </p:nvPicPr>
        <p:blipFill>
          <a:blip r:embed="rId2"/>
          <a:stretch>
            <a:fillRect/>
          </a:stretch>
        </p:blipFill>
        <p:spPr>
          <a:xfrm>
            <a:off x="2438400" y="3734989"/>
            <a:ext cx="4648200" cy="3046811"/>
          </a:xfrm>
          <a:prstGeom prst="rect">
            <a:avLst/>
          </a:prstGeom>
        </p:spPr>
      </p:pic>
    </p:spTree>
    <p:extLst>
      <p:ext uri="{BB962C8B-B14F-4D97-AF65-F5344CB8AC3E}">
        <p14:creationId xmlns:p14="http://schemas.microsoft.com/office/powerpoint/2010/main" val="1112273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Inversion Recovery Sequence </a:t>
            </a:r>
          </a:p>
        </p:txBody>
      </p:sp>
      <p:pic>
        <p:nvPicPr>
          <p:cNvPr id="7" name="Content Placeholder 6">
            <a:extLst>
              <a:ext uri="{FF2B5EF4-FFF2-40B4-BE49-F238E27FC236}">
                <a16:creationId xmlns:a16="http://schemas.microsoft.com/office/drawing/2014/main" id="{1B1FAC13-86C7-6E16-DBBA-6BA0AFF38C51}"/>
              </a:ext>
            </a:extLst>
          </p:cNvPr>
          <p:cNvPicPr>
            <a:picLocks noGrp="1" noChangeAspect="1"/>
          </p:cNvPicPr>
          <p:nvPr>
            <p:ph sz="quarter" idx="1"/>
          </p:nvPr>
        </p:nvPicPr>
        <p:blipFill>
          <a:blip r:embed="rId2"/>
          <a:stretch>
            <a:fillRect/>
          </a:stretch>
        </p:blipFill>
        <p:spPr>
          <a:xfrm>
            <a:off x="914400" y="1417638"/>
            <a:ext cx="6553622" cy="483076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INVERSION RECOVERY</a:t>
            </a:r>
          </a:p>
        </p:txBody>
      </p:sp>
      <p:pic>
        <p:nvPicPr>
          <p:cNvPr id="4" name="Picture 3">
            <a:extLst>
              <a:ext uri="{FF2B5EF4-FFF2-40B4-BE49-F238E27FC236}">
                <a16:creationId xmlns:a16="http://schemas.microsoft.com/office/drawing/2014/main" id="{7651793C-4502-F2C9-757E-357CB1E3B5DE}"/>
              </a:ext>
            </a:extLst>
          </p:cNvPr>
          <p:cNvPicPr>
            <a:picLocks noChangeAspect="1"/>
          </p:cNvPicPr>
          <p:nvPr/>
        </p:nvPicPr>
        <p:blipFill>
          <a:blip r:embed="rId3"/>
          <a:stretch>
            <a:fillRect/>
          </a:stretch>
        </p:blipFill>
        <p:spPr>
          <a:xfrm>
            <a:off x="1143000" y="1752600"/>
            <a:ext cx="6113720" cy="3505200"/>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AED1445D-CB2F-B642-E39C-A25ADBADA475}"/>
                  </a:ext>
                </a:extLst>
              </p14:cNvPr>
              <p14:cNvContentPartPr/>
              <p14:nvPr/>
            </p14:nvContentPartPr>
            <p14:xfrm>
              <a:off x="2333747" y="4956935"/>
              <a:ext cx="722160" cy="720"/>
            </p14:xfrm>
          </p:contentPart>
        </mc:Choice>
        <mc:Fallback xmlns="">
          <p:pic>
            <p:nvPicPr>
              <p:cNvPr id="8" name="Ink 7">
                <a:extLst>
                  <a:ext uri="{FF2B5EF4-FFF2-40B4-BE49-F238E27FC236}">
                    <a16:creationId xmlns:a16="http://schemas.microsoft.com/office/drawing/2014/main" id="{AED1445D-CB2F-B642-E39C-A25ADBADA475}"/>
                  </a:ext>
                </a:extLst>
              </p:cNvPr>
              <p:cNvPicPr/>
              <p:nvPr/>
            </p:nvPicPr>
            <p:blipFill>
              <a:blip r:embed="rId5"/>
              <a:stretch>
                <a:fillRect/>
              </a:stretch>
            </p:blipFill>
            <p:spPr>
              <a:xfrm>
                <a:off x="2271107" y="4830935"/>
                <a:ext cx="84780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28C1338F-7666-1411-BCF2-BC7C5BFAAF16}"/>
                  </a:ext>
                </a:extLst>
              </p14:cNvPr>
              <p14:cNvContentPartPr/>
              <p14:nvPr/>
            </p14:nvContentPartPr>
            <p14:xfrm>
              <a:off x="2370467" y="5017055"/>
              <a:ext cx="698760" cy="720"/>
            </p14:xfrm>
          </p:contentPart>
        </mc:Choice>
        <mc:Fallback xmlns="">
          <p:pic>
            <p:nvPicPr>
              <p:cNvPr id="10" name="Ink 9">
                <a:extLst>
                  <a:ext uri="{FF2B5EF4-FFF2-40B4-BE49-F238E27FC236}">
                    <a16:creationId xmlns:a16="http://schemas.microsoft.com/office/drawing/2014/main" id="{28C1338F-7666-1411-BCF2-BC7C5BFAAF16}"/>
                  </a:ext>
                </a:extLst>
              </p:cNvPr>
              <p:cNvPicPr/>
              <p:nvPr/>
            </p:nvPicPr>
            <p:blipFill>
              <a:blip r:embed="rId7"/>
              <a:stretch>
                <a:fillRect/>
              </a:stretch>
            </p:blipFill>
            <p:spPr>
              <a:xfrm>
                <a:off x="2307467" y="4891055"/>
                <a:ext cx="824400" cy="252000"/>
              </a:xfrm>
              <a:prstGeom prst="rect">
                <a:avLst/>
              </a:prstGeom>
            </p:spPr>
          </p:pic>
        </mc:Fallback>
      </mc:AlternateContent>
    </p:spTree>
    <p:extLst>
      <p:ext uri="{BB962C8B-B14F-4D97-AF65-F5344CB8AC3E}">
        <p14:creationId xmlns:p14="http://schemas.microsoft.com/office/powerpoint/2010/main" val="35409731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89384" y="3557337"/>
            <a:ext cx="6096000" cy="3048000"/>
          </a:xfrm>
          <a:prstGeom prst="rect">
            <a:avLst/>
          </a:prstGeom>
        </p:spPr>
      </p:pic>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228600"/>
            <a:ext cx="6693568" cy="3200400"/>
          </a:xfrm>
          <a:prstGeom prst="rect">
            <a:avLst/>
          </a:prstGeom>
        </p:spPr>
      </p:pic>
    </p:spTree>
    <p:extLst>
      <p:ext uri="{BB962C8B-B14F-4D97-AF65-F5344CB8AC3E}">
        <p14:creationId xmlns:p14="http://schemas.microsoft.com/office/powerpoint/2010/main" val="4164631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0DD65E2-D4F4-5503-2664-1A892FBF09A9}"/>
              </a:ext>
            </a:extLst>
          </p:cNvPr>
          <p:cNvPicPr>
            <a:picLocks noGrp="1" noChangeAspect="1"/>
          </p:cNvPicPr>
          <p:nvPr>
            <p:ph sz="quarter" idx="1"/>
          </p:nvPr>
        </p:nvPicPr>
        <p:blipFill>
          <a:blip r:embed="rId2"/>
          <a:stretch>
            <a:fillRect/>
          </a:stretch>
        </p:blipFill>
        <p:spPr>
          <a:xfrm>
            <a:off x="76200" y="1143000"/>
            <a:ext cx="8998856" cy="3048000"/>
          </a:xfrm>
          <a:prstGeom prst="rect">
            <a:avLst/>
          </a:prstGeom>
        </p:spPr>
      </p:pic>
    </p:spTree>
    <p:extLst>
      <p:ext uri="{BB962C8B-B14F-4D97-AF65-F5344CB8AC3E}">
        <p14:creationId xmlns:p14="http://schemas.microsoft.com/office/powerpoint/2010/main" val="3047369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INVERSION RECOVERY</a:t>
            </a:r>
          </a:p>
        </p:txBody>
      </p:sp>
      <p:sp>
        <p:nvSpPr>
          <p:cNvPr id="3" name="Content Placeholder 2"/>
          <p:cNvSpPr>
            <a:spLocks noGrp="1"/>
          </p:cNvSpPr>
          <p:nvPr>
            <p:ph idx="1"/>
          </p:nvPr>
        </p:nvSpPr>
        <p:spPr/>
        <p:txBody>
          <a:bodyPr/>
          <a:lstStyle/>
          <a:p>
            <a:r>
              <a:rPr lang="en-US" b="1" u="sng" dirty="0"/>
              <a:t>Selective Tissue Suppression</a:t>
            </a:r>
            <a:endParaRPr lang="en-US" dirty="0"/>
          </a:p>
        </p:txBody>
      </p:sp>
      <p:pic>
        <p:nvPicPr>
          <p:cNvPr id="4" name="Picture 3"/>
          <p:cNvPicPr>
            <a:picLocks noChangeAspect="1"/>
          </p:cNvPicPr>
          <p:nvPr/>
        </p:nvPicPr>
        <p:blipFill>
          <a:blip r:embed="rId2"/>
          <a:stretch>
            <a:fillRect/>
          </a:stretch>
        </p:blipFill>
        <p:spPr>
          <a:xfrm>
            <a:off x="663074" y="2057400"/>
            <a:ext cx="3937000" cy="4288249"/>
          </a:xfrm>
          <a:prstGeom prst="rect">
            <a:avLst/>
          </a:prstGeom>
        </p:spPr>
      </p:pic>
      <p:pic>
        <p:nvPicPr>
          <p:cNvPr id="5" name="Picture 4"/>
          <p:cNvPicPr>
            <a:picLocks noChangeAspect="1"/>
          </p:cNvPicPr>
          <p:nvPr/>
        </p:nvPicPr>
        <p:blipFill>
          <a:blip r:embed="rId3"/>
          <a:stretch>
            <a:fillRect/>
          </a:stretch>
        </p:blipFill>
        <p:spPr>
          <a:xfrm>
            <a:off x="5105400" y="2057400"/>
            <a:ext cx="3757732" cy="4191000"/>
          </a:xfrm>
          <a:prstGeom prst="rect">
            <a:avLst/>
          </a:prstGeom>
        </p:spPr>
      </p:pic>
    </p:spTree>
    <p:extLst>
      <p:ext uri="{BB962C8B-B14F-4D97-AF65-F5344CB8AC3E}">
        <p14:creationId xmlns:p14="http://schemas.microsoft.com/office/powerpoint/2010/main" val="1096013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FEBBEA-16CC-4A19-6F09-29A4D845178E}"/>
              </a:ext>
            </a:extLst>
          </p:cNvPr>
          <p:cNvPicPr>
            <a:picLocks noGrp="1" noChangeAspect="1"/>
          </p:cNvPicPr>
          <p:nvPr>
            <p:ph sz="quarter" idx="4294967295"/>
          </p:nvPr>
        </p:nvPicPr>
        <p:blipFill>
          <a:blip r:embed="rId2"/>
          <a:stretch>
            <a:fillRect/>
          </a:stretch>
        </p:blipFill>
        <p:spPr>
          <a:xfrm>
            <a:off x="242888" y="1600200"/>
            <a:ext cx="8901112" cy="2971800"/>
          </a:xfrm>
          <a:prstGeom prst="rect">
            <a:avLst/>
          </a:prstGeom>
        </p:spPr>
      </p:pic>
    </p:spTree>
    <p:extLst>
      <p:ext uri="{BB962C8B-B14F-4D97-AF65-F5344CB8AC3E}">
        <p14:creationId xmlns:p14="http://schemas.microsoft.com/office/powerpoint/2010/main" val="474240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solidFill>
                  <a:schemeClr val="accent1"/>
                </a:solidFill>
              </a:rPr>
              <a:t>STIR- </a:t>
            </a:r>
            <a:r>
              <a:rPr lang="en-IN" dirty="0">
                <a:solidFill>
                  <a:schemeClr val="accent1"/>
                </a:solidFill>
              </a:rPr>
              <a:t>Short TI Inversion Recovery </a:t>
            </a:r>
          </a:p>
        </p:txBody>
      </p:sp>
      <p:sp>
        <p:nvSpPr>
          <p:cNvPr id="3" name="Content Placeholder 2"/>
          <p:cNvSpPr>
            <a:spLocks noGrp="1"/>
          </p:cNvSpPr>
          <p:nvPr>
            <p:ph sz="quarter" idx="1"/>
          </p:nvPr>
        </p:nvSpPr>
        <p:spPr/>
        <p:txBody>
          <a:bodyPr>
            <a:normAutofit fontScale="92500"/>
          </a:bodyPr>
          <a:lstStyle/>
          <a:p>
            <a:r>
              <a:rPr lang="en-IN" b="1" i="1" dirty="0"/>
              <a:t>An inversion-recovery </a:t>
            </a:r>
            <a:r>
              <a:rPr lang="en-IN" dirty="0"/>
              <a:t>pulse is used to null the signal from fat .TI of 140ms is used.</a:t>
            </a:r>
          </a:p>
          <a:p>
            <a:r>
              <a:rPr lang="en-IN" dirty="0"/>
              <a:t>STIR sequences provide excellent depiction of bone marrow </a:t>
            </a:r>
            <a:r>
              <a:rPr lang="en-IN" dirty="0" err="1"/>
              <a:t>edema</a:t>
            </a:r>
            <a:r>
              <a:rPr lang="en-IN" dirty="0"/>
              <a:t>  which may be the only indication of an occult fracture.</a:t>
            </a:r>
          </a:p>
          <a:p>
            <a:r>
              <a:rPr lang="en-IN" dirty="0"/>
              <a:t> Unlike conventional fat-saturation sequences , STIR sequences are not affected by magnetic field inhomogeneities, so they are more efficient for nulling the signal from fat</a:t>
            </a:r>
          </a:p>
          <a:p>
            <a:pPr marL="0" indent="0">
              <a:buNone/>
            </a:pPr>
            <a:r>
              <a:rPr lang="en-IN" b="1" dirty="0"/>
              <a:t>USES:</a:t>
            </a:r>
          </a:p>
          <a:p>
            <a:r>
              <a:rPr lang="en-IN" dirty="0"/>
              <a:t>Bone marrow- </a:t>
            </a:r>
            <a:r>
              <a:rPr lang="en-IN" dirty="0" err="1"/>
              <a:t>Edema</a:t>
            </a:r>
            <a:r>
              <a:rPr lang="en-IN" dirty="0"/>
              <a:t>, Bony metastasis in whole body MRI</a:t>
            </a:r>
          </a:p>
          <a:p>
            <a:r>
              <a:rPr lang="en-IN" dirty="0"/>
              <a:t>Optic neuritis in multiple sclerosis</a:t>
            </a:r>
          </a:p>
          <a:p>
            <a:r>
              <a:rPr lang="en-IN" dirty="0"/>
              <a:t>Ankylosing spondylitis- Sacroiliac joint </a:t>
            </a:r>
            <a:r>
              <a:rPr lang="en-IN" dirty="0" err="1"/>
              <a:t>edema</a:t>
            </a:r>
            <a:r>
              <a:rPr lang="en-IN" dirty="0"/>
              <a:t>.</a:t>
            </a:r>
          </a:p>
          <a:p>
            <a:endParaRPr lang="en-IN" dirty="0"/>
          </a:p>
          <a:p>
            <a:endParaRPr lang="en-IN" dirty="0"/>
          </a:p>
          <a:p>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447800" y="304800"/>
            <a:ext cx="5638800" cy="4360672"/>
          </a:xfrm>
          <a:prstGeom prst="rect">
            <a:avLst/>
          </a:prstGeom>
          <a:noFill/>
          <a:ln w="9525">
            <a:noFill/>
            <a:miter lim="800000"/>
            <a:headEnd/>
            <a:tailEnd/>
          </a:ln>
        </p:spPr>
      </p:pic>
      <p:sp>
        <p:nvSpPr>
          <p:cNvPr id="3" name="Rectangle 2"/>
          <p:cNvSpPr/>
          <p:nvPr/>
        </p:nvSpPr>
        <p:spPr>
          <a:xfrm>
            <a:off x="228600" y="5029200"/>
            <a:ext cx="8915400" cy="1200329"/>
          </a:xfrm>
          <a:prstGeom prst="rect">
            <a:avLst/>
          </a:prstGeom>
        </p:spPr>
        <p:txBody>
          <a:bodyPr wrap="square">
            <a:spAutoFit/>
          </a:bodyPr>
          <a:lstStyle/>
          <a:p>
            <a:r>
              <a:rPr lang="en-IN" dirty="0"/>
              <a:t>(a) Diagram of the STIR sequence (TI  100–180 </a:t>
            </a:r>
            <a:r>
              <a:rPr lang="en-IN" dirty="0" err="1"/>
              <a:t>msec</a:t>
            </a:r>
            <a:r>
              <a:rPr lang="en-IN" dirty="0"/>
              <a:t> for fat). (b, c) Coronal</a:t>
            </a:r>
          </a:p>
          <a:p>
            <a:r>
              <a:rPr lang="en-IN" dirty="0"/>
              <a:t>T1-weighted fast SE image (b) and coronal STIR image (c) both show </a:t>
            </a:r>
            <a:r>
              <a:rPr lang="en-IN" dirty="0" err="1"/>
              <a:t>pancarpal</a:t>
            </a:r>
            <a:r>
              <a:rPr lang="en-IN" dirty="0"/>
              <a:t> rheumatoid</a:t>
            </a:r>
          </a:p>
          <a:p>
            <a:r>
              <a:rPr lang="en-IN" dirty="0"/>
              <a:t>arthritis; however, the extent of bone marrow </a:t>
            </a:r>
            <a:r>
              <a:rPr lang="en-IN" dirty="0" err="1"/>
              <a:t>edema</a:t>
            </a:r>
            <a:r>
              <a:rPr lang="en-IN" dirty="0"/>
              <a:t> throughout the carpal bones, distal</a:t>
            </a:r>
          </a:p>
          <a:p>
            <a:r>
              <a:rPr lang="en-IN" dirty="0"/>
              <a:t>radius, and ulna is better depicted in c than in b.</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04800"/>
            <a:ext cx="8915400" cy="646331"/>
          </a:xfrm>
          <a:prstGeom prst="rect">
            <a:avLst/>
          </a:prstGeom>
          <a:noFill/>
        </p:spPr>
        <p:txBody>
          <a:bodyPr wrap="square" rtlCol="0">
            <a:spAutoFit/>
          </a:bodyPr>
          <a:lstStyle/>
          <a:p>
            <a:r>
              <a:rPr lang="en-IN" sz="3600" dirty="0">
                <a:latin typeface="Arial" pitchFamily="34" charset="0"/>
                <a:cs typeface="Arial" pitchFamily="34" charset="0"/>
              </a:rPr>
              <a:t>OTHER FAT SUPPRESSION METHODS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45D8EBA-8C84-FB4D-C1F0-35286B754A2A}"/>
                  </a:ext>
                </a:extLst>
              </p14:cNvPr>
              <p14:cNvContentPartPr/>
              <p14:nvPr/>
            </p14:nvContentPartPr>
            <p14:xfrm>
              <a:off x="2141147" y="2286095"/>
              <a:ext cx="360" cy="360"/>
            </p14:xfrm>
          </p:contentPart>
        </mc:Choice>
        <mc:Fallback xmlns="">
          <p:pic>
            <p:nvPicPr>
              <p:cNvPr id="4" name="Ink 3">
                <a:extLst>
                  <a:ext uri="{FF2B5EF4-FFF2-40B4-BE49-F238E27FC236}">
                    <a16:creationId xmlns:a16="http://schemas.microsoft.com/office/drawing/2014/main" id="{C45D8EBA-8C84-FB4D-C1F0-35286B754A2A}"/>
                  </a:ext>
                </a:extLst>
              </p:cNvPr>
              <p:cNvPicPr/>
              <p:nvPr/>
            </p:nvPicPr>
            <p:blipFill>
              <a:blip r:embed="rId3"/>
              <a:stretch>
                <a:fillRect/>
              </a:stretch>
            </p:blipFill>
            <p:spPr>
              <a:xfrm>
                <a:off x="2078507" y="222309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47F369C-14FF-C7F4-249A-D93A1A02BE51}"/>
                  </a:ext>
                </a:extLst>
              </p14:cNvPr>
              <p14:cNvContentPartPr/>
              <p14:nvPr/>
            </p14:nvContentPartPr>
            <p14:xfrm>
              <a:off x="2562707" y="2911415"/>
              <a:ext cx="26640" cy="360"/>
            </p14:xfrm>
          </p:contentPart>
        </mc:Choice>
        <mc:Fallback xmlns="">
          <p:pic>
            <p:nvPicPr>
              <p:cNvPr id="5" name="Ink 4">
                <a:extLst>
                  <a:ext uri="{FF2B5EF4-FFF2-40B4-BE49-F238E27FC236}">
                    <a16:creationId xmlns:a16="http://schemas.microsoft.com/office/drawing/2014/main" id="{F47F369C-14FF-C7F4-249A-D93A1A02BE51}"/>
                  </a:ext>
                </a:extLst>
              </p:cNvPr>
              <p:cNvPicPr/>
              <p:nvPr/>
            </p:nvPicPr>
            <p:blipFill>
              <a:blip r:embed="rId5"/>
              <a:stretch>
                <a:fillRect/>
              </a:stretch>
            </p:blipFill>
            <p:spPr>
              <a:xfrm>
                <a:off x="2500067" y="2848775"/>
                <a:ext cx="152280" cy="126000"/>
              </a:xfrm>
              <a:prstGeom prst="rect">
                <a:avLst/>
              </a:prstGeom>
            </p:spPr>
          </p:pic>
        </mc:Fallback>
      </mc:AlternateContent>
      <p:pic>
        <p:nvPicPr>
          <p:cNvPr id="7" name="Picture 6">
            <a:extLst>
              <a:ext uri="{FF2B5EF4-FFF2-40B4-BE49-F238E27FC236}">
                <a16:creationId xmlns:a16="http://schemas.microsoft.com/office/drawing/2014/main" id="{D77C4D29-910F-390F-5EF4-8353EE44872E}"/>
              </a:ext>
            </a:extLst>
          </p:cNvPr>
          <p:cNvPicPr>
            <a:picLocks noChangeAspect="1"/>
          </p:cNvPicPr>
          <p:nvPr/>
        </p:nvPicPr>
        <p:blipFill>
          <a:blip r:embed="rId6"/>
          <a:stretch>
            <a:fillRect/>
          </a:stretch>
        </p:blipFill>
        <p:spPr>
          <a:xfrm>
            <a:off x="675409" y="1295400"/>
            <a:ext cx="7793182" cy="5334000"/>
          </a:xfrm>
          <a:prstGeom prst="rect">
            <a:avLst/>
          </a:prstGeom>
        </p:spPr>
      </p:pic>
    </p:spTree>
    <p:extLst>
      <p:ext uri="{BB962C8B-B14F-4D97-AF65-F5344CB8AC3E}">
        <p14:creationId xmlns:p14="http://schemas.microsoft.com/office/powerpoint/2010/main" val="3071534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40A939-4585-91DE-63F2-D63CF3917836}"/>
              </a:ext>
            </a:extLst>
          </p:cNvPr>
          <p:cNvPicPr>
            <a:picLocks noChangeAspect="1"/>
          </p:cNvPicPr>
          <p:nvPr/>
        </p:nvPicPr>
        <p:blipFill>
          <a:blip r:embed="rId2"/>
          <a:stretch>
            <a:fillRect/>
          </a:stretch>
        </p:blipFill>
        <p:spPr>
          <a:xfrm>
            <a:off x="184940" y="1600200"/>
            <a:ext cx="8880876" cy="248557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B9C5143-9DAC-F621-4CDF-7226F8348E2B}"/>
                  </a:ext>
                </a:extLst>
              </p14:cNvPr>
              <p14:cNvContentPartPr/>
              <p14:nvPr/>
            </p14:nvContentPartPr>
            <p14:xfrm rot="-632139">
              <a:off x="863630" y="2862392"/>
              <a:ext cx="4794" cy="22806"/>
            </p14:xfrm>
          </p:contentPart>
        </mc:Choice>
        <mc:Fallback xmlns="">
          <p:pic>
            <p:nvPicPr>
              <p:cNvPr id="5" name="Ink 4">
                <a:extLst>
                  <a:ext uri="{FF2B5EF4-FFF2-40B4-BE49-F238E27FC236}">
                    <a16:creationId xmlns:a16="http://schemas.microsoft.com/office/drawing/2014/main" id="{6B9C5143-9DAC-F621-4CDF-7226F8348E2B}"/>
                  </a:ext>
                </a:extLst>
              </p:cNvPr>
              <p:cNvPicPr/>
              <p:nvPr/>
            </p:nvPicPr>
            <p:blipFill>
              <a:blip r:embed="rId4"/>
              <a:stretch>
                <a:fillRect/>
              </a:stretch>
            </p:blipFill>
            <p:spPr>
              <a:xfrm rot="-632139">
                <a:off x="803705" y="2800032"/>
                <a:ext cx="124302" cy="147170"/>
              </a:xfrm>
              <a:prstGeom prst="rect">
                <a:avLst/>
              </a:prstGeom>
            </p:spPr>
          </p:pic>
        </mc:Fallback>
      </mc:AlternateContent>
      <p:grpSp>
        <p:nvGrpSpPr>
          <p:cNvPr id="8" name="Group 7">
            <a:extLst>
              <a:ext uri="{FF2B5EF4-FFF2-40B4-BE49-F238E27FC236}">
                <a16:creationId xmlns:a16="http://schemas.microsoft.com/office/drawing/2014/main" id="{8FB29ACB-7D6A-87AD-28F1-AA99A762920F}"/>
              </a:ext>
            </a:extLst>
          </p:cNvPr>
          <p:cNvGrpSpPr/>
          <p:nvPr/>
        </p:nvGrpSpPr>
        <p:grpSpPr>
          <a:xfrm>
            <a:off x="854147" y="2857415"/>
            <a:ext cx="108000" cy="198720"/>
            <a:chOff x="854147" y="2857415"/>
            <a:chExt cx="108000" cy="198720"/>
          </a:xfrm>
        </p:grpSpPr>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07234D69-E233-67BF-C262-BB7A3EAB0BCA}"/>
                    </a:ext>
                  </a:extLst>
                </p14:cNvPr>
                <p14:cNvContentPartPr/>
                <p14:nvPr/>
              </p14:nvContentPartPr>
              <p14:xfrm>
                <a:off x="854147" y="2863175"/>
                <a:ext cx="37800" cy="192960"/>
              </p14:xfrm>
            </p:contentPart>
          </mc:Choice>
          <mc:Fallback xmlns="">
            <p:pic>
              <p:nvPicPr>
                <p:cNvPr id="6" name="Ink 5">
                  <a:extLst>
                    <a:ext uri="{FF2B5EF4-FFF2-40B4-BE49-F238E27FC236}">
                      <a16:creationId xmlns:a16="http://schemas.microsoft.com/office/drawing/2014/main" id="{07234D69-E233-67BF-C262-BB7A3EAB0BCA}"/>
                    </a:ext>
                  </a:extLst>
                </p:cNvPr>
                <p:cNvPicPr/>
                <p:nvPr/>
              </p:nvPicPr>
              <p:blipFill>
                <a:blip r:embed="rId6"/>
                <a:stretch>
                  <a:fillRect/>
                </a:stretch>
              </p:blipFill>
              <p:spPr>
                <a:xfrm>
                  <a:off x="791147" y="2800175"/>
                  <a:ext cx="16344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3A83C62A-0FBF-83DE-74AF-C1B67971857D}"/>
                    </a:ext>
                  </a:extLst>
                </p14:cNvPr>
                <p14:cNvContentPartPr/>
                <p14:nvPr/>
              </p14:nvContentPartPr>
              <p14:xfrm>
                <a:off x="913907" y="2857415"/>
                <a:ext cx="48240" cy="54360"/>
              </p14:xfrm>
            </p:contentPart>
          </mc:Choice>
          <mc:Fallback xmlns="">
            <p:pic>
              <p:nvPicPr>
                <p:cNvPr id="7" name="Ink 6">
                  <a:extLst>
                    <a:ext uri="{FF2B5EF4-FFF2-40B4-BE49-F238E27FC236}">
                      <a16:creationId xmlns:a16="http://schemas.microsoft.com/office/drawing/2014/main" id="{3A83C62A-0FBF-83DE-74AF-C1B67971857D}"/>
                    </a:ext>
                  </a:extLst>
                </p:cNvPr>
                <p:cNvPicPr/>
                <p:nvPr/>
              </p:nvPicPr>
              <p:blipFill>
                <a:blip r:embed="rId8"/>
                <a:stretch>
                  <a:fillRect/>
                </a:stretch>
              </p:blipFill>
              <p:spPr>
                <a:xfrm>
                  <a:off x="851267" y="2794775"/>
                  <a:ext cx="173880" cy="180000"/>
                </a:xfrm>
                <a:prstGeom prst="rect">
                  <a:avLst/>
                </a:prstGeom>
              </p:spPr>
            </p:pic>
          </mc:Fallback>
        </mc:AlternateContent>
      </p:grpSp>
    </p:spTree>
    <p:extLst>
      <p:ext uri="{BB962C8B-B14F-4D97-AF65-F5344CB8AC3E}">
        <p14:creationId xmlns:p14="http://schemas.microsoft.com/office/powerpoint/2010/main" val="37261678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49ADE-8EDA-44C8-53D7-5B9603526981}"/>
              </a:ext>
            </a:extLst>
          </p:cNvPr>
          <p:cNvSpPr>
            <a:spLocks noGrp="1"/>
          </p:cNvSpPr>
          <p:nvPr>
            <p:ph type="title"/>
          </p:nvPr>
        </p:nvSpPr>
        <p:spPr/>
        <p:txBody>
          <a:bodyPr/>
          <a:lstStyle/>
          <a:p>
            <a:r>
              <a:rPr lang="en-US" dirty="0">
                <a:solidFill>
                  <a:schemeClr val="bg2">
                    <a:lumMod val="50000"/>
                  </a:schemeClr>
                </a:solidFill>
              </a:rPr>
              <a:t>CHEMICAL SHIFT TECHNIQUES</a:t>
            </a:r>
            <a:endParaRPr lang="en-IN" dirty="0">
              <a:solidFill>
                <a:schemeClr val="bg2">
                  <a:lumMod val="50000"/>
                </a:schemeClr>
              </a:solidFill>
            </a:endParaRPr>
          </a:p>
        </p:txBody>
      </p:sp>
      <p:pic>
        <p:nvPicPr>
          <p:cNvPr id="5" name="Content Placeholder 4">
            <a:extLst>
              <a:ext uri="{FF2B5EF4-FFF2-40B4-BE49-F238E27FC236}">
                <a16:creationId xmlns:a16="http://schemas.microsoft.com/office/drawing/2014/main" id="{85607746-C81A-4258-1A4C-3E0E1B1F2645}"/>
              </a:ext>
            </a:extLst>
          </p:cNvPr>
          <p:cNvPicPr>
            <a:picLocks noGrp="1" noChangeAspect="1"/>
          </p:cNvPicPr>
          <p:nvPr>
            <p:ph sz="quarter" idx="1"/>
          </p:nvPr>
        </p:nvPicPr>
        <p:blipFill>
          <a:blip r:embed="rId2"/>
          <a:stretch>
            <a:fillRect/>
          </a:stretch>
        </p:blipFill>
        <p:spPr>
          <a:xfrm>
            <a:off x="189708" y="1905000"/>
            <a:ext cx="8764583" cy="3429000"/>
          </a:xfrm>
          <a:prstGeom prst="rect">
            <a:avLst/>
          </a:prstGeom>
        </p:spPr>
      </p:pic>
    </p:spTree>
    <p:extLst>
      <p:ext uri="{BB962C8B-B14F-4D97-AF65-F5344CB8AC3E}">
        <p14:creationId xmlns:p14="http://schemas.microsoft.com/office/powerpoint/2010/main" val="434103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BDAF97-5847-4C94-6060-7E62BC5231C2}"/>
              </a:ext>
            </a:extLst>
          </p:cNvPr>
          <p:cNvPicPr>
            <a:picLocks noChangeAspect="1"/>
          </p:cNvPicPr>
          <p:nvPr/>
        </p:nvPicPr>
        <p:blipFill>
          <a:blip r:embed="rId2"/>
          <a:stretch>
            <a:fillRect/>
          </a:stretch>
        </p:blipFill>
        <p:spPr>
          <a:xfrm>
            <a:off x="157815" y="1752600"/>
            <a:ext cx="8828369" cy="2743200"/>
          </a:xfrm>
          <a:prstGeom prst="rect">
            <a:avLst/>
          </a:prstGeom>
        </p:spPr>
      </p:pic>
    </p:spTree>
    <p:extLst>
      <p:ext uri="{BB962C8B-B14F-4D97-AF65-F5344CB8AC3E}">
        <p14:creationId xmlns:p14="http://schemas.microsoft.com/office/powerpoint/2010/main" val="368092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69952-CE70-90F1-CAA9-073B6FF1214A}"/>
            </a:ext>
          </a:extLst>
        </p:cNvPr>
        <p:cNvGrpSpPr/>
        <p:nvPr/>
      </p:nvGrpSpPr>
      <p:grpSpPr>
        <a:xfrm>
          <a:off x="0" y="0"/>
          <a:ext cx="0" cy="0"/>
          <a:chOff x="0" y="0"/>
          <a:chExt cx="0" cy="0"/>
        </a:xfrm>
      </p:grpSpPr>
      <p:pic>
        <p:nvPicPr>
          <p:cNvPr id="2" name="Picture 1" descr="Screen Clipping">
            <a:extLst>
              <a:ext uri="{FF2B5EF4-FFF2-40B4-BE49-F238E27FC236}">
                <a16:creationId xmlns:a16="http://schemas.microsoft.com/office/drawing/2014/main" id="{22D455DD-E175-4DA9-E3E4-A711D3C287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6291" y="143902"/>
            <a:ext cx="7332171" cy="3285098"/>
          </a:xfrm>
          <a:prstGeom prst="rect">
            <a:avLst/>
          </a:prstGeom>
        </p:spPr>
      </p:pic>
      <p:pic>
        <p:nvPicPr>
          <p:cNvPr id="4" name="Picture 3">
            <a:extLst>
              <a:ext uri="{FF2B5EF4-FFF2-40B4-BE49-F238E27FC236}">
                <a16:creationId xmlns:a16="http://schemas.microsoft.com/office/drawing/2014/main" id="{6CCE3B43-1B16-0A30-092F-391E14252799}"/>
              </a:ext>
            </a:extLst>
          </p:cNvPr>
          <p:cNvPicPr>
            <a:picLocks noChangeAspect="1"/>
          </p:cNvPicPr>
          <p:nvPr/>
        </p:nvPicPr>
        <p:blipFill>
          <a:blip r:embed="rId3"/>
          <a:stretch>
            <a:fillRect/>
          </a:stretch>
        </p:blipFill>
        <p:spPr>
          <a:xfrm>
            <a:off x="1202228" y="3733800"/>
            <a:ext cx="6739543" cy="2895600"/>
          </a:xfrm>
          <a:prstGeom prst="rect">
            <a:avLst/>
          </a:prstGeom>
        </p:spPr>
      </p:pic>
    </p:spTree>
    <p:extLst>
      <p:ext uri="{BB962C8B-B14F-4D97-AF65-F5344CB8AC3E}">
        <p14:creationId xmlns:p14="http://schemas.microsoft.com/office/powerpoint/2010/main" val="1215868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82880"/>
            <a:ext cx="8305800" cy="707886"/>
          </a:xfrm>
          <a:prstGeom prst="rect">
            <a:avLst/>
          </a:prstGeom>
          <a:noFill/>
        </p:spPr>
        <p:txBody>
          <a:bodyPr wrap="square" rtlCol="0">
            <a:spAutoFit/>
          </a:bodyPr>
          <a:lstStyle/>
          <a:p>
            <a:r>
              <a:rPr lang="en-IN" sz="4000" dirty="0">
                <a:latin typeface="Arial" pitchFamily="34" charset="0"/>
                <a:cs typeface="Arial" pitchFamily="34" charset="0"/>
              </a:rPr>
              <a:t>		</a:t>
            </a:r>
            <a:r>
              <a:rPr lang="en-IN" sz="3200" dirty="0">
                <a:latin typeface="Arial" pitchFamily="34" charset="0"/>
                <a:cs typeface="Arial" pitchFamily="34" charset="0"/>
              </a:rPr>
              <a:t>2. DIXON METHOD </a:t>
            </a:r>
          </a:p>
        </p:txBody>
      </p:sp>
      <p:sp>
        <p:nvSpPr>
          <p:cNvPr id="3" name="TextBox 2"/>
          <p:cNvSpPr txBox="1"/>
          <p:nvPr/>
        </p:nvSpPr>
        <p:spPr>
          <a:xfrm>
            <a:off x="762000" y="1219200"/>
            <a:ext cx="7239000" cy="4401205"/>
          </a:xfrm>
          <a:prstGeom prst="rect">
            <a:avLst/>
          </a:prstGeom>
          <a:noFill/>
        </p:spPr>
        <p:txBody>
          <a:bodyPr wrap="square" rtlCol="0">
            <a:spAutoFit/>
          </a:bodyPr>
          <a:lstStyle/>
          <a:p>
            <a:r>
              <a:rPr lang="en-IN" sz="2800" dirty="0"/>
              <a:t>Based on in phase and out of phase imaging </a:t>
            </a:r>
          </a:p>
          <a:p>
            <a:endParaRPr lang="en-IN" sz="2800" dirty="0"/>
          </a:p>
          <a:p>
            <a:r>
              <a:rPr lang="en-IN" sz="2800" dirty="0"/>
              <a:t>Two sets of images are acquired – one at  ‘ in phase  ‘ TE and other at ‘ </a:t>
            </a:r>
            <a:r>
              <a:rPr lang="en-IN" sz="2800" b="1" dirty="0"/>
              <a:t>out of phase ‘ TE </a:t>
            </a:r>
          </a:p>
          <a:p>
            <a:endParaRPr lang="en-IN" sz="2800" dirty="0"/>
          </a:p>
          <a:p>
            <a:r>
              <a:rPr lang="en-IN" sz="2800" b="1" dirty="0"/>
              <a:t>Addition of these two sets  = ‘ water only” image </a:t>
            </a:r>
          </a:p>
          <a:p>
            <a:endParaRPr lang="en-IN" sz="2800" b="1" dirty="0"/>
          </a:p>
          <a:p>
            <a:r>
              <a:rPr lang="en-IN" sz="2800" b="1" dirty="0"/>
              <a:t>Subtraction of these two sets = “ fat only “ image </a:t>
            </a:r>
          </a:p>
        </p:txBody>
      </p:sp>
    </p:spTree>
    <p:extLst>
      <p:ext uri="{BB962C8B-B14F-4D97-AF65-F5344CB8AC3E}">
        <p14:creationId xmlns:p14="http://schemas.microsoft.com/office/powerpoint/2010/main" val="3980106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957629" cy="6730972"/>
          </a:xfrm>
          <a:prstGeom prst="rect">
            <a:avLst/>
          </a:prstGeom>
        </p:spPr>
      </p:pic>
    </p:spTree>
    <p:extLst>
      <p:ext uri="{BB962C8B-B14F-4D97-AF65-F5344CB8AC3E}">
        <p14:creationId xmlns:p14="http://schemas.microsoft.com/office/powerpoint/2010/main" val="19042182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4242" y="266700"/>
            <a:ext cx="7772400" cy="1143000"/>
          </a:xfrm>
        </p:spPr>
        <p:txBody>
          <a:bodyPr/>
          <a:lstStyle/>
          <a:p>
            <a:r>
              <a:rPr lang="en-IN" b="1" i="1" dirty="0">
                <a:solidFill>
                  <a:schemeClr val="accent1"/>
                </a:solidFill>
              </a:rPr>
              <a:t>FLAIR</a:t>
            </a:r>
            <a:endParaRPr lang="en-IN" dirty="0">
              <a:solidFill>
                <a:schemeClr val="accent1"/>
              </a:solidFill>
            </a:endParaRPr>
          </a:p>
        </p:txBody>
      </p:sp>
      <p:sp>
        <p:nvSpPr>
          <p:cNvPr id="3" name="Content Placeholder 2"/>
          <p:cNvSpPr>
            <a:spLocks noGrp="1"/>
          </p:cNvSpPr>
          <p:nvPr>
            <p:ph sz="quarter" idx="1"/>
          </p:nvPr>
        </p:nvSpPr>
        <p:spPr/>
        <p:txBody>
          <a:bodyPr>
            <a:normAutofit fontScale="77500" lnSpcReduction="20000"/>
          </a:bodyPr>
          <a:lstStyle/>
          <a:p>
            <a:r>
              <a:rPr lang="en-IN" b="1" i="1" dirty="0"/>
              <a:t>An inversion recovery </a:t>
            </a:r>
            <a:r>
              <a:rPr lang="en-IN" dirty="0"/>
              <a:t>pulse is used to null the signal from cerebrospinal fluid .</a:t>
            </a:r>
          </a:p>
          <a:p>
            <a:r>
              <a:rPr lang="en-IN" dirty="0"/>
              <a:t>TI of 1700 to 2200 ms is used</a:t>
            </a:r>
          </a:p>
          <a:p>
            <a:r>
              <a:rPr lang="en-IN" dirty="0"/>
              <a:t>Elimination of the signal from cerebrospinal fluid is useful for detecting lesions that otherwise are not easily distinguishable or for delineating hyperintense lesions that border fluid-containing spaces such as sulci or ventricles in the brain</a:t>
            </a:r>
          </a:p>
          <a:p>
            <a:pPr marL="0" indent="0">
              <a:buNone/>
            </a:pPr>
            <a:endParaRPr lang="en-IN" b="1" dirty="0"/>
          </a:p>
          <a:p>
            <a:pPr marL="0" indent="0">
              <a:buNone/>
            </a:pPr>
            <a:r>
              <a:rPr lang="en-IN" b="1" dirty="0"/>
              <a:t>USES:</a:t>
            </a:r>
          </a:p>
          <a:p>
            <a:r>
              <a:rPr lang="en-IN" dirty="0"/>
              <a:t>CSF partial volume effects and artifacts are removed.</a:t>
            </a:r>
          </a:p>
          <a:p>
            <a:r>
              <a:rPr lang="en-IN" dirty="0"/>
              <a:t>Perilesional </a:t>
            </a:r>
            <a:r>
              <a:rPr lang="en-IN" dirty="0" err="1"/>
              <a:t>edema</a:t>
            </a:r>
            <a:r>
              <a:rPr lang="en-IN" dirty="0"/>
              <a:t>.</a:t>
            </a:r>
          </a:p>
          <a:p>
            <a:r>
              <a:rPr lang="en-IN" dirty="0"/>
              <a:t>Brain infarcts.</a:t>
            </a:r>
          </a:p>
          <a:p>
            <a:r>
              <a:rPr lang="en-IN" dirty="0"/>
              <a:t>MS.</a:t>
            </a:r>
          </a:p>
          <a:p>
            <a:r>
              <a:rPr lang="en-IN" dirty="0"/>
              <a:t>Mesial temporal sclerosis.</a:t>
            </a:r>
          </a:p>
          <a:p>
            <a:r>
              <a:rPr lang="en-IN" dirty="0"/>
              <a:t>SAH.</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600200" y="152400"/>
            <a:ext cx="6324600" cy="5051247"/>
          </a:xfrm>
          <a:prstGeom prst="rect">
            <a:avLst/>
          </a:prstGeom>
          <a:noFill/>
          <a:ln w="9525">
            <a:noFill/>
            <a:miter lim="800000"/>
            <a:headEnd/>
            <a:tailEnd/>
          </a:ln>
        </p:spPr>
      </p:pic>
      <p:sp>
        <p:nvSpPr>
          <p:cNvPr id="5" name="Rectangle 4"/>
          <p:cNvSpPr/>
          <p:nvPr/>
        </p:nvSpPr>
        <p:spPr>
          <a:xfrm>
            <a:off x="914400" y="5278665"/>
            <a:ext cx="7696200" cy="1200329"/>
          </a:xfrm>
          <a:prstGeom prst="rect">
            <a:avLst/>
          </a:prstGeom>
        </p:spPr>
        <p:txBody>
          <a:bodyPr wrap="square">
            <a:spAutoFit/>
          </a:bodyPr>
          <a:lstStyle/>
          <a:p>
            <a:r>
              <a:rPr lang="en-IN" b="1" dirty="0"/>
              <a:t>(</a:t>
            </a:r>
            <a:r>
              <a:rPr lang="en-IN" dirty="0"/>
              <a:t>a) Diagram of the FLAIR sequence shows a TI of 1700–2200 </a:t>
            </a:r>
            <a:r>
              <a:rPr lang="en-IN" dirty="0" err="1"/>
              <a:t>msec</a:t>
            </a:r>
            <a:r>
              <a:rPr lang="en-IN" dirty="0"/>
              <a:t> for</a:t>
            </a:r>
          </a:p>
          <a:p>
            <a:r>
              <a:rPr lang="en-IN" dirty="0"/>
              <a:t>cerebrospinal fluid. (b) Axial T2-weighted fast SE image shows white matter abnormalities</a:t>
            </a:r>
          </a:p>
          <a:p>
            <a:r>
              <a:rPr lang="en-IN" dirty="0"/>
              <a:t>in the left temporal lobe. (c) Axial T2-weighted FLAIR image obtained with </a:t>
            </a:r>
            <a:r>
              <a:rPr lang="en-IN" dirty="0" err="1"/>
              <a:t>nulling</a:t>
            </a:r>
            <a:r>
              <a:rPr lang="en-IN" dirty="0"/>
              <a:t> of the</a:t>
            </a:r>
          </a:p>
          <a:p>
            <a:r>
              <a:rPr lang="en-IN" dirty="0"/>
              <a:t>signal from cerebrospinal fluid shows the metastatic lesions more clearly.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4" name="Content Placeholder 3"/>
          <p:cNvSpPr>
            <a:spLocks noGrp="1"/>
          </p:cNvSpPr>
          <p:nvPr>
            <p:ph sz="half" idx="2"/>
          </p:nvPr>
        </p:nvSpPr>
        <p:spPr/>
        <p:txBody>
          <a:bodyPr/>
          <a:lstStyle/>
          <a:p>
            <a:endParaRPr lang="en-IN" dirty="0"/>
          </a:p>
        </p:txBody>
      </p:sp>
      <p:sp>
        <p:nvSpPr>
          <p:cNvPr id="6" name="Content Placeholder 5">
            <a:extLst>
              <a:ext uri="{FF2B5EF4-FFF2-40B4-BE49-F238E27FC236}">
                <a16:creationId xmlns:a16="http://schemas.microsoft.com/office/drawing/2014/main" id="{E26115FA-05D6-4A90-774D-BA78B773A035}"/>
              </a:ext>
            </a:extLst>
          </p:cNvPr>
          <p:cNvSpPr>
            <a:spLocks noGrp="1"/>
          </p:cNvSpPr>
          <p:nvPr>
            <p:ph sz="quarter" idx="1"/>
          </p:nvPr>
        </p:nvSpPr>
        <p:spPr/>
        <p:txBody>
          <a:bodyPr/>
          <a:lstStyle/>
          <a:p>
            <a:endParaRPr lang="en-IN"/>
          </a:p>
        </p:txBody>
      </p:sp>
      <p:pic>
        <p:nvPicPr>
          <p:cNvPr id="8" name="Picture 7">
            <a:extLst>
              <a:ext uri="{FF2B5EF4-FFF2-40B4-BE49-F238E27FC236}">
                <a16:creationId xmlns:a16="http://schemas.microsoft.com/office/drawing/2014/main" id="{4F53F8A9-92E2-1AF6-9AC1-610F7F1E03B2}"/>
              </a:ext>
            </a:extLst>
          </p:cNvPr>
          <p:cNvPicPr>
            <a:picLocks noChangeAspect="1"/>
          </p:cNvPicPr>
          <p:nvPr/>
        </p:nvPicPr>
        <p:blipFill>
          <a:blip r:embed="rId2"/>
          <a:stretch>
            <a:fillRect/>
          </a:stretch>
        </p:blipFill>
        <p:spPr>
          <a:xfrm>
            <a:off x="193659" y="646178"/>
            <a:ext cx="8756681" cy="5754622"/>
          </a:xfrm>
          <a:prstGeom prst="rect">
            <a:avLst/>
          </a:prstGeom>
        </p:spPr>
      </p:pic>
    </p:spTree>
    <p:extLst>
      <p:ext uri="{BB962C8B-B14F-4D97-AF65-F5344CB8AC3E}">
        <p14:creationId xmlns:p14="http://schemas.microsoft.com/office/powerpoint/2010/main" val="8742743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1AD51-B81C-F926-B810-10518A72F80D}"/>
              </a:ext>
            </a:extLst>
          </p:cNvPr>
          <p:cNvSpPr>
            <a:spLocks noGrp="1"/>
          </p:cNvSpPr>
          <p:nvPr>
            <p:ph type="title"/>
          </p:nvPr>
        </p:nvSpPr>
        <p:spPr>
          <a:xfrm>
            <a:off x="838200" y="187990"/>
            <a:ext cx="7772400" cy="1143000"/>
          </a:xfrm>
        </p:spPr>
        <p:txBody>
          <a:bodyPr>
            <a:normAutofit fontScale="90000"/>
          </a:bodyPr>
          <a:lstStyle/>
          <a:p>
            <a:r>
              <a:rPr lang="en-US" dirty="0">
                <a:solidFill>
                  <a:schemeClr val="accent1"/>
                </a:solidFill>
              </a:rPr>
              <a:t>MEDIUM TI IR sequence</a:t>
            </a:r>
            <a:br>
              <a:rPr lang="en-US" dirty="0">
                <a:solidFill>
                  <a:schemeClr val="accent1"/>
                </a:solidFill>
              </a:rPr>
            </a:br>
            <a:r>
              <a:rPr lang="en-US" sz="3100" dirty="0" err="1">
                <a:solidFill>
                  <a:schemeClr val="accent1"/>
                </a:solidFill>
              </a:rPr>
              <a:t>E.g</a:t>
            </a:r>
            <a:r>
              <a:rPr lang="en-US" sz="3100" dirty="0">
                <a:solidFill>
                  <a:schemeClr val="accent1"/>
                </a:solidFill>
              </a:rPr>
              <a:t>- MPRAGE</a:t>
            </a:r>
            <a:endParaRPr lang="en-IN" sz="3100" dirty="0">
              <a:solidFill>
                <a:schemeClr val="accent1"/>
              </a:solidFill>
            </a:endParaRPr>
          </a:p>
        </p:txBody>
      </p:sp>
      <p:pic>
        <p:nvPicPr>
          <p:cNvPr id="6" name="Content Placeholder 5">
            <a:extLst>
              <a:ext uri="{FF2B5EF4-FFF2-40B4-BE49-F238E27FC236}">
                <a16:creationId xmlns:a16="http://schemas.microsoft.com/office/drawing/2014/main" id="{83722255-BF8F-1ED1-C1CB-F3D7C917F48E}"/>
              </a:ext>
            </a:extLst>
          </p:cNvPr>
          <p:cNvPicPr>
            <a:picLocks noGrp="1" noChangeAspect="1"/>
          </p:cNvPicPr>
          <p:nvPr>
            <p:ph sz="quarter" idx="1"/>
          </p:nvPr>
        </p:nvPicPr>
        <p:blipFill>
          <a:blip r:embed="rId2"/>
          <a:stretch>
            <a:fillRect/>
          </a:stretch>
        </p:blipFill>
        <p:spPr>
          <a:xfrm>
            <a:off x="1981200" y="2895600"/>
            <a:ext cx="5029200" cy="3774410"/>
          </a:xfrm>
          <a:prstGeom prst="rect">
            <a:avLst/>
          </a:prstGeom>
        </p:spPr>
      </p:pic>
      <p:sp>
        <p:nvSpPr>
          <p:cNvPr id="7" name="TextBox 6">
            <a:extLst>
              <a:ext uri="{FF2B5EF4-FFF2-40B4-BE49-F238E27FC236}">
                <a16:creationId xmlns:a16="http://schemas.microsoft.com/office/drawing/2014/main" id="{8D92851C-C349-4E55-1A52-5BFFEC63C32E}"/>
              </a:ext>
            </a:extLst>
          </p:cNvPr>
          <p:cNvSpPr txBox="1"/>
          <p:nvPr/>
        </p:nvSpPr>
        <p:spPr>
          <a:xfrm>
            <a:off x="1029331" y="1371600"/>
            <a:ext cx="7085338" cy="1754326"/>
          </a:xfrm>
          <a:prstGeom prst="rect">
            <a:avLst/>
          </a:prstGeom>
          <a:noFill/>
        </p:spPr>
        <p:txBody>
          <a:bodyPr wrap="none" rtlCol="0">
            <a:spAutoFit/>
          </a:bodyPr>
          <a:lstStyle/>
          <a:p>
            <a:r>
              <a:rPr lang="en-US" dirty="0"/>
              <a:t>Shows anatomy very well as there is increased contrast between gray-white matter. </a:t>
            </a:r>
          </a:p>
          <a:p>
            <a:endParaRPr lang="en-US" dirty="0"/>
          </a:p>
          <a:p>
            <a:r>
              <a:rPr lang="en-US" b="1" dirty="0"/>
              <a:t>USES:</a:t>
            </a:r>
          </a:p>
          <a:p>
            <a:pPr marL="285750" indent="-285750">
              <a:buFont typeface="Arial" panose="020B0604020202020204" pitchFamily="34" charset="0"/>
              <a:buChar char="•"/>
            </a:pPr>
            <a:r>
              <a:rPr lang="en-US" dirty="0"/>
              <a:t>Epilepsy</a:t>
            </a:r>
          </a:p>
          <a:p>
            <a:pPr marL="285750" indent="-285750">
              <a:buFont typeface="Arial" panose="020B0604020202020204" pitchFamily="34" charset="0"/>
              <a:buChar char="•"/>
            </a:pPr>
            <a:r>
              <a:rPr lang="en-US" dirty="0"/>
              <a:t>Cortical </a:t>
            </a:r>
            <a:r>
              <a:rPr lang="en-US" dirty="0" err="1"/>
              <a:t>dysplasias</a:t>
            </a:r>
            <a:r>
              <a:rPr lang="en-US" dirty="0"/>
              <a:t>.</a:t>
            </a:r>
            <a:endParaRPr lang="en-IN" dirty="0"/>
          </a:p>
          <a:p>
            <a:endParaRPr lang="en-US" dirty="0"/>
          </a:p>
        </p:txBody>
      </p:sp>
    </p:spTree>
    <p:extLst>
      <p:ext uri="{BB962C8B-B14F-4D97-AF65-F5344CB8AC3E}">
        <p14:creationId xmlns:p14="http://schemas.microsoft.com/office/powerpoint/2010/main" val="24815126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ECHO PLANAR IMAGING</a:t>
            </a:r>
          </a:p>
        </p:txBody>
      </p:sp>
      <p:sp>
        <p:nvSpPr>
          <p:cNvPr id="3" name="Content Placeholder 2"/>
          <p:cNvSpPr>
            <a:spLocks noGrp="1"/>
          </p:cNvSpPr>
          <p:nvPr>
            <p:ph sz="quarter" idx="1"/>
          </p:nvPr>
        </p:nvSpPr>
        <p:spPr/>
        <p:txBody>
          <a:bodyPr>
            <a:normAutofit/>
          </a:bodyPr>
          <a:lstStyle/>
          <a:p>
            <a:r>
              <a:rPr lang="en-IN" dirty="0"/>
              <a:t>A single echo train is used to collect data from all lines of k-space during one TR.</a:t>
            </a:r>
          </a:p>
          <a:p>
            <a:r>
              <a:rPr lang="en-IN" dirty="0"/>
              <a:t> Use of this technique shortens the acquisition time substantially.</a:t>
            </a:r>
          </a:p>
          <a:p>
            <a:r>
              <a:rPr lang="en-IN" dirty="0"/>
              <a:t> There are two types of echo-planar imaging sequences: SE and GRE sequences.</a:t>
            </a:r>
          </a:p>
          <a:p>
            <a:r>
              <a:rPr lang="en-IN" dirty="0"/>
              <a:t> All the lines of k-space can be acquired in a single TR (in single-shot echo-planar imaging) or in two or more TRs (in </a:t>
            </a:r>
            <a:r>
              <a:rPr lang="en-IN" dirty="0" err="1"/>
              <a:t>multishot</a:t>
            </a:r>
            <a:r>
              <a:rPr lang="en-IN" dirty="0"/>
              <a:t> echo-planar imaging).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8229600" cy="5745163"/>
          </a:xfrm>
        </p:spPr>
        <p:txBody>
          <a:bodyPr>
            <a:normAutofit/>
          </a:bodyPr>
          <a:lstStyle/>
          <a:p>
            <a:endParaRPr lang="en-IN" dirty="0"/>
          </a:p>
          <a:p>
            <a:r>
              <a:rPr lang="en-IN" dirty="0"/>
              <a:t>In single-shot EPI, TR is effectively infinite.</a:t>
            </a:r>
          </a:p>
          <a:p>
            <a:r>
              <a:rPr lang="en-IN" dirty="0"/>
              <a:t> Thus one can obtain very highly T2- or T2*-weighted contrast with no T1 contribution at all.</a:t>
            </a:r>
          </a:p>
          <a:p>
            <a:r>
              <a:rPr lang="en-IN" dirty="0"/>
              <a:t>Gradient-echo EPI is T2*-weighted and spin-echo EPI is T2 weighted. </a:t>
            </a:r>
          </a:p>
          <a:p>
            <a:r>
              <a:rPr lang="en-IN" dirty="0"/>
              <a:t>T1 weighting can be obtained by the addition of an inversion </a:t>
            </a:r>
            <a:r>
              <a:rPr lang="en-IN" dirty="0" err="1"/>
              <a:t>prepulse</a:t>
            </a:r>
            <a:r>
              <a:rPr lang="en-IN" dirty="0"/>
              <a:t>.</a:t>
            </a:r>
          </a:p>
          <a:p>
            <a:r>
              <a:rPr lang="en-IN" dirty="0"/>
              <a:t> In single-shot EPI, image slices are acquired sequentially, a whole slice at a time from a single RF excitation, usually at modest spatial resolution.</a:t>
            </a:r>
          </a:p>
          <a:p>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685800"/>
            <a:ext cx="7772400" cy="5334000"/>
          </a:xfrm>
        </p:spPr>
        <p:txBody>
          <a:bodyPr>
            <a:normAutofit/>
          </a:bodyPr>
          <a:lstStyle/>
          <a:p>
            <a:pPr>
              <a:buNone/>
            </a:pPr>
            <a:r>
              <a:rPr lang="en-IN" dirty="0"/>
              <a:t>USES:</a:t>
            </a:r>
          </a:p>
          <a:p>
            <a:r>
              <a:rPr lang="en-IN" dirty="0"/>
              <a:t>DWI</a:t>
            </a:r>
          </a:p>
          <a:p>
            <a:r>
              <a:rPr lang="en-IN" dirty="0"/>
              <a:t>PERFUSION IMAGING</a:t>
            </a:r>
          </a:p>
          <a:p>
            <a:r>
              <a:rPr lang="en-IN" dirty="0"/>
              <a:t>FUNCTIONAL IMAGING</a:t>
            </a:r>
          </a:p>
          <a:p>
            <a:r>
              <a:rPr lang="en-IN" dirty="0"/>
              <a:t>REAL TIME CARDIAC IMAGING</a:t>
            </a:r>
          </a:p>
          <a:p>
            <a:r>
              <a:rPr lang="en-IN" dirty="0"/>
              <a:t>INTERVENTIONAL TECHNIQUES</a:t>
            </a:r>
          </a:p>
          <a:p>
            <a:r>
              <a:rPr lang="en-IN" dirty="0"/>
              <a:t>BREATH HOLD TECHNIQUES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Desktop\Image 3.png"/>
          <p:cNvPicPr>
            <a:picLocks noChangeAspect="1" noChangeArrowheads="1"/>
          </p:cNvPicPr>
          <p:nvPr/>
        </p:nvPicPr>
        <p:blipFill>
          <a:blip r:embed="rId2" cstate="print"/>
          <a:srcRect/>
          <a:stretch>
            <a:fillRect/>
          </a:stretch>
        </p:blipFill>
        <p:spPr bwMode="auto">
          <a:xfrm>
            <a:off x="228600" y="304800"/>
            <a:ext cx="8677275" cy="5048250"/>
          </a:xfrm>
          <a:prstGeom prst="rect">
            <a:avLst/>
          </a:prstGeom>
          <a:noFill/>
        </p:spPr>
      </p:pic>
      <p:sp>
        <p:nvSpPr>
          <p:cNvPr id="5" name="Rectangle 4"/>
          <p:cNvSpPr/>
          <p:nvPr/>
        </p:nvSpPr>
        <p:spPr>
          <a:xfrm>
            <a:off x="228600" y="5486400"/>
            <a:ext cx="8077200" cy="646331"/>
          </a:xfrm>
          <a:prstGeom prst="rect">
            <a:avLst/>
          </a:prstGeom>
        </p:spPr>
        <p:txBody>
          <a:bodyPr wrap="square">
            <a:spAutoFit/>
          </a:bodyPr>
          <a:lstStyle/>
          <a:p>
            <a:r>
              <a:rPr lang="en-IN" dirty="0"/>
              <a:t>Gradient echo sequence – first 8 of  typically 64 or 128 readout gradient lobes shown. The dotted lines indicate continuance of the sequence.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b="41533"/>
          <a:stretch>
            <a:fillRect/>
          </a:stretch>
        </p:blipFill>
        <p:spPr bwMode="auto">
          <a:xfrm>
            <a:off x="1000125" y="828675"/>
            <a:ext cx="7143750" cy="3040644"/>
          </a:xfrm>
          <a:prstGeom prst="rect">
            <a:avLst/>
          </a:prstGeom>
          <a:noFill/>
          <a:ln w="9525">
            <a:noFill/>
            <a:miter lim="800000"/>
            <a:headEnd/>
            <a:tailEnd/>
          </a:ln>
        </p:spPr>
      </p:pic>
      <p:sp>
        <p:nvSpPr>
          <p:cNvPr id="3" name="Rectangle 2"/>
          <p:cNvSpPr/>
          <p:nvPr/>
        </p:nvSpPr>
        <p:spPr>
          <a:xfrm>
            <a:off x="2057400" y="4724400"/>
            <a:ext cx="4572000" cy="1200329"/>
          </a:xfrm>
          <a:prstGeom prst="rect">
            <a:avLst/>
          </a:prstGeom>
        </p:spPr>
        <p:txBody>
          <a:bodyPr>
            <a:spAutoFit/>
          </a:bodyPr>
          <a:lstStyle/>
          <a:p>
            <a:r>
              <a:rPr lang="en-IN" b="1" dirty="0"/>
              <a:t>(</a:t>
            </a:r>
            <a:r>
              <a:rPr lang="en-IN" dirty="0"/>
              <a:t>24a) Echo-planar imaging sequence diagram. (24b) Axial T2-weighted echo-planar image (EPI) of the brain, obtained with the pulse sequence shown in 24a.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rPr>
              <a:t>Diffusion-weighted Imaging</a:t>
            </a:r>
            <a:br>
              <a:rPr lang="en-US" b="1" dirty="0">
                <a:solidFill>
                  <a:schemeClr val="accent1"/>
                </a:solidFill>
              </a:rPr>
            </a:br>
            <a:endParaRPr lang="en-US" dirty="0">
              <a:solidFill>
                <a:schemeClr val="accent1"/>
              </a:solidFill>
            </a:endParaRPr>
          </a:p>
        </p:txBody>
      </p:sp>
      <p:sp>
        <p:nvSpPr>
          <p:cNvPr id="3" name="Content Placeholder 2"/>
          <p:cNvSpPr>
            <a:spLocks noGrp="1"/>
          </p:cNvSpPr>
          <p:nvPr>
            <p:ph sz="quarter" idx="1"/>
          </p:nvPr>
        </p:nvSpPr>
        <p:spPr/>
        <p:txBody>
          <a:bodyPr>
            <a:normAutofit/>
          </a:bodyPr>
          <a:lstStyle/>
          <a:p>
            <a:r>
              <a:rPr lang="en-US" dirty="0"/>
              <a:t> Enables one to distinguish between rapid diffusion of protons (unrestricted diffusion) and slow diffusion of protons (restricted diffusion) .</a:t>
            </a:r>
          </a:p>
          <a:p>
            <a:endParaRPr lang="en-US" dirty="0"/>
          </a:p>
          <a:p>
            <a:r>
              <a:rPr lang="en-US" dirty="0"/>
              <a:t> For diffusion-weighted imaging, either an echo-planar or a fast GRE sequence is used , and two equal gradient pulses are applied (one on each side of the 180° RF pulse in echo-planar sequences).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09600"/>
            <a:ext cx="8229600" cy="5516563"/>
          </a:xfrm>
        </p:spPr>
        <p:txBody>
          <a:bodyPr>
            <a:normAutofit/>
          </a:bodyPr>
          <a:lstStyle/>
          <a:p>
            <a:r>
              <a:rPr lang="en-US" dirty="0"/>
              <a:t> If no net movement of spinning nuclei occurs between the applications of the gradient pulses, the first gradient </a:t>
            </a:r>
            <a:r>
              <a:rPr lang="en-US" dirty="0" err="1"/>
              <a:t>dephases</a:t>
            </a:r>
            <a:r>
              <a:rPr lang="en-US" dirty="0"/>
              <a:t> the spins and the second </a:t>
            </a:r>
            <a:r>
              <a:rPr lang="en-US" dirty="0" err="1"/>
              <a:t>rephases</a:t>
            </a:r>
            <a:r>
              <a:rPr lang="en-US" dirty="0"/>
              <a:t> them; therefore, high signal intensity is seen.</a:t>
            </a:r>
            <a:br>
              <a:rPr lang="en-US" dirty="0"/>
            </a:br>
            <a:endParaRPr lang="en-US" dirty="0"/>
          </a:p>
          <a:p>
            <a:r>
              <a:rPr lang="en-US" dirty="0"/>
              <a:t> If there is net movement, the protons are not affected by both gradients (they may undergo </a:t>
            </a:r>
            <a:r>
              <a:rPr lang="en-US" dirty="0" err="1"/>
              <a:t>dephasing</a:t>
            </a:r>
            <a:r>
              <a:rPr lang="en-US" dirty="0"/>
              <a:t> but not </a:t>
            </a:r>
            <a:r>
              <a:rPr lang="en-US" dirty="0" err="1"/>
              <a:t>rephasing</a:t>
            </a:r>
            <a:r>
              <a:rPr lang="en-US" dirty="0"/>
              <a:t>, or vice versa); therefore, the signal intensity is decreased </a:t>
            </a:r>
          </a:p>
          <a:p>
            <a:endParaRPr lang="en-US" dirty="0"/>
          </a:p>
        </p:txBody>
      </p:sp>
    </p:spTree>
    <p:extLst>
      <p:ext uri="{BB962C8B-B14F-4D97-AF65-F5344CB8AC3E}">
        <p14:creationId xmlns:p14="http://schemas.microsoft.com/office/powerpoint/2010/main" val="965079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838200"/>
            <a:ext cx="7645400" cy="2743200"/>
          </a:xfrm>
          <a:prstGeom prst="rect">
            <a:avLst/>
          </a:prstGeom>
        </p:spPr>
      </p:pic>
      <p:sp>
        <p:nvSpPr>
          <p:cNvPr id="5" name="Rectangle 4"/>
          <p:cNvSpPr/>
          <p:nvPr/>
        </p:nvSpPr>
        <p:spPr>
          <a:xfrm>
            <a:off x="2374900" y="4191000"/>
            <a:ext cx="4572000" cy="1200329"/>
          </a:xfrm>
          <a:prstGeom prst="rect">
            <a:avLst/>
          </a:prstGeom>
        </p:spPr>
        <p:txBody>
          <a:bodyPr>
            <a:spAutoFit/>
          </a:bodyPr>
          <a:lstStyle/>
          <a:p>
            <a:r>
              <a:rPr lang="en-US" dirty="0">
                <a:latin typeface="Plantin"/>
              </a:rPr>
              <a:t>Diffusion-weighted imaging sequence diagram. </a:t>
            </a:r>
            <a:r>
              <a:rPr lang="en-US" b="1" dirty="0">
                <a:latin typeface="Plantin-Bold"/>
              </a:rPr>
              <a:t>(25b) </a:t>
            </a:r>
            <a:r>
              <a:rPr lang="en-US" dirty="0">
                <a:latin typeface="Plantin"/>
              </a:rPr>
              <a:t>Axial diffusion-weighted brain image shows areas of restricted diffusion with high signal intensity.</a:t>
            </a:r>
            <a:endParaRPr lang="en-US" dirty="0"/>
          </a:p>
        </p:txBody>
      </p:sp>
    </p:spTree>
    <p:extLst>
      <p:ext uri="{BB962C8B-B14F-4D97-AF65-F5344CB8AC3E}">
        <p14:creationId xmlns:p14="http://schemas.microsoft.com/office/powerpoint/2010/main" val="3064955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82213"/>
            <a:ext cx="8229600" cy="5668963"/>
          </a:xfrm>
        </p:spPr>
        <p:txBody>
          <a:bodyPr>
            <a:normAutofit/>
          </a:bodyPr>
          <a:lstStyle/>
          <a:p>
            <a:r>
              <a:rPr lang="en-US" dirty="0"/>
              <a:t>One of the major uses for diffusion-weighted imaging sequences is in the diagnosis of recent stroke. </a:t>
            </a:r>
          </a:p>
          <a:p>
            <a:endParaRPr lang="en-US" dirty="0"/>
          </a:p>
          <a:p>
            <a:r>
              <a:rPr lang="en-US" dirty="0"/>
              <a:t>However, diffusion-weighted sequences are usually applied in conjunction with apparent </a:t>
            </a:r>
            <a:r>
              <a:rPr lang="fr-FR" dirty="0"/>
              <a:t>diffusion coefficient (ADC) </a:t>
            </a:r>
            <a:r>
              <a:rPr lang="fr-FR" dirty="0" err="1"/>
              <a:t>mapping</a:t>
            </a:r>
            <a:r>
              <a:rPr lang="fr-FR" dirty="0"/>
              <a:t> techniques </a:t>
            </a:r>
          </a:p>
          <a:p>
            <a:endParaRPr lang="fr-FR" dirty="0"/>
          </a:p>
          <a:p>
            <a:r>
              <a:rPr lang="en-US" dirty="0"/>
              <a:t>For the calculation of ADC maps, two sets of images are required: one set obtained without application of a diffusion gradient (which have an appearance similar to that of T2-weightedimages), and one obtained with a diffusion gradient.</a:t>
            </a:r>
          </a:p>
          <a:p>
            <a:pPr marL="0" indent="0">
              <a:buNone/>
            </a:pPr>
            <a:endParaRPr lang="en-US" dirty="0"/>
          </a:p>
          <a:p>
            <a:endParaRPr lang="en-US" dirty="0"/>
          </a:p>
        </p:txBody>
      </p:sp>
    </p:spTree>
    <p:extLst>
      <p:ext uri="{BB962C8B-B14F-4D97-AF65-F5344CB8AC3E}">
        <p14:creationId xmlns:p14="http://schemas.microsoft.com/office/powerpoint/2010/main" val="36009667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The ADC calculation is based on the negative logarithm of the ratio of those two image sets (images obtained with diffusion weighting compared with those obtained without diffusion weighting).</a:t>
            </a:r>
          </a:p>
          <a:p>
            <a:endParaRPr lang="en-US" dirty="0"/>
          </a:p>
          <a:p>
            <a:r>
              <a:rPr lang="en-US" dirty="0"/>
              <a:t>For this reason, areas of restricted diffusion appear dark on ADC maps</a:t>
            </a:r>
          </a:p>
          <a:p>
            <a:endParaRPr lang="en-US" dirty="0"/>
          </a:p>
        </p:txBody>
      </p:sp>
    </p:spTree>
    <p:extLst>
      <p:ext uri="{BB962C8B-B14F-4D97-AF65-F5344CB8AC3E}">
        <p14:creationId xmlns:p14="http://schemas.microsoft.com/office/powerpoint/2010/main" val="13245179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685800"/>
            <a:ext cx="8229600" cy="5668963"/>
          </a:xfrm>
        </p:spPr>
        <p:txBody>
          <a:bodyPr>
            <a:normAutofit/>
          </a:bodyPr>
          <a:lstStyle/>
          <a:p>
            <a:r>
              <a:rPr lang="en-US" dirty="0"/>
              <a:t>Sometimes, the appearance of high signal intensity on diffusion-weighted images also may be due to T2 effects, or so-called T2 shine-through.</a:t>
            </a:r>
          </a:p>
          <a:p>
            <a:endParaRPr lang="en-US" dirty="0"/>
          </a:p>
          <a:p>
            <a:r>
              <a:rPr lang="en-US" dirty="0"/>
              <a:t>The absence of these effects on ADC maps allows areas of restricted diffusion from recent stroke to appear dark and areas of unrestricted diffusion in remote tissues (or areas of older stroke) to appear relatively bright .</a:t>
            </a:r>
          </a:p>
          <a:p>
            <a:endParaRPr lang="en-US" dirty="0"/>
          </a:p>
          <a:p>
            <a:r>
              <a:rPr lang="en-US" dirty="0"/>
              <a:t> Therefore, diffusion weighted images and ADC maps together allow the determination of the age of a stroke.</a:t>
            </a:r>
          </a:p>
        </p:txBody>
      </p:sp>
    </p:spTree>
    <p:extLst>
      <p:ext uri="{BB962C8B-B14F-4D97-AF65-F5344CB8AC3E}">
        <p14:creationId xmlns:p14="http://schemas.microsoft.com/office/powerpoint/2010/main" val="33064709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CC3A725-AC25-26FB-DBC1-DE9493406CAB}"/>
              </a:ext>
            </a:extLst>
          </p:cNvPr>
          <p:cNvPicPr>
            <a:picLocks noChangeAspect="1"/>
          </p:cNvPicPr>
          <p:nvPr/>
        </p:nvPicPr>
        <p:blipFill>
          <a:blip r:embed="rId2"/>
          <a:stretch>
            <a:fillRect/>
          </a:stretch>
        </p:blipFill>
        <p:spPr>
          <a:xfrm>
            <a:off x="0" y="368967"/>
            <a:ext cx="8077200" cy="2867425"/>
          </a:xfrm>
          <a:prstGeom prst="rect">
            <a:avLst/>
          </a:prstGeom>
        </p:spPr>
      </p:pic>
      <p:sp>
        <p:nvSpPr>
          <p:cNvPr id="8" name="TextBox 7">
            <a:extLst>
              <a:ext uri="{FF2B5EF4-FFF2-40B4-BE49-F238E27FC236}">
                <a16:creationId xmlns:a16="http://schemas.microsoft.com/office/drawing/2014/main" id="{100B11EE-5014-134D-BCB5-75422785B763}"/>
              </a:ext>
            </a:extLst>
          </p:cNvPr>
          <p:cNvSpPr txBox="1"/>
          <p:nvPr/>
        </p:nvSpPr>
        <p:spPr>
          <a:xfrm>
            <a:off x="762000" y="3617597"/>
            <a:ext cx="7315200" cy="3046988"/>
          </a:xfrm>
          <a:prstGeom prst="rect">
            <a:avLst/>
          </a:prstGeom>
          <a:noFill/>
        </p:spPr>
        <p:txBody>
          <a:bodyPr wrap="square" rtlCol="0">
            <a:spAutoFit/>
          </a:bodyPr>
          <a:lstStyle/>
          <a:p>
            <a:r>
              <a:rPr lang="en-US" sz="2400" b="1" dirty="0"/>
              <a:t>USES OF DWI:</a:t>
            </a:r>
          </a:p>
          <a:p>
            <a:pPr marL="285750" indent="-285750">
              <a:buFont typeface="Arial" panose="020B0604020202020204" pitchFamily="34" charset="0"/>
              <a:buChar char="•"/>
            </a:pPr>
            <a:r>
              <a:rPr lang="en-US" sz="2400" dirty="0"/>
              <a:t>Stroke Acute infarct will show diffusion restriction due to cytotoxic edema.</a:t>
            </a:r>
          </a:p>
          <a:p>
            <a:pPr marL="285750" indent="-285750">
              <a:buFont typeface="Arial" panose="020B0604020202020204" pitchFamily="34" charset="0"/>
              <a:buChar char="•"/>
            </a:pPr>
            <a:r>
              <a:rPr lang="en-US" sz="2400" dirty="0"/>
              <a:t>Epidermoid cyst vs Arachnoid Cyst- Epidermoid cyst will show restriction diffusion.</a:t>
            </a:r>
          </a:p>
          <a:p>
            <a:pPr marL="285750" indent="-285750">
              <a:buFont typeface="Arial" panose="020B0604020202020204" pitchFamily="34" charset="0"/>
              <a:buChar char="•"/>
            </a:pPr>
            <a:r>
              <a:rPr lang="en-US" sz="2400" dirty="0"/>
              <a:t>To distinguish between abscess and cystic lesion- Abscess will show diffusion restriction.</a:t>
            </a:r>
          </a:p>
          <a:p>
            <a:pPr marL="285750" indent="-285750">
              <a:buFont typeface="Arial" panose="020B0604020202020204" pitchFamily="34" charset="0"/>
              <a:buChar char="•"/>
            </a:pPr>
            <a:r>
              <a:rPr lang="en-US" sz="2400" dirty="0"/>
              <a:t>Brain tumors due to high cellularity show restricted diffusion.</a:t>
            </a:r>
            <a:endParaRPr lang="en-IN" sz="2400" dirty="0"/>
          </a:p>
        </p:txBody>
      </p:sp>
    </p:spTree>
    <p:extLst>
      <p:ext uri="{BB962C8B-B14F-4D97-AF65-F5344CB8AC3E}">
        <p14:creationId xmlns:p14="http://schemas.microsoft.com/office/powerpoint/2010/main" val="5229151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9335EF-C6F4-7915-6D74-7A515884A901}"/>
              </a:ext>
            </a:extLst>
          </p:cNvPr>
          <p:cNvPicPr>
            <a:picLocks noChangeAspect="1"/>
          </p:cNvPicPr>
          <p:nvPr/>
        </p:nvPicPr>
        <p:blipFill>
          <a:blip r:embed="rId2"/>
          <a:stretch>
            <a:fillRect/>
          </a:stretch>
        </p:blipFill>
        <p:spPr>
          <a:xfrm>
            <a:off x="964325" y="1371600"/>
            <a:ext cx="7215349" cy="3667350"/>
          </a:xfrm>
          <a:prstGeom prst="rect">
            <a:avLst/>
          </a:prstGeom>
        </p:spPr>
      </p:pic>
    </p:spTree>
    <p:extLst>
      <p:ext uri="{BB962C8B-B14F-4D97-AF65-F5344CB8AC3E}">
        <p14:creationId xmlns:p14="http://schemas.microsoft.com/office/powerpoint/2010/main" val="38288661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52400" y="152400"/>
            <a:ext cx="8568519" cy="3237083"/>
          </a:xfrm>
          <a:prstGeom prst="rect">
            <a:avLst/>
          </a:prstGeom>
        </p:spPr>
      </p:pic>
      <p:sp>
        <p:nvSpPr>
          <p:cNvPr id="3" name="Rectangle 2"/>
          <p:cNvSpPr/>
          <p:nvPr/>
        </p:nvSpPr>
        <p:spPr>
          <a:xfrm>
            <a:off x="0" y="3700482"/>
            <a:ext cx="9067800" cy="1754326"/>
          </a:xfrm>
          <a:prstGeom prst="rect">
            <a:avLst/>
          </a:prstGeom>
        </p:spPr>
        <p:txBody>
          <a:bodyPr wrap="square">
            <a:spAutoFit/>
          </a:bodyPr>
          <a:lstStyle/>
          <a:p>
            <a:r>
              <a:rPr lang="en-US" dirty="0">
                <a:latin typeface="Plantin"/>
              </a:rPr>
              <a:t>Combination of FLAIR and diffusion-weighted imaging with ADC mapping for depiction of effects of multiple strokes. </a:t>
            </a:r>
            <a:r>
              <a:rPr lang="en-US" b="1" dirty="0">
                <a:latin typeface="Plantin-Bold"/>
              </a:rPr>
              <a:t>(a) </a:t>
            </a:r>
            <a:r>
              <a:rPr lang="en-US" dirty="0">
                <a:latin typeface="Plantin"/>
              </a:rPr>
              <a:t>Axial T2-weighted FLAIR image shows three areas affected by strokes (arrows). </a:t>
            </a:r>
            <a:r>
              <a:rPr lang="en-US" b="1" dirty="0">
                <a:latin typeface="Plantin-Bold"/>
              </a:rPr>
              <a:t>(b, c) </a:t>
            </a:r>
            <a:r>
              <a:rPr lang="en-US" dirty="0">
                <a:latin typeface="Plantin"/>
              </a:rPr>
              <a:t>Axial diffusion-weighted echo-planar image </a:t>
            </a:r>
            <a:r>
              <a:rPr lang="en-US" b="1" dirty="0">
                <a:latin typeface="Plantin-Bold"/>
              </a:rPr>
              <a:t>(b) </a:t>
            </a:r>
            <a:r>
              <a:rPr lang="en-US" dirty="0">
                <a:latin typeface="Plantin"/>
              </a:rPr>
              <a:t>and ADC map </a:t>
            </a:r>
            <a:r>
              <a:rPr lang="en-US" b="1" dirty="0">
                <a:latin typeface="Plantin-Bold"/>
              </a:rPr>
              <a:t>(c) </a:t>
            </a:r>
            <a:r>
              <a:rPr lang="en-US" dirty="0">
                <a:latin typeface="Plantin"/>
              </a:rPr>
              <a:t>allow determination of the age of the strokes: The affected areas of the right frontal operculum and left frontal lobe (single arrows) show no evidence of restricted diffusion; </a:t>
            </a:r>
            <a:endParaRPr lang="en-US" dirty="0"/>
          </a:p>
        </p:txBody>
      </p:sp>
    </p:spTree>
    <p:extLst>
      <p:ext uri="{BB962C8B-B14F-4D97-AF65-F5344CB8AC3E}">
        <p14:creationId xmlns:p14="http://schemas.microsoft.com/office/powerpoint/2010/main" val="20987752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PERFUSION IMAGING </a:t>
            </a:r>
          </a:p>
        </p:txBody>
      </p:sp>
      <p:sp>
        <p:nvSpPr>
          <p:cNvPr id="3" name="Content Placeholder 2"/>
          <p:cNvSpPr>
            <a:spLocks noGrp="1"/>
          </p:cNvSpPr>
          <p:nvPr>
            <p:ph sz="quarter" idx="1"/>
          </p:nvPr>
        </p:nvSpPr>
        <p:spPr/>
        <p:txBody>
          <a:bodyPr>
            <a:normAutofit/>
          </a:bodyPr>
          <a:lstStyle/>
          <a:p>
            <a:r>
              <a:rPr lang="en-US" dirty="0"/>
              <a:t>Perfusion refers to the capillary blood supply to a tissue</a:t>
            </a:r>
          </a:p>
          <a:p>
            <a:endParaRPr lang="en-US" dirty="0"/>
          </a:p>
          <a:p>
            <a:r>
              <a:rPr lang="en-US" dirty="0"/>
              <a:t>Two MRI techniques for imaging perfusion have been developed in the last few years, both using a contrast agent to distinguish perfused tissue from </a:t>
            </a:r>
            <a:r>
              <a:rPr lang="en-US" dirty="0" err="1"/>
              <a:t>unperfused</a:t>
            </a:r>
            <a:r>
              <a:rPr lang="en-US" dirty="0"/>
              <a:t>, primarily for neurological applications.</a:t>
            </a:r>
          </a:p>
        </p:txBody>
      </p:sp>
    </p:spTree>
    <p:extLst>
      <p:ext uri="{BB962C8B-B14F-4D97-AF65-F5344CB8AC3E}">
        <p14:creationId xmlns:p14="http://schemas.microsoft.com/office/powerpoint/2010/main" val="21504458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8229600" cy="5668963"/>
          </a:xfrm>
        </p:spPr>
        <p:txBody>
          <a:bodyPr>
            <a:normAutofit/>
          </a:bodyPr>
          <a:lstStyle/>
          <a:p>
            <a:r>
              <a:rPr lang="en-US" dirty="0"/>
              <a:t>The quicker method is to image the required slices rapidly and repeatedly during the first pass of a gadolinium bolus, sometimes referred to as ‘dynamic susceptibility contrast MRI’ (DSC-MRI).</a:t>
            </a:r>
          </a:p>
          <a:p>
            <a:endParaRPr lang="en-US" dirty="0"/>
          </a:p>
          <a:p>
            <a:r>
              <a:rPr lang="en-US" dirty="0"/>
              <a:t>The other technique tags protons in the arterial blood supply with a magnetic ‘label’, then images the required slices with and without the labelling</a:t>
            </a:r>
          </a:p>
          <a:p>
            <a:endParaRPr lang="en-US" dirty="0"/>
          </a:p>
          <a:p>
            <a:endParaRPr lang="en-US" dirty="0"/>
          </a:p>
        </p:txBody>
      </p:sp>
    </p:spTree>
    <p:extLst>
      <p:ext uri="{BB962C8B-B14F-4D97-AF65-F5344CB8AC3E}">
        <p14:creationId xmlns:p14="http://schemas.microsoft.com/office/powerpoint/2010/main" val="38389225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944562"/>
          </a:xfrm>
        </p:spPr>
        <p:txBody>
          <a:bodyPr>
            <a:normAutofit fontScale="90000"/>
          </a:bodyPr>
          <a:lstStyle/>
          <a:p>
            <a:r>
              <a:rPr lang="en-US" b="1" dirty="0"/>
              <a:t>Dynamic susceptibility contrast MRI</a:t>
            </a:r>
            <a:endParaRPr lang="en-US" dirty="0"/>
          </a:p>
        </p:txBody>
      </p:sp>
      <p:sp>
        <p:nvSpPr>
          <p:cNvPr id="3" name="Content Placeholder 2"/>
          <p:cNvSpPr>
            <a:spLocks noGrp="1"/>
          </p:cNvSpPr>
          <p:nvPr>
            <p:ph idx="1"/>
          </p:nvPr>
        </p:nvSpPr>
        <p:spPr/>
        <p:txBody>
          <a:bodyPr>
            <a:normAutofit fontScale="92500" lnSpcReduction="10000"/>
          </a:bodyPr>
          <a:lstStyle/>
          <a:p>
            <a:r>
              <a:rPr lang="en-US" dirty="0"/>
              <a:t>In DSC-MRI a volume of tissue, usually only a few slices, is imaged repeatedly using an EPI sequence.</a:t>
            </a:r>
          </a:p>
          <a:p>
            <a:endParaRPr lang="en-US" dirty="0"/>
          </a:p>
          <a:p>
            <a:r>
              <a:rPr lang="en-US" dirty="0"/>
              <a:t> After a few images have been collected as a baseline, a bolus of gadolinium is injected as fast as possible. </a:t>
            </a:r>
          </a:p>
          <a:p>
            <a:endParaRPr lang="en-US" dirty="0"/>
          </a:p>
          <a:p>
            <a:r>
              <a:rPr lang="en-US" dirty="0"/>
              <a:t>During the first pass through the intracranial circulation the gadolinium remains in the vasculature, causing a reduction of T2 and T2*. </a:t>
            </a:r>
          </a:p>
          <a:p>
            <a:endParaRPr lang="en-US" dirty="0"/>
          </a:p>
          <a:p>
            <a:r>
              <a:rPr lang="en-US" dirty="0"/>
              <a:t>The second pass may also be detected as a slight drop in intensity, before the signal returns to baseline. </a:t>
            </a:r>
          </a:p>
          <a:p>
            <a:endParaRPr lang="en-US" dirty="0"/>
          </a:p>
        </p:txBody>
      </p:sp>
    </p:spTree>
    <p:extLst>
      <p:ext uri="{BB962C8B-B14F-4D97-AF65-F5344CB8AC3E}">
        <p14:creationId xmlns:p14="http://schemas.microsoft.com/office/powerpoint/2010/main" val="14820279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dirty="0"/>
              <a:t>The whole imaging sequence takes no more than 2–3 min.</a:t>
            </a:r>
          </a:p>
          <a:p>
            <a:pPr marL="0" indent="0">
              <a:buNone/>
            </a:pPr>
            <a:endParaRPr lang="en-US" dirty="0"/>
          </a:p>
          <a:p>
            <a:r>
              <a:rPr lang="en-IN" dirty="0"/>
              <a:t>The signal drop is assumed to be proportional to the perfusion. </a:t>
            </a:r>
          </a:p>
          <a:p>
            <a:pPr marL="0" indent="0">
              <a:buNone/>
            </a:pPr>
            <a:endParaRPr lang="en-IN" dirty="0"/>
          </a:p>
          <a:p>
            <a:r>
              <a:rPr lang="en-US" dirty="0" err="1"/>
              <a:t>rCBV</a:t>
            </a:r>
            <a:r>
              <a:rPr lang="en-US" dirty="0"/>
              <a:t>, </a:t>
            </a:r>
            <a:r>
              <a:rPr lang="en-US" dirty="0" err="1"/>
              <a:t>rMTT</a:t>
            </a:r>
            <a:r>
              <a:rPr lang="en-US" dirty="0"/>
              <a:t> and </a:t>
            </a:r>
            <a:r>
              <a:rPr lang="en-US" dirty="0" err="1"/>
              <a:t>rCBF</a:t>
            </a:r>
            <a:r>
              <a:rPr lang="en-US" dirty="0"/>
              <a:t> are calculated.</a:t>
            </a:r>
          </a:p>
          <a:p>
            <a:pPr marL="0" indent="0">
              <a:buNone/>
            </a:pPr>
            <a:endParaRPr lang="en-US" dirty="0"/>
          </a:p>
        </p:txBody>
      </p:sp>
    </p:spTree>
    <p:extLst>
      <p:ext uri="{BB962C8B-B14F-4D97-AF65-F5344CB8AC3E}">
        <p14:creationId xmlns:p14="http://schemas.microsoft.com/office/powerpoint/2010/main" val="7674092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r>
              <a:rPr lang="en-US" dirty="0"/>
              <a:t>There should be at least five images (time points) in the baseline section for analysis purposes; since a bolus injection in the antecubital vein typically takes 8–10 s to reach the brain, the injection should be started soon after the start of the imaging sequence.</a:t>
            </a:r>
          </a:p>
          <a:p>
            <a:endParaRPr lang="en-US" dirty="0"/>
          </a:p>
          <a:p>
            <a:r>
              <a:rPr lang="en-US" dirty="0"/>
              <a:t>Using a power injector an injection rate of 3–5 ml/s  is necessary to achieve a good bolus</a:t>
            </a:r>
          </a:p>
        </p:txBody>
      </p:sp>
    </p:spTree>
    <p:extLst>
      <p:ext uri="{BB962C8B-B14F-4D97-AF65-F5344CB8AC3E}">
        <p14:creationId xmlns:p14="http://schemas.microsoft.com/office/powerpoint/2010/main" val="42821679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57200"/>
            <a:ext cx="7467600" cy="646331"/>
          </a:xfrm>
          <a:prstGeom prst="rect">
            <a:avLst/>
          </a:prstGeom>
          <a:noFill/>
        </p:spPr>
        <p:txBody>
          <a:bodyPr wrap="square" rtlCol="0">
            <a:spAutoFit/>
          </a:bodyPr>
          <a:lstStyle/>
          <a:p>
            <a:r>
              <a:rPr lang="en-IN" sz="3600" dirty="0"/>
              <a:t>USES OF PERFUSION IMAGING </a:t>
            </a:r>
          </a:p>
        </p:txBody>
      </p:sp>
      <p:sp>
        <p:nvSpPr>
          <p:cNvPr id="3" name="TextBox 2"/>
          <p:cNvSpPr txBox="1"/>
          <p:nvPr/>
        </p:nvSpPr>
        <p:spPr>
          <a:xfrm>
            <a:off x="762000" y="1295400"/>
            <a:ext cx="7696200" cy="3970318"/>
          </a:xfrm>
          <a:prstGeom prst="rect">
            <a:avLst/>
          </a:prstGeom>
          <a:noFill/>
        </p:spPr>
        <p:txBody>
          <a:bodyPr wrap="square" rtlCol="0">
            <a:spAutoFit/>
          </a:bodyPr>
          <a:lstStyle/>
          <a:p>
            <a:r>
              <a:rPr lang="en-IN" sz="3600" dirty="0"/>
              <a:t>1. PWI is more sensitive than DWI for detecting ischemia in early period after the onset of arterial occlusion.</a:t>
            </a:r>
          </a:p>
          <a:p>
            <a:r>
              <a:rPr lang="en-IN" sz="3600" dirty="0"/>
              <a:t>2. Grading Tumours </a:t>
            </a:r>
          </a:p>
          <a:p>
            <a:r>
              <a:rPr lang="en-IN" sz="3600" dirty="0"/>
              <a:t>3 Guiding </a:t>
            </a:r>
            <a:r>
              <a:rPr lang="en-IN" sz="3600" dirty="0" err="1"/>
              <a:t>biospies</a:t>
            </a:r>
            <a:r>
              <a:rPr lang="en-IN" sz="3600" dirty="0"/>
              <a:t> </a:t>
            </a:r>
          </a:p>
          <a:p>
            <a:r>
              <a:rPr lang="en-IN" sz="3600" dirty="0"/>
              <a:t>4 . Differentiation of recurrent tumour </a:t>
            </a:r>
            <a:r>
              <a:rPr lang="en-IN" sz="3600" dirty="0" err="1"/>
              <a:t>vs</a:t>
            </a:r>
            <a:r>
              <a:rPr lang="en-IN" sz="3600" dirty="0"/>
              <a:t> radiation necrosis </a:t>
            </a:r>
          </a:p>
        </p:txBody>
      </p:sp>
    </p:spTree>
    <p:extLst>
      <p:ext uri="{BB962C8B-B14F-4D97-AF65-F5344CB8AC3E}">
        <p14:creationId xmlns:p14="http://schemas.microsoft.com/office/powerpoint/2010/main" val="40543064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652712" y="395287"/>
            <a:ext cx="3838575" cy="6067425"/>
          </a:xfrm>
          <a:prstGeom prst="rect">
            <a:avLst/>
          </a:prstGeom>
        </p:spPr>
      </p:pic>
    </p:spTree>
    <p:extLst>
      <p:ext uri="{BB962C8B-B14F-4D97-AF65-F5344CB8AC3E}">
        <p14:creationId xmlns:p14="http://schemas.microsoft.com/office/powerpoint/2010/main" val="21153911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95400" y="304800"/>
            <a:ext cx="6477000" cy="369332"/>
          </a:xfrm>
          <a:prstGeom prst="rect">
            <a:avLst/>
          </a:prstGeom>
          <a:noFill/>
        </p:spPr>
        <p:txBody>
          <a:bodyPr wrap="square" rtlCol="0">
            <a:spAutoFit/>
          </a:bodyPr>
          <a:lstStyle/>
          <a:p>
            <a:r>
              <a:rPr lang="en-IN" dirty="0"/>
              <a:t>Pic of perfusion imaging </a:t>
            </a:r>
          </a:p>
        </p:txBody>
      </p:sp>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895"/>
            <a:ext cx="9144000" cy="6933313"/>
          </a:xfrm>
          <a:prstGeom prst="rect">
            <a:avLst/>
          </a:prstGeom>
        </p:spPr>
      </p:pic>
    </p:spTree>
    <p:extLst>
      <p:ext uri="{BB962C8B-B14F-4D97-AF65-F5344CB8AC3E}">
        <p14:creationId xmlns:p14="http://schemas.microsoft.com/office/powerpoint/2010/main" val="41332192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ARTERIAL SPIN LABELLING </a:t>
            </a:r>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981200"/>
            <a:ext cx="9144000" cy="4876799"/>
          </a:xfrm>
        </p:spPr>
      </p:pic>
      <p:sp>
        <p:nvSpPr>
          <p:cNvPr id="5" name="TextBox 4"/>
          <p:cNvSpPr txBox="1"/>
          <p:nvPr/>
        </p:nvSpPr>
        <p:spPr>
          <a:xfrm>
            <a:off x="228600" y="1295400"/>
            <a:ext cx="8305800" cy="954107"/>
          </a:xfrm>
          <a:prstGeom prst="rect">
            <a:avLst/>
          </a:prstGeom>
          <a:noFill/>
        </p:spPr>
        <p:txBody>
          <a:bodyPr wrap="square" rtlCol="0">
            <a:spAutoFit/>
          </a:bodyPr>
          <a:lstStyle/>
          <a:p>
            <a:r>
              <a:rPr lang="en-IN" sz="2800" dirty="0"/>
              <a:t>TAGGED IMAGE – CONTROL IMAGE = TAGGED BLOOD </a:t>
            </a:r>
          </a:p>
        </p:txBody>
      </p:sp>
    </p:spTree>
    <p:extLst>
      <p:ext uri="{BB962C8B-B14F-4D97-AF65-F5344CB8AC3E}">
        <p14:creationId xmlns:p14="http://schemas.microsoft.com/office/powerpoint/2010/main" val="23917979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Functional MRI</a:t>
            </a:r>
          </a:p>
        </p:txBody>
      </p:sp>
      <p:sp>
        <p:nvSpPr>
          <p:cNvPr id="3" name="Content Placeholder 2"/>
          <p:cNvSpPr>
            <a:spLocks noGrp="1"/>
          </p:cNvSpPr>
          <p:nvPr>
            <p:ph sz="quarter" idx="1"/>
          </p:nvPr>
        </p:nvSpPr>
        <p:spPr/>
        <p:txBody>
          <a:bodyPr/>
          <a:lstStyle/>
          <a:p>
            <a:r>
              <a:rPr lang="en-US" dirty="0"/>
              <a:t>In recent years the term functional MRI or fMRI has become synonymous with brain activation imaging using the BOLD effect.</a:t>
            </a:r>
          </a:p>
        </p:txBody>
      </p:sp>
    </p:spTree>
    <p:extLst>
      <p:ext uri="{BB962C8B-B14F-4D97-AF65-F5344CB8AC3E}">
        <p14:creationId xmlns:p14="http://schemas.microsoft.com/office/powerpoint/2010/main" val="33170067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BOLD effect</a:t>
            </a:r>
            <a:br>
              <a:rPr lang="en-US" b="1" dirty="0"/>
            </a:br>
            <a:endParaRPr lang="en-US" dirty="0"/>
          </a:p>
        </p:txBody>
      </p:sp>
      <p:sp>
        <p:nvSpPr>
          <p:cNvPr id="3" name="Content Placeholder 2"/>
          <p:cNvSpPr>
            <a:spLocks noGrp="1"/>
          </p:cNvSpPr>
          <p:nvPr>
            <p:ph sz="quarter" idx="1"/>
          </p:nvPr>
        </p:nvSpPr>
        <p:spPr/>
        <p:txBody>
          <a:bodyPr>
            <a:normAutofit/>
          </a:bodyPr>
          <a:lstStyle/>
          <a:p>
            <a:r>
              <a:rPr lang="en-US" dirty="0"/>
              <a:t> BOLD (</a:t>
            </a:r>
            <a:r>
              <a:rPr lang="en-US" b="1" dirty="0" err="1"/>
              <a:t>B</a:t>
            </a:r>
            <a:r>
              <a:rPr lang="en-US" dirty="0" err="1"/>
              <a:t>lood</a:t>
            </a:r>
            <a:r>
              <a:rPr lang="en-US" b="1" dirty="0" err="1"/>
              <a:t>O</a:t>
            </a:r>
            <a:r>
              <a:rPr lang="en-US" dirty="0" err="1"/>
              <a:t>xygenation</a:t>
            </a:r>
            <a:r>
              <a:rPr lang="en-US" dirty="0"/>
              <a:t> </a:t>
            </a:r>
            <a:r>
              <a:rPr lang="en-US" b="1" dirty="0"/>
              <a:t>L</a:t>
            </a:r>
            <a:r>
              <a:rPr lang="en-US" dirty="0"/>
              <a:t>evel </a:t>
            </a:r>
            <a:r>
              <a:rPr lang="en-US" b="1" dirty="0"/>
              <a:t>D</a:t>
            </a:r>
            <a:r>
              <a:rPr lang="en-US" dirty="0"/>
              <a:t>ependent) </a:t>
            </a:r>
          </a:p>
          <a:p>
            <a:r>
              <a:rPr lang="en-US" dirty="0" err="1"/>
              <a:t>Oxyhaemoglobin</a:t>
            </a:r>
            <a:r>
              <a:rPr lang="en-US" dirty="0"/>
              <a:t> is diamagnetic (i.e. essentially nonmagnetic) and that </a:t>
            </a:r>
            <a:r>
              <a:rPr lang="en-US" dirty="0" err="1"/>
              <a:t>deoxyhaemoglobin</a:t>
            </a:r>
            <a:r>
              <a:rPr lang="en-US" dirty="0"/>
              <a:t> is paramagnetic. </a:t>
            </a:r>
          </a:p>
          <a:p>
            <a:r>
              <a:rPr lang="en-US" dirty="0"/>
              <a:t>This means that deoxygenated blood has a shorter T2* and hence lower MR signal than fully oxygenated blood.</a:t>
            </a:r>
          </a:p>
          <a:p>
            <a:r>
              <a:rPr lang="en-US" dirty="0"/>
              <a:t> That the opposite was observed in visual cortex during sensory stimulation was initially surprising – the MR signal increasing or ‘lighting up’ at times when oxygen consumption was heightened due to neuronal activity </a:t>
            </a:r>
          </a:p>
        </p:txBody>
      </p:sp>
    </p:spTree>
    <p:extLst>
      <p:ext uri="{BB962C8B-B14F-4D97-AF65-F5344CB8AC3E}">
        <p14:creationId xmlns:p14="http://schemas.microsoft.com/office/powerpoint/2010/main" val="37206977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8229600" cy="5592763"/>
          </a:xfrm>
        </p:spPr>
        <p:txBody>
          <a:bodyPr>
            <a:normAutofit/>
          </a:bodyPr>
          <a:lstStyle/>
          <a:p>
            <a:r>
              <a:rPr lang="en-US" dirty="0"/>
              <a:t>The scientific consensus is now that the increased consumption of oxygen by neurons during activation is accompanied by a disproportionate increase in the supply of fully oxygenated blood, so that downstream from the site of activation the concentration of </a:t>
            </a:r>
            <a:r>
              <a:rPr lang="en-US" dirty="0" err="1"/>
              <a:t>deoxyhaemoglobin</a:t>
            </a:r>
            <a:r>
              <a:rPr lang="en-US" dirty="0"/>
              <a:t> decreases and so T2* is elevated and the MR signal increases. </a:t>
            </a:r>
          </a:p>
          <a:p>
            <a:endParaRPr lang="en-US" dirty="0"/>
          </a:p>
          <a:p>
            <a:r>
              <a:rPr lang="en-US" dirty="0"/>
              <a:t>Gradient-echo EPI, with its strong T2 * weighting, is the sequence of choice for many fMRI examinations.</a:t>
            </a:r>
          </a:p>
        </p:txBody>
      </p:sp>
    </p:spTree>
    <p:extLst>
      <p:ext uri="{BB962C8B-B14F-4D97-AF65-F5344CB8AC3E}">
        <p14:creationId xmlns:p14="http://schemas.microsoft.com/office/powerpoint/2010/main" val="16373333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8F157-40BB-5139-1D2D-F794BD6491A4}"/>
              </a:ext>
            </a:extLst>
          </p:cNvPr>
          <p:cNvSpPr>
            <a:spLocks noGrp="1"/>
          </p:cNvSpPr>
          <p:nvPr>
            <p:ph type="title"/>
          </p:nvPr>
        </p:nvSpPr>
        <p:spPr>
          <a:xfrm>
            <a:off x="901503" y="342900"/>
            <a:ext cx="7772400" cy="1143000"/>
          </a:xfrm>
        </p:spPr>
        <p:txBody>
          <a:bodyPr>
            <a:normAutofit/>
          </a:bodyPr>
          <a:lstStyle/>
          <a:p>
            <a:r>
              <a:rPr lang="en-US" sz="3200" dirty="0">
                <a:solidFill>
                  <a:schemeClr val="accent1"/>
                </a:solidFill>
              </a:rPr>
              <a:t>DTI – DIFFUSION TENSOR IMAGING</a:t>
            </a:r>
            <a:endParaRPr lang="en-IN" sz="3200" dirty="0">
              <a:solidFill>
                <a:schemeClr val="accent1"/>
              </a:solidFill>
            </a:endParaRPr>
          </a:p>
        </p:txBody>
      </p:sp>
      <p:pic>
        <p:nvPicPr>
          <p:cNvPr id="5" name="Content Placeholder 4">
            <a:extLst>
              <a:ext uri="{FF2B5EF4-FFF2-40B4-BE49-F238E27FC236}">
                <a16:creationId xmlns:a16="http://schemas.microsoft.com/office/drawing/2014/main" id="{5B210E1C-C039-8F2C-A5A9-FE508B74D479}"/>
              </a:ext>
            </a:extLst>
          </p:cNvPr>
          <p:cNvPicPr>
            <a:picLocks noGrp="1" noChangeAspect="1"/>
          </p:cNvPicPr>
          <p:nvPr>
            <p:ph sz="quarter" idx="1"/>
          </p:nvPr>
        </p:nvPicPr>
        <p:blipFill>
          <a:blip r:embed="rId2"/>
          <a:stretch>
            <a:fillRect/>
          </a:stretch>
        </p:blipFill>
        <p:spPr>
          <a:xfrm>
            <a:off x="1747443" y="1752600"/>
            <a:ext cx="6580572" cy="1143000"/>
          </a:xfrm>
          <a:prstGeom prst="rect">
            <a:avLst/>
          </a:prstGeom>
        </p:spPr>
      </p:pic>
      <p:pic>
        <p:nvPicPr>
          <p:cNvPr id="2050" name="Picture 2">
            <a:extLst>
              <a:ext uri="{FF2B5EF4-FFF2-40B4-BE49-F238E27FC236}">
                <a16:creationId xmlns:a16="http://schemas.microsoft.com/office/drawing/2014/main" id="{64645942-3505-42D5-97D2-C6DD2AB8FC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429000"/>
            <a:ext cx="4089007" cy="293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926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E7A68A2-EE68-CCC0-D57F-E3DA7151CA06}"/>
              </a:ext>
            </a:extLst>
          </p:cNvPr>
          <p:cNvPicPr>
            <a:picLocks noGrp="1" noChangeAspect="1"/>
          </p:cNvPicPr>
          <p:nvPr>
            <p:ph sz="quarter" idx="4294967295"/>
          </p:nvPr>
        </p:nvPicPr>
        <p:blipFill>
          <a:blip r:embed="rId2"/>
          <a:stretch>
            <a:fillRect/>
          </a:stretch>
        </p:blipFill>
        <p:spPr>
          <a:xfrm>
            <a:off x="1751675" y="533400"/>
            <a:ext cx="6175375" cy="3962400"/>
          </a:xfrm>
          <a:prstGeom prst="rect">
            <a:avLst/>
          </a:prstGeom>
        </p:spPr>
      </p:pic>
      <p:pic>
        <p:nvPicPr>
          <p:cNvPr id="7" name="Picture 6">
            <a:extLst>
              <a:ext uri="{FF2B5EF4-FFF2-40B4-BE49-F238E27FC236}">
                <a16:creationId xmlns:a16="http://schemas.microsoft.com/office/drawing/2014/main" id="{DCBF9F84-4CE4-4F57-88A0-E61397CA3886}"/>
              </a:ext>
            </a:extLst>
          </p:cNvPr>
          <p:cNvPicPr>
            <a:picLocks noChangeAspect="1"/>
          </p:cNvPicPr>
          <p:nvPr/>
        </p:nvPicPr>
        <p:blipFill>
          <a:blip r:embed="rId3"/>
          <a:stretch>
            <a:fillRect/>
          </a:stretch>
        </p:blipFill>
        <p:spPr>
          <a:xfrm>
            <a:off x="1773936" y="4648200"/>
            <a:ext cx="5658640" cy="1619476"/>
          </a:xfrm>
          <a:prstGeom prst="rect">
            <a:avLst/>
          </a:prstGeom>
        </p:spPr>
      </p:pic>
      <p:cxnSp>
        <p:nvCxnSpPr>
          <p:cNvPr id="9" name="Straight Connector 8">
            <a:extLst>
              <a:ext uri="{FF2B5EF4-FFF2-40B4-BE49-F238E27FC236}">
                <a16:creationId xmlns:a16="http://schemas.microsoft.com/office/drawing/2014/main" id="{8C7CCDED-AADB-AD37-3E4F-6EAA7030FD5D}"/>
              </a:ext>
            </a:extLst>
          </p:cNvPr>
          <p:cNvCxnSpPr>
            <a:cxnSpLocks/>
          </p:cNvCxnSpPr>
          <p:nvPr/>
        </p:nvCxnSpPr>
        <p:spPr>
          <a:xfrm>
            <a:off x="1905000" y="846138"/>
            <a:ext cx="2698256"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015C56F-654B-4AEE-2DC7-B19FE305A39C}"/>
              </a:ext>
            </a:extLst>
          </p:cNvPr>
          <p:cNvCxnSpPr>
            <a:cxnSpLocks/>
          </p:cNvCxnSpPr>
          <p:nvPr/>
        </p:nvCxnSpPr>
        <p:spPr>
          <a:xfrm>
            <a:off x="1905000" y="4953000"/>
            <a:ext cx="4038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036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880B-7834-7371-2BD2-4738C3CD8907}"/>
              </a:ext>
            </a:extLst>
          </p:cNvPr>
          <p:cNvSpPr>
            <a:spLocks noGrp="1"/>
          </p:cNvSpPr>
          <p:nvPr>
            <p:ph type="title"/>
          </p:nvPr>
        </p:nvSpPr>
        <p:spPr>
          <a:xfrm>
            <a:off x="1371600" y="228600"/>
            <a:ext cx="7467600" cy="914400"/>
          </a:xfrm>
        </p:spPr>
        <p:txBody>
          <a:bodyPr>
            <a:normAutofit fontScale="90000"/>
          </a:bodyPr>
          <a:lstStyle/>
          <a:p>
            <a:r>
              <a:rPr lang="en-US" dirty="0">
                <a:solidFill>
                  <a:schemeClr val="accent1"/>
                </a:solidFill>
              </a:rPr>
              <a:t>SWI- Susceptibility weighted imaging</a:t>
            </a:r>
            <a:endParaRPr lang="en-IN" dirty="0">
              <a:solidFill>
                <a:schemeClr val="accent1"/>
              </a:solidFill>
            </a:endParaRPr>
          </a:p>
        </p:txBody>
      </p:sp>
      <p:pic>
        <p:nvPicPr>
          <p:cNvPr id="5" name="Content Placeholder 4">
            <a:extLst>
              <a:ext uri="{FF2B5EF4-FFF2-40B4-BE49-F238E27FC236}">
                <a16:creationId xmlns:a16="http://schemas.microsoft.com/office/drawing/2014/main" id="{F3DE5331-8BE3-FF0A-2828-F495F621AF46}"/>
              </a:ext>
            </a:extLst>
          </p:cNvPr>
          <p:cNvPicPr>
            <a:picLocks noGrp="1" noChangeAspect="1"/>
          </p:cNvPicPr>
          <p:nvPr>
            <p:ph sz="quarter" idx="1"/>
          </p:nvPr>
        </p:nvPicPr>
        <p:blipFill>
          <a:blip r:embed="rId2"/>
          <a:stretch>
            <a:fillRect/>
          </a:stretch>
        </p:blipFill>
        <p:spPr>
          <a:xfrm>
            <a:off x="1628364" y="1304724"/>
            <a:ext cx="5887272" cy="1438476"/>
          </a:xfrm>
          <a:prstGeom prst="rect">
            <a:avLst/>
          </a:prstGeom>
        </p:spPr>
      </p:pic>
      <p:pic>
        <p:nvPicPr>
          <p:cNvPr id="7" name="Picture 6">
            <a:extLst>
              <a:ext uri="{FF2B5EF4-FFF2-40B4-BE49-F238E27FC236}">
                <a16:creationId xmlns:a16="http://schemas.microsoft.com/office/drawing/2014/main" id="{BF56BCF5-21F7-F087-5207-C451BB3DBC14}"/>
              </a:ext>
            </a:extLst>
          </p:cNvPr>
          <p:cNvPicPr>
            <a:picLocks noChangeAspect="1"/>
          </p:cNvPicPr>
          <p:nvPr/>
        </p:nvPicPr>
        <p:blipFill>
          <a:blip r:embed="rId3"/>
          <a:stretch>
            <a:fillRect/>
          </a:stretch>
        </p:blipFill>
        <p:spPr>
          <a:xfrm>
            <a:off x="4964640" y="2904924"/>
            <a:ext cx="2753109" cy="2410161"/>
          </a:xfrm>
          <a:prstGeom prst="rect">
            <a:avLst/>
          </a:prstGeom>
        </p:spPr>
      </p:pic>
      <p:grpSp>
        <p:nvGrpSpPr>
          <p:cNvPr id="14" name="Group 13">
            <a:extLst>
              <a:ext uri="{FF2B5EF4-FFF2-40B4-BE49-F238E27FC236}">
                <a16:creationId xmlns:a16="http://schemas.microsoft.com/office/drawing/2014/main" id="{8DD70148-0BC5-173C-4B8C-62FD85BC8D6B}"/>
              </a:ext>
            </a:extLst>
          </p:cNvPr>
          <p:cNvGrpSpPr/>
          <p:nvPr/>
        </p:nvGrpSpPr>
        <p:grpSpPr>
          <a:xfrm>
            <a:off x="7335453" y="3199761"/>
            <a:ext cx="551880" cy="77760"/>
            <a:chOff x="7335453" y="3199761"/>
            <a:chExt cx="551880" cy="77760"/>
          </a:xfrm>
        </p:grpSpPr>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758C495-A79A-01A1-4B3C-91E1D45FCBB5}"/>
                    </a:ext>
                  </a:extLst>
                </p14:cNvPr>
                <p14:cNvContentPartPr/>
                <p14:nvPr/>
              </p14:nvContentPartPr>
              <p14:xfrm>
                <a:off x="7335453" y="3244041"/>
                <a:ext cx="358920" cy="33480"/>
              </p14:xfrm>
            </p:contentPart>
          </mc:Choice>
          <mc:Fallback xmlns="">
            <p:pic>
              <p:nvPicPr>
                <p:cNvPr id="10" name="Ink 9">
                  <a:extLst>
                    <a:ext uri="{FF2B5EF4-FFF2-40B4-BE49-F238E27FC236}">
                      <a16:creationId xmlns:a16="http://schemas.microsoft.com/office/drawing/2014/main" id="{F758C495-A79A-01A1-4B3C-91E1D45FCBB5}"/>
                    </a:ext>
                  </a:extLst>
                </p:cNvPr>
                <p:cNvPicPr/>
                <p:nvPr/>
              </p:nvPicPr>
              <p:blipFill>
                <a:blip r:embed="rId5"/>
                <a:stretch>
                  <a:fillRect/>
                </a:stretch>
              </p:blipFill>
              <p:spPr>
                <a:xfrm>
                  <a:off x="7272453" y="3181401"/>
                  <a:ext cx="4845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AD9395C6-DCAC-640C-B033-C5E60F386969}"/>
                    </a:ext>
                  </a:extLst>
                </p14:cNvPr>
                <p14:cNvContentPartPr/>
                <p14:nvPr/>
              </p14:nvContentPartPr>
              <p14:xfrm>
                <a:off x="7427973" y="3215601"/>
                <a:ext cx="2160" cy="10800"/>
              </p14:xfrm>
            </p:contentPart>
          </mc:Choice>
          <mc:Fallback xmlns="">
            <p:pic>
              <p:nvPicPr>
                <p:cNvPr id="11" name="Ink 10">
                  <a:extLst>
                    <a:ext uri="{FF2B5EF4-FFF2-40B4-BE49-F238E27FC236}">
                      <a16:creationId xmlns:a16="http://schemas.microsoft.com/office/drawing/2014/main" id="{AD9395C6-DCAC-640C-B033-C5E60F386969}"/>
                    </a:ext>
                  </a:extLst>
                </p:cNvPr>
                <p:cNvPicPr/>
                <p:nvPr/>
              </p:nvPicPr>
              <p:blipFill>
                <a:blip r:embed="rId7"/>
                <a:stretch>
                  <a:fillRect/>
                </a:stretch>
              </p:blipFill>
              <p:spPr>
                <a:xfrm>
                  <a:off x="7365333" y="3152961"/>
                  <a:ext cx="1278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84CAA9FC-0CDC-3250-0747-475DC95ADE5D}"/>
                    </a:ext>
                  </a:extLst>
                </p14:cNvPr>
                <p14:cNvContentPartPr/>
                <p14:nvPr/>
              </p14:nvContentPartPr>
              <p14:xfrm>
                <a:off x="7571973" y="3205521"/>
                <a:ext cx="2160" cy="360"/>
              </p14:xfrm>
            </p:contentPart>
          </mc:Choice>
          <mc:Fallback xmlns="">
            <p:pic>
              <p:nvPicPr>
                <p:cNvPr id="12" name="Ink 11">
                  <a:extLst>
                    <a:ext uri="{FF2B5EF4-FFF2-40B4-BE49-F238E27FC236}">
                      <a16:creationId xmlns:a16="http://schemas.microsoft.com/office/drawing/2014/main" id="{84CAA9FC-0CDC-3250-0747-475DC95ADE5D}"/>
                    </a:ext>
                  </a:extLst>
                </p:cNvPr>
                <p:cNvPicPr/>
                <p:nvPr/>
              </p:nvPicPr>
              <p:blipFill>
                <a:blip r:embed="rId9"/>
                <a:stretch>
                  <a:fillRect/>
                </a:stretch>
              </p:blipFill>
              <p:spPr>
                <a:xfrm>
                  <a:off x="7508973" y="3142881"/>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BE39F21F-CA2F-10FA-DFE0-12D84A30A24A}"/>
                    </a:ext>
                  </a:extLst>
                </p14:cNvPr>
                <p14:cNvContentPartPr/>
                <p14:nvPr/>
              </p14:nvContentPartPr>
              <p14:xfrm>
                <a:off x="7582413" y="3199761"/>
                <a:ext cx="304920" cy="6480"/>
              </p14:xfrm>
            </p:contentPart>
          </mc:Choice>
          <mc:Fallback xmlns="">
            <p:pic>
              <p:nvPicPr>
                <p:cNvPr id="13" name="Ink 12">
                  <a:extLst>
                    <a:ext uri="{FF2B5EF4-FFF2-40B4-BE49-F238E27FC236}">
                      <a16:creationId xmlns:a16="http://schemas.microsoft.com/office/drawing/2014/main" id="{BE39F21F-CA2F-10FA-DFE0-12D84A30A24A}"/>
                    </a:ext>
                  </a:extLst>
                </p:cNvPr>
                <p:cNvPicPr/>
                <p:nvPr/>
              </p:nvPicPr>
              <p:blipFill>
                <a:blip r:embed="rId11"/>
                <a:stretch>
                  <a:fillRect/>
                </a:stretch>
              </p:blipFill>
              <p:spPr>
                <a:xfrm>
                  <a:off x="7519413" y="3136761"/>
                  <a:ext cx="430560" cy="13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44DDC969-D939-25E2-6913-9461A304CFBF}"/>
                  </a:ext>
                </a:extLst>
              </p14:cNvPr>
              <p14:cNvContentPartPr/>
              <p14:nvPr/>
            </p14:nvContentPartPr>
            <p14:xfrm>
              <a:off x="7530573" y="3314601"/>
              <a:ext cx="97560" cy="14400"/>
            </p14:xfrm>
          </p:contentPart>
        </mc:Choice>
        <mc:Fallback xmlns="">
          <p:pic>
            <p:nvPicPr>
              <p:cNvPr id="15" name="Ink 14">
                <a:extLst>
                  <a:ext uri="{FF2B5EF4-FFF2-40B4-BE49-F238E27FC236}">
                    <a16:creationId xmlns:a16="http://schemas.microsoft.com/office/drawing/2014/main" id="{44DDC969-D939-25E2-6913-9461A304CFBF}"/>
                  </a:ext>
                </a:extLst>
              </p:cNvPr>
              <p:cNvPicPr/>
              <p:nvPr/>
            </p:nvPicPr>
            <p:blipFill>
              <a:blip r:embed="rId13"/>
              <a:stretch>
                <a:fillRect/>
              </a:stretch>
            </p:blipFill>
            <p:spPr>
              <a:xfrm>
                <a:off x="7467573" y="3251601"/>
                <a:ext cx="223200" cy="140040"/>
              </a:xfrm>
              <a:prstGeom prst="rect">
                <a:avLst/>
              </a:prstGeom>
            </p:spPr>
          </p:pic>
        </mc:Fallback>
      </mc:AlternateContent>
      <p:pic>
        <p:nvPicPr>
          <p:cNvPr id="1026" name="Picture 2" descr="SWI (susceptibility-weighted imaging) vs T2* GRE">
            <a:extLst>
              <a:ext uri="{FF2B5EF4-FFF2-40B4-BE49-F238E27FC236}">
                <a16:creationId xmlns:a16="http://schemas.microsoft.com/office/drawing/2014/main" id="{F07A1558-32BC-7EEF-20A8-AAC5948F821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66186" y="2904924"/>
            <a:ext cx="4071217" cy="241016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8DF8B7F0-3C77-88DA-B51E-B1FB9D4D965A}"/>
              </a:ext>
            </a:extLst>
          </p:cNvPr>
          <p:cNvPicPr>
            <a:picLocks noChangeAspect="1"/>
          </p:cNvPicPr>
          <p:nvPr/>
        </p:nvPicPr>
        <p:blipFill>
          <a:blip r:embed="rId15"/>
          <a:stretch>
            <a:fillRect/>
          </a:stretch>
        </p:blipFill>
        <p:spPr>
          <a:xfrm>
            <a:off x="838200" y="5685034"/>
            <a:ext cx="3936998" cy="381000"/>
          </a:xfrm>
          <a:prstGeom prst="rect">
            <a:avLst/>
          </a:prstGeom>
        </p:spPr>
      </p:pic>
    </p:spTree>
    <p:extLst>
      <p:ext uri="{BB962C8B-B14F-4D97-AF65-F5344CB8AC3E}">
        <p14:creationId xmlns:p14="http://schemas.microsoft.com/office/powerpoint/2010/main" val="39263297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FE184-43AE-4337-01E5-9421EF6489AD}"/>
              </a:ext>
            </a:extLst>
          </p:cNvPr>
          <p:cNvSpPr>
            <a:spLocks noGrp="1"/>
          </p:cNvSpPr>
          <p:nvPr>
            <p:ph type="title"/>
          </p:nvPr>
        </p:nvSpPr>
        <p:spPr>
          <a:xfrm flipV="1">
            <a:off x="7044646" y="457200"/>
            <a:ext cx="956354" cy="381000"/>
          </a:xfrm>
        </p:spPr>
        <p:txBody>
          <a:bodyPr>
            <a:normAutofit fontScale="90000"/>
          </a:bodyPr>
          <a:lstStyle/>
          <a:p>
            <a:r>
              <a:rPr lang="en-US" dirty="0"/>
              <a:t> </a:t>
            </a:r>
            <a:endParaRPr lang="en-IN" dirty="0"/>
          </a:p>
        </p:txBody>
      </p:sp>
      <p:pic>
        <p:nvPicPr>
          <p:cNvPr id="5" name="Content Placeholder 4">
            <a:extLst>
              <a:ext uri="{FF2B5EF4-FFF2-40B4-BE49-F238E27FC236}">
                <a16:creationId xmlns:a16="http://schemas.microsoft.com/office/drawing/2014/main" id="{15978D44-6ED3-9788-56EE-9DA686635593}"/>
              </a:ext>
            </a:extLst>
          </p:cNvPr>
          <p:cNvPicPr>
            <a:picLocks noGrp="1" noChangeAspect="1"/>
          </p:cNvPicPr>
          <p:nvPr>
            <p:ph sz="quarter" idx="1"/>
          </p:nvPr>
        </p:nvPicPr>
        <p:blipFill>
          <a:blip r:embed="rId2"/>
          <a:stretch>
            <a:fillRect/>
          </a:stretch>
        </p:blipFill>
        <p:spPr>
          <a:xfrm>
            <a:off x="628435" y="228600"/>
            <a:ext cx="6416211" cy="2292497"/>
          </a:xfrm>
          <a:prstGeom prst="rect">
            <a:avLst/>
          </a:prstGeom>
        </p:spPr>
      </p:pic>
      <p:pic>
        <p:nvPicPr>
          <p:cNvPr id="7" name="Picture 6">
            <a:extLst>
              <a:ext uri="{FF2B5EF4-FFF2-40B4-BE49-F238E27FC236}">
                <a16:creationId xmlns:a16="http://schemas.microsoft.com/office/drawing/2014/main" id="{C178D1E0-D33C-13DA-FF1E-BB61FE766DF2}"/>
              </a:ext>
            </a:extLst>
          </p:cNvPr>
          <p:cNvPicPr>
            <a:picLocks noChangeAspect="1"/>
          </p:cNvPicPr>
          <p:nvPr/>
        </p:nvPicPr>
        <p:blipFill>
          <a:blip r:embed="rId3"/>
          <a:stretch>
            <a:fillRect/>
          </a:stretch>
        </p:blipFill>
        <p:spPr>
          <a:xfrm>
            <a:off x="625011" y="2667000"/>
            <a:ext cx="6419636" cy="1865446"/>
          </a:xfrm>
          <a:prstGeom prst="rect">
            <a:avLst/>
          </a:prstGeom>
        </p:spPr>
      </p:pic>
      <p:pic>
        <p:nvPicPr>
          <p:cNvPr id="9" name="Picture 8">
            <a:extLst>
              <a:ext uri="{FF2B5EF4-FFF2-40B4-BE49-F238E27FC236}">
                <a16:creationId xmlns:a16="http://schemas.microsoft.com/office/drawing/2014/main" id="{95B1D86C-AE06-0162-7514-6057E311B414}"/>
              </a:ext>
            </a:extLst>
          </p:cNvPr>
          <p:cNvPicPr>
            <a:picLocks noChangeAspect="1"/>
          </p:cNvPicPr>
          <p:nvPr/>
        </p:nvPicPr>
        <p:blipFill>
          <a:blip r:embed="rId4"/>
          <a:stretch>
            <a:fillRect/>
          </a:stretch>
        </p:blipFill>
        <p:spPr>
          <a:xfrm>
            <a:off x="607032" y="4598542"/>
            <a:ext cx="6437615" cy="2057400"/>
          </a:xfrm>
          <a:prstGeom prst="rect">
            <a:avLst/>
          </a:prstGeom>
        </p:spPr>
      </p:pic>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0BF1FD8E-96EA-2523-6795-FB96E7D21F0B}"/>
                  </a:ext>
                </a:extLst>
              </p14:cNvPr>
              <p14:cNvContentPartPr/>
              <p14:nvPr/>
            </p14:nvContentPartPr>
            <p14:xfrm>
              <a:off x="595634" y="4715454"/>
              <a:ext cx="257040" cy="360"/>
            </p14:xfrm>
          </p:contentPart>
        </mc:Choice>
        <mc:Fallback xmlns="">
          <p:pic>
            <p:nvPicPr>
              <p:cNvPr id="11" name="Ink 10">
                <a:extLst>
                  <a:ext uri="{FF2B5EF4-FFF2-40B4-BE49-F238E27FC236}">
                    <a16:creationId xmlns:a16="http://schemas.microsoft.com/office/drawing/2014/main" id="{0BF1FD8E-96EA-2523-6795-FB96E7D21F0B}"/>
                  </a:ext>
                </a:extLst>
              </p:cNvPr>
              <p:cNvPicPr/>
              <p:nvPr/>
            </p:nvPicPr>
            <p:blipFill>
              <a:blip r:embed="rId6"/>
              <a:stretch>
                <a:fillRect/>
              </a:stretch>
            </p:blipFill>
            <p:spPr>
              <a:xfrm>
                <a:off x="532994" y="4652454"/>
                <a:ext cx="382680" cy="126000"/>
              </a:xfrm>
              <a:prstGeom prst="rect">
                <a:avLst/>
              </a:prstGeom>
            </p:spPr>
          </p:pic>
        </mc:Fallback>
      </mc:AlternateContent>
    </p:spTree>
    <p:extLst>
      <p:ext uri="{BB962C8B-B14F-4D97-AF65-F5344CB8AC3E}">
        <p14:creationId xmlns:p14="http://schemas.microsoft.com/office/powerpoint/2010/main" val="7345594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ACE0C9D-2719-05C3-E093-61D90FB6551C}"/>
              </a:ext>
            </a:extLst>
          </p:cNvPr>
          <p:cNvPicPr>
            <a:picLocks noGrp="1" noChangeAspect="1"/>
          </p:cNvPicPr>
          <p:nvPr>
            <p:ph sz="quarter" idx="4294967295"/>
          </p:nvPr>
        </p:nvPicPr>
        <p:blipFill>
          <a:blip r:embed="rId2"/>
          <a:stretch>
            <a:fillRect/>
          </a:stretch>
        </p:blipFill>
        <p:spPr>
          <a:xfrm>
            <a:off x="914400" y="762000"/>
            <a:ext cx="7635875" cy="394335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9928B78-86FF-D34F-C31F-B8456C5B6568}"/>
                  </a:ext>
                </a:extLst>
              </p14:cNvPr>
              <p14:cNvContentPartPr/>
              <p14:nvPr/>
            </p14:nvContentPartPr>
            <p14:xfrm>
              <a:off x="6872860" y="6324600"/>
              <a:ext cx="941760" cy="156960"/>
            </p14:xfrm>
          </p:contentPart>
        </mc:Choice>
        <mc:Fallback xmlns="">
          <p:pic>
            <p:nvPicPr>
              <p:cNvPr id="6" name="Ink 5">
                <a:extLst>
                  <a:ext uri="{FF2B5EF4-FFF2-40B4-BE49-F238E27FC236}">
                    <a16:creationId xmlns:a16="http://schemas.microsoft.com/office/drawing/2014/main" id="{69928B78-86FF-D34F-C31F-B8456C5B6568}"/>
                  </a:ext>
                </a:extLst>
              </p:cNvPr>
              <p:cNvPicPr/>
              <p:nvPr/>
            </p:nvPicPr>
            <p:blipFill>
              <a:blip r:embed="rId4"/>
              <a:stretch>
                <a:fillRect/>
              </a:stretch>
            </p:blipFill>
            <p:spPr>
              <a:xfrm>
                <a:off x="6809860" y="6261600"/>
                <a:ext cx="106740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28A283A2-2A8A-9CB6-D9F9-6DD6B56D6EF1}"/>
                  </a:ext>
                </a:extLst>
              </p14:cNvPr>
              <p14:cNvContentPartPr/>
              <p14:nvPr/>
            </p14:nvContentPartPr>
            <p14:xfrm>
              <a:off x="7129954" y="2177361"/>
              <a:ext cx="1288440" cy="258480"/>
            </p14:xfrm>
          </p:contentPart>
        </mc:Choice>
        <mc:Fallback xmlns="">
          <p:pic>
            <p:nvPicPr>
              <p:cNvPr id="7" name="Ink 6">
                <a:extLst>
                  <a:ext uri="{FF2B5EF4-FFF2-40B4-BE49-F238E27FC236}">
                    <a16:creationId xmlns:a16="http://schemas.microsoft.com/office/drawing/2014/main" id="{28A283A2-2A8A-9CB6-D9F9-6DD6B56D6EF1}"/>
                  </a:ext>
                </a:extLst>
              </p:cNvPr>
              <p:cNvPicPr/>
              <p:nvPr/>
            </p:nvPicPr>
            <p:blipFill>
              <a:blip r:embed="rId6"/>
              <a:stretch>
                <a:fillRect/>
              </a:stretch>
            </p:blipFill>
            <p:spPr>
              <a:xfrm>
                <a:off x="7066954" y="2114361"/>
                <a:ext cx="141408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5992873-A358-87BB-2976-C38C6D2CB87E}"/>
                  </a:ext>
                </a:extLst>
              </p14:cNvPr>
              <p14:cNvContentPartPr/>
              <p14:nvPr/>
            </p14:nvContentPartPr>
            <p14:xfrm>
              <a:off x="8393914" y="1407681"/>
              <a:ext cx="360" cy="65160"/>
            </p14:xfrm>
          </p:contentPart>
        </mc:Choice>
        <mc:Fallback xmlns="">
          <p:pic>
            <p:nvPicPr>
              <p:cNvPr id="8" name="Ink 7">
                <a:extLst>
                  <a:ext uri="{FF2B5EF4-FFF2-40B4-BE49-F238E27FC236}">
                    <a16:creationId xmlns:a16="http://schemas.microsoft.com/office/drawing/2014/main" id="{85992873-A358-87BB-2976-C38C6D2CB87E}"/>
                  </a:ext>
                </a:extLst>
              </p:cNvPr>
              <p:cNvPicPr/>
              <p:nvPr/>
            </p:nvPicPr>
            <p:blipFill>
              <a:blip r:embed="rId8"/>
              <a:stretch>
                <a:fillRect/>
              </a:stretch>
            </p:blipFill>
            <p:spPr>
              <a:xfrm>
                <a:off x="8330914" y="1344681"/>
                <a:ext cx="126000" cy="190800"/>
              </a:xfrm>
              <a:prstGeom prst="rect">
                <a:avLst/>
              </a:prstGeom>
            </p:spPr>
          </p:pic>
        </mc:Fallback>
      </mc:AlternateContent>
    </p:spTree>
    <p:extLst>
      <p:ext uri="{BB962C8B-B14F-4D97-AF65-F5344CB8AC3E}">
        <p14:creationId xmlns:p14="http://schemas.microsoft.com/office/powerpoint/2010/main" val="24591172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rPr>
              <a:t>MR Angiography</a:t>
            </a:r>
            <a:br>
              <a:rPr lang="en-US" b="1" dirty="0"/>
            </a:br>
            <a:endParaRPr lang="en-US" dirty="0"/>
          </a:p>
        </p:txBody>
      </p:sp>
      <p:sp>
        <p:nvSpPr>
          <p:cNvPr id="3" name="Content Placeholder 2"/>
          <p:cNvSpPr>
            <a:spLocks noGrp="1"/>
          </p:cNvSpPr>
          <p:nvPr>
            <p:ph sz="quarter" idx="1"/>
          </p:nvPr>
        </p:nvSpPr>
        <p:spPr/>
        <p:txBody>
          <a:bodyPr>
            <a:normAutofit/>
          </a:bodyPr>
          <a:lstStyle/>
          <a:p>
            <a:pPr marL="0" indent="0">
              <a:buNone/>
            </a:pPr>
            <a:r>
              <a:rPr lang="en-US" dirty="0"/>
              <a:t>     The most common MR angiographic     </a:t>
            </a:r>
          </a:p>
          <a:p>
            <a:pPr marL="0" indent="0">
              <a:buNone/>
            </a:pPr>
            <a:r>
              <a:rPr lang="en-US" dirty="0"/>
              <a:t>     techniques are</a:t>
            </a:r>
          </a:p>
          <a:p>
            <a:r>
              <a:rPr lang="en-US" dirty="0"/>
              <a:t> Time-of-flight imaging, multiple overlapping thin-slab acquisitions (MOTSA)</a:t>
            </a:r>
          </a:p>
          <a:p>
            <a:r>
              <a:rPr lang="en-US" dirty="0"/>
              <a:t> Phase-contrast imaging,</a:t>
            </a:r>
          </a:p>
          <a:p>
            <a:r>
              <a:rPr lang="en-US" dirty="0"/>
              <a:t> Contrast-enhanced MR angiography.</a:t>
            </a:r>
          </a:p>
        </p:txBody>
      </p:sp>
    </p:spTree>
    <p:extLst>
      <p:ext uri="{BB962C8B-B14F-4D97-AF65-F5344CB8AC3E}">
        <p14:creationId xmlns:p14="http://schemas.microsoft.com/office/powerpoint/2010/main" val="33713941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t>Time-of-Flight Imaging and MOTSA</a:t>
            </a:r>
            <a:endParaRPr lang="en-US" dirty="0"/>
          </a:p>
        </p:txBody>
      </p:sp>
      <p:sp>
        <p:nvSpPr>
          <p:cNvPr id="3" name="Content Placeholder 2"/>
          <p:cNvSpPr>
            <a:spLocks noGrp="1"/>
          </p:cNvSpPr>
          <p:nvPr>
            <p:ph sz="quarter" idx="1"/>
          </p:nvPr>
        </p:nvSpPr>
        <p:spPr/>
        <p:txBody>
          <a:bodyPr>
            <a:normAutofit/>
          </a:bodyPr>
          <a:lstStyle/>
          <a:p>
            <a:r>
              <a:rPr lang="en-US" dirty="0"/>
              <a:t>In these sequences, multiple RF pulses applied with short TRs saturate the spins in stationary tissues </a:t>
            </a:r>
          </a:p>
          <a:p>
            <a:endParaRPr lang="en-US" dirty="0"/>
          </a:p>
          <a:p>
            <a:r>
              <a:rPr lang="en-US" dirty="0"/>
              <a:t> This results in suppression of the signal from stationary tissues in the imaging slab.</a:t>
            </a:r>
          </a:p>
          <a:p>
            <a:endParaRPr lang="en-US" dirty="0"/>
          </a:p>
          <a:p>
            <a:r>
              <a:rPr lang="en-US" dirty="0"/>
              <a:t> Inflowing blood is unaffected by the repetitive RF pulses; therefore, as it enters the imaging slab, its signal is not suppressed and appears </a:t>
            </a:r>
            <a:r>
              <a:rPr lang="en-US" dirty="0" err="1"/>
              <a:t>hyperintense</a:t>
            </a:r>
            <a:r>
              <a:rPr lang="en-US" dirty="0"/>
              <a:t> compared with that of stationary tissue. </a:t>
            </a:r>
          </a:p>
        </p:txBody>
      </p:sp>
    </p:spTree>
    <p:extLst>
      <p:ext uri="{BB962C8B-B14F-4D97-AF65-F5344CB8AC3E}">
        <p14:creationId xmlns:p14="http://schemas.microsoft.com/office/powerpoint/2010/main" val="29107360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Time-of flight imaging may be 2D, with section-by-section acquisition or 3D, with acquisition of a larger volume. </a:t>
            </a:r>
          </a:p>
          <a:p>
            <a:endParaRPr lang="en-US" dirty="0"/>
          </a:p>
          <a:p>
            <a:r>
              <a:rPr lang="en-US" dirty="0"/>
              <a:t>MOTSA is the hybrid result of 2D and 3D time-of-flight imaging</a:t>
            </a:r>
          </a:p>
          <a:p>
            <a:endParaRPr lang="en-US" dirty="0"/>
          </a:p>
        </p:txBody>
      </p:sp>
    </p:spTree>
    <p:extLst>
      <p:ext uri="{BB962C8B-B14F-4D97-AF65-F5344CB8AC3E}">
        <p14:creationId xmlns:p14="http://schemas.microsoft.com/office/powerpoint/2010/main" val="2685364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Phase-Contrast Imaging</a:t>
            </a:r>
            <a:endParaRPr lang="en-US" dirty="0"/>
          </a:p>
        </p:txBody>
      </p:sp>
      <p:sp>
        <p:nvSpPr>
          <p:cNvPr id="3" name="Content Placeholder 2"/>
          <p:cNvSpPr>
            <a:spLocks noGrp="1"/>
          </p:cNvSpPr>
          <p:nvPr>
            <p:ph sz="quarter" idx="1"/>
          </p:nvPr>
        </p:nvSpPr>
        <p:spPr/>
        <p:txBody>
          <a:bodyPr>
            <a:normAutofit fontScale="92500" lnSpcReduction="20000"/>
          </a:bodyPr>
          <a:lstStyle/>
          <a:p>
            <a:r>
              <a:rPr lang="en-US" dirty="0"/>
              <a:t>Provides information about the phase (or direction) of flow and the velocity (or magnitude) of flow.</a:t>
            </a:r>
          </a:p>
          <a:p>
            <a:endParaRPr lang="en-US" dirty="0"/>
          </a:p>
          <a:p>
            <a:r>
              <a:rPr lang="en-US" dirty="0"/>
              <a:t> It requires two measurements that are sensitized to flow in different directions; typically, one measurement is sensitized to flow in one direction, and the second is sensitized equally to flow in the opposite direction.</a:t>
            </a:r>
          </a:p>
          <a:p>
            <a:endParaRPr lang="en-US" dirty="0"/>
          </a:p>
          <a:p>
            <a:r>
              <a:rPr lang="en-US" dirty="0"/>
              <a:t> Both measurements are subtracted to eliminate any contribution to image phase that does not arise from flow or motion.</a:t>
            </a:r>
          </a:p>
          <a:p>
            <a:endParaRPr lang="en-US" dirty="0"/>
          </a:p>
          <a:p>
            <a:r>
              <a:rPr lang="en-US" dirty="0"/>
              <a:t> As a result, no signal is detected from stationary tissue; signal is received only from flowing blood. </a:t>
            </a:r>
          </a:p>
        </p:txBody>
      </p:sp>
    </p:spTree>
    <p:extLst>
      <p:ext uri="{BB962C8B-B14F-4D97-AF65-F5344CB8AC3E}">
        <p14:creationId xmlns:p14="http://schemas.microsoft.com/office/powerpoint/2010/main" val="35494260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Subtraction of the phase data yields spatial measures of flow velocity.</a:t>
            </a:r>
          </a:p>
          <a:p>
            <a:endParaRPr lang="en-US" dirty="0"/>
          </a:p>
          <a:p>
            <a:r>
              <a:rPr lang="en-US" dirty="0"/>
              <a:t> Phase-contrast images can be either 2D or 3D.</a:t>
            </a:r>
          </a:p>
          <a:p>
            <a:endParaRPr lang="en-US" dirty="0"/>
          </a:p>
        </p:txBody>
      </p:sp>
    </p:spTree>
    <p:extLst>
      <p:ext uri="{BB962C8B-B14F-4D97-AF65-F5344CB8AC3E}">
        <p14:creationId xmlns:p14="http://schemas.microsoft.com/office/powerpoint/2010/main" val="19061881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609600"/>
            <a:ext cx="8229600" cy="5516563"/>
          </a:xfrm>
        </p:spPr>
        <p:txBody>
          <a:bodyPr>
            <a:normAutofit/>
          </a:bodyPr>
          <a:lstStyle/>
          <a:p>
            <a:r>
              <a:rPr lang="en-US" dirty="0"/>
              <a:t> Different conventions exist for the interpretation of signal seen on directional and velocity phase-contrast images.</a:t>
            </a:r>
          </a:p>
          <a:p>
            <a:endParaRPr lang="en-US" dirty="0"/>
          </a:p>
          <a:p>
            <a:r>
              <a:rPr lang="en-US" dirty="0"/>
              <a:t> One convention is that high signal is seen from flow that moves from a superior location to an inferior one, from right to left, and from an anterior to a posterior location.</a:t>
            </a:r>
          </a:p>
          <a:p>
            <a:endParaRPr lang="en-US" dirty="0"/>
          </a:p>
          <a:p>
            <a:r>
              <a:rPr lang="en-US" dirty="0"/>
              <a:t>No signal (a signal void) is seen from flow that moves from an inferior to a superior location, from left to right, or from a posterior to an anterior location</a:t>
            </a:r>
          </a:p>
          <a:p>
            <a:endParaRPr lang="en-US" dirty="0"/>
          </a:p>
          <a:p>
            <a:endParaRPr lang="en-US" dirty="0"/>
          </a:p>
        </p:txBody>
      </p:sp>
    </p:spTree>
    <p:extLst>
      <p:ext uri="{BB962C8B-B14F-4D97-AF65-F5344CB8AC3E}">
        <p14:creationId xmlns:p14="http://schemas.microsoft.com/office/powerpoint/2010/main" val="21521667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Contrast-enhanced MR Angiography</a:t>
            </a:r>
            <a:endParaRPr lang="en-US" dirty="0"/>
          </a:p>
        </p:txBody>
      </p:sp>
      <p:sp>
        <p:nvSpPr>
          <p:cNvPr id="3" name="Content Placeholder 2"/>
          <p:cNvSpPr>
            <a:spLocks noGrp="1"/>
          </p:cNvSpPr>
          <p:nvPr>
            <p:ph sz="quarter" idx="1"/>
          </p:nvPr>
        </p:nvSpPr>
        <p:spPr/>
        <p:txBody>
          <a:bodyPr>
            <a:normAutofit lnSpcReduction="10000"/>
          </a:bodyPr>
          <a:lstStyle/>
          <a:p>
            <a:r>
              <a:rPr lang="en-US" dirty="0"/>
              <a:t>An intravenous contrast material (usually </a:t>
            </a:r>
            <a:r>
              <a:rPr lang="en-US" dirty="0" err="1"/>
              <a:t>gadopentetate</a:t>
            </a:r>
            <a:r>
              <a:rPr lang="en-US" dirty="0"/>
              <a:t> </a:t>
            </a:r>
            <a:r>
              <a:rPr lang="en-US" dirty="0" err="1"/>
              <a:t>dimeglumine</a:t>
            </a:r>
            <a:r>
              <a:rPr lang="en-US" dirty="0"/>
              <a:t> or another gadolinium-based agent) is used . </a:t>
            </a:r>
          </a:p>
          <a:p>
            <a:endParaRPr lang="en-US" dirty="0"/>
          </a:p>
          <a:p>
            <a:r>
              <a:rPr lang="en-US" dirty="0"/>
              <a:t>Such agents typically shorten the T1  of blood (</a:t>
            </a:r>
            <a:r>
              <a:rPr lang="en-US" dirty="0" err="1"/>
              <a:t>ie</a:t>
            </a:r>
            <a:r>
              <a:rPr lang="en-US" dirty="0"/>
              <a:t>, hasten the recovery of longitudinal magnetization), so a higher-magnitude net magnetization vector is available to be flipped with the next TR, a condition that results in high signal intensity on T1-weighted images .</a:t>
            </a:r>
          </a:p>
          <a:p>
            <a:endParaRPr lang="en-US" dirty="0"/>
          </a:p>
          <a:p>
            <a:r>
              <a:rPr lang="en-US" dirty="0"/>
              <a:t> Contrast- enhanced MR angiography also can be performed with 2D or 3D methods</a:t>
            </a:r>
          </a:p>
        </p:txBody>
      </p:sp>
    </p:spTree>
    <p:extLst>
      <p:ext uri="{BB962C8B-B14F-4D97-AF65-F5344CB8AC3E}">
        <p14:creationId xmlns:p14="http://schemas.microsoft.com/office/powerpoint/2010/main" val="4020894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8600" y="304800"/>
            <a:ext cx="8764186" cy="3898728"/>
          </a:xfrm>
          <a:prstGeom prst="rect">
            <a:avLst/>
          </a:prstGeom>
        </p:spPr>
      </p:pic>
      <p:sp>
        <p:nvSpPr>
          <p:cNvPr id="5" name="Rectangle 4"/>
          <p:cNvSpPr/>
          <p:nvPr/>
        </p:nvSpPr>
        <p:spPr>
          <a:xfrm>
            <a:off x="2133600" y="4272677"/>
            <a:ext cx="4572000" cy="2585323"/>
          </a:xfrm>
          <a:prstGeom prst="rect">
            <a:avLst/>
          </a:prstGeom>
        </p:spPr>
        <p:txBody>
          <a:bodyPr>
            <a:spAutoFit/>
          </a:bodyPr>
          <a:lstStyle/>
          <a:p>
            <a:r>
              <a:rPr lang="en-US" dirty="0">
                <a:latin typeface="Plantin"/>
              </a:rPr>
              <a:t>Comparison of MR angiographic images obtained with different sequences. </a:t>
            </a:r>
            <a:r>
              <a:rPr lang="en-US" b="1" dirty="0">
                <a:latin typeface="Plantin-Bold"/>
              </a:rPr>
              <a:t>(a) </a:t>
            </a:r>
            <a:r>
              <a:rPr lang="en-US" dirty="0">
                <a:latin typeface="Plantin"/>
              </a:rPr>
              <a:t>Maximum</a:t>
            </a:r>
          </a:p>
          <a:p>
            <a:r>
              <a:rPr lang="en-US" dirty="0">
                <a:latin typeface="Plantin"/>
              </a:rPr>
              <a:t>intensity projection from 2D time-of-flight imaging of the cerebral veins. </a:t>
            </a:r>
            <a:r>
              <a:rPr lang="en-US" b="1" dirty="0">
                <a:latin typeface="Plantin-Bold"/>
              </a:rPr>
              <a:t>(b) </a:t>
            </a:r>
            <a:r>
              <a:rPr lang="en-US" dirty="0">
                <a:latin typeface="Plantin"/>
              </a:rPr>
              <a:t>Axial image obtained with</a:t>
            </a:r>
          </a:p>
          <a:p>
            <a:r>
              <a:rPr lang="en-US" dirty="0">
                <a:latin typeface="Plantin"/>
              </a:rPr>
              <a:t>MOTSA. </a:t>
            </a:r>
            <a:r>
              <a:rPr lang="en-US" b="1" dirty="0">
                <a:latin typeface="Plantin-Bold"/>
              </a:rPr>
              <a:t>(c) </a:t>
            </a:r>
            <a:r>
              <a:rPr lang="en-US" dirty="0">
                <a:latin typeface="Plantin"/>
              </a:rPr>
              <a:t>Maximum intensity projection from MOTSA data (same examination as </a:t>
            </a:r>
            <a:r>
              <a:rPr lang="en-US" b="1" dirty="0">
                <a:latin typeface="Plantin-Bold"/>
              </a:rPr>
              <a:t>b</a:t>
            </a:r>
            <a:r>
              <a:rPr lang="en-US" dirty="0">
                <a:latin typeface="Plantin"/>
              </a:rPr>
              <a:t>).</a:t>
            </a:r>
            <a:endParaRPr lang="en-US" dirty="0"/>
          </a:p>
        </p:txBody>
      </p:sp>
    </p:spTree>
    <p:extLst>
      <p:ext uri="{BB962C8B-B14F-4D97-AF65-F5344CB8AC3E}">
        <p14:creationId xmlns:p14="http://schemas.microsoft.com/office/powerpoint/2010/main" val="17222971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76400" y="-31845"/>
            <a:ext cx="5741658" cy="4471501"/>
          </a:xfrm>
          <a:prstGeom prst="rect">
            <a:avLst/>
          </a:prstGeom>
        </p:spPr>
      </p:pic>
      <p:sp>
        <p:nvSpPr>
          <p:cNvPr id="3" name="Rectangle 2"/>
          <p:cNvSpPr/>
          <p:nvPr/>
        </p:nvSpPr>
        <p:spPr>
          <a:xfrm>
            <a:off x="990600" y="4439656"/>
            <a:ext cx="6629400" cy="2031325"/>
          </a:xfrm>
          <a:prstGeom prst="rect">
            <a:avLst/>
          </a:prstGeom>
        </p:spPr>
        <p:txBody>
          <a:bodyPr wrap="square">
            <a:spAutoFit/>
          </a:bodyPr>
          <a:lstStyle/>
          <a:p>
            <a:r>
              <a:rPr lang="en-US" b="1" dirty="0">
                <a:latin typeface="Plantin-Bold"/>
              </a:rPr>
              <a:t>(d) </a:t>
            </a:r>
            <a:r>
              <a:rPr lang="en-US" dirty="0" err="1">
                <a:latin typeface="Plantin"/>
              </a:rPr>
              <a:t>Phasecontrast</a:t>
            </a:r>
            <a:r>
              <a:rPr lang="en-US" dirty="0">
                <a:latin typeface="Plantin"/>
              </a:rPr>
              <a:t> image shows left subclavian steal syndrome. In this example, caudal-to-cranial flow appears</a:t>
            </a:r>
          </a:p>
          <a:p>
            <a:r>
              <a:rPr lang="en-US" dirty="0">
                <a:latin typeface="Plantin"/>
              </a:rPr>
              <a:t>dark, and cranial-to-caudal flow appears bright. The left vertebral artery appears bright (arrow), a feature</a:t>
            </a:r>
          </a:p>
          <a:p>
            <a:r>
              <a:rPr lang="en-US" dirty="0">
                <a:latin typeface="Plantin"/>
              </a:rPr>
              <a:t>that indicates subclavian steal. </a:t>
            </a:r>
            <a:r>
              <a:rPr lang="en-US" b="1" dirty="0">
                <a:latin typeface="Plantin-Bold"/>
              </a:rPr>
              <a:t>(e) </a:t>
            </a:r>
            <a:r>
              <a:rPr lang="en-US" dirty="0">
                <a:latin typeface="Plantin"/>
              </a:rPr>
              <a:t>Maximum intensity projection from contrast-enhanced MR angiography</a:t>
            </a:r>
          </a:p>
          <a:p>
            <a:r>
              <a:rPr lang="en-US" dirty="0">
                <a:latin typeface="Plantin"/>
              </a:rPr>
              <a:t>at the level of the heart, aorta, and vessels of the aortic arch.</a:t>
            </a:r>
            <a:endParaRPr lang="en-US" dirty="0"/>
          </a:p>
        </p:txBody>
      </p:sp>
    </p:spTree>
    <p:extLst>
      <p:ext uri="{BB962C8B-B14F-4D97-AF65-F5344CB8AC3E}">
        <p14:creationId xmlns:p14="http://schemas.microsoft.com/office/powerpoint/2010/main" val="38057764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1438"/>
            <a:ext cx="9144000" cy="671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36280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3200"/>
            <a:ext cx="8229600" cy="1143000"/>
          </a:xfrm>
        </p:spPr>
        <p:txBody>
          <a:bodyPr/>
          <a:lstStyle/>
          <a:p>
            <a:r>
              <a:rPr lang="en-US" dirty="0">
                <a:solidFill>
                  <a:schemeClr val="accent3"/>
                </a:solidFill>
              </a:rPr>
              <a:t>                    </a:t>
            </a:r>
            <a:r>
              <a:rPr lang="en-US" sz="5400" dirty="0">
                <a:solidFill>
                  <a:schemeClr val="accent3"/>
                </a:solidFill>
              </a:rPr>
              <a:t>Thank you</a:t>
            </a:r>
          </a:p>
        </p:txBody>
      </p:sp>
    </p:spTree>
    <p:extLst>
      <p:ext uri="{BB962C8B-B14F-4D97-AF65-F5344CB8AC3E}">
        <p14:creationId xmlns:p14="http://schemas.microsoft.com/office/powerpoint/2010/main" val="34301693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4541</TotalTime>
  <Words>3949</Words>
  <Application>Microsoft Office PowerPoint</Application>
  <PresentationFormat>On-screen Show (4:3)</PresentationFormat>
  <Paragraphs>331</Paragraphs>
  <Slides>93</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93</vt:i4>
      </vt:variant>
    </vt:vector>
  </HeadingPairs>
  <TitlesOfParts>
    <vt:vector size="104" baseType="lpstr">
      <vt:lpstr>Arial</vt:lpstr>
      <vt:lpstr>Calibri</vt:lpstr>
      <vt:lpstr>Constantia</vt:lpstr>
      <vt:lpstr>Franklin Gothic Book</vt:lpstr>
      <vt:lpstr>Goudy Old Style</vt:lpstr>
      <vt:lpstr>Perpetua</vt:lpstr>
      <vt:lpstr>Plantin</vt:lpstr>
      <vt:lpstr>Plantin-Bold</vt:lpstr>
      <vt:lpstr>Wingdings</vt:lpstr>
      <vt:lpstr>Wingdings 2</vt:lpstr>
      <vt:lpstr>Equity</vt:lpstr>
      <vt:lpstr>MRI SEQUENCES</vt:lpstr>
      <vt:lpstr> PULSE SEQUENCE</vt:lpstr>
      <vt:lpstr>PULSE SEQUENCES</vt:lpstr>
      <vt:lpstr>PowerPoint Presentation</vt:lpstr>
      <vt:lpstr>PowerPoint Presentation</vt:lpstr>
      <vt:lpstr>PowerPoint Presentation</vt:lpstr>
      <vt:lpstr>PowerPoint Presentation</vt:lpstr>
      <vt:lpstr>IMAGE FORMATION :</vt:lpstr>
      <vt:lpstr>BASIC SEQUENCE </vt:lpstr>
      <vt:lpstr>“SEQUENCE DIAGRAM”</vt:lpstr>
      <vt:lpstr>PowerPoint Presentation</vt:lpstr>
      <vt:lpstr>SPIN ECHO SEQUENCE  </vt:lpstr>
      <vt:lpstr>PowerPoint Presentation</vt:lpstr>
      <vt:lpstr>Modifications of SE sequences</vt:lpstr>
      <vt:lpstr>1. DUAL SPIN ECHO Sequence</vt:lpstr>
      <vt:lpstr>2. FAST (TURBO) SPIN ECHO Sequence</vt:lpstr>
      <vt:lpstr>3. SINGLE SHOT FAST SPIN ECHO Sequence </vt:lpstr>
      <vt:lpstr>T1 Contrast </vt:lpstr>
      <vt:lpstr>PROTON DENSITY </vt:lpstr>
      <vt:lpstr>Other sequences used for imaging cartilages-</vt:lpstr>
      <vt:lpstr>Advanced compositional sequences</vt:lpstr>
      <vt:lpstr>SS FSE/HASTE </vt:lpstr>
      <vt:lpstr>PROPELLER/ BLADE </vt:lpstr>
      <vt:lpstr>Gradient Echo Sequence</vt:lpstr>
      <vt:lpstr> </vt:lpstr>
      <vt:lpstr>IMAGE CONTRAST</vt:lpstr>
      <vt:lpstr>GE</vt:lpstr>
      <vt:lpstr>TYPES OF GRE Sequences</vt:lpstr>
      <vt:lpstr>1. Spoiled gradient echo- SPGR</vt:lpstr>
      <vt:lpstr>2. Balanced SSFP- FID        Steady state GRE sequence</vt:lpstr>
      <vt:lpstr>PowerPoint Presentation</vt:lpstr>
      <vt:lpstr>CISS- Constructive Interference in the steady State.</vt:lpstr>
      <vt:lpstr>Inversion Recovery Sequence </vt:lpstr>
      <vt:lpstr>INVERSION RECOVERY</vt:lpstr>
      <vt:lpstr>PowerPoint Presentation</vt:lpstr>
      <vt:lpstr>PowerPoint Presentation</vt:lpstr>
      <vt:lpstr>INVERSION RECOVERY</vt:lpstr>
      <vt:lpstr>PowerPoint Presentation</vt:lpstr>
      <vt:lpstr>STIR- Short TI Inversion Recovery </vt:lpstr>
      <vt:lpstr>PowerPoint Presentation</vt:lpstr>
      <vt:lpstr>PowerPoint Presentation</vt:lpstr>
      <vt:lpstr>PowerPoint Presentation</vt:lpstr>
      <vt:lpstr>CHEMICAL SHIFT TECHNIQUES</vt:lpstr>
      <vt:lpstr>PowerPoint Presentation</vt:lpstr>
      <vt:lpstr>PowerPoint Presentation</vt:lpstr>
      <vt:lpstr>PowerPoint Presentation</vt:lpstr>
      <vt:lpstr>PowerPoint Presentation</vt:lpstr>
      <vt:lpstr>FLAIR</vt:lpstr>
      <vt:lpstr>PowerPoint Presentation</vt:lpstr>
      <vt:lpstr> </vt:lpstr>
      <vt:lpstr>MEDIUM TI IR sequence E.g- MPRAGE</vt:lpstr>
      <vt:lpstr>ECHO PLANAR IMAGING</vt:lpstr>
      <vt:lpstr>PowerPoint Presentation</vt:lpstr>
      <vt:lpstr>PowerPoint Presentation</vt:lpstr>
      <vt:lpstr>PowerPoint Presentation</vt:lpstr>
      <vt:lpstr>PowerPoint Presentation</vt:lpstr>
      <vt:lpstr>Diffusion-weighted Imaging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PERFUSION IMAGING </vt:lpstr>
      <vt:lpstr>PowerPoint Presentation</vt:lpstr>
      <vt:lpstr>Dynamic susceptibility contrast MRI</vt:lpstr>
      <vt:lpstr>PowerPoint Presentation</vt:lpstr>
      <vt:lpstr>PowerPoint Presentation</vt:lpstr>
      <vt:lpstr>PowerPoint Presentation</vt:lpstr>
      <vt:lpstr>PowerPoint Presentation</vt:lpstr>
      <vt:lpstr>PowerPoint Presentation</vt:lpstr>
      <vt:lpstr>ARTERIAL SPIN LABELLING </vt:lpstr>
      <vt:lpstr>Functional MRI</vt:lpstr>
      <vt:lpstr>The BOLD effect </vt:lpstr>
      <vt:lpstr>PowerPoint Presentation</vt:lpstr>
      <vt:lpstr>DTI – DIFFUSION TENSOR IMAGING</vt:lpstr>
      <vt:lpstr>PowerPoint Presentation</vt:lpstr>
      <vt:lpstr>SWI- Susceptibility weighted imaging</vt:lpstr>
      <vt:lpstr> </vt:lpstr>
      <vt:lpstr>PowerPoint Presentation</vt:lpstr>
      <vt:lpstr>MR Angiography </vt:lpstr>
      <vt:lpstr>Time-of-Flight Imaging and MOTSA</vt:lpstr>
      <vt:lpstr>PowerPoint Presentation</vt:lpstr>
      <vt:lpstr>Phase-Contrast Imaging</vt:lpstr>
      <vt:lpstr>PowerPoint Presentation</vt:lpstr>
      <vt:lpstr>PowerPoint Presentation</vt:lpstr>
      <vt:lpstr>Contrast-enhanced MR Angiography</vt:lpstr>
      <vt:lpstr>PowerPoint Presentation</vt:lpstr>
      <vt:lpstr>PowerPoint Presentation</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Dr Pawanpreet Singh</cp:lastModifiedBy>
  <cp:revision>90</cp:revision>
  <dcterms:created xsi:type="dcterms:W3CDTF">2006-08-16T00:00:00Z</dcterms:created>
  <dcterms:modified xsi:type="dcterms:W3CDTF">2026-06-14T16:07:21Z</dcterms:modified>
</cp:coreProperties>
</file>