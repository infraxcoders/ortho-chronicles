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367A-9232-919D-6176-561CE2657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B3562-1C7E-42CC-86E8-DA3A288E5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3D559-124E-F2E0-DCC1-16634080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72AEB-0C39-A8AB-C311-8319778F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383CD-3624-94F5-3F9C-20EE6295A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65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0C64-69AE-D1C2-2D7E-BCEA6724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A5B17-0FB3-0C69-AE49-C90B8B6FD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E465D-8667-16A4-1102-693985B9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622DC-CEA2-C84E-2536-0EA4DEC6D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97AF5-DFEF-D468-190D-FABC9F9B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09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DAFCE-BBFC-705A-69EE-45609A81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73CD3-295C-4A2A-65D3-803B37B42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F9A03-BC54-2B0E-9418-BF47AEF2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6211B-08E1-4FAE-951D-B9F1A9808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AA62-D64E-A103-B9E1-DC58E9C2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35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E07FB-6D7A-5177-D1A0-D596BC07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84759-EC4D-62AC-73EC-50963FF325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C59BE-AF5A-47B4-D23A-B26EDA4F1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1FB0C-9675-D825-E4AE-5C8EB023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2DE11-1844-256E-6CAD-EA30AC90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5F3EB-7B21-59ED-08CE-20C029CBB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72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7960E-FC94-20E3-6E86-99250B86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8FD5D-E20A-A92D-C1F8-16519FA43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BD68C-85BE-B666-F1F7-97274BAD4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BDB08-1191-FE25-473E-44DA97FD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6D31D-B03C-402E-2E0B-2183ABBBE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BBD5C-5010-5AFA-9BA6-660E0808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9CA78-142E-5153-CEED-67F63A6C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B41554-FC4F-4D99-72AF-6F4A4AFF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4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67D4F-5CFA-76A9-C410-D4E8BC252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1800B-C9B7-1E10-CA1F-33D222BD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E9A60-3348-1956-F5AB-A4E42DC7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6F0C8-E60E-A74C-4363-8750368F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10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089D05-1BF7-F84F-759D-A219D8493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9C5C9E-E201-976D-9306-598712B31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B87E2-69FA-B99A-31F7-FC6AF739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14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92EB2-1034-F7ED-87B4-46E86793D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DFBED-5255-A41B-EB8A-C23C9C90D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C2AF8-6CE3-7B10-7D5A-805C745CE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8C60A-87D1-F991-A6C4-FD6DD245A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C6BEC-2B55-35F5-3737-40B58D62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1042C-EB9B-EC41-7F50-775FA3F56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993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F9C1-3E7A-867E-878F-6C4151FCA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2B235E-3214-6ACB-37E7-99B36000E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E96E3-9C84-2D29-D995-3AEC54399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A12A1-E7F1-F84D-4D4E-57FA1440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154E3-CE94-ED36-3ABD-CF8BC4EF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916AF-D549-4DA9-30BF-BA690096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219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A5F6B-E5CA-1AB3-561E-B01E95111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33402-290C-480F-95C3-50E67E77C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421B4-3A63-2E72-8699-697D573D2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04989-61F7-B48A-282A-88BC29B19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94670-E3D8-0700-F007-6D1D86AB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368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155036-B6A4-0A42-29A5-5E5559AE6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961D6-AFF6-0B1A-0E18-7CA72E696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19E16-AE6A-FDC0-65F2-5868B6ED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C0027-8989-699A-D34E-2B6EC637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568A-6CAB-C615-AD85-EDBC2A59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535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10713-E9E5-D17C-3AEC-FB35D910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1283B-F509-D7C9-9F82-1D1B82672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DF578-D254-6009-F6F1-19B20D911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5E0B6-C75C-006A-8DCA-6A2ED6A4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FE7AF-54C5-498F-7982-B4613C92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194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D4817C-03CE-E868-D355-9CEC73193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D091D-CD73-497D-E6A5-F849D1F5C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20800-38F7-A647-1212-26E5D7DBA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FF236-18B0-40D9-B867-DD7E888393C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5AC2A-3A08-D78E-CDC8-97028CA69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041E2-4231-D0A9-EDD9-31A312B65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E62A3-7481-46FD-87A1-05B0C9F38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11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330FE-0415-1B16-82D7-97638717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Anatomy &amp; Blood Supply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0199F-F382-F5CB-7C88-53204A6BA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800"/>
              <a:t>• Proximal femur: Femoral head, neck, greater/lesser trochanter, subtrochanteric region</a:t>
            </a:r>
            <a:endParaRPr lang="en-US" sz="1800"/>
          </a:p>
          <a:p>
            <a:r>
              <a:rPr lang="en-US" sz="1800"/>
              <a:t>• Blood supply of femoral head: Medial circumflex femoral artery (dominant)</a:t>
            </a:r>
          </a:p>
          <a:p>
            <a:r>
              <a:rPr lang="en-US" sz="1800"/>
              <a:t>• Lateral epiphyseal vessels — critical; damaged in displaced neck fractures</a:t>
            </a:r>
          </a:p>
          <a:p>
            <a:r>
              <a:rPr lang="en-US" sz="1800"/>
              <a:t>• Artery of ligamentum teres — minor contribution</a:t>
            </a:r>
          </a:p>
          <a:p>
            <a:r>
              <a:rPr lang="en-US" sz="1800"/>
              <a:t>• Calcar femorale: Dense medial cortical bone — key to stability</a:t>
            </a:r>
          </a:p>
          <a:p>
            <a:r>
              <a:rPr lang="en-US" sz="1800"/>
              <a:t>• 130° neck-shaft angle; 10–15° anteversion</a:t>
            </a:r>
          </a:p>
          <a:p>
            <a:r>
              <a:rPr lang="en-US" sz="1800"/>
              <a:t>• High-risk: Elderly osteoporotic patients — fragility fractures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72069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92F3-F089-1B8D-497A-17CFA06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Classification — Femoral Neck Fractures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2C452-C7BF-2CE9-BD8C-634AAAD2E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800"/>
              <a:t>• Garden Classification (most used):</a:t>
            </a:r>
          </a:p>
          <a:p>
            <a:r>
              <a:rPr lang="en-IN" sz="1800"/>
              <a:t>  Grade I: Incomplete/valgus impacted — undisplaced</a:t>
            </a:r>
          </a:p>
          <a:p>
            <a:r>
              <a:rPr lang="en-IN" sz="1800"/>
              <a:t>  Grade II: Complete, undisplaced</a:t>
            </a:r>
          </a:p>
          <a:p>
            <a:r>
              <a:rPr lang="en-IN" sz="1800"/>
              <a:t>  Grade III: Complete, partial displacement</a:t>
            </a:r>
            <a:endParaRPr lang="en-US" sz="1800"/>
          </a:p>
          <a:p>
            <a:r>
              <a:rPr lang="en-US" sz="1800"/>
              <a:t>  Grade IV: Complete, full displacement — worst prognosis</a:t>
            </a:r>
          </a:p>
          <a:p>
            <a:r>
              <a:rPr lang="en-US" sz="1800"/>
              <a:t>• Pauwels Classification (based on fracture angle):</a:t>
            </a:r>
          </a:p>
          <a:p>
            <a:r>
              <a:rPr lang="en-US" sz="1800"/>
              <a:t>  Type 1: &lt;30° (compression)  |  Type 2: 30–50°  |  Type 3: &gt;50° (shear)</a:t>
            </a:r>
          </a:p>
          <a:p>
            <a:r>
              <a:rPr lang="en-US" sz="1800"/>
              <a:t>• AO/OTA: B1 (subcapital)  B2 (transcervical)  B3 (basicervical)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394207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9555-32C4-3F46-2224-BC9402EF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Classification — Trochanteric Fractures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9021F-37C6-DEDD-B7E3-2DA2F304F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Evans Classification: Stable vs Unstable based on medial wall integrity</a:t>
            </a:r>
          </a:p>
          <a:p>
            <a:r>
              <a:rPr lang="en-US" sz="1800"/>
              <a:t>• Boyd &amp; Griffin: Types I–IV based on pattern</a:t>
            </a:r>
          </a:p>
          <a:p>
            <a:r>
              <a:rPr lang="en-US" sz="1800"/>
              <a:t>• AO/OTA Classification: 31-A1, A2, A3</a:t>
            </a:r>
          </a:p>
          <a:p>
            <a:r>
              <a:rPr lang="en-US" sz="1800"/>
              <a:t>  A1: Simple 2-part intertrochanteric</a:t>
            </a:r>
          </a:p>
          <a:p>
            <a:r>
              <a:rPr lang="en-US" sz="1800"/>
              <a:t>  A2: Multifragmentary with posteromedial comminution (unstable)</a:t>
            </a:r>
            <a:endParaRPr lang="fr-FR" sz="1800"/>
          </a:p>
          <a:p>
            <a:r>
              <a:rPr lang="fr-FR" sz="1800"/>
              <a:t>  A3: Reverse oblique/transverse — most unstable</a:t>
            </a:r>
            <a:endParaRPr lang="en-US" sz="1800"/>
          </a:p>
          <a:p>
            <a:r>
              <a:rPr lang="en-US" sz="1800"/>
              <a:t>• Subtrochanteric (Seinsheimer): Types I–V</a:t>
            </a:r>
          </a:p>
          <a:p>
            <a:r>
              <a:rPr lang="en-US" sz="1800"/>
              <a:t>• Stability determined by: Medial wall, lateral wall, posteromedial fragment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1410288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3417B-5E23-8923-21E8-D7D96B6E1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Clinical Assessment &amp; Imaging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AADEB-5529-6E2B-3AE5-6BB194793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History: Mechanism (fall, high-energy), co-morbidities, pre-injury mobility</a:t>
            </a:r>
          </a:p>
          <a:p>
            <a:r>
              <a:rPr lang="en-US" sz="1800"/>
              <a:t>• Examination: Shortened, externally rotated limb (displaced)</a:t>
            </a:r>
          </a:p>
          <a:p>
            <a:r>
              <a:rPr lang="en-US" sz="1800"/>
              <a:t>  — Groin pain, inability to weight-bear, greater trochanter tenderness</a:t>
            </a:r>
          </a:p>
          <a:p>
            <a:r>
              <a:rPr lang="en-US" sz="1800"/>
              <a:t>• Imaging:</a:t>
            </a:r>
          </a:p>
          <a:p>
            <a:r>
              <a:rPr lang="en-US" sz="1800"/>
              <a:t>  X-ray: AP pelvis + lateral hip — standard; cross-table lateral</a:t>
            </a:r>
          </a:p>
          <a:p>
            <a:r>
              <a:rPr lang="en-US" sz="1800"/>
              <a:t>  CT scan: Occult fractures, comminution assessment</a:t>
            </a:r>
          </a:p>
          <a:p>
            <a:r>
              <a:rPr lang="en-US" sz="1800"/>
              <a:t>  MRI: Most sensitive for occult undisplaced neck fractures</a:t>
            </a:r>
          </a:p>
          <a:p>
            <a:r>
              <a:rPr lang="en-US" sz="1800"/>
              <a:t>• Parker Mobility Score, Nottingham Hip Score — pre-op function</a:t>
            </a:r>
          </a:p>
          <a:p>
            <a:r>
              <a:rPr lang="en-US" sz="1800"/>
              <a:t>• Pre-op workup: ECG, Echo, renal function, anticoagulation status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878086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AA938-59E8-BDE9-BBD7-CA64DF533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Management — Femoral Neck Fractures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D8E23-C3D5-8C18-9718-D477D5EF1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800"/>
              <a:t>• Undisplaced (Garden I–II):</a:t>
            </a:r>
            <a:endParaRPr lang="en-US" sz="1800"/>
          </a:p>
          <a:p>
            <a:r>
              <a:rPr lang="en-US" sz="1800"/>
              <a:t>  — DHS or cancellous screws (3 screws in inverted triangle)</a:t>
            </a:r>
          </a:p>
          <a:p>
            <a:r>
              <a:rPr lang="en-US" sz="1800"/>
              <a:t>  — Cannulated screw fixation — minimal surgery, preserve blood supply</a:t>
            </a:r>
          </a:p>
          <a:p>
            <a:r>
              <a:rPr lang="en-US" sz="1800"/>
              <a:t>• Displaced (Garden III–IV):</a:t>
            </a:r>
          </a:p>
          <a:p>
            <a:r>
              <a:rPr lang="en-US" sz="1800"/>
              <a:t>  — Young patient (&lt;55 yr): Urgent ORIF within 6–12 hrs (attempt head preservation)</a:t>
            </a:r>
          </a:p>
          <a:p>
            <a:r>
              <a:rPr lang="en-US" sz="1800"/>
              <a:t>  — Elderly: Hemiarthroplasty (unipolar/bipolar) or THA</a:t>
            </a:r>
          </a:p>
          <a:p>
            <a:r>
              <a:rPr lang="en-US" sz="1800"/>
              <a:t>  — THA preferred if: pre-existing OA, active patient, &gt;70 years</a:t>
            </a:r>
          </a:p>
          <a:p>
            <a:r>
              <a:rPr lang="en-US" sz="1800"/>
              <a:t>• Hemiarthroplasty: Thompson (cemented) or Austin Moore (press-fit)</a:t>
            </a:r>
          </a:p>
          <a:p>
            <a:r>
              <a:rPr lang="en-US" sz="1800"/>
              <a:t>• Timing: Within 48 hrs to reduce mortality; optimise medically first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95291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8D285-0631-C1E5-3FDD-F24DDD9A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Management — Intertrochanteric Fractures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3F3BE-B9B1-A530-AC24-342EC57D6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Operative management: Gold standard — early surgery reduces mortality</a:t>
            </a:r>
          </a:p>
          <a:p>
            <a:r>
              <a:rPr lang="en-US" sz="1800"/>
              <a:t>• DHS (Dynamic Hip Screw):</a:t>
            </a:r>
          </a:p>
          <a:p>
            <a:r>
              <a:rPr lang="en-US" sz="1800"/>
              <a:t>  — Ideal for stable A1 and A2 fractures</a:t>
            </a:r>
          </a:p>
          <a:p>
            <a:r>
              <a:rPr lang="en-US" sz="1800"/>
              <a:t>  — Controlled collapse along screw axis</a:t>
            </a:r>
          </a:p>
          <a:p>
            <a:r>
              <a:rPr lang="en-US" sz="1800"/>
              <a:t>  — 135° or 150° plate angle; tip-apex distance &lt;25 mm (prevents cut-out)</a:t>
            </a:r>
          </a:p>
          <a:p>
            <a:r>
              <a:rPr lang="en-US" sz="1800"/>
              <a:t>• Proximal Femoral Nail (PFN/PFNA):</a:t>
            </a:r>
          </a:p>
          <a:p>
            <a:r>
              <a:rPr lang="en-US" sz="1800"/>
              <a:t>  — Preferred for unstable A2, A3, reverse oblique</a:t>
            </a:r>
          </a:p>
          <a:p>
            <a:r>
              <a:rPr lang="en-US" sz="1800"/>
              <a:t>  — Biomechanically superior (intramedullary load sharing)</a:t>
            </a:r>
          </a:p>
          <a:p>
            <a:r>
              <a:rPr lang="en-US" sz="1800"/>
              <a:t>  — Shorter lever arm, reduced blood loss</a:t>
            </a:r>
          </a:p>
          <a:p>
            <a:r>
              <a:rPr lang="en-US" sz="1800"/>
              <a:t>• Early mobilization: Weight-bearing as tolerated Day 1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330854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C9ED-81DD-26BD-7B78-0E36CE35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Complications &amp;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AF374-3F6F-A8B5-BD50-F5E98C142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Avascular necrosis (AVN): 15–35% in displaced neck fractures</a:t>
            </a:r>
          </a:p>
          <a:p>
            <a:r>
              <a:rPr lang="en-US" sz="1800"/>
              <a:t>• Non-union: 10–30% especially in displaced neck # with poor blood supply</a:t>
            </a:r>
          </a:p>
          <a:p>
            <a:r>
              <a:rPr lang="en-US" sz="1800"/>
              <a:t>• Cut-out of DHS/PFNA screw: TAD &gt;25 mm, poor bone quality, unstable fracture</a:t>
            </a:r>
          </a:p>
          <a:p>
            <a:r>
              <a:rPr lang="en-US" sz="1800"/>
              <a:t>• Leg length discrepancy, coxa vara deformity</a:t>
            </a:r>
          </a:p>
          <a:p>
            <a:r>
              <a:rPr lang="en-US" sz="1800"/>
              <a:t>• DVT/PE: Aggressive prophylaxis mandatory</a:t>
            </a:r>
          </a:p>
          <a:p>
            <a:r>
              <a:rPr lang="en-US" sz="1800"/>
              <a:t>• 1-year mortality: 20–30% in elderly hip fractures</a:t>
            </a:r>
          </a:p>
          <a:p>
            <a:r>
              <a:rPr lang="en-US" sz="1800"/>
              <a:t>• Hip fracture programme: Geriatrician co-management reduces complications</a:t>
            </a:r>
          </a:p>
          <a:p>
            <a:r>
              <a:rPr lang="en-US" sz="1800"/>
              <a:t>• Early surgery (&lt;48 hrs) and early mobilization = best outcomes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3939584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710A-7E4B-E465-AE61-E647CC95E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19F3A-8049-9DF9-623C-D1A62AD7F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Proximal femur fractures = major public health problem in elderly</a:t>
            </a:r>
          </a:p>
          <a:p>
            <a:r>
              <a:rPr lang="en-US" sz="1800"/>
              <a:t>• Classification guides treatment: Garden (neck), AO/OTA (trochanteric)</a:t>
            </a:r>
          </a:p>
          <a:p>
            <a:r>
              <a:rPr lang="en-US" sz="1800"/>
              <a:t>• Displaced neck #: Arthroplasty in elderly; urgent ORIF in young</a:t>
            </a:r>
            <a:endParaRPr lang="fr-FR" sz="1800"/>
          </a:p>
          <a:p>
            <a:r>
              <a:rPr lang="fr-FR" sz="1800"/>
              <a:t>• Stable trochanteric #: DHS; unstable/reverse oblique: IMN</a:t>
            </a:r>
            <a:endParaRPr lang="en-US" sz="1800"/>
          </a:p>
          <a:p>
            <a:r>
              <a:rPr lang="en-US" sz="1800"/>
              <a:t>• Tip-apex distance &lt;25 mm mandatory to prevent screw cut-out</a:t>
            </a:r>
          </a:p>
          <a:p>
            <a:r>
              <a:rPr lang="en-US" sz="1800"/>
              <a:t>• 1-year mortality 20–30%; multidisciplinary approach reduces this</a:t>
            </a:r>
          </a:p>
          <a:p>
            <a:r>
              <a:rPr lang="en-US" sz="1800"/>
              <a:t>• Reference: Rockwood &amp; Green Fractures, 8th Ed.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1172193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Anatomy &amp; Blood Supply</vt:lpstr>
      <vt:lpstr>Classification — Femoral Neck Fractures</vt:lpstr>
      <vt:lpstr>Classification — Trochanteric Fractures</vt:lpstr>
      <vt:lpstr>Clinical Assessment &amp; Imaging</vt:lpstr>
      <vt:lpstr>Management — Femoral Neck Fractures</vt:lpstr>
      <vt:lpstr>Management — Intertrochanteric Fractures</vt:lpstr>
      <vt:lpstr>Complications &amp; Outcomes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Pawanpreet Singh</dc:creator>
  <cp:lastModifiedBy>Dr Pawanpreet Singh</cp:lastModifiedBy>
  <cp:revision>1</cp:revision>
  <dcterms:created xsi:type="dcterms:W3CDTF">2026-06-08T08:11:38Z</dcterms:created>
  <dcterms:modified xsi:type="dcterms:W3CDTF">2026-06-08T08:11:38Z</dcterms:modified>
</cp:coreProperties>
</file>