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Patients (%)</c:v>
                </c:pt>
              </c:strCache>
            </c:strRef>
          </c:tx>
          <c:spPr>
            <a:solidFill>
              <a:srgbClr val="B896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96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2F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2F5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2F5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2F5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2F5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Initial correction</c:v>
                  </c:pt>
                  <c:pt idx="1">
                    <c:v>Long-term (5yr)</c:v>
                  </c:pt>
                  <c:pt idx="2">
                    <c:v>Without tenotomy</c:v>
                  </c:pt>
                  <c:pt idx="3">
                    <c:v>Relapse rate (overall)</c:v>
                  </c:pt>
                  <c:pt idx="4">
                    <c:v>Need for re-casting</c:v>
                  </c:pt>
                  <c:pt idx="5">
                    <c:v>Surgery (posteromedial release)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78</c:v>
                </c:pt>
                <c:pt idx="2">
                  <c:v>60</c:v>
                </c:pt>
                <c:pt idx="3">
                  <c:v>30</c:v>
                </c:pt>
                <c:pt idx="4">
                  <c:v>25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PAEDIATRIC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ORTHOPAEDICS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Plates · DDH · SCFE · Perthes · Clubfoot · Fractures · Infections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45720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Maninder Singh  |  MS Orthopedics  |  GMCH Amritsar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Paediatric vs Adult Orthopaedics — Key Differences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1148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Implication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plate (physis)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— weaker than ligament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Physis injury common; sprains rare in children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Remodelling potential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up to 10° per year remaining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more angulation; less aggressive surgery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Periosteum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Thick, strong, usually intact on tension 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Greenstick / torus fractures; periosteum aids healing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Fracture healing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2–3× faster per age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(weeks/months)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 mobilisation; quicker cast removal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composition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water content, lower mineral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mineralised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brittle; plastic deformation possible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AVN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with displaced hip fractures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by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fixation for SCFE, hip fracture, septic 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Neurovascular 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neuroplasticity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prognosis for nerve traction injuries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USS useful (non-ossified epiphysis)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CT/MRI 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 classification DDH; Barlow/Ortolani on USS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Salter-Harris Classification — Growth Plate Injuries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200400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Fracture 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Prognosis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Transphyseal — through growth plate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 physis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reduction + 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(disruption minimal)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Physis + metaphyseal fragment (Thurston-Holland sign)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Physis + 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reduction + 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— blood supply intact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Physis + epiphysis (intra-articular)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Physis + epi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Anatomic reduction (surgical if &gt; 2mm)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— intra-articular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 meta + physis + epiphysis (intra-articular)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 regions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ORIF mandatory — anatomic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— bar risk with malunion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Crush injury to physis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missed; immobilise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— growth arrest common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 (Rang)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Periosteal ring injury — peripheral physis damage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Peripheral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Resect periosteal bridge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— angular deformity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Peterson Type VI: periosteal bridge injuries can cause progressive angular deformity — monitor with annual X-rays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Physeal bar formation: partial → angular deformity; complete → LLD. Bar resection if &lt; 50% area, &gt; 2yr growth remaining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DDH — Diagnosis by Age &amp; Imaging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 Months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Barlow &amp; Ortolani Tests (0–3 months):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Ortolani: Abduct + lift → clunk = relocation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Barlow: Adduct + push → clunk = dislocation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drops after 3 months (soft tissue tightens)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Ultrasound Classification: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Ia: Normal (α &gt; 60°, β &lt; 55°)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Ib: Normal, not fully ossified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IIa: Immature (4–12 wks) (α 50–59°)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IIb: Delayed ossification (&gt; 12 wks) — treat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III: Subluxed (α &lt; 43°, β &gt; 77°) — treat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IV: Dislocated — urgent treatment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 Months X-ray &amp; MRI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Assessment (&gt; 4–6 months):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Hilgenreiner's line: horizontal through triradiate cartilage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Perkin's line: vertical through superolateral acetabular edge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Shenton's arc: smooth curve femoral neck to obturator foramen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Acetabular index: normal &lt; 30° (&lt; 1yr), &lt; 25° (2yr), &lt; 22° (3+yr)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angle (Centre-Edge of Wiberg): &lt; 20° = dysplastic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Indications: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Post-reduction assessment (closed or open)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labrum, cartilage (limbus), reduction quality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MRI for complex cases, pre-surgical planning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CT: post-ORIF implant check (brief study, radiation minimised)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DDH Treatment Algorithm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828800" cy="356616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14400"/>
            <a:ext cx="1828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Pavlik Harness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weeks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IIb: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Pavlik 6wk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III/IV: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Pavlik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Reduc.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914400"/>
            <a:ext cx="1828800" cy="356616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914400"/>
            <a:ext cx="1828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reduction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GA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spica cast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12–14 weeks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to confirm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914400"/>
            <a:ext cx="1828800" cy="3566160"/>
          </a:xfrm>
          <a:prstGeom prst="rect">
            <a:avLst/>
          </a:prstGeom>
          <a:solidFill>
            <a:srgbClr val="1A5A68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0" y="914400"/>
            <a:ext cx="18288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(medial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anterolateral)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 Pelvic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osteotomy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(Salter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Pemberton)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1554480" cy="3566160"/>
          </a:xfrm>
          <a:prstGeom prst="rect">
            <a:avLst/>
          </a:prstGeom>
          <a:solidFill>
            <a:srgbClr val="8B3A1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914400"/>
            <a:ext cx="15544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 YEARS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Pelvic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osteotomy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Femoral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derotation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osteotomy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914400"/>
            <a:ext cx="1188720" cy="3566160"/>
          </a:xfrm>
          <a:prstGeom prst="rect">
            <a:avLst/>
          </a:prstGeom>
          <a:solidFill>
            <a:srgbClr val="4A2A4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0" y="914400"/>
            <a:ext cx="11887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 YEARS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procedures: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Chiari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osteotomy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Concentric reduction maintained → normal acetabular development. Earlier intervention = simpler surgery + better outcome.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SCFE — Classification, Imaging &amp; Management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&amp; Classification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Pathoanatomy: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through hypertrophic zone of physis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Femoral neck displaces anterosuperior; epiphysis remains in acetabulum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'Ice cream falling off a cone' — posterior and inferior slip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Loder Classification: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Stable: able to bear weight with/without crutches (AVN risk &lt; 1%)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Unstable: cannot bear weight (AVN risk 20–50%)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Radiological Assessment: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Klein's line (AP): line along superior femoral neck should intersect epiphysis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angle (Southwick): lateral view — severity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I &lt; 30°; Grade II 30–60°; Grade III &gt; 60°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Principles: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SCFE: non-weight-bearing IMMEDIATELY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SCFE: in-situ fixation with single cannulated screw (centre-centre)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SCFE: emergency surgery (6–24h)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attempt forceful reduction — increases AVN risk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Supine on fracture table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Fluoroscopy: AP + frog-leg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screw: 6.5 mm or 7.5 mm cannulated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perpendicular to physis, tip in central epiphysis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hips? Prophylactic pinning contralateral if &lt; 10 years / high-risk (obesity, endocrinopathy)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avascular necrosis: MRI at 3 months if unstable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Perthes Disease — Classification &amp; Management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&amp; Catterall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Idiopathic avascular necrosis of femoral head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event → bone death → revascularisation → repair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4–8 years; Boys &gt; Girls (4:1)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Bilateral: 10–12% (not synchronous)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(Waldenstrom / Catterall):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I: Synovitis, density change on MRI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II: Fragmentation — extent of head involvement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III: Re-ossification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IV: Healed — residual deformity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Catterall Classification: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Anterior head involved only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II: Anterior 50% + lateral pillar spared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III: 75% involvement, partial lateral pillar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IV: Entire head involved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Herring &amp; Treatment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Herring Lateral Pillar Classification: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A: Lateral pillar fully maintained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B: &gt; 50% height preserved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B/C: Borderline — between B and C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C: &lt; 50% lateral pillar height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by Age + Herring: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 years: All groups → observation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years: A/B: observe; B/C or C: osteotomy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years: A: observe; B/C/C: containment surgery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Goal: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femoral head within acetabulum during healing phase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Femoral varus derotation osteotomy (FVDO)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Salter pelvic osteotomy — 'shelf' osteotomy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Abduction brace (Petrie cast): limited compliance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 Factor: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age + Group A: excellent outcome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+ Group C: residual deformity, early OA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Supracondylar Humerus Fracture — Paediatric Emergency</a:t>
            </a:r>
            <a:endParaRPr lang="en-US" sz="2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22860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Gartland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Nerve at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Undisplaced / minimal posterior angulation &lt; 20°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Above-elbow cast in 70–90° flexion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nerve intact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for vascular compromise; admit 24h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Displaced, posterior cortex intact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reduction + 2 K-wires if unstable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Anterior interosseous nerve (AIN)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medial-lateral or crossed; check radial pulse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Completely displaced — no cortical contact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reduction + K-wire fixation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AIN, radial nerve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surgery &lt; 6h if vascular compromise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IV (Leventhal)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Multidirectional instability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ORIF with K-wires or plate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 nerves at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complication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246120"/>
            <a:ext cx="8595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Compromise Assessment — 5 Ps: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Pallor, Pulselessness, Pain on passive stretch, Paraesthesia, Paralysis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Pulseless + pink hand: proceed to urgent reduction → check pulse → if no return → vascular exploration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Pulseless + pale hand: immediate surgical vascular exploration + fracture fixation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Interosseous Nerve (AIN) Injury: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of thumb IP flexion (FPL) + index DIP flexion (FDP)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sensory loss (pure motor branch of median nerve)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recover spontaneously by 3 months — observe; EMG at 3 months if no recovery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Paediatric Fractures — Summary Table</a:t>
            </a:r>
            <a:endParaRPr lang="en-US" sz="2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114800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5143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Healing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Clavicle (shaft)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 trauma / fall on outstretched hand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Figure-of-8 vs sling — equivalent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Figure-of-8 or arm sling 3–4 wks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remodelling; bump may persist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Toddler's fracture (tibia)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Torsional force, often trivial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Spiral undisplaced tibial fracture; may be occult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 cast 3–4 wks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Heals fully; exclude 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Torus / Buckle fracture (distal radius)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5–12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Impacted metaphyseal cortex — 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 splint / rigid wrist brace 3–4 wks (RCT: equivalent to cast)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Excellent; no reduction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Greenstick fracture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3–10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FOOSH / indirect 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cortex broken, one bent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reduction + cast if &gt; 15° angulation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Good; complete remodelling in younger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Pulled elbow / Nursemaid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Sudden traction on extended 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Radial head subluxation; refuses to move 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Supination + flex elbow → click — instant success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resolution; re-educate parents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Distal radius 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Displaced — may need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reduction + plaster cast 4–6 wks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Good; 1–2 mm physeal remodelling 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Femur shaft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energy (child ≥ 6yrs): 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5yrs: Pavlic / spica cast; &gt; 5yrs: elastic nail (TENS)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 nail 5–12 yrs; retrograde IM nail &gt; 12 yrs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 weeks union; expect 1 cm overgrowth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Non-Accidental Injury (NAI) — Recognition &amp; Action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Patterns &amp; History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 Fracture Patterns: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metaphyseal lesions (CML / 'corner fractures') — highly specific for NAI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rib fractures (CPR excluded) — pathognomonic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or multiple fractures at different stages of healing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bone fractures in pre-ambulatory children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Periosteal reaction without trauma history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 History Features: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or changing history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in presentation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inconsistent with developmental stage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previous unexplained injuries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&amp; Safeguarding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Protocol (if NAI suspected):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survey: full radiographic survey (not bone scan)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skull X-ray + intracranial CT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Ophthalmology: retinal haemorrhages (Shaken Baby Syndrome)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Hepatic enzymes (occult abdominal injury)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Coagulation screen, FBC (exclude haematological cause)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if NAI Suspected: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confront parents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thoroughly and objectively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paediatric consultation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Multi-agency safeguarding team (MAST) referral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referral if immediate risk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must not be discharged until safeguarding plan in place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Clubfoot (CTEV) — Ponseti Method Detail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Deformity &amp; Casting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 Deformity Components: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Cavus (high arch — medial column)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Adductus (forefoot medial displacement)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Varus (hindfoot inversion)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Equinus (plantarflexion of ankle)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Ponseti Method Steps: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Cavus — correct first: supinate forefoot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Adductus + Varus — abduct foot against stable lateral head of talus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Equinus — correct LAST (once abducted to 70°)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Casts: changed weekly × 5–8 casts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material: fibreglass or plaster above-knee in knee flex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held in corrected position at each stage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Tenotomy &amp; Bracing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Achilles Tenotomy: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require percutaneous tenotomy after casting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or GA; 70° abduction, 20° dorsiflexion achievable after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Post-tenotomy: 3 weeks final cast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Bracing: Foot Abduction Brace (Denis-Browne)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months: 23 hr/day; then nights + naps till age 4–5 years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&amp; Relapse: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Relapse: most common in first 2 years; 30% need re-casting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relapse with re-casting +/- tibialis anterior transfer (age 2–3 yrs)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posteromedial release (PMR) — high recurrence, stiff scarred foot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Pirani score: monitors correction (0 = fully corrected)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Functional Method: alternative physio-based approach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Septic Arthritis — Kocher Criteria &amp; Management</a:t>
            </a:r>
            <a:endParaRPr lang="en-US" sz="2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22860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Kocher 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38.5°C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core 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Weight-bearing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Non-weight-bearing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bear any weight on limb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ESR (Erythrocyte Sedimentation Rate)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40 mm/hr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inflammatory marker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WBC (White Blood Cell Count)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12,000 cells/μL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Systemic leucocytosis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CRP (Cahill modification)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20 mg/L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to increase sensitivity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246120"/>
            <a:ext cx="8595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Kocher Score Interpretation: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criteria: &lt; 2% probability of septic arthritis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criterion: 9.5%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criteria: 35%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criteria: 72.8%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criteria: 93–99.6% — emergency surgical washout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Hip: URGENT Surgical Washout (All 4 Kocher):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Capsular pressure → AVN if not decompressed within hours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approach (Smith-Petersen) or posterior (Gibson)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synovial fluid: Gram stain, C&amp;S, cell count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antibiotics: Flucloxacillin (Staph) + Gentamicin (Gram neg) — adjust on culture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IV until CRP normalising; total course 3–6 weeks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Haematogenous Osteomyelitis — Diagnosis &amp; Treatment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&amp; Organisms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Metaphysis: terminal capillary loops — sluggish blood flow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 arrested → microabscess → subperiosteal extension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site: distal femur &gt; proximal tibia &gt; proximal humerus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Organisms by Age: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Neonates (&lt; 1 month): GBS, Staph aureus, Gram-negative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Infants (1–18 months): Staph aureus; also Kingella kingae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(&gt; 18 months): Staph aureus (most common)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Sickle cell: Salmonella spp.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MRSA: community-acquired increasing (PVL toxin)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&amp; Treatment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 + CRP + ESR (daily CRP monitors response)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cultures: positive in 50–60% (before antibiotics)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X-ray: normal first 7–10 days; periosteal reaction later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MRI: MOST SENSITIVE — early bone oedema (day 1–2)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scan (Tc-99m): useful if multifocal / MRI unavailable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antibiotics: Flucloxacillin (MSSA) or Vancomycin (MRSA)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oral: when CRP &lt; 20, apyrexial, clinically improving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antibiotic duration: 3 weeks (uncomplicated)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drainage: if subperiosteal abscess, no response 48h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OM: Garre sclerosing, Brodie abscess — sequestrectomy + saucerisation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Paediatric Bone Tumours — Recognition &amp; Referral</a:t>
            </a:r>
            <a:endParaRPr lang="en-US" sz="2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114800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5878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X-ray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Osteosarcoma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yrs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Distal femur, proximal tibia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Codman triangle, sunburst 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common malignant bone tumour in children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Neo-adjuvant chemo → wide resection + reconstruction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Ewing's sarcoma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5–20 yrs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Diaphysis — femur, pelvis, tibia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Onion-skin periosteal reaction, permeative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CDKN2A/EWSR1 gene fusion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Chemo + radiotherapy + surgery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Osteochondroma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10–25 yrs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Metaphysis (knee, shoulder)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Pedunculated exostosis — cartilage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common benign bone tumour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Excise if symptomatic or cap &gt; 2 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Unicameral bone cyst (UBC)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 yrs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Proximal humerus, proximal femur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lucency, endosteal scalloping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Fallen leaf sign if fractured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Steroid injection × 3 or curettage + bone graft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Aneurysmal bone cyst (ABC)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10–30 yrs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 vertebra, metaphysis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Eccentric, expansile, soap-bubble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Blood-filled spaces on MRI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Curettage + bone graft or embolisation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Langerhans Cell Histiocytosis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1–15 yrs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Skull, spine, pelvis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'Punched-out' lytic lesion, vertebra plana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Eosinophilic granuloma — solitary vs multisystem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 / steroids / chemo if multisystem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Development — Gait &amp; Lower Limb Alignment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&amp; Rotation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Gait Development: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Walking: 9–15 months (normal up to 18 months)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gait pattern: 7 years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Toe-walking &lt; 3 years: usually physiological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toe-walking: rule out CP, muscular dystrophy, Achilles contracture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Limb Rotational Profile: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In-toeing causes by level: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Femur: femoral anteversion (age 3–7, resolves by 10 years)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Tibia: internal tibial torsion (birth – 2 years; resolves)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Foot: metatarsus adductus (see also neonatal foot)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Out-toeing: usually femoral retroversion; normal variant up to age 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Varus, Valgus &amp; Guided Growth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 Varum (Bow legs):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Physiological: &lt; 2 years; resolves by 18 months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Pathological: Blount disease (infantile vs adolescent)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Blount: Langenskiöld classification I–VI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tibial osteotomy if severe; guided growth (8-plate) in adolescent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 Valgum (Knock knees):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Physiological: 3–7 years; resolves by 7–8 years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Intercondylar distance &gt; 8 cm at 7+ years: refer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 rickets, renal osteodystrophy, Morquio syndrome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8-plate (guided growth, reversible) or osteotomy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 &gt; 2 cm: epiphysiodesis contralateral limb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Ponseti Method Outcomes — Evidence Base</a:t>
            </a:r>
            <a:endParaRPr lang="en-US" sz="2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60120"/>
          <a:ext cx="8412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Laaveg &amp; Ponseti (1980), Dobbs et al. (2004), Goksan et al. systematic review (2006). Relapse highest with non-compliance with foot abduction brace.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Cerebral Palsy — Orthopaedic Considerations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Problems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GMFCS (Gross Motor Function Classification System) I–V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MACS for upper limb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Topographic: hemiplegia, diplegia, quadriplegia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Orthopaedic Problems: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Spastic hip dislocation (Reimers migration index)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surveillance programme: 6-monthly X-rays GMFCS III–V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Spastic equinus foot (equinus varus / valgus)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Scoliosis (C-shaped, long curve, respiratory compromise in GMFCS IV–V)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Crouch gait: hamstring contracture + hip flexion deformity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41148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Botulinum toxin: temporary, grade evidence B, reduce spasticity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casting: for equinus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Orthotics: AFO, KAFO, TLSO for scoliosis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(Selective Dorsal Rhizotomy): diplegia, GMFCS II–III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SEMLS (Single Event Multi-Level Surgery): correct gait deviations all at once; not piecemeal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Dislocation Prevention: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Reimers Index &gt; 30%: consider surgery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Adductor tenotomy / iliopsoas recession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Varus derotation femoral osteotomy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Acetabular reconstruction if needed</a:t>
            </a:r>
            <a:endParaRPr lang="en-US" sz="14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maintain seated stability and pain-free range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 — Unstable SCFE (Emergency)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13M, obese (BMI 31), RTA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hip pain, unable to bear weight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Hip: ER, shortened, fixed flexion 20°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X-ray: Klein's line misses epiphysis right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Frog-leg: severe slippage (Grade III &gt; 60°)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hip: borderline Klein's line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Non-weight-bearing immediately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surgery (4 hours from presentation)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positioning, NO forceful reduction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In-situ fixation: single 7.5mm cannulated screw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Post-op AVN monitoring: MRI at 3 months — clear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Prophylactic fixation left hip (age &lt; 14, obese, high risk)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referral: hypothyroidism excluded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regained at 6 weeks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— NAI / Safeguarding Alert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7-month-old male, brought by mother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'Fell from sofa' — arm not moving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crawling (pre-ambulatory)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 humeral shaft fracture (transverse)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X-ray: posterior rib fractures (bilateral)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right leg: corner metaphyseal lesion distal femur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different injuries at different healing stages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inconsistent with development stage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in seeking treatment (48 hours)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3931920" cy="1691640"/>
          </a:xfrm>
          <a:prstGeom prst="rect">
            <a:avLst/>
          </a:prstGeom>
          <a:solidFill>
            <a:srgbClr val="1A2F5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3931920" cy="73152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SAFEGUARDING 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paediatric consult immediately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survey: further occult fractures found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protection team + police referral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admitted, safeguarding plan activated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Paediatric Orthopaedics — Quick Reference Summary</a:t>
            </a:r>
            <a:endParaRPr lang="en-US" sz="2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114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Definitive 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Barlow/Ortolani + USS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Pavlik → closed/open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diagnosis = complex surgery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 yrs (obese)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Klein's line on X-ray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In-situ screw fixation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AVN if unstable — emergency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Herring lateral pillar on X-ray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Containment (observe or osteotomy)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Younger onset = better prognosis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+ Pirani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Ponseti casting + tenotomy + FAB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Relapse with brace non-compliance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Septic arthritis (hip)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Kocher criteria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surgical washout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AVN from capsular 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Osteomyelitis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 (earliest)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Flucloxacillin → oral 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OM if missed/undertreated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Supracondylar Hx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3–10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X-ray + pulse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reduction + K-wires (Gartland II/III)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AIN injury; vascular compromise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Skeletal survey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Safeguarding referral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Corner fractures, posterior ribs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tumour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5–25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X-ray + MRI + biopsy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oncology centre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Codman triangle, sunburst = urgent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are NOT small adults — growth plate injuries, remodelling, and developmental timing change management at every level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Salter-Harris III &amp; IV are intra-articular — anatomic reduction is mandatory to prevent OA and physeal arrest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DDH: earlier diagnosis = simpler treatment; Pavlik harness is first-line for &lt; 6 months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SCFE: non-weight-bearing + in-situ fixation immediately — never forceful reduction (AVN risk)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Kocher 4 criteria = emergency hip washout — delay risks avascular necrosis of femoral head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Ponseti method is gold standard for CTEV — 95% correction, avoids posteromedial release surgery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consider NAI in pre-ambulatory children with long-bone fractures or inconsistent history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Paediatric bone tumours: Codman triangle / sunburst on X-ray = urgent malignancy referral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Paediatric Orthopaedics</dc:title>
  <dc:subject>PptxGenJS Presentation</dc:subject>
  <dc:creator>PptxGenJS</dc:creator>
  <cp:lastModifiedBy>PptxGenJS</cp:lastModifiedBy>
  <cp:revision>1</cp:revision>
  <dcterms:created xsi:type="dcterms:W3CDTF">2026-06-15T17:06:30Z</dcterms:created>
  <dcterms:modified xsi:type="dcterms:W3CDTF">2026-06-15T17:06:30Z</dcterms:modified>
</cp:coreProperties>
</file>