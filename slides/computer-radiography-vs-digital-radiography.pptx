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notesMasterIdLst>
    <p:notesMasterId r:id="rId34"/>
  </p:notesMasterIdLst>
  <p:sldIdLst>
    <p:sldId id="293" r:id="rId2"/>
    <p:sldId id="265" r:id="rId3"/>
    <p:sldId id="256" r:id="rId4"/>
    <p:sldId id="257" r:id="rId5"/>
    <p:sldId id="269" r:id="rId6"/>
    <p:sldId id="270" r:id="rId7"/>
    <p:sldId id="271" r:id="rId8"/>
    <p:sldId id="272" r:id="rId9"/>
    <p:sldId id="259" r:id="rId10"/>
    <p:sldId id="261" r:id="rId11"/>
    <p:sldId id="264" r:id="rId12"/>
    <p:sldId id="260" r:id="rId13"/>
    <p:sldId id="262" r:id="rId14"/>
    <p:sldId id="263" r:id="rId15"/>
    <p:sldId id="266" r:id="rId16"/>
    <p:sldId id="267" r:id="rId17"/>
    <p:sldId id="273" r:id="rId18"/>
    <p:sldId id="276" r:id="rId19"/>
    <p:sldId id="274" r:id="rId20"/>
    <p:sldId id="277" r:id="rId21"/>
    <p:sldId id="283" r:id="rId22"/>
    <p:sldId id="280" r:id="rId23"/>
    <p:sldId id="279" r:id="rId24"/>
    <p:sldId id="282" r:id="rId25"/>
    <p:sldId id="284" r:id="rId26"/>
    <p:sldId id="287" r:id="rId27"/>
    <p:sldId id="289" r:id="rId28"/>
    <p:sldId id="290" r:id="rId29"/>
    <p:sldId id="291" r:id="rId30"/>
    <p:sldId id="292" r:id="rId31"/>
    <p:sldId id="285" r:id="rId32"/>
    <p:sldId id="294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7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109AE9-8714-493C-AA03-2E05C0F09D33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0D07B-A080-41C2-8981-88E41DDC392A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427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465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89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641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869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948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315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44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102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76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410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67771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964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6866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724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764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90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F953AF5-7D3F-486A-B427-CDD0A05E9124}" type="datetimeFigureOut">
              <a:rPr lang="en-US" smtClean="0"/>
              <a:pPr/>
              <a:t>6/8/2026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DEC3D-0C10-43E7-A272-01F886540AD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1477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c0eOjWkxpU" TargetMode="External"/><Relationship Id="rId2" Type="http://schemas.openxmlformats.org/officeDocument/2006/relationships/hyperlink" Target="https://www.youtube.com/watch?v=V9Mi8tqGQlo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upogkGz6D6U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flipV="1">
            <a:off x="0" y="7183165"/>
            <a:ext cx="9144000" cy="1070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004048" y="5157192"/>
            <a:ext cx="36433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Prepared by:</a:t>
            </a:r>
          </a:p>
          <a:p>
            <a:pPr algn="ctr"/>
            <a:r>
              <a:rPr lang="en-US" sz="2400" b="1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Dr Ramandeep Kaur </a:t>
            </a:r>
          </a:p>
          <a:p>
            <a:pPr algn="ctr"/>
            <a:r>
              <a:rPr lang="en-US" sz="2400" b="1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JR Radiodiagnosis </a:t>
            </a:r>
          </a:p>
          <a:p>
            <a:pPr algn="ctr"/>
            <a:r>
              <a:rPr lang="en-US" sz="2400" b="1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GMCH Patiala</a:t>
            </a:r>
            <a:endParaRPr lang="en-IN" sz="2400" b="1" i="1" dirty="0">
              <a:solidFill>
                <a:schemeClr val="accent4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1DF910-E7A3-033D-01F0-67E4B813CC45}"/>
              </a:ext>
            </a:extLst>
          </p:cNvPr>
          <p:cNvSpPr/>
          <p:nvPr/>
        </p:nvSpPr>
        <p:spPr>
          <a:xfrm>
            <a:off x="611560" y="1484784"/>
            <a:ext cx="8395247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Computer Radiography </a:t>
            </a:r>
          </a:p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Vs</a:t>
            </a:r>
          </a:p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Digital Radiography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 5"/>
          <p:cNvSpPr>
            <a:spLocks noChangeShapeType="1"/>
          </p:cNvSpPr>
          <p:nvPr/>
        </p:nvSpPr>
        <p:spPr bwMode="auto">
          <a:xfrm flipH="1">
            <a:off x="2195512" y="1714488"/>
            <a:ext cx="45719" cy="378621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7" name="Group 6"/>
          <p:cNvGrpSpPr/>
          <p:nvPr/>
        </p:nvGrpSpPr>
        <p:grpSpPr>
          <a:xfrm>
            <a:off x="357158" y="857232"/>
            <a:ext cx="8053444" cy="5343342"/>
            <a:chOff x="513719" y="857232"/>
            <a:chExt cx="7982119" cy="4072369"/>
          </a:xfrm>
        </p:grpSpPr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1142976" y="857232"/>
              <a:ext cx="6934200" cy="8572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DIGITAL PROJECTION RADIOGRAPHY</a:t>
              </a:r>
            </a:p>
          </p:txBody>
        </p:sp>
        <p:sp>
          <p:nvSpPr>
            <p:cNvPr id="14" name="Line 6"/>
            <p:cNvSpPr>
              <a:spLocks noChangeShapeType="1"/>
            </p:cNvSpPr>
            <p:nvPr/>
          </p:nvSpPr>
          <p:spPr bwMode="auto">
            <a:xfrm>
              <a:off x="6569395" y="1714488"/>
              <a:ext cx="45314" cy="2681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7"/>
            <p:cNvSpPr>
              <a:spLocks noChangeArrowheads="1"/>
            </p:cNvSpPr>
            <p:nvPr/>
          </p:nvSpPr>
          <p:spPr bwMode="auto">
            <a:xfrm>
              <a:off x="513719" y="4396201"/>
              <a:ext cx="3733800" cy="5334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800000"/>
                  </a:solidFill>
                  <a:latin typeface="Times New Roman" pitchFamily="18" charset="0"/>
                  <a:cs typeface="Times New Roman" pitchFamily="18" charset="0"/>
                </a:rPr>
                <a:t>COMPUTED RADIOGRAPHY (CR)</a:t>
              </a:r>
            </a:p>
          </p:txBody>
        </p:sp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4762038" y="4396201"/>
              <a:ext cx="3733800" cy="5334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800000"/>
                  </a:solidFill>
                  <a:latin typeface="Times New Roman" pitchFamily="18" charset="0"/>
                  <a:cs typeface="Times New Roman" pitchFamily="18" charset="0"/>
                </a:rPr>
                <a:t>DIGITAL RADIOGRAPHY (DR</a:t>
              </a:r>
              <a:r>
                <a:rPr lang="en-US" b="1" dirty="0">
                  <a:solidFill>
                    <a:srgbClr val="800000"/>
                  </a:solidFill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COMPUTED RADIOGRAPHY (CR)</a:t>
            </a:r>
            <a:endParaRPr lang="en-IN" sz="3600" b="1" u="sng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Been around since 1980-81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Uses same radiographic equipment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Uses an imaging plate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Need a cassette reader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Very similar to conventional radiographic cassette.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Same amount of time to produce the image as with film processing time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Increased exposure </a:t>
            </a:r>
            <a:endParaRPr lang="en-IN" sz="2800" dirty="0"/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CR SYSTEM</a:t>
            </a:r>
            <a:endParaRPr lang="en-IN" sz="3600" b="1" u="sng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C:\Documents and Settings\Lee\Desktop\2007 classes\cr_syst.bmp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663700" y="2678906"/>
            <a:ext cx="5038725" cy="29432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CR PLATE</a:t>
            </a:r>
            <a:br>
              <a:rPr lang="en-US" dirty="0">
                <a:solidFill>
                  <a:srgbClr val="800000"/>
                </a:solidFill>
              </a:rPr>
            </a:br>
            <a:endParaRPr lang="en-IN" dirty="0"/>
          </a:p>
        </p:txBody>
      </p:sp>
      <p:pic>
        <p:nvPicPr>
          <p:cNvPr id="5" name="Picture 5" descr="carbonpp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71600" y="1428736"/>
            <a:ext cx="6486548" cy="48209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CASETTE CONSTRUCTION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Light weight aluminum</a:t>
            </a:r>
          </a:p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Plastic</a:t>
            </a:r>
          </a:p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Steel frame</a:t>
            </a:r>
          </a:p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Front panel made of low attenuation carbon fiber</a:t>
            </a:r>
          </a:p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Back panel contains lead foil to protect the plate from backscatter. </a:t>
            </a:r>
          </a:p>
          <a:p>
            <a:pPr lvl="0"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Back panel also contains chip to record patient demographic information.</a:t>
            </a:r>
          </a:p>
          <a:p>
            <a:pPr algn="ctr">
              <a:buNone/>
            </a:pPr>
            <a:endParaRPr lang="en-US" dirty="0">
              <a:solidFill>
                <a:srgbClr val="800000"/>
              </a:solidFill>
            </a:endParaRPr>
          </a:p>
          <a:p>
            <a:pPr>
              <a:buNone/>
              <a:defRPr/>
            </a:pPr>
            <a:endParaRPr lang="en-US" dirty="0"/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image00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91907" y="1142984"/>
            <a:ext cx="7709183" cy="4629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sz="40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CROSS-SECTION OF CR PLATE</a:t>
            </a:r>
            <a:br>
              <a:rPr lang="en-US" dirty="0"/>
            </a:br>
            <a:endParaRPr lang="en-IN" dirty="0"/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785786" y="3000372"/>
            <a:ext cx="7429552" cy="78581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rgbClr val="800000"/>
                </a:solidFill>
              </a:rPr>
              <a:t>ANTI-HALO &amp; REFLECTIVE LAYER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85786" y="1571612"/>
            <a:ext cx="7429552" cy="4643470"/>
            <a:chOff x="1143000" y="2438400"/>
            <a:chExt cx="6705600" cy="2743200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143000" y="2438400"/>
              <a:ext cx="6705600" cy="2286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b="1" dirty="0">
                  <a:solidFill>
                    <a:srgbClr val="800000"/>
                  </a:solidFill>
                </a:rPr>
                <a:t>PROTECTIVE LAYER</a:t>
              </a:r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1143000" y="2743200"/>
              <a:ext cx="6705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b="1" dirty="0">
                  <a:solidFill>
                    <a:srgbClr val="800000"/>
                  </a:solidFill>
                </a:rPr>
                <a:t>PHOSPHOR LAYER</a:t>
              </a: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1143000" y="3810000"/>
              <a:ext cx="6705600" cy="838200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b="1" dirty="0">
                  <a:solidFill>
                    <a:srgbClr val="800000"/>
                  </a:solidFill>
                </a:rPr>
                <a:t>BASE</a:t>
              </a: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1143000" y="4724400"/>
              <a:ext cx="6705600" cy="457200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b="1" dirty="0">
                  <a:solidFill>
                    <a:srgbClr val="800000"/>
                  </a:solidFill>
                </a:rPr>
                <a:t>BACKING LAYER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DIGITAL RADIOGRAPHY (DR)</a:t>
            </a:r>
            <a:endParaRPr lang="en-IN" sz="3600" b="1" u="sng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Works like a digital camera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Two options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CCD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Digital flat plate detector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Can be sent to PACS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DIGITAL FLAT PLATE DETECTORS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Expensive ($80,000-120,000)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Exposure is decreased thus improving radiation safety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Do not use grid but use image software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CCD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Is sold with an X-ray machine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Camera is placed in machine before install – fits underneath the table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Less expensive than the Flat Plate Detector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Cause increase in exposure by 2 times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Double the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mAs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ADVANTAGES OF DR</a:t>
            </a:r>
            <a:endParaRPr lang="en-IN" sz="3600" b="1" u="sng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 film costs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 darkroom space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 processor to maintain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 films to search for or file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 expense for film jackets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Increased productivity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Decreased retakes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Decreased exposure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DR PORTABLE SYSTEM </a:t>
            </a:r>
            <a:br>
              <a:rPr lang="en-US" dirty="0"/>
            </a:br>
            <a:endParaRPr lang="en-IN" dirty="0"/>
          </a:p>
        </p:txBody>
      </p:sp>
      <p:pic>
        <p:nvPicPr>
          <p:cNvPr id="5" name="Picture 3" descr="C:\Documents and Settings\Lee\Desktop\2007 classes\edr3mk2_photo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1285860"/>
            <a:ext cx="6072230" cy="5343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sz="40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DR – PORTABLE WITH CARRIER</a:t>
            </a:r>
            <a:br>
              <a:rPr lang="en-US" dirty="0"/>
            </a:br>
            <a:endParaRPr lang="en-IN" dirty="0"/>
          </a:p>
        </p:txBody>
      </p:sp>
      <p:pic>
        <p:nvPicPr>
          <p:cNvPr id="5" name="Picture 3" descr="C:\Documents and Settings\Lee\Desktop\2007 classes\case_photo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3572" y="1571612"/>
            <a:ext cx="5424510" cy="45204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 bwMode="auto">
          <a:xfrm>
            <a:off x="1138238" y="357188"/>
            <a:ext cx="8005762" cy="601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5025" y="357188"/>
            <a:ext cx="8308975" cy="6211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m_ha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9444" y="1095370"/>
            <a:ext cx="2761131" cy="3833828"/>
          </a:xfrm>
          <a:prstGeom prst="rect">
            <a:avLst/>
          </a:prstGeom>
          <a:noFill/>
        </p:spPr>
      </p:pic>
      <p:pic>
        <p:nvPicPr>
          <p:cNvPr id="5" name="Picture 3" descr="picsmonitor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609600"/>
            <a:ext cx="5019675" cy="4525963"/>
          </a:xfrm>
          <a:prstGeom prst="rect">
            <a:avLst/>
          </a:prstGeom>
          <a:noFill/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524000" y="5257800"/>
            <a:ext cx="79248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b="1" dirty="0">
                <a:latin typeface="Arial" charset="0"/>
              </a:rPr>
              <a:t>Radiology 1895</a:t>
            </a:r>
            <a:r>
              <a:rPr lang="en-US" sz="1800" dirty="0">
                <a:latin typeface="Arial" charset="0"/>
              </a:rPr>
              <a:t>                                     </a:t>
            </a:r>
            <a:r>
              <a:rPr lang="en-US" sz="1800" b="1" dirty="0">
                <a:latin typeface="Arial" charset="0"/>
              </a:rPr>
              <a:t>Radiology 2001</a:t>
            </a:r>
            <a:endParaRPr lang="en-US" sz="1800" dirty="0">
              <a:latin typeface="Arial" charset="0"/>
            </a:endParaRPr>
          </a:p>
          <a:p>
            <a:pPr>
              <a:spcBef>
                <a:spcPct val="50000"/>
              </a:spcBef>
            </a:pPr>
            <a:endParaRPr lang="en-US" sz="1800" dirty="0">
              <a:latin typeface="Arial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DR IMAGING TECHNIQUE</a:t>
            </a:r>
            <a:endParaRPr lang="en-IN" sz="3600" b="1" u="sng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382962" y="2052638"/>
            <a:ext cx="5600201" cy="419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571612"/>
            <a:ext cx="8813367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COMPARISON</a:t>
            </a:r>
            <a:endParaRPr lang="en-IN" sz="3600" b="1" u="sng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87488" y="2169319"/>
            <a:ext cx="539115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00306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MANUFACTURERS</a:t>
            </a:r>
            <a:endParaRPr lang="en-IN" sz="3600" b="1" u="sng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786188" y="1809750"/>
            <a:ext cx="5357812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428604"/>
            <a:ext cx="2982798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500430" y="1202280"/>
            <a:ext cx="5429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cap="all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DIGITAL RADIOGRAPHY</a:t>
            </a:r>
            <a:endParaRPr lang="en-IN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IN" u="sng" cap="all" dirty="0"/>
            </a:b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9144000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100" u="sng" cap="all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HF X-RAY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7" y="1557338"/>
            <a:ext cx="6357981" cy="4229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388" y="1571612"/>
            <a:ext cx="2643206" cy="419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3533" y="2200295"/>
            <a:ext cx="7250367" cy="4657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8" y="357166"/>
            <a:ext cx="6929486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004889"/>
            <a:ext cx="8739692" cy="4567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338" y="1109663"/>
            <a:ext cx="9077325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700213"/>
            <a:ext cx="8810501" cy="387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CR MANUFACTURERS</a:t>
            </a:r>
            <a:endParaRPr lang="en-IN" sz="3600" b="1" u="sng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MARKETING</a:t>
            </a:r>
            <a:endParaRPr lang="en-IN" sz="3600" b="1" u="sng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90" name="Picture 2" descr="C:\Users\admin\Desktop\x ray\2100217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214422"/>
            <a:ext cx="7000925" cy="3217757"/>
          </a:xfrm>
          <a:prstGeom prst="rect">
            <a:avLst/>
          </a:prstGeom>
          <a:noFill/>
        </p:spPr>
      </p:pic>
      <p:pic>
        <p:nvPicPr>
          <p:cNvPr id="12291" name="Picture 3" descr="C:\Users\admin\Desktop\x ray\global-x-ray-market-by-technology-types-2010-2018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86990" y="4500570"/>
            <a:ext cx="7885604" cy="235743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:\Users\admin\Desktop\x ray\RS1CH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VIDEOS</a:t>
            </a:r>
            <a:endParaRPr lang="en-IN" sz="3600" b="1" u="sng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https://www.youtube.com/watch?v=V9Mi8tqGQlo</a:t>
            </a:r>
            <a:endParaRPr lang="en-IN" dirty="0"/>
          </a:p>
          <a:p>
            <a:r>
              <a:rPr lang="en-IN" dirty="0">
                <a:hlinkClick r:id="rId3"/>
              </a:rPr>
              <a:t>https://www.youtube.com/watch?v=Bc0eOjWkxpU</a:t>
            </a:r>
            <a:endParaRPr lang="en-IN" dirty="0"/>
          </a:p>
          <a:p>
            <a:r>
              <a:rPr lang="en-IN" dirty="0">
                <a:hlinkClick r:id="rId4"/>
              </a:rPr>
              <a:t>https://www.youtube.com/watch?v=upogkGz6D6U</a:t>
            </a:r>
            <a:endParaRPr lang="en-IN" dirty="0"/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X-ray_WarningPlacard_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573</TotalTime>
  <Words>315</Words>
  <Application>Microsoft Office PowerPoint</Application>
  <PresentationFormat>On-screen Show (4:3)</PresentationFormat>
  <Paragraphs>74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Century Gothic</vt:lpstr>
      <vt:lpstr>Times New Roman</vt:lpstr>
      <vt:lpstr>Wingdings 3</vt:lpstr>
      <vt:lpstr>Ion</vt:lpstr>
      <vt:lpstr>PowerPoint Presentation</vt:lpstr>
      <vt:lpstr>PowerPoint Presentation</vt:lpstr>
      <vt:lpstr>COMPUTED RADIOGRAPHY (CR)</vt:lpstr>
      <vt:lpstr>CR SYSTEM</vt:lpstr>
      <vt:lpstr>CR PLATE </vt:lpstr>
      <vt:lpstr>CASETTE CONSTRUCTION </vt:lpstr>
      <vt:lpstr>PowerPoint Presentation</vt:lpstr>
      <vt:lpstr>CROSS-SECTION OF CR PLATE </vt:lpstr>
      <vt:lpstr>DIGITAL RADIOGRAPHY (DR)</vt:lpstr>
      <vt:lpstr>DIGITAL FLAT PLATE DETECTORS</vt:lpstr>
      <vt:lpstr>CCD </vt:lpstr>
      <vt:lpstr>ADVANTAGES OF DR</vt:lpstr>
      <vt:lpstr>DR PORTABLE SYSTEM  </vt:lpstr>
      <vt:lpstr>DR – PORTABLE WITH CARRIER </vt:lpstr>
      <vt:lpstr>PowerPoint Presentation</vt:lpstr>
      <vt:lpstr>PowerPoint Presentation</vt:lpstr>
      <vt:lpstr>PowerPoint Presentation</vt:lpstr>
      <vt:lpstr>DR IMAGING TECHNIQUE</vt:lpstr>
      <vt:lpstr>PowerPoint Presentation</vt:lpstr>
      <vt:lpstr>COMPARISON</vt:lpstr>
      <vt:lpstr>MANUFACTURERS</vt:lpstr>
      <vt:lpstr>PowerPoint Presentation</vt:lpstr>
      <vt:lpstr> </vt:lpstr>
      <vt:lpstr>HF X-RAY</vt:lpstr>
      <vt:lpstr>PowerPoint Presentation</vt:lpstr>
      <vt:lpstr>PowerPoint Presentation</vt:lpstr>
      <vt:lpstr>PowerPoint Presentation</vt:lpstr>
      <vt:lpstr>CR MANUFACTURERS</vt:lpstr>
      <vt:lpstr>MARKETING</vt:lpstr>
      <vt:lpstr>PowerPoint Presentation</vt:lpstr>
      <vt:lpstr>VIDEOS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Computed Radiography (CR)</dc:title>
  <dc:creator>admin</dc:creator>
  <cp:lastModifiedBy>Dr Pawanpreet Singh</cp:lastModifiedBy>
  <cp:revision>49</cp:revision>
  <dcterms:created xsi:type="dcterms:W3CDTF">2014-08-18T09:15:12Z</dcterms:created>
  <dcterms:modified xsi:type="dcterms:W3CDTF">2026-06-08T12:41:25Z</dcterms:modified>
</cp:coreProperties>
</file>