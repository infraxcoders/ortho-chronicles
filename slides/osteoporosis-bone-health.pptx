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BMD Gain at Lumbar Spine (3 years)</c:v>
                </c:pt>
              </c:strCache>
            </c:strRef>
          </c:tx>
          <c:spPr>
            <a:solidFill>
              <a:srgbClr val="B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96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Alendronate</c:v>
                  </c:pt>
                  <c:pt idx="1">
                    <c:v>Zoledronic acid</c:v>
                  </c:pt>
                  <c:pt idx="2">
                    <c:v>Denosumab</c:v>
                  </c:pt>
                  <c:pt idx="3">
                    <c:v>Teriparatide</c:v>
                  </c:pt>
                  <c:pt idx="4">
                    <c:v>Romosozumab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6.7</c:v>
                </c:pt>
                <c:pt idx="2">
                  <c:v>7.2</c:v>
                </c:pt>
                <c:pt idx="3">
                  <c:v>9.6</c:v>
                </c:pt>
                <c:pt idx="4">
                  <c:v>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BONE HEALTH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· FRAX · Pharmacotherapy · Fracture Management · Fracture Liaison Service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4572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Maninder Singh  |  MS Orthopedics  |  GMCH Amritsar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Indian Burden of Osteoporosis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14630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 globally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14630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20240" cy="14630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fractures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globally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920240" cy="14630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over 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fracture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fracture mortality: 20–30% at 1 year (India: up to 40%)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India-specific: vitamin D deficiency in 70–90% of population exacerbates bone loss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fracture economic burden India: USD 3.5 billion/year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Post-fracture treatment gap: &lt; 20% of eligible patients receive anti-osteoporosis medication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at hip fracture: India — 65 yrs (10 years younger than Western countries)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fractures: 50% undiagnosed; each fracture doubles risk of next fracture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Remodelling &amp; Pathophysiology of Osteoporosis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Remodelling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Bone Remodelling Cycle: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Osteoclasts (resorption) ↔ Osteoblasts (formation)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in young adults: net zero loss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remodelling: 10% of skeleton per year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RANK-RANKL-OPG system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PTH, estrogen, calcium, vitamin D — key regulators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Osteoporosis: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 activity &gt; Osteoblast activity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bone loss: trabecular &gt; cortical (initially)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loss: thinning, perforation, loss of connectivity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loss: thinning and increased porosity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Osteoporosis: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(Postmenopausal):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Estrogen deficiency → ↑ RANKL → ↑ osteoclast activity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Age 50–65; predominantly trabecular loss (spine, wrist)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(Senile):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Both sexes &gt; 70 yrs; cortical + trabecular loss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↓ Ca absorption, ↑ PTH, ↓ Vit 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Osteoporosis: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 (most common secondary cause)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Hypogonadism, hyperparathyroidism, malabsorption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Anticonvulsants, aromatase inhibitors, PPIs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CKD: renal osteodystrophy (high vs low turnover)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FRAX Tool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Factors for FRAX: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(low BMI = higher risk)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fragility fracture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history of hip fracture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glucocorticoid use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Rheumatoid arthritis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osteoporosis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(active)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≥ 3 units/day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Non-FRAX Risk Factors: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history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muscle mass (sarcopenia)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deficiency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Immobility / institutionalisation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FRAX Tool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FRAX (WHO Fracture Risk Assessment Tool):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10-year probability of: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osteoporotic fracture (hip + spine + humerus + wrist)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Hip fracture alone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age, sex, weight, height + clinical risk factors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 femoral neck T-score optional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Thresholds (UK NOGG):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lower: lifestyle advice only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thresholds: DXA recommended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upper: treat without DXA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FRAX limitation: underestimates risk with high fall burden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account for recent fracture timing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use FRAX with Indian Caucasian / South Asian reference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 Scan — Interpretation &amp; WHO Criteria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10312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DXA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−1.0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−2.0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bone density for young adult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advice, reassess 3–5 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Osteopenia / Low BMD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 to −2.5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young adult mean, not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FRAX score, lifestyle, Ca/VitD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Osteoporosis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−2.5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diagnostic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Pharmacotherapy indicated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Osteoporosis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−2.5 + fragility fracture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risk, established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treatment, FLS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age-matched mean (premenopausal)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−2.0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for age — secondary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secondary causes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 Reporting Requirements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29000"/>
          <a:ext cx="8595360" cy="155448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Consideration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Lumbar spine (L1–L4)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Posteroanterior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vertebrae with fracture, metal, severe 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Femoral 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hip 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for treatment monitoring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femoral neck + trochanter + intertrochanteric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reproducible — use for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1/3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 hip/spine unsuitable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in primary hyperparathyroidism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Pharmacotherapy — Drug Comparison Table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Side Effects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Bisphosphonate (oral)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Alendronate 70mg 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Osteoclast activity via mevalonate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50%, Hip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GORD, oesophageal ulcer, ONJ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Renal (CrCl &lt; 35 — avoid), dental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Bisphosphonate (IV)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Zoledronic acid 5mg yearly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IV avoids GI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70%, Hip 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phase reaction (38°C, myalgia)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Renal function, dental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RANKL inhibitor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Denosumab 60mg s/c 6-monthly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RANKL → ↓ Osteoclast differentiation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68%, Hip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ONJ (0.5%), atypical femur fx, hypocalcaemia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before each dose, do not stop abruptly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 analogue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Teriparatide 20μg/day s/c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Osteoblast activity (anabolic)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65%, Hip 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N/V, leg cramps, Paget's caution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 years; follow with antiresorptive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Anti-sclerostin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Romosozumab 210mg/month s/c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Formation + ↓ resorption (dual)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73%, Hip 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Cardiovascular events (CV history caution)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max; then antiresorptive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Raloxifene 60mg 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agonist on bone, antagonist on breast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30–50%, Hip non-significant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DVT (3×), hot flushes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for high hip fracture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+ Vitamin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1000mg + Vit D3 800IU 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 cofactor — not primary 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falls risk by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Hypercalcaemia (excess), constipation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25-OH Vit D level target: 50–75 nmol/L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 Evidence — Key Trials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(Black, NEJM 1996)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Alendronate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 vertebral, 51% 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bisphosphonate trial; postmenopausal 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HORIZON-PFT (Black, NEJM 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Zoledronic acid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 vertebral, 41% 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IV; also reduces mortality 28% in hip fracture 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(Cummings, NEJM 2009)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Denosumab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vertebral, 40% 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 with long-term use; rebound on discontinuation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TPTD (Neer, NEJM 2001)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Teriparatide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vertebral, 53% non-vertebral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anabolic agent; max 2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 (Saag, NEJM 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Romosozumab → Alendronate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vertebral vs alendronate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to alendronate alone; CV caution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(Cosman, NEJM 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Romosozumab → Denosumab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vertebral, 38% non-vertebral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to antiresorptive after 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 (Kendler, Lancet 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Teriparatide vs risedronate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 vertebral (TPTd superior)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head-to-head anabolic vs oral bisphosphonate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Atypical Femur Fx meta-analysis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Bisphosphonates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0.1–1% AFF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increases with duration &gt; 5 years; drug holiday 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Algorithm — Post-menopausal Osteoporosis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FRACTURE OR DXA T-SCORE ≤ −2.5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931920" cy="457200"/>
          </a:xfrm>
          <a:prstGeom prst="rect">
            <a:avLst/>
          </a:prstGeom>
          <a:solidFill>
            <a:srgbClr val="8B3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FRAX ≥ INTERVENTION THRESHOLD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T-score ≤ −2.5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023360" cy="457200"/>
          </a:xfrm>
          <a:prstGeom prst="rect">
            <a:avLst/>
          </a:prstGeom>
          <a:solidFill>
            <a:srgbClr val="1A5A6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OSTEOPENIA + LOW FRAX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intervention threshold)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3931920" cy="45720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+ Vit D → START PHARMACOTHERAPY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bisphosphonate (1st line)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4023360" cy="45720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+ Vit D + Lifestyle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DXA in 3–5 years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3931920" cy="457200"/>
          </a:xfrm>
          <a:prstGeom prst="rect">
            <a:avLst/>
          </a:prstGeom>
          <a:solidFill>
            <a:srgbClr val="2A407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 intolerance: IV Zoledronic acid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very high risk: Teriparatide / Romosozumab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4023360" cy="457200"/>
          </a:xfrm>
          <a:prstGeom prst="rect">
            <a:avLst/>
          </a:prstGeom>
          <a:solidFill>
            <a:srgbClr val="2A407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fails 5-year reassessment: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as high 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solidFill>
            <a:srgbClr val="B8963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DXA at 2 years — if stable/improving: continue; if losing bone: switch or combine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HOLIDAY: After 5 yrs oral / 3 yrs IV bisphosphonate — reassess FRAX — resume if re-fractures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Fracture — Emergency Management (Fragility)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 of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Intracapsular — Undisplaced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I/II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Cannulated screws (3×)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AVN risk; preserve femoral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Intracapsular — Displaced (fit patient)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III/IV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Hemiarthroplasty (unipolar/bipolar)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hip arthroplasty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AVN risk 20–30%; head removal + prosthesis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Intracapsular — Displaced (active &gt; 70 yrs)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III/IV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hip replacement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Hemiarthroplasty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functional outcomes; higher dislocation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Extracapsular —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A1; Evans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 (Dynamic Hip Screw)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screw 95% fixation rate; blade vs screw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Extracapsular — Unstable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A2; Evans II–V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PFNA (Proximal Femoral Nail Antirotation)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Arthroplasty (frail)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nail biomechanically superior for unstable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Subtrochanteric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A3; Seinsheimer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PFNA / Trochanteric nail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95° angled blade 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forces; beware medial calcar comminution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Perioperative Hip Fracture Care — Best Practice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Pre-operative Targets: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&gt; 8 g/dL (transfuse if Hb &lt; 8 with symptoms)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anticoagulation (warfarin: Vit K; DOAC: 24–48h pause)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electrolytes, blood glucose (target 6–10 mmol/L)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assessment: only if it changes management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surgery: &lt; 48h from admission (NHFD standard)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anaesthesia preferred over GA (REGAIN trial)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Management: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nerve block / FICB on admission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paracetamol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NSAIDs and opioids if possible in elderly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anaesthesia first-line for surgery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Post-operative &amp; Secondary Prevention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Post-operative Best Practice: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Weight-bearing as tolerated — Day 1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VTE prophylaxis: LMWH 28–35 days (hip fracture)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Delirium prevention: early mobilisation, orientation, sleep hygiene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area care, catheter care bundle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assessment (AMTS) pre- and post-op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supplement (protein) — reduces complications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Prevention: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Anti-osteoporosis medication BEFORE discharge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assessment and intervention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(Fracture Liaison Service) referral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supplementation (800–1000 IU/day)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25-OH VitD &gt; 50 nmol/L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modification, walking aids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Osteoporotic Vertebral Compression Fractures (VCF)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 &amp; Conservative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VCFs are asymptomatic / incidental finding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VCF: 5-fold increase in subsequent VCF risk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height reduction predicts poor conservative outcome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Kyphotic progression: up to 10° at 2 years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Management (6 weeks):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rest (minimal) + analgesics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TLSO brace: 6–8 weeks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analgesia: paracetamol + weak opioid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 nasal spray: acute pain relief (4 weeks)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at 6 weeks: if VAS &gt; 5/10 → intervention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Techniques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Vertebroplasty vs Kyphoplasty: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Vertebroplasty: cement injection under pressure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Kyphoplasty: balloon creates void → low-pressure cement injection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relief: equivalent (Level I evidence)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Kyphoplasty: better height restoration (40–60% of loss)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Kyphoplasty: lower cement leak rate (2% vs 8%)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Augmentation: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fracture (&lt; 6–8 weeks)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pain ≥ 5/10 despite conservative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posterior wall breach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neurological deficit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VERTOS IV: sham vs vertebroplasty — limited pain benefit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acute, bone-oedema-positive (STIR +) patients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Prevention — Integrated Approach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Exercise: balance &amp; strength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17–37% fall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 Chi, Otago Exercise Programme — minimum 2hr/week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 D supplementation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fall reduction (serum &gt; 50 nmol/L)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800–1000 IU/day; higher if deficient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hazard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 fall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 rails, remove rugs, improved lighting, non-slip bath 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Cataract surgery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 fall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impairment is major modifiable risk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psychotropics, antihypertensives (orthostatic hypotension)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protectors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— compliance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hip fracture reduction in care homes when worn consistently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Multifactorial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 fall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falls clinic: physio + OT + medication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+ Vitamin D (combined)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hip fracture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trial; baseline Vit D deficiency benefits most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Liaison Service (FLS) — Reducing Treatment Gap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 Gap: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 of fragility fracture patients receive treatment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who sustain hip fracture had prior fracture — missed opportunity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missed fracture: 5× higher risk of subsequent fracture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= systematic capture of ALL fragility fractures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Model (3i):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IDENTIFY: Flag all fragility fractures in hospital system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INVESTIGATE: DXA + blood tests (calcium, Vit D, renal)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INITIATE: Start treatment before discharge + FLS follow-up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models A–D based on service intensity (IOF classification)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Protocol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Evidence: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reduction: 23% over 2 years (McLellan et al.)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Re-fracture rate 50% lower vs standard care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reduction: 21% (hip fracture in FLS patients)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NHS: FLS is cost-effective — saves £16 per quality-adjusted life year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Investigation Protocol: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Bloods: Ca, PO4, ALP, albumin, Cr, 25-OH Vit D, PTH, testosterone (M), TSH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DXA: spine + hip + optionally 1/3 distal radius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secondary causes if DXA unexpectedly low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 repeat: 2 years after starting pharmacotherapy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Non-Pharmacological Bone Health Strategies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BMD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mg/day (&lt; 50 yrs); 1200 mg/day (&gt; 50 yrs)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loss; not gains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800–2000 IU/day; target serum 50–75 nmol/L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 co-factor for Ca absorption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Weight-bearing exercise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min/week moderate intensity + resistance 2×/week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1–3% BMD gain at spine; reduces falls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cessation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Cessation reduces bone loss by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Smokers: 25% higher fracture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 units/week (UK); ≤ 2 drinks/day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use: ↑ osteoclast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1.0–1.2 g/kg/day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hip fracture risk by 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min midday sun (arms exposed)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Promotes endogenous Vit D3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 of glucocorticoids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Minimise dose; use inhaled steroids where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Prednisolone &gt; 5 mg/day: rapid bone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Monitoring &amp; Drug Holidays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 Treatment: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DXA: Repeat at 2 years on pharmacotherapy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Biochemical markers: CTX (bone resorption) + P1NP (formation)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↓ 50% confirms bisphosphonate effect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P1NP: ↑ 25% confirms teriparatide/romosozumab effect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Ca, renal function, Vit D level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check before bisphosphonate start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Treatment Response: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stable or ↑ BMD + no new fractures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&gt; 5% BMD loss or re-fracture on adequate therapy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if fail oral → IV, or antiresorptive → anabolic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Holidays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 Drug Holiday: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years oral (alendronate/risedronate)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years IV (zoledronic acid)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low-risk patient (no fractures, T-score &gt; −2.5 at hip)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2–3 years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Continue: if high-risk (prior fracture, T-score &lt; −2.5)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Denosumab — Do NOT Stop Abruptly: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Rebound: vertebral fracture within 6–18 months of stopping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vertebral fractures reported (15× baseline risk)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transition to bisphosphonate before discontinuing denosumab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zoledronic acid 6–12 months after last denosumab dose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Osteoporosis — Causes &amp; Management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Glucocorticoid-induced 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Osteoclast, ↓ Osteoblast, ↓ Ca absorption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loss in first 3–6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GIOP guidelines: bisphosphonate if &gt; 3 months steroid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hyperparathyroidism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 → ↑ bone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Cortical &gt; trabecular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Parathyroidectomy; cinacalcet if surgical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Hypogonadism (male)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Testosterone deficiency → ↑ resorption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 = low BMD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Testosterone replacement + bisphosphonate if 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CKD-MBD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Vit D activation, ↑ PTH, high or low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Variable; adynamic or hyperparathyroid 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Cinacalcet, Vit D analogues (calcitriol); renal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Malabsorption (coeliac, IBD)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Ca and Vit D absorption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bone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underlying condition; high-dose Vit D (1000–4000 IU)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Aromatase inhibitor therapy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Estrogen in breast cancer 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BMD loss/year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or IV bisphosphonate; denosumab (ABCSG-18 trial)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Anticonvulsants (phenytoin)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Vit D catabolism via CYP450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bone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D supplementation (up to 4000 IU); consider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Anorexia nervosa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energy availability → amenorrhoea → low estrogen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Severe, young 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Nutritional recovery; consider transdermal estrogen; avoid bisphosphonates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BMD Gains with Pharmacotherapy — Spine vs Hip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00584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Anabolics &gt; antiresorptives for BMD gain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Romosozumab gains: dual mechanism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therapy essential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TPTd: must follow with antiresorptive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Romosozumab → Denosumab: additive BMD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Effect: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reduction: seen at 6–12 months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BMD increase: measurable at 2 years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— Postmenopausal Hip Fracture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67F, fall from standing height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 (hypertension, on amlodipine + atorvastatin)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hip pain, shortening, external rotation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previous fractures documented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X-ray: Garden III intracapsular hip fracture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DXA: T-score femoral neck −2.8 (osteoporosis)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D: 22 nmol/L (deficient)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Renal: CrCl 58 mL/min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FICB on admission, surgery at 30h (&lt; 48h target)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anaesthesia + hemiarthroplasty (Thompson)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Pre-op: Vit D 50,000 IU loading dose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Post-op: Weight-bearing day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PREVENTION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Alendronate 70mg weekly + Ca 1000mg + Vit D 800IU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referral at discharge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physio + home assessment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 repeat at 2 years: T-score improved to −2.3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— Glucocorticoid-Induced 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48M, rheumatoid arthritis on prednisolone 10mg/day × 3 years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pain x 6 weeks after lifting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DXA: T-score spine −2.9, hip −1.8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L2 acute vertebral compression fracture (STIR+)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neurological deficit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D: 31 nmol/L, ALP elevated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TLSO brace + analgesia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not controlled at 6 weeks (VAS 6/10)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Kyphoplasty L2 — pain VAS 8 → 2/10 at 48h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Post-procedure: mobilised same 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PREVENTION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Zoledronic acid 5mg IV (GIOP guidelines)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Calcitriol 0.5μg daily (secondary due to RA)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1200mg daily + Vit D 2000 IU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Rheumatology: minimise steroid dose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Therapies &amp; Future Directions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Mechanisms: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Cathepsin K inhibitor (odanacatib) — osteoclast specific, but CV concerns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Wnt pathway activators (beyond romosozumab)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DKK-1 inhibitors: early clinical trials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Abaloparatide (PTH-rP analogue) — approved USA, not yet India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Biomarker-guided therapy: CTX + P1NP to personalise dose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Developments: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zoledronic acid: improving access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guidelines for Indian FRAX reference database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Urban–rural osteoporosis awareness programmes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fortification policy initiatives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peripheral QCT (HR-pQCT): microarchitecture assessment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element analysis: fracture risk beyond BMD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vertebral fracture detection from chest X-rays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 analogy for bone turnover markers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duration of each drug class still debated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combination therapy comparative trials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prevention in males underrepresented — more data needed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and young-adult osteoporosis management guidelines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DXA T-score ≤ −2.5 or fragility fracture = diagnosis of osteoporosis — treatment mandatory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FRAX is a validated, individualised 10-year risk calculator — use it to guide pharmacotherapy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Bisphosphonates are first-line; anabolics (teriparatide, romosozumab) for high-risk / severe disease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holidays after 5 years oral bisphosphonate; NEVER stop denosumab abruptly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fracture surgery within 48 hours reduces mortality — secondary prevention must start before discharge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Liaison Service (FLS) closes the treatment gap — every hospital should have 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prevention is as important as pharmacotherapy — multifactorial assessment reduces falls 24%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adequacy (&gt; 50 nmol/L) is foundational — correct before starting pharmacotherapy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Osteoporosis &amp; Bone Health</dc:title>
  <dc:subject>PptxGenJS Presentation</dc:subject>
  <dc:creator>PptxGenJS</dc:creator>
  <cp:lastModifiedBy>PptxGenJS</cp:lastModifiedBy>
  <cp:revision>1</cp:revision>
  <dcterms:created xsi:type="dcterms:W3CDTF">2026-06-15T17:06:29Z</dcterms:created>
  <dcterms:modified xsi:type="dcterms:W3CDTF">2026-06-15T17:06:29Z</dcterms:modified>
</cp:coreProperties>
</file>