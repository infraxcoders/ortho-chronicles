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7" r:id="rId5"/>
    <p:sldId id="259" r:id="rId6"/>
    <p:sldId id="260" r:id="rId7"/>
    <p:sldId id="266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303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4123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ANTENATAL DIAGNOSIS OF BILATERAL CONGENITAL PULMONARY AIRWAY MALFORMATION (CPAM) WITH MEDIASTINAL SHIFT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26974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RARE CASE REPORT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2461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 PRESENTATION / e-PAPER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Ramandeep Kaur </a:t>
            </a:r>
          </a:p>
          <a:p>
            <a:pPr marL="0" indent="0" algn="ctr">
              <a:lnSpc>
                <a:spcPct val="110000"/>
              </a:lnSpc>
              <a:buNone/>
            </a:pPr>
            <a:endParaRPr lang="en-US" sz="170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Resident
</a:t>
            </a: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Radiodiagnosis 
</a:t>
            </a: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Medical College, Patiala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21208" y="1060704"/>
            <a:ext cx="1120140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25880"/>
            <a:ext cx="111556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Congenital pulmonary airway malformation (CPAM), formerly CCAM, is the commonest congenital lung lesion, arising from abnormal branching morphogenesis of the terminal bronchioles.</a:t>
            </a:r>
            <a:endParaRPr lang="en-US" sz="1700" dirty="0"/>
          </a:p>
          <a:p>
            <a:pPr marL="203200" indent="-2032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characteristically unilateral and unilobar; bilateral involvement is rare. Antenatal ultrasound with colour Doppler is first-line, with fetal MRI as a problem-solving adjunct.</a:t>
            </a:r>
            <a:endParaRPr lang="en-US" sz="1700" dirty="0"/>
          </a:p>
          <a:p>
            <a:pPr marL="203200" indent="-2032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report a second-trimester fetus with an echogenic left-chest mass at ~20 weeks that, on follow-up ultrasound and fetal MRI at ~22 weeks, proved to be a bilateral microcystic (solid-appearing) CPAM — Left &gt; Right — with significant mediastinal shift to the right and no hydrops fetalis.</a:t>
            </a:r>
            <a:endParaRPr lang="en-US" sz="1700" dirty="0"/>
          </a:p>
          <a:p>
            <a:pPr marL="203200" indent="-2032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absence of a systemic feeding artery excluded pulmonary sequestration; an intact diaphragm with an intra-abdominal stomach excluded a diaphragmatic hernia.</a:t>
            </a:r>
            <a:endParaRPr lang="en-US" sz="1700" dirty="0"/>
          </a:p>
          <a:p>
            <a:pPr marL="203200" indent="-2032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 estimated CPAM volume ratio (CVR ~ 0.58) with no hydrops indicated a favourable prognosis. The case highlights the complementary roles of ultrasound and fetal MRI and the rarity of bilateral CPAM.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Ramandeep Kaur · Dept. of Radiodiagnosis, GMC Patiala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PRESENTATION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21208" y="1060704"/>
            <a:ext cx="1120140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25880"/>
            <a:ext cx="111556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second-trimester pregnancy referred for a routine fetal anomaly scan. No significant maternal illness or teratogen exposure.</a:t>
            </a:r>
            <a:endParaRPr lang="en-US" sz="1700" dirty="0"/>
          </a:p>
          <a:p>
            <a:pPr marL="203200" indent="-2032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live intrauterine fetus with growth appropriate for gestational age (index AUA 20w0d, FHR 160 bpm, EFW 358 ± 52 g; follow-up AUA 22w0d, FHR 154 bpm, EFW 458 ± 66 g). Anterior placenta; adequate liquor.</a:t>
            </a:r>
            <a:endParaRPr lang="en-US" sz="1700" dirty="0"/>
          </a:p>
          <a:p>
            <a:pPr marL="203200" indent="-2032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finding (~20 weeks): a homogeneously echogenic, triangular mass (~16 x 8 mm) in the left lower hemithorax — no cysts and no systemic feeder on colour Doppler → ? pulmonary sequestration / ?? CPAM.</a:t>
            </a:r>
            <a:endParaRPr lang="en-US" sz="1700" dirty="0"/>
          </a:p>
          <a:p>
            <a:pPr marL="203200" indent="-2032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Short-interval follow-up with ultrasound and fetal MRI was advised.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Ramandeep Kaur · Dept. of Radiodiagnosis, GMC Patiala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268074-5CA2-4548-8A0B-1CDD741D7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" y="676524"/>
            <a:ext cx="4986867" cy="37401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005BCD-1407-DCC2-FB58-BB7045F69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0367" y="670174"/>
            <a:ext cx="4986868" cy="37621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AB66710-87C3-6147-49CF-02D17446F96A}"/>
              </a:ext>
            </a:extLst>
          </p:cNvPr>
          <p:cNvSpPr txBox="1"/>
          <p:nvPr/>
        </p:nvSpPr>
        <p:spPr>
          <a:xfrm>
            <a:off x="0" y="4318904"/>
            <a:ext cx="7575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i="1" dirty="0">
                <a:solidFill>
                  <a:schemeClr val="bg2">
                    <a:lumMod val="75000"/>
                  </a:schemeClr>
                </a:solidFill>
              </a:rPr>
              <a:t>USG AT </a:t>
            </a:r>
            <a:r>
              <a:rPr lang="en-IN" sz="2400" i="1" dirty="0" err="1">
                <a:solidFill>
                  <a:schemeClr val="bg2">
                    <a:lumMod val="75000"/>
                  </a:schemeClr>
                </a:solidFill>
              </a:rPr>
              <a:t>AT</a:t>
            </a:r>
            <a:r>
              <a:rPr lang="en-IN" sz="2400" i="1" dirty="0">
                <a:solidFill>
                  <a:schemeClr val="bg2">
                    <a:lumMod val="75000"/>
                  </a:schemeClr>
                </a:solidFill>
              </a:rPr>
              <a:t> 20 WEEKS OF AUA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5AE756-B2FD-46BD-747B-67A4B574D031}"/>
              </a:ext>
            </a:extLst>
          </p:cNvPr>
          <p:cNvSpPr txBox="1"/>
          <p:nvPr/>
        </p:nvSpPr>
        <p:spPr>
          <a:xfrm>
            <a:off x="28720" y="48033"/>
            <a:ext cx="98709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 FINDINGS: ULTRASOUND (09/09/2026)</a:t>
            </a:r>
            <a:endParaRPr lang="en-US" sz="2800" dirty="0"/>
          </a:p>
          <a:p>
            <a:endParaRPr lang="en-IN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378A32-CB8A-8557-5A0C-B44671005E58}"/>
              </a:ext>
            </a:extLst>
          </p:cNvPr>
          <p:cNvSpPr txBox="1"/>
          <p:nvPr/>
        </p:nvSpPr>
        <p:spPr>
          <a:xfrm>
            <a:off x="28721" y="4727659"/>
            <a:ext cx="112290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Single live intrauterine </a:t>
            </a:r>
            <a:r>
              <a:rPr lang="en-IN" sz="1600" dirty="0" err="1"/>
              <a:t>fetus</a:t>
            </a:r>
            <a:r>
              <a:rPr lang="en-IN" sz="1600" dirty="0"/>
              <a:t> with normal cardiac activity. </a:t>
            </a:r>
          </a:p>
          <a:p>
            <a:r>
              <a:rPr lang="en-IN" sz="1600" dirty="0"/>
              <a:t>FHR 160 bpm, EFW 358 ± 52 g, AUA 20 weeks. </a:t>
            </a:r>
          </a:p>
          <a:p>
            <a:r>
              <a:rPr lang="en-IN" sz="1600" dirty="0"/>
              <a:t>Placenta anterior, liquor adequate. </a:t>
            </a:r>
          </a:p>
          <a:p>
            <a:r>
              <a:rPr lang="en-IN" sz="1600" dirty="0">
                <a:solidFill>
                  <a:srgbClr val="FF0000"/>
                </a:solidFill>
              </a:rPr>
              <a:t>Homogeneous echogenic triangular mass 16×8 mm in left lower chest—likely </a:t>
            </a:r>
          </a:p>
          <a:p>
            <a:r>
              <a:rPr lang="en-IN" sz="1600" b="1" dirty="0">
                <a:solidFill>
                  <a:srgbClr val="FF0000"/>
                </a:solidFill>
              </a:rPr>
              <a:t>pulmonary sequestration or CCAM. Other structures normal.</a:t>
            </a:r>
          </a:p>
          <a:p>
            <a:endParaRPr lang="en-IN" sz="1600" dirty="0"/>
          </a:p>
        </p:txBody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0A78076D-D9E2-5DDB-ABD2-5C2050CA8FA4}"/>
              </a:ext>
            </a:extLst>
          </p:cNvPr>
          <p:cNvSpPr/>
          <p:nvPr/>
        </p:nvSpPr>
        <p:spPr>
          <a:xfrm>
            <a:off x="152908" y="578104"/>
            <a:ext cx="1120140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8E1CC6-A962-9ED4-ABF6-E312726E4D3E}"/>
              </a:ext>
            </a:extLst>
          </p:cNvPr>
          <p:cNvSpPr txBox="1"/>
          <p:nvPr/>
        </p:nvSpPr>
        <p:spPr>
          <a:xfrm>
            <a:off x="515725" y="6469567"/>
            <a:ext cx="32720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Ramandeep Kaur · Dept. of Radiodiagnosis, GMC Patiala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404791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 FINDINGS: ULTRASOUND (29/09/2026)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21208" y="1060704"/>
            <a:ext cx="1120140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pic>
        <p:nvPicPr>
          <p:cNvPr id="4" name="Image 0" descr="C:\Users\pawan\AppData\Local\Temp\claude\C--Users-pawan-Documents-GitHub-ortho-chronicles\ff23dfc7-f08a-436e-9582-f11b0d55c62c\scratchpad\work\us1_ann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487704"/>
            <a:ext cx="5943600" cy="364957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1208" y="5034691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i="1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UP USG AT 22 WEEKS OF AUA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675120" y="1417320"/>
            <a:ext cx="50292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Homogeneously echogenic intrathoracic mass, brighter than normal fetal lung.</a:t>
            </a:r>
          </a:p>
          <a:p>
            <a:pPr marL="203200" indent="-2032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Microcystic/solid appearing.</a:t>
            </a:r>
            <a:endParaRPr lang="en-US" sz="1600" dirty="0"/>
          </a:p>
          <a:p>
            <a:pPr marL="203200" indent="-2032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effect with crowding and displacement of mediastinal structures.</a:t>
            </a:r>
            <a:endParaRPr lang="en-US" sz="1600" dirty="0"/>
          </a:p>
          <a:p>
            <a:pPr marL="203200" indent="-2032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~3.2 cm x 2 cm on this plane; left lung predominantly involved.</a:t>
            </a:r>
            <a:endParaRPr lang="en-US" sz="1600" dirty="0"/>
          </a:p>
          <a:p>
            <a:pPr marL="203200" indent="-2032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medial triangular area of normal (less echogenic) lung is preserved.</a:t>
            </a:r>
          </a:p>
          <a:p>
            <a:pPr marL="203200" indent="-2032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Ramandeep Kaur · Dept. of Radiodiagnosis, GMC Patiala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 FINDINGS: ULTRASOUND + DOPPLER (29/09/2026)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21208" y="1060704"/>
            <a:ext cx="1120140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pic>
        <p:nvPicPr>
          <p:cNvPr id="4" name="Image 0" descr="C:\Users\pawan\AppData\Local\Temp\claude\C--Users-pawan-Documents-GitHub-ortho-chronicles\ff23dfc7-f08a-436e-9582-f11b0d55c62c\scratchpad\work\us3_ann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5943600" cy="40054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450222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i="1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UP USG AT 22 WEEKS OF AUA</a:t>
            </a:r>
            <a:endParaRPr lang="en-US" sz="2400" dirty="0"/>
          </a:p>
          <a:p>
            <a:pPr marL="0" indent="0">
              <a:lnSpc>
                <a:spcPct val="100000"/>
              </a:lnSpc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675120" y="1417320"/>
            <a:ext cx="50292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colour Doppler, the lesion derives its vascular supply from the pulmonary circulation.</a:t>
            </a:r>
            <a:endParaRPr lang="en-US" sz="1600" dirty="0"/>
          </a:p>
          <a:p>
            <a:pPr marL="203200" indent="-2032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systemic feeding artery arising from the aorta was identified.</a:t>
            </a:r>
            <a:endParaRPr lang="en-US" sz="1600" dirty="0"/>
          </a:p>
          <a:p>
            <a:pPr marL="203200" indent="-2032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argues strongly against pulmonary sequestration.</a:t>
            </a:r>
            <a:endParaRPr lang="en-US" sz="1600" dirty="0"/>
          </a:p>
          <a:p>
            <a:pPr marL="203200" indent="-2032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Doppler is pivotal — the search for a systemic feeder is what separates CPAM from sequestration.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Ramandeep Kaur · Dept. of Radiodiagnosis, GMC Patiala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The image shows a detailed ultrasound scan displaying a fetus in the womb.&#10;&#10;AI-generated content may be incorrect.">
            <a:extLst>
              <a:ext uri="{FF2B5EF4-FFF2-40B4-BE49-F238E27FC236}">
                <a16:creationId xmlns:a16="http://schemas.microsoft.com/office/drawing/2014/main" id="{F4E1015C-59F4-C8DC-E6CF-E2462AB9A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67" y="906821"/>
            <a:ext cx="4203291" cy="4712314"/>
          </a:xfrm>
          <a:prstGeom prst="rect">
            <a:avLst/>
          </a:prstGeom>
        </p:spPr>
      </p:pic>
      <p:pic>
        <p:nvPicPr>
          <p:cNvPr id="11" name="Picture 10" descr="The image displays an ultrasound scan showing a fetus in the womb.&#10;&#10;AI-generated content may be incorrect.">
            <a:extLst>
              <a:ext uri="{FF2B5EF4-FFF2-40B4-BE49-F238E27FC236}">
                <a16:creationId xmlns:a16="http://schemas.microsoft.com/office/drawing/2014/main" id="{6FCF6AD0-DD4B-0243-E2C3-7469C2E71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9049" y="906821"/>
            <a:ext cx="4203292" cy="4712314"/>
          </a:xfrm>
          <a:prstGeom prst="rect">
            <a:avLst/>
          </a:prstGeom>
        </p:spPr>
      </p:pic>
      <p:pic>
        <p:nvPicPr>
          <p:cNvPr id="13" name="Picture 12" descr="The image displays a radiographic scan, likely of the thoracic region, showing a high-resolution image with specific measurements for width, length, and width.&#10;&#10;AI-generated content may be incorrect.">
            <a:extLst>
              <a:ext uri="{FF2B5EF4-FFF2-40B4-BE49-F238E27FC236}">
                <a16:creationId xmlns:a16="http://schemas.microsoft.com/office/drawing/2014/main" id="{DBDEC71E-F3AD-CE3F-5578-AAC9B62F68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2342" y="906820"/>
            <a:ext cx="4203292" cy="471231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89B6733-202F-37B3-86CC-F639B77AA579}"/>
              </a:ext>
            </a:extLst>
          </p:cNvPr>
          <p:cNvSpPr txBox="1"/>
          <p:nvPr/>
        </p:nvSpPr>
        <p:spPr>
          <a:xfrm>
            <a:off x="250722" y="162232"/>
            <a:ext cx="75290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FETAL MRI (29/09/2026)</a:t>
            </a:r>
            <a:endParaRPr lang="en-IN" sz="32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B5C7FE-92B2-F48B-4A9C-F7A053283040}"/>
              </a:ext>
            </a:extLst>
          </p:cNvPr>
          <p:cNvSpPr txBox="1"/>
          <p:nvPr/>
        </p:nvSpPr>
        <p:spPr>
          <a:xfrm>
            <a:off x="81114" y="5620380"/>
            <a:ext cx="65777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i="1" dirty="0">
                <a:solidFill>
                  <a:schemeClr val="bg2">
                    <a:lumMod val="50000"/>
                  </a:schemeClr>
                </a:solidFill>
              </a:rPr>
              <a:t>FETAL MRI ON 22 WEEKS OF AUA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D27507E-772A-E0AC-03F6-3F9467BB677C}"/>
              </a:ext>
            </a:extLst>
          </p:cNvPr>
          <p:cNvSpPr/>
          <p:nvPr/>
        </p:nvSpPr>
        <p:spPr>
          <a:xfrm>
            <a:off x="298958" y="759961"/>
            <a:ext cx="1120140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7C098B-0C26-3E18-4759-A968FA2DF593}"/>
              </a:ext>
            </a:extLst>
          </p:cNvPr>
          <p:cNvSpPr txBox="1"/>
          <p:nvPr/>
        </p:nvSpPr>
        <p:spPr>
          <a:xfrm>
            <a:off x="446999" y="6449547"/>
            <a:ext cx="32720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Ramandeep Kaur · Dept. of Radiodiagnosis, GMC Patiala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65100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 FINDINGS: FETAL MRI (29/09/2026)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21208" y="1060704"/>
            <a:ext cx="1120140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9570" y="1078993"/>
            <a:ext cx="111556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600" b="1" dirty="0" err="1"/>
              <a:t>Fetus</a:t>
            </a:r>
            <a:r>
              <a:rPr lang="en-IN" sz="1600" b="1" dirty="0"/>
              <a:t>:</a:t>
            </a:r>
            <a:endParaRPr lang="en-IN" sz="1600" dirty="0"/>
          </a:p>
          <a:p>
            <a:pPr lvl="0"/>
            <a:r>
              <a:rPr lang="en-IN" sz="1600" dirty="0"/>
              <a:t>Single live intrauterine </a:t>
            </a:r>
            <a:r>
              <a:rPr lang="en-IN" sz="1600" dirty="0" err="1"/>
              <a:t>fetus</a:t>
            </a:r>
            <a:r>
              <a:rPr lang="en-IN" sz="1600" dirty="0"/>
              <a:t> with normal cardiac activity.</a:t>
            </a:r>
          </a:p>
          <a:p>
            <a:pPr lvl="0"/>
            <a:r>
              <a:rPr lang="en-IN" sz="1600" dirty="0"/>
              <a:t>Gestational age: ~22 weeks (based on biometric parameters).</a:t>
            </a:r>
          </a:p>
          <a:p>
            <a:pPr lvl="0"/>
            <a:r>
              <a:rPr lang="en-IN" sz="1600" dirty="0"/>
              <a:t>Placenta anterior, liquor adequate, presentation variable.</a:t>
            </a:r>
          </a:p>
          <a:p>
            <a:r>
              <a:rPr lang="en-IN" sz="1600" b="1" dirty="0"/>
              <a:t>Lungs:</a:t>
            </a:r>
            <a:endParaRPr lang="en-IN" sz="1600" dirty="0"/>
          </a:p>
          <a:p>
            <a:pPr lvl="0"/>
            <a:r>
              <a:rPr lang="en-IN" sz="1600" b="1" dirty="0"/>
              <a:t>Left lung:</a:t>
            </a:r>
            <a:r>
              <a:rPr lang="en-IN" sz="1600" dirty="0"/>
              <a:t> Large hyperintense area on T2-weighted MRI (echogenic on USG).</a:t>
            </a:r>
          </a:p>
          <a:p>
            <a:pPr lvl="1"/>
            <a:r>
              <a:rPr lang="en-IN" sz="1600" dirty="0"/>
              <a:t>Dimensions: 3.2 × 1.71 × 3.72 cm (~10.5 cc volume).</a:t>
            </a:r>
          </a:p>
          <a:p>
            <a:pPr lvl="1"/>
            <a:r>
              <a:rPr lang="en-IN" sz="1600" dirty="0"/>
              <a:t>Triangular area of normal lung tissue: 2.09 × 1.00 cm.</a:t>
            </a:r>
          </a:p>
          <a:p>
            <a:pPr lvl="0"/>
            <a:r>
              <a:rPr lang="en-IN" sz="1600" b="1" dirty="0"/>
              <a:t>Right lung:</a:t>
            </a:r>
            <a:r>
              <a:rPr lang="en-IN" sz="1600" dirty="0"/>
              <a:t> Apical hyperintense area on T2-weighted MRI (echogenic on USG).</a:t>
            </a:r>
          </a:p>
          <a:p>
            <a:pPr lvl="1"/>
            <a:r>
              <a:rPr lang="en-IN" sz="1600" dirty="0"/>
              <a:t>Dimensions: 1.21 × 1.17 × 1.46 cm (~1.07 cc volume).</a:t>
            </a:r>
          </a:p>
          <a:p>
            <a:pPr lvl="1"/>
            <a:r>
              <a:rPr lang="en-IN" sz="1600" dirty="0"/>
              <a:t>Inferior part shows normal signal intensity.</a:t>
            </a:r>
          </a:p>
          <a:p>
            <a:pPr lvl="0"/>
            <a:r>
              <a:rPr lang="en-IN" sz="1600" b="1" dirty="0"/>
              <a:t>Mediastinum:</a:t>
            </a:r>
            <a:r>
              <a:rPr lang="en-IN" sz="1600" dirty="0"/>
              <a:t> Significant shift towards right side.</a:t>
            </a:r>
          </a:p>
          <a:p>
            <a:r>
              <a:rPr lang="en-IN" sz="1600" b="1" dirty="0"/>
              <a:t>Diaphragm:</a:t>
            </a:r>
            <a:r>
              <a:rPr lang="en-IN" sz="1600" dirty="0"/>
              <a:t> Normally visualised. </a:t>
            </a:r>
            <a:r>
              <a:rPr lang="en-IN" sz="1600" b="1" dirty="0"/>
              <a:t>Hydrops Fetalis:</a:t>
            </a:r>
            <a:r>
              <a:rPr lang="en-IN" sz="1600" dirty="0"/>
              <a:t> No evidence. </a:t>
            </a:r>
            <a:r>
              <a:rPr lang="en-IN" sz="1600" b="1" dirty="0"/>
              <a:t>Spine:</a:t>
            </a:r>
            <a:r>
              <a:rPr lang="en-IN" sz="1600" dirty="0"/>
              <a:t> No gross CVA seen. </a:t>
            </a:r>
            <a:r>
              <a:rPr lang="en-IN" sz="1600" b="1" dirty="0"/>
              <a:t>Abdomen:</a:t>
            </a:r>
            <a:r>
              <a:rPr lang="en-IN" sz="1600" dirty="0"/>
              <a:t> Stomach bubble, urinary bladder, bilateral kidneys visualised. </a:t>
            </a:r>
            <a:r>
              <a:rPr lang="en-IN" sz="1600" b="1" dirty="0"/>
              <a:t>Cord:</a:t>
            </a:r>
            <a:r>
              <a:rPr lang="en-IN" sz="1600" dirty="0"/>
              <a:t> Normal insertion, three-vessel cord. </a:t>
            </a:r>
            <a:r>
              <a:rPr lang="en-IN" sz="1600" b="1" dirty="0"/>
              <a:t>Limbs:</a:t>
            </a:r>
            <a:r>
              <a:rPr lang="en-IN" sz="1600" dirty="0"/>
              <a:t> Long bones of bilateral upper and lower limbs visualised.</a:t>
            </a:r>
          </a:p>
          <a:p>
            <a:r>
              <a:rPr lang="en-IN" sz="1600" b="1" dirty="0">
                <a:solidFill>
                  <a:srgbClr val="FF0000"/>
                </a:solidFill>
              </a:rPr>
              <a:t>Impression</a:t>
            </a:r>
          </a:p>
          <a:p>
            <a:pPr lvl="0"/>
            <a:r>
              <a:rPr lang="en-IN" sz="1600" b="1" dirty="0">
                <a:solidFill>
                  <a:srgbClr val="FF0000"/>
                </a:solidFill>
              </a:rPr>
              <a:t>Congenital Pulmonary Airway Malformation (CPAM)</a:t>
            </a:r>
            <a:r>
              <a:rPr lang="en-IN" sz="1600" dirty="0">
                <a:solidFill>
                  <a:srgbClr val="FF0000"/>
                </a:solidFill>
              </a:rPr>
              <a:t> involving bilateral lungs, left &gt; right.</a:t>
            </a:r>
          </a:p>
          <a:p>
            <a:pPr lvl="0"/>
            <a:r>
              <a:rPr lang="en-IN" sz="1600" dirty="0">
                <a:solidFill>
                  <a:srgbClr val="FF0000"/>
                </a:solidFill>
              </a:rPr>
              <a:t>Associated </a:t>
            </a:r>
            <a:r>
              <a:rPr lang="en-IN" sz="1600" b="1" dirty="0">
                <a:solidFill>
                  <a:srgbClr val="FF0000"/>
                </a:solidFill>
              </a:rPr>
              <a:t>significant mediastinal shift to right</a:t>
            </a:r>
            <a:r>
              <a:rPr lang="en-IN" sz="1600" dirty="0">
                <a:solidFill>
                  <a:srgbClr val="FF0000"/>
                </a:solidFill>
              </a:rPr>
              <a:t>.</a:t>
            </a:r>
          </a:p>
          <a:p>
            <a:pPr lvl="0"/>
            <a:r>
              <a:rPr lang="en-IN" sz="1600" dirty="0">
                <a:solidFill>
                  <a:srgbClr val="FF0000"/>
                </a:solidFill>
              </a:rPr>
              <a:t>No evidence of hydrops fetalis at present</a:t>
            </a:r>
            <a:r>
              <a:rPr lang="en-IN" sz="1600" dirty="0"/>
              <a:t>.</a:t>
            </a:r>
          </a:p>
          <a:p>
            <a:pPr marL="203200" indent="-2032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Ramandeep Kaur · Dept. of Radiodiagnosis, GMC Patiala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DIAGNOSIS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21208" y="1060704"/>
            <a:ext cx="1120140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25880"/>
            <a:ext cx="111556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Pulmonary sequestration </a:t>
            </a: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systemic feeding artery from the aorta on colour Doppler (absent in this case).</a:t>
            </a:r>
            <a:endParaRPr lang="en-US" sz="1700" dirty="0"/>
          </a:p>
          <a:p>
            <a:pPr marL="203200" indent="-2032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Congenital diaphragmatic hernia </a:t>
            </a: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bowel / stomach within the chest with an empty abdomen and visible peristalsis (diaphragm intact and stomach intra-abdominal here).</a:t>
            </a:r>
            <a:endParaRPr lang="en-US" sz="1700" dirty="0"/>
          </a:p>
          <a:p>
            <a:pPr marL="203200" indent="-2032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Bronchial atresia / bronchogenic cyst </a:t>
            </a: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focal hyperinflation or a discrete cyst.</a:t>
            </a:r>
            <a:endParaRPr lang="en-US" sz="1700" dirty="0"/>
          </a:p>
          <a:p>
            <a:pPr marL="203200" indent="-2032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Congenital lobar overinflation </a:t>
            </a: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hyperechoic, expanded lobe.</a:t>
            </a:r>
            <a:endParaRPr lang="en-US" sz="1700" dirty="0"/>
          </a:p>
          <a:p>
            <a:pPr marL="203200" indent="-2032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case: no systemic feeder, intact diaphragm with an intra-abdominal stomach, and no dominant cyst → microcystic CPAM.</a:t>
            </a:r>
            <a:endParaRPr lang="en-US" sz="1700" dirty="0">
              <a:solidFill>
                <a:srgbClr val="FF00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Ramandeep Kaur · Dept. of Radiodiagnosis, GMC Patiala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21208" y="1060704"/>
            <a:ext cx="1120140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CPAM is a hamartomatous lung malformation (abnormal branching morphogenesis); it connects with the airway and is supplied by the pulmonary circulation — unlike sequestration.</a:t>
            </a:r>
            <a:endParaRPr lang="en-US" sz="1550" dirty="0"/>
          </a:p>
          <a:p>
            <a:pPr marL="203200" indent="-2032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histologically by Stocker (Type 0–4); on imaging it is practically split into macrocystic (resolvable cysts) and microcystic (solid-appearing). Microcystic (Type 3) lesions are echogenic on ultrasound and homogeneously T2-hyperintense on MRI because the cysts are below imaging resolution.</a:t>
            </a:r>
            <a:endParaRPr lang="en-US" sz="1550" dirty="0"/>
          </a:p>
          <a:p>
            <a:pPr marL="203200" indent="-2032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CPAMs are unilateral and confined to one lobe — bilateral involvement, as here, is rare and warrants careful evaluation and close follow-up.</a:t>
            </a:r>
            <a:endParaRPr lang="en-US" sz="1550" dirty="0"/>
          </a:p>
          <a:p>
            <a:pPr marL="203200" indent="-2032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CPAM volume ratio (CVR) stratifies the risk of hydrops; CVR &gt; 1.6 predicts increased risk. Hydrops is the single most important adverse prognostic sign.</a:t>
            </a:r>
            <a:endParaRPr lang="en-US" sz="1550" dirty="0"/>
          </a:p>
          <a:p>
            <a:pPr marL="203200" indent="-2032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history: many lesions plateau or regress in relative size after ~28 weeks. Large microcystic lesions with hydrops may benefit from antenatal maternal steroids; macrocysts with hydrops may need thoraco-amniotic shunting; fetal surgery is rare.</a:t>
            </a:r>
            <a:endParaRPr lang="en-US" sz="1550" dirty="0"/>
          </a:p>
          <a:p>
            <a:pPr marL="203200" indent="-2032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Postnatally, CT confirms and maps the lesion; resection is considered for symptoms and often for persistent lesions given the risk of infection and (rarely) malignancy.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Ramandeep Kaur · Dept. of Radiodiagnosis, GMC Patiala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21208" y="1060704"/>
            <a:ext cx="1120140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25880"/>
            <a:ext cx="111556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Antenatal ultrasound with colour Doppler, supported by fetal MRI, diagnosed a rare bilateral microcystic CPAM (Left &gt; Right) with significant mediastinal shift and no hydrops.</a:t>
            </a:r>
            <a:endParaRPr lang="en-US" sz="1800" dirty="0"/>
          </a:p>
          <a:p>
            <a:pPr marL="203200" indent="-2032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Doppler excluded pulmonary sequestration; an intact diaphragm with an intra-abdominal stomach excluded a diaphragmatic hernia.</a:t>
            </a:r>
            <a:endParaRPr lang="en-US" sz="1800" dirty="0"/>
          </a:p>
          <a:p>
            <a:pPr marL="203200" indent="-2032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 CPAM volume ratio (~0.58) with no hydrops indicated a favourable prognosis.</a:t>
            </a:r>
            <a:endParaRPr lang="en-US" sz="1800" dirty="0"/>
          </a:p>
          <a:p>
            <a:pPr marL="203200" indent="-2032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reinforces the complementary roles of ultrasound and fetal MRI in characterising, quantifying and following fetal lung masses, and the rarity of bilateral involvement.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Ramandeep Kaur · Dept. of Radiodiagnosis, GMC Patiala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21208" y="1060704"/>
            <a:ext cx="1120140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25880"/>
            <a:ext cx="111556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Congenital pulmonary airway malformation. Radiology Reference Article — Radiopaedia.org.</a:t>
            </a:r>
            <a:endParaRPr lang="en-US" sz="1400" dirty="0"/>
          </a:p>
          <a:p>
            <a:pPr marL="0" indent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Stocker JT. Congenital pulmonary airway malformation — a new name for and an expanded classification of congenital cystic adenomatoid malformation of the lung. Histopathology. 2002;41(Suppl 2):424–430.</a:t>
            </a:r>
            <a:endParaRPr lang="en-US" sz="1400" dirty="0"/>
          </a:p>
          <a:p>
            <a:pPr marL="0" indent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Adzick NS, Harrison MR, Crombleholme TM, et al. Fetal lung lesions: management and outcome. Am J Obstet Gynecol. 1998;179(4):884–889.</a:t>
            </a:r>
            <a:endParaRPr lang="en-US" sz="1400" dirty="0"/>
          </a:p>
          <a:p>
            <a:pPr marL="0" indent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Crombleholme TM, Coleman B, Hedrick H, et al. Cystic adenomatoid malformation volume ratio predicts outcome in prenatally diagnosed CCAM of the lung. J Pediatr Surg. 2002;37(3):331–338.</a:t>
            </a:r>
            <a:endParaRPr lang="en-US" sz="1400" dirty="0"/>
          </a:p>
          <a:p>
            <a:pPr marL="0" indent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Biyyam DR, Chapman T, Ferguson MR, Deutsch G, Dighe MK. Congenital lung abnormalities: embryologic features, prenatal diagnosis, and postnatal radiologic–pathologic correlation. RadioGraphics. 2010;30(6):1721–1738.</a:t>
            </a:r>
            <a:endParaRPr lang="en-US" sz="1400" dirty="0"/>
          </a:p>
          <a:p>
            <a:pPr marL="0" indent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Congenital Chylothorax and Congenital Pulmonary Airway Malformation: Case Report and Literature Review. PubMed Central (open access), PMCID: PMC12168237.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55778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credit: ultrasound images are the patient’s own, de-identified (Dept. of Radiodiagnosis, GMC Patiala). References are cited for the written content.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Ramandeep Kaur · Dept. of Radiodiagnosis, GMC Patiala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1482</Words>
  <Application>Microsoft Office PowerPoint</Application>
  <PresentationFormat>Widescreen</PresentationFormat>
  <Paragraphs>113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Dr Pawanpreet Singh</cp:lastModifiedBy>
  <cp:revision>17</cp:revision>
  <dcterms:created xsi:type="dcterms:W3CDTF">2026-10-04T18:20:33Z</dcterms:created>
  <dcterms:modified xsi:type="dcterms:W3CDTF">2026-10-13T14:16:22Z</dcterms:modified>
</cp:coreProperties>
</file>