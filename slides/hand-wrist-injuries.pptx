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Satisfactory Outcome</c:v>
                </c:pt>
              </c:strCache>
            </c:strRef>
          </c:tx>
          <c:spPr>
            <a:solidFill>
              <a:srgbClr val="B896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96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DRF ORIF
(TAM &gt; 75%)</c:v>
                  </c:pt>
                  <c:pt idx="1">
                    <c:v>Zone II Tendon
(good/excellent)</c:v>
                  </c:pt>
                  <c:pt idx="2">
                    <c:v>CTS Release
(symptom relief)</c:v>
                  </c:pt>
                  <c:pt idx="3">
                    <c:v>Scaphoid waist
(union rate cast)</c:v>
                  </c:pt>
                  <c:pt idx="4">
                    <c:v>Scaphoid waist
(union rate screw)</c:v>
                  </c:pt>
                  <c:pt idx="5">
                    <c:v>Replantation digit
(survival rate)</c:v>
                  </c:pt>
                  <c:pt idx="6">
                    <c:v>Replantation major
(survival rate)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</c:v>
                </c:pt>
                <c:pt idx="1">
                  <c:v>74</c:v>
                </c:pt>
                <c:pt idx="2">
                  <c:v>90</c:v>
                </c:pt>
                <c:pt idx="3">
                  <c:v>80</c:v>
                </c:pt>
                <c:pt idx="4">
                  <c:v>95</c:v>
                </c:pt>
                <c:pt idx="5">
                  <c:v>85</c:v>
                </c:pt>
                <c:pt idx="6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&amp; WRIST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INJURIES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9659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Fractures · Tendon Injuries · Nerve Compression · Replantation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743200"/>
            <a:ext cx="4572000" cy="36576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Maninder Singh  |  MS Orthopedics  |  GMCH Amritsar  |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Anatomy of the Hand &amp; Wrist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Carpal Bones &amp; Kinematics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Carpal Bones (proximal to distal):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row: Scaphoid, Lunate, Triquetrum, Pisiform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row: Trapezium, Trapezoid, Capitate, Hamate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Mnemonic: 'Some Lovers Try Positions That They Can't Handle'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Carpal Kinematics: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 (Dorsal Intercalated Segment Instability): SL dissociation → lunate tilts dorsal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(Volar Intercalated Segment Instability): LT dissociation → lunate tilts volar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Wrist Ligaments: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Volar intrinsic: RSC, LRL, ULL (most important)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Scapholunate ligament (SL): dorsal component most important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Lunotriquetral ligament (LT)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TFCC: stabilises DRUJ; torn in distal radius fractures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Tendon Zones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Flexor Tendon Zones: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I: Distal to FDS insertion (FDP only)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II (No Man's Land): A1 pulley to FDS insertion — most complex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III: Carpal tunnel to palm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IV: Within carpal tunnel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V: Proximal to carpal tunnel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Extensor Tendon Zones: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I: Over DIP (Mallet finger)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II: Over middle phalanx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III: Over PIP (central slip) — Boutonnière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IV: Over proximal phalanx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V: Over MCP (Sagittal band rupture)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VI: Over dorsum of hand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VII: Under extensor retinaculum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Radius Fractures — Classification &amp; Assessment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5878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Colles' Fracture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Extra-articular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Dorsally displaced, impacted; dorsal tilt, radial shortening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Cast if &lt; 3 mm shortening, &lt; 5° dorsal tilt, &lt; 2 mm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common adult fracture; FOOSH in elderly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Smith's Fracture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Extra-articular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Volar displacement ('reverse Colles')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Volar locking plate (unstable)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Garden spade deformity; fall on flexed wrist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Barton's Fracture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Intra-articular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Rim fracture: dorsal or volar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ORIF (volar locking plate / buttress)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Subluxation of carpus with fragment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Chauffeur's Fracture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Intra-articular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styloid fracture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 screw or plate if displaced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Avulsion by RSC ligament; AO B1.1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Die-punch Fracture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Intra-articular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Lunate facet depression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ORIF — subchondral bone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 mandatory to assess articular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Frykman Classification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+ Intra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I–VIII based on intra-articular + DRUJ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Guides implant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DRUJ involvement = higher grade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Volar Locking Plate — Surgical Technique (Henry's Approach)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&amp; Approach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for Surgery (AO/British):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shortening &gt; 3 mm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Dorsal tilt &gt; 5° (or neutral)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Intra-articular step &gt; 2 mm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fracture pattern (comminution)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active patient — lower threshold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Henry's Volar Approach: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Incision: FCR radial border → wrist crease → Henry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protect: radial artery, FPL, radial nerve (SBR)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Pronator quadratus elevated off radial border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volar surface of distal radius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Reduction: traction + fluoroscopy; use reduction tools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&amp; Post-op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Application: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Plate: 2.4/2.7 mm volar locking plate (Synthes, Trimed, Acumed)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plate distal to watershed line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locking screws: subchondral position (2 mm from joint)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Proximal: cortical or locking screws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Gilula arcs restored on post-reduction X-ray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DRUJ stability under fluoroscopy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Post-operative Protocol: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Dorsal backslab 1–2 weeks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ROM: wrist, digits from day 1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therapy referral: day 2–5 post-op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Strengthening: 8–10 weeks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recovery: 3–6 months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Complications: tendon rupture (EPL), CRPS (5%)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Scaphoid Fractures — Diagnosis &amp; Management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Clinical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Blood Supply: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blood supply enters distally (dorsal ridge)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pole: retrograde supply only — AVN risk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Waist fractures (70%): intermediate AVN risk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pole (5%): high AVN risk (30%)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pole (15%): good blood supply, heals well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Anatomical snuffbox tenderness (SENSITIVITY 90%)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Scaphoid tubercle tenderness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Dorsoradial wrist swelling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Axial compression (scaphoid compression test)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X-ray: may be normal in 10–20% acute fractures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&amp; Treatment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 (AP, Lateral, Scaphoid views): first line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scan: gold standard for bony detail — union assessment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best for occult fractures (sensitivity 98%); bone oedema day 1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USS: limited; used in some centres for acute diagnosis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Undisplaced waist (B1): cast 6–10 weeks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Displaced &gt; 1 mm / proximal pole: ORIF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compression screw (Herbert, Acutrak, WA)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Screw position: central-central on AP + lateral fluoroscopy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union: bone graft (iliac crest / medial femoral condyle vascularised graft)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AVN proximal pole: vascularised bone graft (Zaidemberg / MFC)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Scaphoid Non-union — SNAC Wrist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256032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26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SNAC Deformity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Affected Joint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Surgical Options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Pre-collapse / DISI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 angle &gt; 60° without OA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 joint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Headless screw + bone graft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Vascularised graft if AVN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SNAC Stage 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styloid OA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Scaphoid-styloid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Screw + graft + radial styloidectomy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Distal fragment viable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SNAC Stage 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Scaphocapitate OA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Radioscaphoid (whole)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Scaphoid excision + 4-bone fusion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RSL fusion if fovea involved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SNAC Stage III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Capitolunate OA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Midcarpal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Four-corner fusion (LTC + C) or PRC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PRC: lunate facet must be intact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SNAC Stage IV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Radiocarpal OA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Pan-carpal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wrist arthrodesis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wrist arthrodesis: 10–20° extension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3520440"/>
            <a:ext cx="85953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for SNAC: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non-union delay: 18 months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Humpback deformity on lateral X-ray: volar angulation of scaphoid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 deformity: lunate extended → ↑ SL angle on lateral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Vascularised bone graft (Zaidemberg or MFC pedicled): best for AVN proximal pole — union rates 70–90%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Flexor Tendon Repair — Zone II (No Man's Land)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II Anatomy &amp; Principles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Zone II: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 and FDS run within tight fibrous sheath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Pulley system: A1–A5 annular pulleys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(proximal phalanx) + A4 (middle phalanx): CRITICAL — preserve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in Zone II most technically demanding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Principles: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within 24–48h (primary) or up to 2 weeks (delayed primary)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suture: 4-strand or 6-strand (strength proportional to strand count)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4-strand repair (MGH / Modified Kessler): 40–80 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6-strand repair: 60–120 N — allows early active motion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Epitendinous suture: increases strength 10–50%, reduces gapping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&amp; Rehab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Suture Technique: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Loupe magnification mandatory (× 3.5 minimum)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Kessler or Adelaide 4-strand core suture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3-0 or 4-0 Prolene or braided polyester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circumferential epitendinous: 6-0 Prolene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pulley disruption: venting A2 max 1 cm if needed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Post-operative Rehabilitation: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Belfast protocol (active): immediate controlled active motion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protocol (active): immediate active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Traditional: Kleinert passive flexion-active extension (wrist flex)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therapist: from day 2–5 mandatory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Rupture rate: 3–5% with active protocols vs 10–25% passive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Extensor Tendon Injuries — Zone-Specific Management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Deformity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I (DIP)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tendon disruption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Mallet finger (loss of DIP extension)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splint DIP × 8 weeks (full time); 4 weeks at night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Chronic: surgical reconstruction if &gt; 3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II (mid phalanx)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Tendon laceration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 lag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repair if laceration; splint if avulsion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 zone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III (PIP joint)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slip disruption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Boutonnière deformity (PIP flex + DIP ext)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Acute: extension splint PIP 6 wks; Chronic: Fowler's tenotomy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miss central slip injury at PIP 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IV (prox phalanx)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Laceration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Extensor lag at MCP/PIP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repair + splint in extension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bands usually intact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V (MCP)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Sagittal band rupture (boxer's knuckle)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Extensor tendon subluxation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Acute: splint; Chronic: sagittal band repair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Boxing / punch injury over MCP; tendon subluxes ulnarly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VI (dorsum)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Laceration (EHL, EDC)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Extensor lag digit/thumb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repair; running epitendinous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lose single digit extension temporarily — EI can compensate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VII (retinaculum)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Rupture (RA, stenosing tenosynovitis)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digit drop / EPL rupture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Tendon transfer (EI to EPL) or synovectomy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EPL most common RA rupture — Caput ulnae syndrome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Carpal Tunnel Syndrome — Diagnosis &amp; Management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Clinical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Carpal tunnel: 9 flexor tendons + median nerve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Roof: flexor retinaculum (transverse carpal ligament)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Contents: FPL, 4× FDS, 4× FDP, median nerve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nerve: most superficial (vulnerable to compression)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&amp; Signs: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Nocturnal paraesthesia (thumb, index, middle, radial ring)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Phalen's (wrist flex 60s): 75% sensitivity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Tinel's test (percussion at wrist): 60% sensitivity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Durkan's carpal compression test: 87% sensitivity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Thenar wasting: late feature — intrinsic hand muscle weakness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Flick sign: patient shakes hand to relieve symptoms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&amp; Treatment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Electrodiagnostic Studies: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 conduction study (NCS): gold standard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distal motor latency: &gt; 4.2 ms (APB)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sensory latency: &gt; 3.5 ms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sensory response: severe CTS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EMG: denervation in APB/FPL — axonotmesis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Mild: night splinting in neutral position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Corticosteroid injection: 70% short-term relief; recurrence 50% at 1 year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Carpal tunnel release (CTR): gold standard for moderate-severe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vs endoscopic: equivalent at 6 months; endoscopic faster return to work (1–2 wks)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under wide-awake LA: WALANT technique — patient can test immediately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Cubital Tunnel Syndrome &amp; Ulnar Nerve Entrapment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Symptoms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at Elbow: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Ulnar nerve: medial epicondyle → cubital tunnel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Osborne's ligament (FCU aponeurosis): roof of tunnel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Tunnel: MCL + medial epicondyle + FCU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Subluxation of nerve over epicondyle: 16% population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Paraesthesia / numbness: ring + little finger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weakness: hypothenar, interossei, adductor pollicis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Claw hand (Wartenberg) in ring/little: late feature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flexion test (positive &gt; 60s): 75% sensitivity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McGowan classification: Grade I (sensory only) → III (wasting)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&amp; Surgery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Electrodiagnostic: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NCS: slowing across elbow &gt; 10 m/s difference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Segment: from below to above medial epicondyle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EMG: FDI, hypothenar, adductor pollicis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Options: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I: activity modification, elbow pad, night extension splint (6 months)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II–III: surgical decompression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decompression (Osborne release): equivalent to transposition at 5 years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transposition: subcutaneous, intramuscular, or submuscular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epicondylectomy: avoids implant, similar outcomes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Endoscopic decompression: shorter recovery, good for Grade I–II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Infections — Classification &amp; Management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Paronychia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Nail fold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 aureus, Streptococcus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Erythema, swelling, pus at nail fold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(nail fold elevation); oral ABx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Pulp of finger (fibrous septa)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 aureus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Tense, throbbing pulp; 'pressure cooker'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Incision + drainage (longitudinal); fish-mouth incision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Herpetic whitlow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Distal phalanx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HSV-1 or HSV-2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Vesicles, burning, recurrent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Acyclovir; NO surgical drainage — spreads virus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Flexor tenosynovitis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Flexor sheath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 aureus, polymicrobial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Kanavel 4 signs (flexed digit, sheath tenderness, pain on passive ext, fusiform swelling)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 irrigation of sheath; ABx; Brunner incision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space 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 aureus + anaerobes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'Collar-stud abscess' — subcutaneous + deep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Incision both sides; full antibiotics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Palmar space infection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Mid-palmar / thenar space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flora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of palmar concavity; febrile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Incision + drainage; 10–14d ABx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Septic arthritis (finger)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 / MCP joint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 / gonoccocus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Hot, swollen, restricted joint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Washout + ABx; GONOCOCCAL: ceftriaxone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Bite wounds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Pasteurella multocida (cat), Eikenella (human)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Puncture → deep tracking; minimal external wound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Debridement; amoxicillin-clavulanate; tetanus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Replantation — Principles, Indications &amp; Technique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BEFAVS Indications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BEFAVS Criteria (Indications):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Body: thumb (priority replantation)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Elbow: above-elbow injuries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Fingers multiple (individual rarely replanted)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Amputation in child (all attempts at replantation)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— Viable: sharp cut preferred over crush/avulsion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Skin: degloving type suitable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 to Replantation: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Single-digit injury in adult (esp. distal ring avulsion)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Heavily contaminated / crushed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associated injuries / haemodynamic instability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warm ischaemia: &gt; 12h fingers, &gt; 6h major limb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&amp; Ischaemia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of Replantation: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shortening + fixation (K-wires / mini-plate)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Extensor tendon repair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Flexor tendon repair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Arterial repair (operating microscope, 9-0 nylon)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Venous repair (≥ 2 veins per artery)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 repair (primary or secondary)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closure (loose — no tension)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hourly for 72h; colour, turgor, cap refill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Ischaemia Tolerance (Cold):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Digits: 24–30 hours if cold-preserved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limb (above wrist): &lt; 6h warm, &lt; 12h cold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moist gauze, place in sealed bag on ice (NOT direct ice)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Post-replantation Monitoring &amp; Salvage</a:t>
            </a:r>
            <a:endParaRPr lang="en-US" sz="2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5143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Arterial Compromise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Venous Congestion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Pale / white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Blue-purple (congested)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if arterial; pin prick if venous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Turgor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/ sunken (no perfusion)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Tense, swollen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tight dressings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Cool (&lt; 30°C vs 32–35°C normal)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or slightly cool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Warming light; heparin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 prick bleeding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 dark blood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Venous congestion: leech therapy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 refill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2–3 seconds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second (brisk)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Urgent return to theatre if persistent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Heparinise, warm, IV Dextran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Leech therapy (Hirudo medicinalis × 6–8h)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Re-explore if no improvement 30–60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Leech therapy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LINE for venous congestion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Aeromonas hydrophila prophylaxis: ciprofloxacin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Metacarpal &amp; Phalangeal Fractures — Management</a:t>
            </a:r>
            <a:endParaRPr lang="en-US" sz="2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 Angulation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Index/middle metacarpal neck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reduction + neighbour strap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Little displacement acceptable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Ring metacarpal neck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reduction + neighbour strap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 angulation higher; IF &gt; 30°: CRPP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Little (5th) metacarpal neck (Boxer's)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40–70°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Neighbour strap if &lt; 40°; CRPP / plate if &gt; 70°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common metacarpal fracture; accept moderate angulation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Metacarpal shaft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10° 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Buddy strap + SAM splint; plate if &gt; 10° or rotation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Rotation: 5° = 1.5 cm digital overlap at fingertip — unacceptable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Bennett's fracture (1st CMC)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(intra-articular)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CRPP or ORIF (lag screw)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 pulls MC shaft radial; volar fragment 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Rolando's (comminuted Bennett)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 or external fixator if severe comminution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Worse prognosis than Bennett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Proximal phalanx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Immobilise 3–4 wks; ORIF if 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Intrinsic + EDC forces cause volar angulation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 phalanx — dorsal base avulsion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30% articular, no subluxation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block splint × 4 wks; ORIF &gt; 30% or sublux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'Volar plate fracture' — watch for PIP subluxation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Mallet finger (bony)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 mm gap, no subluxation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splint DIP × 8 wks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ORIF if &gt; 30% articular + subluxation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Radioulnar Joint (DRUJ) &amp; TFCC Injuries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TFCC Anatomy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TFCC Anatomy: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Triangular Fibrocartilage Complex: articular disc + meniscal homologue + foveal ligaments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disc: poor vascularity, limited healing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Peripheral: better vascularity (3 mm marginal zone)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Palmer Classification: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Class 1: Traumatic (1A–1D by location)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Class 2: Degenerative (2A–2E, Ulnar impaction syndrome)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DRUJ Instability: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DRUJ: radius rotates around fixed ulna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of foveal attachment → DRUJ unstable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Piano-key sign (dorsal pressure on ulnar head)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Stabilising structures: volar + dorsal radioulnar ligaments (deep fibers)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TFCC Investigation: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Arthrogram: 75% sensitivity for central tears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wrist (3T): 80–90% sensitivity for peripheral tears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Wrist arthroscopy: GOLD STANDARD — diagnostic + therapeutic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1A (Central): Arthroscopic debridement if symptomatic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1B (Peripheral = foveal): Arthroscopic repair (outside-in or all-inside)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1D (Avulsion): Ligament repair at sigmoidnotch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DRUJ Instability: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Acute: supination cast (6 wks for volar instability) or pronation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Surgical: TFCC foveal reattachment (open / arthroscopic)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Chronic: ECU-based ligament reconstruction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Ulnar shortening osteotomy: for Palmer Class 2 (impaction)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— Hand Surgery Recovery Data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960120"/>
          <a:ext cx="84124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IFSSH evidence review 2020; Tang et al. (zone II tendon); BSSH scaphoid guidelines 2022; Soucacos meta-analysis (replantation)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1 — Volar Locking Plate for DRF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52F, FOOSH, fall down stairs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wrist pain + deformity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SilverFork deformity clinically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on the injured side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X-ray: Colles'-type distal radius fracture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Dorsal tilt 22°, radial shortening 6mm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Intra-articular step 2.5 mm (die-punch)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CT: volar cortex comminution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WALANT anaesthesia + tourniquet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Henry's volar approach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mm variable angle LCP plate (Synthes)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Fluoroscopy confirmed: articular step 0 mm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therapy from day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ROM at 3 months (TAM 94%)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 strength 88% at 6 months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EPL rupture; CRPS excluded early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2 — Flexor Tenosynovitis (Emergency)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34M, mechanic, small cut right ring finger 3 days ago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redness, swelling, unable to work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Kanavel signs present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Bloods: WBC 14,000, CRP 78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X-ray: soft tissue swelling only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retained foreign body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Flexor tenosynovitis Zone II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theatre (4 hours)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Brunner incision, A2 and A4 preserved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Catheter sheath irrigation (Synergistic irrigation)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therapy Day 2: controlled active motion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oral Day 3 (CRP falling)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ABx 14 days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ROM at 8 weeks — excellent outcome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 &amp; Evidence Summary</a:t>
            </a:r>
            <a:endParaRPr lang="en-US" sz="2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Arora et al. (JBJS Br) — DRF ORIF vs 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Elderly DRF: functional outcomes equivalent at 1yr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Non-operative still valid in low-demand elderly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BSSH/BAPRAS Scaphoid Guidelines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 for undisplaced; MRI for occult; screw waist fractures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ORIF prevents non-union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 / Amadio (JHS) — Zone II tendon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6-strand core repair + early active motion: 5% rupture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Belfast/ICAM protocol outperforms passive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Atroshi et al. RCT — Open vs endoscopic CTR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 at 12 months; endoscopic: faster return 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is evidence-based; surgeon experience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Soucacos meta-analysis — Replantation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Overall survival: 86% thumb, 79% finger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BEFAVS criteria essential for case selection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Palmer classification — TFCC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1A–D + 2A–E systematic framework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Guides surgical planning; 1B = repairable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Ring et al. — Metacarpal neck fractures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Buddy strapping equivalent to cast for Boxer's &lt; 70°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Non-operative preferred, early mobilisation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NICE guidelines — 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Splint first; injection if failed; refer if thenar wasting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Electrodiagnostics recommended before surgery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&amp; Wrist — Quick Reference Summary</a:t>
            </a:r>
            <a:endParaRPr lang="en-US" sz="2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37407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Imaging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Definitive Treatment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Miss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DRF Colles'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X-ray + CT if intra-articular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Cast if stable; VLP if unstable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Die-punch (CT); DRUJ disruption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Scaphoid fracture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X-ray → MRI if 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Cast 6–10w (undisplaced); ORIF (displaced)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Proximal pole fracture → AVN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Bennett's fracture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X-ray AP + lateral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CRPP or ORIF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CMC subluxation if missed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 II tendon injury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diagnosis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6-strand repair + early active motion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FDS spaghetti (both tendons)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Mallet finger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X-ray DIP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splint DIP 8 wks (full-time)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 subluxation — needs ORIF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Boutonnière (central slip)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Clinical; MRI if doubt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splint PIP 6 wks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presentation → fixed deformity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Carpal tunnel syndrome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NCS + EMG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 open or endoscopic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Thenar wasting = nerve damage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Flexor tenosynovitis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(Kanavel 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surgical irrigation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→ tendon necrosis, sepsis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Replantation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X-ray of part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BEFAVS criteria → microsurgery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ischaemia &gt; 6h major limb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3740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CTS vs cubital tunnel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NCS: median vs ulnar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Splint / CTR vs ulnar nerve decompression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Ring+little = ulnar; Thumb+index = median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radius fractures: volar locking plate is gold standard for displaced/intra-articular; WALANT enables functional testing intraoperatively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Scaphoid: MRI is most sensitive — never dismiss wrist pain post-FOOSH with a normal X-ray; screw fixation for displacement or proximal pole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II flexor tendon: 6-strand repair + early active motion (Belfast/ICAM) — hand therapy is non-negotiable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Kanavel signs = emergency flexor tenosynovitis decompression within hours — delay risks permanent stiffness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CTS: nightsplint then injection before surgery; endoscopic CTR allows faster return to work (Level I)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Replantation: BEFAVS criteria guide patient selection; thumb replantation always attempted; warm ischaemia time limits decision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Bennett's fracture: CMC subluxation is missed on X-ray — always check thumb CMC joint position on stress view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and wrist surgery is highly specialised — early referral preserves function that cannot be recovered once lost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Hand &amp; Wrist Injuries</dc:title>
  <dc:subject>PptxGenJS Presentation</dc:subject>
  <dc:creator>PptxGenJS</dc:creator>
  <cp:lastModifiedBy>PptxGenJS</cp:lastModifiedBy>
  <cp:revision>1</cp:revision>
  <dcterms:created xsi:type="dcterms:W3CDTF">2026-06-15T17:06:30Z</dcterms:created>
  <dcterms:modified xsi:type="dcterms:W3CDTF">2026-06-15T17:06:30Z</dcterms:modified>
</cp:coreProperties>
</file>