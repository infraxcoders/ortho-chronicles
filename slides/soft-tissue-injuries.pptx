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sldIdLst>
    <p:sldId id="30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78" r:id="rId14"/>
    <p:sldId id="321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8" r:id="rId23"/>
    <p:sldId id="319" r:id="rId24"/>
    <p:sldId id="331" r:id="rId25"/>
    <p:sldId id="332" r:id="rId26"/>
    <p:sldId id="33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279" r:id="rId35"/>
    <p:sldId id="280" r:id="rId36"/>
    <p:sldId id="281" r:id="rId37"/>
    <p:sldId id="288" r:id="rId38"/>
    <p:sldId id="289" r:id="rId39"/>
    <p:sldId id="294" r:id="rId40"/>
    <p:sldId id="300" r:id="rId41"/>
    <p:sldId id="301" r:id="rId42"/>
    <p:sldId id="302" r:id="rId43"/>
    <p:sldId id="303" r:id="rId44"/>
    <p:sldId id="30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791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254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885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615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791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971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958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608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981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863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89600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551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56694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1845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651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79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5548"/>
            <a:ext cx="8229600" cy="1143000"/>
          </a:xfrm>
        </p:spPr>
        <p:txBody>
          <a:bodyPr>
            <a:noAutofit/>
          </a:bodyPr>
          <a:lstStyle/>
          <a:p>
            <a:r>
              <a:rPr lang="en-US" sz="7200" b="1" u="sng"/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113020" y="4784090"/>
            <a:ext cx="31508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Department of Orthopaedics</a:t>
            </a:r>
          </a:p>
          <a:p>
            <a:pPr algn="r"/>
            <a:r>
              <a:rPr lang="en-US"/>
              <a:t>Government Medical College,</a:t>
            </a:r>
          </a:p>
          <a:p>
            <a:pPr algn="r"/>
            <a:r>
              <a:rPr lang="en-US"/>
              <a:t>Amritsar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26770" y="1621155"/>
            <a:ext cx="761111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u="sng"/>
              <a:t>SOFT TISSUE INJURIES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8245"/>
            <a:ext cx="8229600" cy="582613"/>
          </a:xfrm>
        </p:spPr>
        <p:txBody>
          <a:bodyPr>
            <a:normAutofit fontScale="90000"/>
          </a:bodyPr>
          <a:lstStyle/>
          <a:p>
            <a:pPr algn="l"/>
            <a:r>
              <a:rPr lang="en-US"/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340" y="960755"/>
            <a:ext cx="7332980" cy="4923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Types of Wounds - </a:t>
            </a:r>
          </a:p>
          <a:p>
            <a:endParaRPr lang="en-US" sz="4000"/>
          </a:p>
          <a:p>
            <a:r>
              <a:rPr lang="en-US"/>
              <a:t>1. </a:t>
            </a:r>
            <a:r>
              <a:rPr lang="en-US" b="1" u="sng"/>
              <a:t>Closed wounds</a:t>
            </a:r>
            <a:r>
              <a:rPr lang="en-US"/>
              <a:t> - 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 Damage to tissues bneath the skin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No break in skin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Swelling and Pain with discoloration present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For example  -  Tears, Sprains, Contusion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/>
          </a:p>
          <a:p>
            <a:pPr indent="0" algn="l">
              <a:buFont typeface="Arial" panose="020B0604020202020204" pitchFamily="34" charset="0"/>
              <a:buNone/>
            </a:pPr>
            <a:r>
              <a:rPr lang="en-US"/>
              <a:t>2. </a:t>
            </a:r>
            <a:r>
              <a:rPr lang="en-US" b="1" u="sng"/>
              <a:t>Open Wounds - </a:t>
            </a:r>
          </a:p>
          <a:p>
            <a:pPr indent="0" algn="l">
              <a:buFont typeface="Arial" panose="020B0604020202020204" pitchFamily="34" charset="0"/>
              <a:buNone/>
            </a:pPr>
            <a:endParaRPr lang="en-US" b="1" u="sng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Break in skin present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oozing of blood present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risk of infection high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For example - Incision, lacerations, abrasions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rcRect r="27521"/>
          <a:stretch>
            <a:fillRect/>
          </a:stretch>
        </p:blipFill>
        <p:spPr>
          <a:xfrm>
            <a:off x="0" y="0"/>
            <a:ext cx="66274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326A6-05D5-AB75-36E0-64390D4D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64892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Trauma Scoring Systems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851D9-BCE0-DE7C-002F-28E74FED0533}"/>
              </a:ext>
            </a:extLst>
          </p:cNvPr>
          <p:cNvSpPr txBox="1"/>
          <p:nvPr/>
        </p:nvSpPr>
        <p:spPr>
          <a:xfrm>
            <a:off x="393291" y="1563329"/>
            <a:ext cx="738402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Several scoring systems are used to classify trauma patients and predict the outcome. Following are some of the commonly used scoring systems – 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Revised Trauma Score </a:t>
            </a:r>
            <a:r>
              <a:rPr lang="en-IN" dirty="0"/>
              <a:t>–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Calculated from sum of Patient’s Respiratory rate, Systolic BP and GCS.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Score ranges from 0 to 12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Helps in triage as 12 is labelled Green (delayed Rx), 11 as Yellow (urgent) and 0-10 as Red (Immediate)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2. </a:t>
            </a:r>
            <a:r>
              <a:rPr lang="en-IN" b="1" dirty="0"/>
              <a:t>Mangled Extremity Severity Score </a:t>
            </a:r>
            <a:r>
              <a:rPr lang="en-IN" dirty="0"/>
              <a:t>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Score used to predict chances of amputation after severe extremity trauma.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Contains 4 variables – Skeletal and soft tissue injury, </a:t>
            </a:r>
            <a:r>
              <a:rPr lang="en-IN" dirty="0" err="1"/>
              <a:t>Ishemia</a:t>
            </a:r>
            <a:r>
              <a:rPr lang="en-IN" dirty="0"/>
              <a:t> of limb, Shock and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061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DBDC-C647-6AE1-2A6E-447BFAA08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609600"/>
          </a:xfrm>
        </p:spPr>
        <p:txBody>
          <a:bodyPr>
            <a:normAutofit fontScale="90000"/>
          </a:bodyPr>
          <a:lstStyle/>
          <a:p>
            <a:r>
              <a:rPr lang="en-IN" sz="2400" b="1" u="sng" dirty="0">
                <a:solidFill>
                  <a:schemeClr val="tx1"/>
                </a:solidFill>
              </a:rPr>
              <a:t>Ganga Hospital Open Injury Severity Score 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DFE13-0731-A3A0-AA0C-9B25C42F23C8}"/>
              </a:ext>
            </a:extLst>
          </p:cNvPr>
          <p:cNvSpPr txBox="1"/>
          <p:nvPr/>
        </p:nvSpPr>
        <p:spPr>
          <a:xfrm>
            <a:off x="766916" y="1396181"/>
            <a:ext cx="7551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Assesses 3 areas – Skin and Fascia, the musculotendinous unit and the Bones.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C2C5E-16BB-AB2D-5BD0-8CD32FA43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2181052"/>
            <a:ext cx="682942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54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C80F-F470-2A6A-0378-CEE0860FB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E0AE8B-7B9D-1A53-9463-4D096A105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0" y="609600"/>
            <a:ext cx="8904503" cy="535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25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207</Words>
  <Application>Microsoft Office PowerPoint</Application>
  <PresentationFormat>On-screen Show (4:3)</PresentationFormat>
  <Paragraphs>34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Trebuchet MS</vt:lpstr>
      <vt:lpstr>Wingdings 3</vt:lpstr>
      <vt:lpstr>Facet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Trauma Scoring Systems - </vt:lpstr>
      <vt:lpstr>Ganga Hospital Open Injury Severity Score 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Raghav Gupta</cp:lastModifiedBy>
  <cp:revision>3</cp:revision>
  <dcterms:created xsi:type="dcterms:W3CDTF">2013-01-27T09:14:00Z</dcterms:created>
  <dcterms:modified xsi:type="dcterms:W3CDTF">2026-02-24T11:04:37Z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8B09D092BCD741D5AF5BC43D515F6A3F_13</vt:lpwstr>
  </property>
  <property fmtid="{D5CDD505-2E9C-101B-9397-08002B2CF9AE}" pid="3" name="KSOProductBuildVer">
    <vt:lpwstr>1033-12.2.0.23196</vt:lpwstr>
  </property>
</Properties>
</file>