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8DD1D-0E0C-3B18-E0F5-BDE9618A6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FEED03-2D0E-F765-6E19-5A9BBDE5C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0F024-33AE-46DA-8EAA-65F27952E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C5CF-FDD3-4756-9E9F-6D6BDDECC074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1C92C-93A2-BBF4-2E23-F45A981B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7A6A2-721E-73D5-2088-C221E0E1B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921A-349B-4CB7-95C1-D4D00ECBA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384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670-C700-DC3B-1CA3-0D10E4F0B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3E6A9-A595-791C-7AB8-3F6D7A7CF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2A45F-AA50-D5B9-ABD4-CC30FD57C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C5CF-FDD3-4756-9E9F-6D6BDDECC074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81119-C1EC-3FA5-DAFE-376057A0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2D0B4-3329-753D-C2DF-F09FEF439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921A-349B-4CB7-95C1-D4D00ECBA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75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B1084-AEEE-CC9E-A155-1F38AA329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FC6B2-9EDC-B5D6-3A05-1565D3FD8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2CFEC-4DBC-6168-4ABE-3DEABB6BB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C5CF-FDD3-4756-9E9F-6D6BDDECC074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DA31B-B640-4A32-B251-E4E00525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22B47-9460-9C23-D620-6B579C217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921A-349B-4CB7-95C1-D4D00ECBA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56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8F955-D9F3-ABE0-E6B4-DB13374F1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8D9C8-261B-6662-378A-E062264599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95A572-8204-79E8-DDEF-007E8C1E7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C8F1C9-824B-03D9-A31A-BEF320E08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C5CF-FDD3-4756-9E9F-6D6BDDECC074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A08EF-DC28-A445-040A-8F2B566FD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7E0AA-8D25-8B32-C107-E6D0EB03C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921A-349B-4CB7-95C1-D4D00ECBA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977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34B09-050A-A2F1-531F-5ADA65AB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A51DA-BEEE-B6CD-FD92-460BDE463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ABC31-402B-BFC5-01B2-93E6E9876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CF2969-C241-7F9E-851C-56B43D52D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761F80-071C-16B8-9C1D-E3DF49DD02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A7E035-B441-FA33-662D-724577A14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C5CF-FDD3-4756-9E9F-6D6BDDECC074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35AB0F-3E44-9402-FCC5-B4B61F468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71E827-9C4B-725B-AB2C-FA39FA89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921A-349B-4CB7-95C1-D4D00ECBA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185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1264E-7A35-CBAC-1EB1-B765A33A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7A5340-780F-67C0-326B-964C345F5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C5CF-FDD3-4756-9E9F-6D6BDDECC074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D7A476-E055-7ACD-A81F-AE5778E0F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CB5CD5-E7FD-EB8B-5AB7-4277F5817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921A-349B-4CB7-95C1-D4D00ECBA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734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6C6139-4B8B-233F-F80B-5FBBDF804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C5CF-FDD3-4756-9E9F-6D6BDDECC074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06F78F-C825-3BA0-47B3-957DF4185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B9EAC-E924-F420-4F47-0EB18CB7B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921A-349B-4CB7-95C1-D4D00ECBA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964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3B0F2-F37F-7F63-F499-AF5FCBCCC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CFBF6-45B2-74B3-FAE8-8AF1B5EE9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40E6D-95D1-EBD6-0183-F0A42C781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1D5A92-A977-77A0-7269-8DEEA5345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C5CF-FDD3-4756-9E9F-6D6BDDECC074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9470C-4C9C-DFD5-4A73-6E28F0E07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B1950-7890-2EB6-B315-EF3B91D3A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921A-349B-4CB7-95C1-D4D00ECBA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335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F47DB-ED46-A83C-27D6-61B680133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22F1EC-7942-9FD4-B50E-49096F958A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78A06-31BC-022E-5B45-C602F58010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32184-EEF7-97B4-A506-2ABFBEEBB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C5CF-FDD3-4756-9E9F-6D6BDDECC074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939B4-0AE9-F18A-F14B-29D3215D8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755DA-3B47-4C25-DB7A-8BCC9254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921A-349B-4CB7-95C1-D4D00ECBA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238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8B64E-692F-AC3C-8A52-E63474567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A3A96-704D-CE55-D5F6-9007ED4EE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05638-4733-43F1-4F78-33E48C4F3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C5CF-FDD3-4756-9E9F-6D6BDDECC074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AA8AF-9A85-319E-C664-0E47E3336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81010-1CB4-5574-9240-9014D0AC9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921A-349B-4CB7-95C1-D4D00ECBA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884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E53F5-A5D3-06C9-6A65-ACE166793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3F1B76-A0F6-09B7-197F-A4F811610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F92C7-7887-92EF-41F7-098964983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C5CF-FDD3-4756-9E9F-6D6BDDECC074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037D7-4E81-6960-280C-61F31A952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B77A0-5152-74CF-A49E-08A69035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921A-349B-4CB7-95C1-D4D00ECBA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137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EF55F-D64A-EF55-022F-A8A33B449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5B188-C7AE-03D7-655F-71013745D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B1AC4-FDF6-6F99-C763-BC0683B32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C5CF-FDD3-4756-9E9F-6D6BDDECC074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35C3D-E4B8-E3A9-D5BC-11D253B51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CBF34-645D-D137-402A-83A268140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921A-349B-4CB7-95C1-D4D00ECBA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439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632FBD-BE9A-52C4-D1A5-39795EC6A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10270-3B0F-8D51-D2B4-02DD91F37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453E7-9E83-A569-D414-06281D4DD7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97C5CF-FDD3-4756-9E9F-6D6BDDECC074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13944-622C-257D-9F35-B94E413595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C9899-FC05-A48D-C0D4-2D5735971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0921A-349B-4CB7-95C1-D4D00ECBA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118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3FA87-1060-D468-EA83-F3D8654735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000" b="1"/>
              <a:t>Shoulder Joint Anatomy &amp; Biomechanics
For Surgical Planning &amp; Clinical Practice</a:t>
            </a:r>
            <a:endParaRPr lang="en-IN" sz="30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25169-816C-B1BD-F93E-034E415DE6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1800"/>
              <a:t>Dr. Maninder Singh, MS Orthopaedics | GMCH Amritsar</a:t>
            </a:r>
          </a:p>
        </p:txBody>
      </p:sp>
    </p:spTree>
    <p:extLst>
      <p:ext uri="{BB962C8B-B14F-4D97-AF65-F5344CB8AC3E}">
        <p14:creationId xmlns:p14="http://schemas.microsoft.com/office/powerpoint/2010/main" val="3095758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26B44-EEAC-88C9-0DFF-52A059B12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/>
              <a:t>Bony Anatomy of the Shoulder</a:t>
            </a:r>
            <a:endParaRPr lang="en-IN" sz="2400" b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DF4FD-4CA4-5EC5-0CCE-D92BE9E8D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Glenohumeral joint: Humeral head (1/3 sphere) articulates with shallow glenoid fossa</a:t>
            </a:r>
          </a:p>
          <a:p>
            <a:r>
              <a:rPr lang="en-US" sz="1600"/>
              <a:t>• Glenoid labrum deepens socket by 50% — critical stabilizer</a:t>
            </a:r>
          </a:p>
          <a:p>
            <a:r>
              <a:rPr lang="en-US" sz="1600"/>
              <a:t>• Glenoid version: Mean 5–7° retroversion; inclination 5° superior tilt</a:t>
            </a:r>
          </a:p>
          <a:p>
            <a:r>
              <a:rPr lang="en-US" sz="1600"/>
              <a:t>• Acromioclavicular (AC) joint: Stabilized by CC and AC ligaments</a:t>
            </a:r>
          </a:p>
          <a:p>
            <a:r>
              <a:rPr lang="en-US" sz="1600"/>
              <a:t>• Sternoclavicular (SC) joint: Only bony attachment of upper limb to axial skeleton</a:t>
            </a:r>
          </a:p>
          <a:p>
            <a:r>
              <a:rPr lang="en-US" sz="1600"/>
              <a:t>• Coracoacromial arch: Coracoid + Coraco-acromial ligament + Acromion</a:t>
            </a:r>
          </a:p>
          <a:p>
            <a:r>
              <a:rPr lang="en-US" sz="1600"/>
              <a:t>• Subacromial space: 7–14 mm; rotator cuff tendons pass beneath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1026111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8E457-4095-A503-C660-5417FC7D6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Rotator Cuff Muscles (SITS)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0C8EF-9812-CD33-F23A-532916AD2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Supraspinatus: Origin — supraspinous fossa; Inserts — greater tuberosity (superior facet)</a:t>
            </a:r>
          </a:p>
          <a:p>
            <a:r>
              <a:rPr lang="en-US" sz="1600"/>
              <a:t>  Function: Initiates abduction (0–15°); depresses humeral head</a:t>
            </a:r>
          </a:p>
          <a:p>
            <a:r>
              <a:rPr lang="en-US" sz="1600"/>
              <a:t>• Infraspinatus: Origin — infraspinous fossa; Greater tuberosity (middle facet)</a:t>
            </a:r>
          </a:p>
          <a:p>
            <a:r>
              <a:rPr lang="en-US" sz="1600"/>
              <a:t>  Function: External rotation (primary)</a:t>
            </a:r>
          </a:p>
          <a:p>
            <a:r>
              <a:rPr lang="en-US" sz="1600"/>
              <a:t>• Teres Minor: Origin — lateral scapular border; Greater tuberosity (inferior facet)</a:t>
            </a:r>
          </a:p>
          <a:p>
            <a:r>
              <a:rPr lang="en-US" sz="1600"/>
              <a:t>  Function: External rotation, inferior stability</a:t>
            </a:r>
            <a:endParaRPr lang="pt-BR" sz="1600"/>
          </a:p>
          <a:p>
            <a:r>
              <a:rPr lang="pt-BR" sz="1600"/>
              <a:t>• Subscapularis: Origin — subscapular fossa; Lesser tuberosity</a:t>
            </a:r>
          </a:p>
          <a:p>
            <a:r>
              <a:rPr lang="pt-BR" sz="1600"/>
              <a:t>  Function: Internal rotation; anterior stabilizer</a:t>
            </a:r>
            <a:endParaRPr lang="en-US" sz="1600"/>
          </a:p>
          <a:p>
            <a:r>
              <a:rPr lang="en-US" sz="1600"/>
              <a:t>• Deltoid (3 heads): Main abductor (60–180° with supraspinatus)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2324770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F4C6F-7FF3-856F-0606-6C47CE5DA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Neurovascular Supply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7292A-9500-C1F0-5221-9BCD86C9C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Axillary nerve (C5, C6): Motor to deltoid and teres minor; sensory — regimental badge area</a:t>
            </a:r>
          </a:p>
          <a:p>
            <a:r>
              <a:rPr lang="en-US" sz="1600"/>
              <a:t>  — At risk in anterior dislocation, surgical neck fractures, shoulder arthroplasty</a:t>
            </a:r>
          </a:p>
          <a:p>
            <a:r>
              <a:rPr lang="en-US" sz="1600"/>
              <a:t>• Suprascapular nerve (C5, C6): Supraspinatus and infraspinatus</a:t>
            </a:r>
          </a:p>
          <a:p>
            <a:r>
              <a:rPr lang="en-US" sz="1600"/>
              <a:t>  — Passes through suprascapular notch; entrapment causes rotator cuff weakness</a:t>
            </a:r>
          </a:p>
          <a:p>
            <a:r>
              <a:rPr lang="en-US" sz="1600"/>
              <a:t>• Musculocutaneous nerve (C5–C7): Coracobrachialis, biceps, brachialis</a:t>
            </a:r>
          </a:p>
          <a:p>
            <a:r>
              <a:rPr lang="en-US" sz="1600"/>
              <a:t>• Long thoracic nerve (C5–C7): Serratus anterior; damage = winged scapula</a:t>
            </a:r>
          </a:p>
          <a:p>
            <a:r>
              <a:rPr lang="en-US" sz="1600"/>
              <a:t>• Axillary artery: Branches — subscapular, anterior/posterior circumflex humeral</a:t>
            </a:r>
          </a:p>
          <a:p>
            <a:r>
              <a:rPr lang="en-US" sz="1600"/>
              <a:t>• Anterior circumflex humeral artery: Main supply to humeral head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62133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3CF40-40CD-ADE5-4CBA-00243E05B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Shoulder Biomechanics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C6BAC-820F-CAAD-AFB2-175D5EAF0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600"/>
              <a:t>• Glenohumeral rhythm: 2:1 ratio — 120° GH + 60° scapulothoracic = 180° total elevation</a:t>
            </a:r>
          </a:p>
          <a:p>
            <a:r>
              <a:rPr lang="en-IN" sz="1600"/>
              <a:t>• Scapular plane: 30–40° anterior to coronal — optimal position for elevation</a:t>
            </a:r>
            <a:endParaRPr lang="en-US" sz="1600"/>
          </a:p>
          <a:p>
            <a:r>
              <a:rPr lang="en-US" sz="1600"/>
              <a:t>• Force couple: Deltoid (superior) balanced by rotator cuff (inferior pull) — depresses head</a:t>
            </a:r>
          </a:p>
          <a:p>
            <a:r>
              <a:rPr lang="en-US" sz="1600"/>
              <a:t>• Instant centre of rotation: Moves inferiorly with elevation; disrupted in cuff tears</a:t>
            </a:r>
          </a:p>
          <a:p>
            <a:r>
              <a:rPr lang="en-US" sz="1600"/>
              <a:t>• Static stabilizers: Labrum, GHL (IGHL most important), negative intraarticular pressure</a:t>
            </a:r>
          </a:p>
          <a:p>
            <a:r>
              <a:rPr lang="en-US" sz="1600"/>
              <a:t>• Dynamic stabilizers: Rotator cuff, biceps long head, periscapular muscles</a:t>
            </a:r>
          </a:p>
          <a:p>
            <a:r>
              <a:rPr lang="en-US" sz="1600"/>
              <a:t>• Concavity-compression: Cuff compresses head into glenoid during motion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1181554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43306-4FD8-13F2-33CF-3F9E29BFA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Clinical Applications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1CA68-3667-BD8C-14B7-3D3764356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Impingement syndrome: Supraspinatus compressed under coracoacromial arch — Neer sign</a:t>
            </a:r>
          </a:p>
          <a:p>
            <a:r>
              <a:rPr lang="en-US" sz="1600"/>
              <a:t>• Rotator cuff tears: Supraspinatus most common; GIRD (glenohumeral internal rotation deficit) in athletes</a:t>
            </a:r>
          </a:p>
          <a:p>
            <a:r>
              <a:rPr lang="en-US" sz="1600"/>
              <a:t>• Anterior instability: IGHL laxity; Bankart lesion (labral detachment) — 95% of dislocations</a:t>
            </a:r>
          </a:p>
          <a:p>
            <a:r>
              <a:rPr lang="en-US" sz="1600"/>
              <a:t>• Posterior instability: Less common; Kim lesion, posterior labral tear</a:t>
            </a:r>
          </a:p>
          <a:p>
            <a:r>
              <a:rPr lang="en-US" sz="1600"/>
              <a:t>• Frozen shoulder (Adhesive capsulitis): Contracture of inferior GHL; loss of ER first</a:t>
            </a:r>
          </a:p>
          <a:p>
            <a:r>
              <a:rPr lang="en-US" sz="1600"/>
              <a:t>• SLAP lesions: Superior labrum tear anterior to posterior — overhead athletes</a:t>
            </a:r>
          </a:p>
          <a:p>
            <a:r>
              <a:rPr lang="en-US" sz="1600"/>
              <a:t>• AC joint injuries: Rockwood classification I–VI; Grades I–III conservative; IV–VI surgery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3419733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13ADA-7FA0-F3B8-793D-7565B05ED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Shoulder Arthroplasty Anatomy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CB97C-B32C-59DE-8E6C-322AF4B80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Deltopectoral approach: Between deltoid (axillary n.) and pectoralis major (medial/lateral pectoral nn.)</a:t>
            </a:r>
          </a:p>
          <a:p>
            <a:r>
              <a:rPr lang="en-US" sz="1600"/>
              <a:t>• Cephalic vein in deltopectoral interval — retracted laterally</a:t>
            </a:r>
          </a:p>
          <a:p>
            <a:r>
              <a:rPr lang="en-US" sz="1600"/>
              <a:t>• Subscapularis tenotomy or peel required for exposure</a:t>
            </a:r>
          </a:p>
          <a:p>
            <a:r>
              <a:rPr lang="en-US" sz="1600"/>
              <a:t>• Humeral head anatomy: Radius of curvature 24–27 mm; 40° retroversion to epicondylar axis</a:t>
            </a:r>
          </a:p>
          <a:p>
            <a:r>
              <a:rPr lang="en-US" sz="1600"/>
              <a:t>• Glenoid version measurement: Critical for implant placement to avoid loosening</a:t>
            </a:r>
          </a:p>
          <a:p>
            <a:r>
              <a:rPr lang="en-US" sz="1600"/>
              <a:t>• Reverse TSA: Glenosphere on glenoid; cup on humerus — deltoid replaces rotator cuff</a:t>
            </a:r>
          </a:p>
          <a:p>
            <a:r>
              <a:rPr lang="en-US" sz="1600"/>
              <a:t>• Biomechanical advantage of RTSA: Medialization + distalization of GHJ centre of rotation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610668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2D7BF-1D9C-D037-CD2D-951E1D85D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8199E-58F6-5CF9-2B86-69DBD0364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Shoulder complex = 4 articulations working in concert</a:t>
            </a:r>
          </a:p>
          <a:p>
            <a:r>
              <a:rPr lang="en-US" sz="1600"/>
              <a:t>• Rotator cuff (SITS) = primary dynamic stabilizer and compressor</a:t>
            </a:r>
          </a:p>
          <a:p>
            <a:r>
              <a:rPr lang="en-US" sz="1600"/>
              <a:t>• Axillary nerve most commonly injured — always test sensation post shoulder surgery</a:t>
            </a:r>
          </a:p>
          <a:p>
            <a:r>
              <a:rPr lang="en-US" sz="1600"/>
              <a:t>• GH rhythm 2:1; disruption indicates cuff pathology</a:t>
            </a:r>
          </a:p>
          <a:p>
            <a:r>
              <a:rPr lang="en-US" sz="1600"/>
              <a:t>• IGHL = primary stabilizer against anterior and inferior translation</a:t>
            </a:r>
          </a:p>
          <a:p>
            <a:r>
              <a:rPr lang="en-US" sz="1600"/>
              <a:t>• Understanding anatomy essential for correct surgical approach and implant placement</a:t>
            </a:r>
          </a:p>
          <a:p>
            <a:r>
              <a:rPr lang="en-US" sz="1600"/>
              <a:t>• Reference: Gray's Anatomy 41st Ed.; Shoulder Surgery — Rockwood &amp; Matsen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2068654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739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Shoulder Joint Anatomy &amp; Biomechanics
For Surgical Planning &amp; Clinical Practice</vt:lpstr>
      <vt:lpstr>Bony Anatomy of the Shoulder</vt:lpstr>
      <vt:lpstr>Rotator Cuff Muscles (SITS)</vt:lpstr>
      <vt:lpstr>Neurovascular Supply</vt:lpstr>
      <vt:lpstr>Shoulder Biomechanics</vt:lpstr>
      <vt:lpstr>Clinical Applications</vt:lpstr>
      <vt:lpstr>Shoulder Arthroplasty Anatomy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Pawanpreet Singh</dc:creator>
  <cp:lastModifiedBy>Dr Pawanpreet Singh</cp:lastModifiedBy>
  <cp:revision>1</cp:revision>
  <dcterms:created xsi:type="dcterms:W3CDTF">2026-06-08T08:14:35Z</dcterms:created>
  <dcterms:modified xsi:type="dcterms:W3CDTF">2026-06-08T08:14:35Z</dcterms:modified>
</cp:coreProperties>
</file>