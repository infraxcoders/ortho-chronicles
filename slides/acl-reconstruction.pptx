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Re-rupture Rate (%)</c:v>
                </c:pt>
              </c:strCache>
            </c:strRef>
          </c:tx>
          <c:spPr>
            <a:solidFill>
              <a:srgbClr val="B896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96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&lt; 7 mm</c:v>
                  </c:pt>
                  <c:pt idx="1">
                    <c:v>7–7.9 mm</c:v>
                  </c:pt>
                  <c:pt idx="2">
                    <c:v>8–8.9 mm</c:v>
                  </c:pt>
                  <c:pt idx="3">
                    <c:v>≥ 9 mm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</c:v>
                </c:pt>
                <c:pt idx="1">
                  <c:v>14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IKDC Score (100 = normal)</c:v>
                </c:pt>
              </c:strCache>
            </c:strRef>
          </c:tx>
          <c:spPr>
            <a:solidFill>
              <a:srgbClr val="B896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896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A2F52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BTB 2yr</c:v>
                  </c:pt>
                  <c:pt idx="1">
                    <c:v>BTB 5yr</c:v>
                  </c:pt>
                  <c:pt idx="2">
                    <c:v>Hamstring 2yr</c:v>
                  </c:pt>
                  <c:pt idx="3">
                    <c:v>Hamstring 5yr</c:v>
                  </c:pt>
                  <c:pt idx="4">
                    <c:v>Allograft 2yr</c:v>
                  </c:pt>
                  <c:pt idx="5">
                    <c:v>Allograft 5yr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88</c:v>
                </c:pt>
                <c:pt idx="1">
                  <c:v>85</c:v>
                </c:pt>
                <c:pt idx="2">
                  <c:v>86</c:v>
                </c:pt>
                <c:pt idx="3">
                  <c:v>83</c:v>
                </c:pt>
                <c:pt idx="4">
                  <c:v>81</c:v>
                </c:pt>
                <c:pt idx="5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RECONSTRUCTION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· Graft Selection · Surgical Technique · Return to Sport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423160"/>
            <a:ext cx="4572000" cy="36576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Maninder Singh  |  MS Orthopedics  |  GMCH Amritsar  |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Burden of ACL Injuries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1920240" cy="14630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515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200,000+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7373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tears/year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1920240" cy="14630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23160" y="10515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23160" y="17373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risk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females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1920240" cy="14630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50–70%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Non-contact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20840" y="960120"/>
            <a:ext cx="1920240" cy="14630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20840" y="105156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20840" y="173736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sport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(literature)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" y="2514600"/>
            <a:ext cx="8595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incidence: 15–25 year age group; adolescent females most vulnerable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Sports: football (soccer), basketball, skiing, volleyball, rugby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injuries at time of ACL tear: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Meniscal tear: 50% (medial &gt; lateral)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 tear: 30%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bruise posterolateral tibial plateau + lateral femoral condyle: 80%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economic burden: USD 7.6 billion globally (direct + indirect costs)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Re-injury risk: 15–30% in athletes returning to sport before 9 months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Anatomy — Ligaments &amp; ACL Bundle Structure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Overview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Stabilisers: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— primary restraint to anterior tibial translation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PCL — primary restraint to posterior tibial translation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 — medial stability, secondary ACL restraint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LCL — lateral stability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Posterolateral corner (PLC): popliteus, popliteofibular ligament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Origin &amp; Insertion: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Posterolateral wall of intercondylar notch (femoral)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Insertion: Tibial plateau — anterior to tibial spine (ACL footprint)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Length: 32–38 mm, diameter 10–12 mm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Function: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anterior tibial translation (primary — 85%)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internal tibial rotation (secondary)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hyperextension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Bundle Anatomy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Anteromedial (AM) Bundle: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in flexion (90°)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anterior-posterior stability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reconstructed bundle in single-bundle ACL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Posterolateral (PL) Bundle: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in extension (0°)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rotational stability (pivot shift)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in double-bundle technique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Double-Bundle?: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Single-bundle misses rotational instability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Double-bundle: better pivot shift, no difference in clinical outcomes (KANON trial)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centres: anatomic single-bundle is standard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Double-bundle reserved for high-demand athletes with rotational laxity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 — History &amp; Examination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Lachman test (30° flexion)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85–98%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standard for anterior laxity; grade 0–3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Anterior Drawer (90° flexion)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41–68%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reliable in acute; hamstring guarding reduces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 Shift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24–98%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specific; tests rotational instability; grade 0–3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KT-1000 arthrometer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 anterior laxity measurement; &gt; 3 mm side-to-side difference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 (1.5T)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87–94%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93–97%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 AM bundle; PL bundle harder to visualise; assess menisci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Thessaly test for meniscus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64–89%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67–96%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Twisting on single-leg stance at 20°; concurrent meniscal tear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Valgus stress (MCL)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ACL+MCL injury ('terrible triad' includes lateral meniscus)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 test (PLC)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rotation asymmetry &gt; 10° at 30° vs 90° 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Findings in ACL Tear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&amp; Secondary Signs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Signs of ACL Tear: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Discontinuity of ACL fibres (complete/partial)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Oedema within Hoffa's fat pad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Haematoma in joint space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T1 / High T2 signal within ACL substance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orientation of torn fibres (acute)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absent from its normal location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Segond Fracture: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Avulsion of lateral tibial plateau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Caused by internal rotation + varus stress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specific for ACL tear (99%)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Associated Injuries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Signs ('Bone Bruise'):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Posterolateral tibial plateau contusion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femoral condyle (sulcus terminalis) contusion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80% of acute ACL tears on STIR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'Kissing contusions' = pivot shift mechanism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Injuries on MRI: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meniscus posterior horn tear (50%)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meniscal tear (30%)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 partial/complete tear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PCL injury (rare in ACL-only)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Injury Assessment: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Fibular styloid avulsion on coronal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Arcuate sign: LCL + biceps femoris avulsion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joint space widening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Graft Selection — Comparison Table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432560"/>
                <a:gridCol w="1432560"/>
                <a:gridCol w="1432560"/>
                <a:gridCol w="1432560"/>
                <a:gridCol w="1432560"/>
                <a:gridCol w="1432560"/>
              </a:tblGrid>
              <a:tr h="5878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Stiffness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 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Rate (5yr)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BTB (Bone-Patellar Tendon-Bone)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620 N/mm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Anterior knee pain (10%)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 athletes, contact sports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Hamstring ST/G 4-strand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2422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 N/mm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Hamstring weakness (10%)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Non-contact sports, females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Quadriceps tendon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 N/mm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anterior knee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Revision, large graft needed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Peroneus longus autograft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Ankle eversion weakness (minimal)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Revision ACL; alternative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Allograft (BTB/Achilles)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2376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 N/mm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(&gt; 30 yrs), low demand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15–25% (young athletes)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LARS synthetic ligament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return to sport (controversial)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8–15% (long-term)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Graft Diameter Matters — Evidence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960120"/>
          <a:ext cx="5486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035040" y="1005840"/>
            <a:ext cx="28346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Evidence: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Snaebjornsson et al. 2017 (AJSM)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 mm graft: 3× higher re-rupture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Optimal: ≥ 9 mm hamstring graft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Hamstring &lt; 8 mm: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with gracilis (quad-strand)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BTB as primary graft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peroneus longus augmentation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Double-bundle technique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Synthethic augment (LARS + tendon)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Technique — Arthroscopic ACL Reconstruction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 &amp; Diagnostic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Pre-operative: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surgery 3–6 weeks — swelling resolved, ROM restored, quad control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Pre-op exam under anaesthesia (EUA): confirm ACL +/- other ligament injury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Tourniquet: 250 mmHg; leg holder; scope + camera setup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Arthroscopy: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anteromedial + anterolateral portals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assessment: medial compartment, lateral compartment, PCL, notch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Meniscal repair if repairable (inside-out or all-inside)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Notchplasty if needed: 5 mm from cartilage edge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Tunnels &amp; Fixation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Preparation: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Tibial tunnel: 55–60° angle, ACL stump centre, transtibial or freehand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Femoral tunnel: AM portal (preferred) or outside-in — anatomic positioning at 10:30 (R) or 1:30 (L) o'clock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vertical tunnel (isometric but no rotational control)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tunnel length: ≥ 25 mm femur, ≥ 30 mm tibia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Graft Passage &amp; Fixation: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Graft tensioned at 80–90 N at 20° flexion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Femoral fixation first (endobutton / interference screw)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Tibial fixation with knee at 20° flexion (interference screw + backup staple)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cycled 15× before final tibial fixation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Arthroscopic Landmarks — Intraoperative Views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Arthroscopic Anatomy Checklist: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footprint on tibia: oval, 11 mm × 17 mm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Femoral footprint: posterolateral wall, lateral intercondylar ridge (resident's ridge)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Blumensaat's line: confirm ACL on lateral X-ray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Radial probe: confirm tunnel position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Technical Errors: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femoral tunnel → poor rotational stability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Tibial tunnel too anterior → graft impinges in extension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Notch impingement: ensure 2 mm clearance at full extension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Over-tensioning graft → stiffness and loss of flexion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C-arm Check: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view: femoral tunnel posterior wall 1–2 mm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view: tunnel positions confirmed within footprint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Graft length: 7–8 mm in each tunnel for interference screw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Fixation Devices — Comparison</a:t>
            </a:r>
            <a:endParaRPr lang="en-US" sz="2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432560"/>
                <a:gridCol w="1432560"/>
                <a:gridCol w="1432560"/>
                <a:gridCol w="1432560"/>
                <a:gridCol w="1432560"/>
                <a:gridCol w="1432560"/>
              </a:tblGrid>
              <a:tr h="5878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Pull-out Strength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Disadvantages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Interference screw (titanium)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Intratunnel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680–800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Strong, bone-to-bone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Metallic artefact on MRI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Interference screw (PEEK/bioresorbable)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Intratunnel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BTB/Hamstring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580–650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 compatible, absorbable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 shielding, inflammatory (PLGA)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Endobutton (cortical button)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Extratunnel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construct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Graft-tunnel motion (bungee effect)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Cross-pin (TransFix / Rigidfix)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Transfixion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bungee, good fixation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bridge removal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Staples / Bicortical screw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Extratunnel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fixation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Bulky, extraarticular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Suture anchor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Extratunnel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graft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revision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 graft surface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Post-operative Rehabilitation — Phase Protocol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58782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Exercises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Criteria to Progress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Acute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0–2 weeks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 swelling, restore extension, quad activation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 sets, SLR, ankle pumps, ice/elevation, PROM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passive extension, effusion controlled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Early Strengthening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2–6 weeks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Closed-chain strengthening, proprioception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Mini-squats, leg press (0–60°), stationary cycling, step-ups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Single-leg stand, no effusion, brace weaned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Progressive Loading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6–12 weeks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Increase load, introduce sport-specific movements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OKC hamstring (&gt; 10 wks), pool running, elliptical, agility ladder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Hip-to-ankle alignment, 70% LSI quadriceps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Return to 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Plyometrics, agility, sport-specific drills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Plyometrics, cutting drills, sport-specific practice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LSI &gt; 85%, psychological readiness (ACL-RSI)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— Return to 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6–9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competition readiness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 play, contact 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LSI &gt; 90%, pivot-shift negative, ACL-RSI &gt; 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— Long-term Prevention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9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 injury prevention, strength maintenance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FIFA 11+ or Sportsmetrics programme, gym-based maintenance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Ongoing — reduce re-injury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Return-to-Sport Criteria — Functional Tests</a:t>
            </a:r>
            <a:endParaRPr lang="en-US" sz="2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Criterion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Quadriceps LSI (Limb Symmetry Index)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Isokinetic dynamometry at 60°/s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Biodex / Cybex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Hamstring LSI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Isokinetic 60°/s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Biodex / Cybex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Single-leg hop for distance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× 100 / contralateral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Measuring tape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Triple hop for distance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consecutive hops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Measuring tape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Crossover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crossover hops, 15 cm 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on floor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6-metre timed 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on 6-metre course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10% difference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Stopwatch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T-test agility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 agility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10% difference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Stopwatch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ACL-RSI (psychological)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12-item psychological readiness 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≥ 65/100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Questionnaire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Pivot-shift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pivot shift under anaesthesia (if revision)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 0–I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exam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 &amp; Their Management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1719072"/>
                <a:gridCol w="1719072"/>
                <a:gridCol w="1719072"/>
                <a:gridCol w="1719072"/>
                <a:gridCol w="17190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Arthrofibrosis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(1–3 mo)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Delayed surgery, early 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MUA, cyclops resection (arthroscopic)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(septic arthritis)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0.3–0.5%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(2–6 wks)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Prophylactic ABx, aseptic technique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Washout × 2, IV antibiotics, graft retention if possible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 at 5yr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Anatomic tunnels, graft ≥ 8 mm, correct rehab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Revision ACL (staging + CT tunnel assessment)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DVT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LMWH 2 weeks, compression stockings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LMWH therapeutic dose, DOAC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Anterior knee pain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10–15% BTB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Ongoing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BTB in kneeling athletes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Physio, offloading brace, rarely hardware removal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Notch impingement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Notchplasty, tunnel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Arthroscopic notchplasty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Stiffness / loss of flexion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ROM, extension splint at night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 PT, MUA if &lt; 90° at 3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ACL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 (adolescents)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Prevention programme, correct biomechanics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Neuromuscular training, ACL recon contralateral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Re-rupture Risk Factors &amp; Prevention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Risk Factors: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&lt; 20 years: 3× higher re-rupture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sport &lt; 9 months: 4× higher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athletes: increased valgus collapse, narrow notch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High-demand sports (pivoting, cutting)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Graft diameter &lt; 8 mm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Psychological unreadiness (ACL-RSI &lt; 65)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Risk Factors: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femoral tunnel (non-anatomic)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Under-tensioning graft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concurrent meniscal tear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collateral ligament injury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&amp; Timing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Programmes (Level I Evidence):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11+ (Soligard et al., BJSM 2008)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Sportsmetrics programme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 (Prevent Injury and Enhance Performance)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KNACK programme for female athletes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re-injury by 50–70% when compliant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for Return to Sport: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months: 7× increased re-rupture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9 months: 4× increased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9 months + LSI &gt; 90%: 1.7× (baseline elevated)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Recommend: 9–12 months minimum for competitive sport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ACL Reconstruction — Assessment &amp; Planning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Analysis &amp; Workup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Primary ACL Failure: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malposition (40–70%) — most common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/ re-injury (15%)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Graft selection / size error (10%)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concurrent injury (meniscus/MCL) (10%)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failure of graft incorporation (5%)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Pre-revision Workup: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scan: measure tunnel position and widening (&gt; 12 mm = staged)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assess menisci, chondral status, graft remnant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EUA: document laxity grade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DEXA if bone quality concern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Planning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Single-stage vs Two-stage: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Single-stage: tunnels &lt; 12 mm, well-positioned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Two-stage: tunnels &gt; 12 mm — bone graft first, ACL at 3–6 months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Graft Selection for Revision: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BTB used first → hamstring revision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hamstring used → BTB or quad tendon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Allograft (BTB/Achilles) acceptable in low-demand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Peroneus longus: increasingly popular (STR 3500 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 augmentation — not standard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Augmented Extra-articular Tenodesis (AEAT):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to revision for persistent rotational laxity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Iliotibial band or gracilis tenodesis to lateral femur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Evidence &amp; Key Trials</a:t>
            </a:r>
            <a:endParaRPr lang="en-US" sz="2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14800"/>
        </p:xfrm>
        <a:graphic>
          <a:graphicData uri="http://schemas.openxmlformats.org/drawingml/2006/table">
            <a:tbl>
              <a:tblPr/>
              <a:tblGrid>
                <a:gridCol w="2148840"/>
                <a:gridCol w="2148840"/>
                <a:gridCol w="2148840"/>
                <a:gridCol w="21488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Study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Implication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D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KANON (Frobell et al., NEJM)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significant difference: early vs delayed ACL recon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Consider rehab-first in motivated adults; surgery for instability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MARS Cohort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Autograft significantly better than allograft in young athletes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Autograft is standard of care for athletes &lt; 30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Snaebjornsson et al. (AJSM)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Graft &lt; 7 mm: 3.2× higher re-rupture; ≥ 9 mm optimal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Graft diameter now key surgical planning criterion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Grindem et al. (BJSM)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at 9+ months reduces re-injury risk by 51%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Time-based return (6 mo) is insufficient; criteria-based essential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Montalvo et al. meta-analysis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Neuromuscular training reduces ACL injury by 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Prevention programme mandatory for high-risk sports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NACOB + SMARTS2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2020–21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Double-bundle: no clinical difference vs single-bundle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Anatomic single-bundle remains gold 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Rambaud et al. (BJSM)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LSI &gt; 90% + 9 months: still 2× general population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 passing criteria, risk remains elevated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0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AOSSM Guidelines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Anatomic tunnel placement + graft ≥ 8 mm = Level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Standardised best-practice for arthroscopic ACL recon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Patient-Reported Outcomes — IKDC &amp; ACL-RSI</a:t>
            </a:r>
            <a:endParaRPr lang="en-US" sz="2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960120"/>
          <a:ext cx="8412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Meta-analysis Mohtadi et al. (Cochrane 2020), MARS cohort, systematic review Samuelsen et al. (AJSM 2017)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Osteoarthritis After ACL Injury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 Rates &amp; Evidence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of Post-traumatic OA: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radiological OA at 10–15 years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20–25% symptomatic OA by 10 years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meniscectomy doubles OA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Chondral injury at time of ACL: major predictor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vs Conservative: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difference in OA rates at 10 years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(KANON trial — Frobell et al., NEJM 2016)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Meniscal preservation reduces OA progression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chondral defect treatment (microfracture, ACI)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Modifiable Risk Factors: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&gt; 25: 2× OA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Neuromuscular control: gait retraining reduces load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sport return: accelerates cartilage wear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Varus alignment + ACL: high tibial osteotomy consideration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Strategies: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Meniscal repair &gt; meniscectomy (40% OA risk reduction)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ACL recon reduces giving-way episodes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quadriceps: reduces patellofemoral OA risk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modification: avoid high-impact if radiological OA early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1 — Young Footballer ACL + Meniscus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19M, football midfielder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Non-contact pivot, immediate haemarthrosis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Lachman 2+, pivot-shift 2+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MCL intact, medial meniscus tender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Complete ACL tear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AM bundle disrupted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meniscal posterior horn bucket-handle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bruise: LFC + PL tibia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Hamstring autograft 9.5 mm (ST+G quad-strand)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 AM portal femoral tunnel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Bucket-handle meniscal repair (all-inside)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knee, tourniquet 80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Meniscal repair: full weight-bearing 4 weeks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rehab protocol: RTS at 10 months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IKDC at 1 year: 91/100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Pivot-shift: grade 0 at 12 months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2 — Revision ACL in Female Athlete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24F, competitive basketball player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recon (hamstring 7mm) 2 years ago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giving-way during match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Lachman 2+, pivot-shift 2+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1440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0058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WORKUP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37160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Graft rupture (mid-substance)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CT: Tibial tunnel 8mm, well-positioned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Femoral tunnel: slightly vertical (60° vs 45°)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tunnel widening &gt; 12 mm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Single-stage revision — BTB autograft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femoral tunnel (AM portal) — anatomic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tibial tunnel: reamed to 10mm (BTB)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AEAT (iliotibial band tenodesis) for rotational stability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3931920" cy="169164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834640"/>
            <a:ext cx="3931920" cy="73152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RTS: 12 months post-revision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IKDC at 2 years: 88/100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Pivot-shift: grade 0-I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 FIFA 11+ prescribed lifelong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Management Algorithm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solidFill>
            <a:srgbClr val="0F1D3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ACL TEAR — Clinical Assessment + MRI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3931920" cy="457200"/>
          </a:xfrm>
          <a:prstGeom prst="rect">
            <a:avLst/>
          </a:prstGeom>
          <a:solidFill>
            <a:srgbClr val="1A5A68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4320" y="14630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ACL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(Low demand, &gt; 35 yrs)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1463040"/>
            <a:ext cx="4023360" cy="457200"/>
          </a:xfrm>
          <a:prstGeom prst="rect">
            <a:avLst/>
          </a:prstGeom>
          <a:solidFill>
            <a:srgbClr val="8B3A1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4630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ATHLETE / HIGH DEMAND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 35 yrs, pivoting sport)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3931920" cy="45720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" y="20116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Rehab × 12 wks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Reassess instability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2011680"/>
            <a:ext cx="4023360" cy="457200"/>
          </a:xfrm>
          <a:prstGeom prst="rect">
            <a:avLst/>
          </a:prstGeom>
          <a:solidFill>
            <a:srgbClr val="1A2F52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46320" y="20116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Surgery: Wait 3–6 wks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Autograft ACL Recon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60320"/>
            <a:ext cx="3931920" cy="457200"/>
          </a:xfrm>
          <a:prstGeom prst="rect">
            <a:avLst/>
          </a:prstGeom>
          <a:solidFill>
            <a:srgbClr val="2A4070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4320" y="25603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→ Continue Conservative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Instability → ACL Recon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560320"/>
            <a:ext cx="4023360" cy="457200"/>
          </a:xfrm>
          <a:prstGeom prst="rect">
            <a:avLst/>
          </a:prstGeom>
          <a:solidFill>
            <a:srgbClr val="2A4070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46320" y="256032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injury? → Meniscal repair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 tunnels + ≥ 8mm graft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108960"/>
            <a:ext cx="8595360" cy="457200"/>
          </a:xfrm>
          <a:prstGeom prst="rect">
            <a:avLst/>
          </a:prstGeom>
          <a:solidFill>
            <a:srgbClr val="B8963E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" y="310896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CRITERIA-BASED REHABILITATION — RTS minimum 9 months — LSI &gt; 90%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8595360" cy="457200"/>
          </a:xfrm>
          <a:prstGeom prst="rect">
            <a:avLst/>
          </a:prstGeom>
          <a:solidFill>
            <a:srgbClr val="0F1D3A"/>
          </a:solidFill>
          <a:ln/>
          <a:effectLst>
            <a:outerShdw sx="100000" sy="100000" kx="0" ky="0" algn="bl" rotWithShape="0" blurRad="76200" dist="38100" dir="81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74320" y="365760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PROGRAMME — FIFA 11+ / Sportsmetrics — Lifelong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 — Biological &amp; Technical Advances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Therapies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Enhancement: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Platelet-rich plasma (PRP): inconclusive — no standard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PDGF / BMP injection at tunnel: Phase II trials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cell seeding of graft: pre-clinical promising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Extracellular matrix scaffold (BEAR graft): Phase II positive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(Bridge-Enhanced ACL Repair): primary repair with scaffold + PRP — non-inferior to recon at 2 years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Augmentation: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 + autograft: faster RTS, unknown long-term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InternalBrace: extracortical augmentation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Ligament Advanced Reinforcement System (LARS): 10-yr failure 12–15%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&amp; Prevention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80160"/>
            <a:ext cx="41148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Innovations: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Double-bundle: superior pivot shift (Level I evidence)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Anterolateral ligament (ALL) reconstruction for high-grade rotational instability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extra-articular tenodesis (LET) — grade IIB/III pivot shift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intraligamentary stabilisation (DIS): Ligamys device — primary repair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Robotic-assisted ACL tunnelling: preclinical accuracy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Science: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 IMU sensors: biomechanical feedback in real-time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movement analysis: ACL injury prediction from video</a:t>
            </a:r>
            <a:endParaRPr lang="en-US" sz="14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screening: collagen gene variants (COL5A1) — risk stratification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Lachman test is the most sensitive clinical test; pivot-shift is most specific for rotational instability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confirms diagnosis and assesses meniscal, chondral, and collateral ligament injury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Autograft remains gold standard; graft diameter ≥ 8 mm significantly reduces re-rupture risk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 femoral tunnel placement (via AM portal) is the most critical technical factor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Criteria-based return to sport (LSI &gt; 90% + 9 months minimum) reduces re-injury by 51% (Level 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meniscal repair is preferred over meniscectomy — reduces long-term OA risk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prevention programmes (FIFA 11+, Sportsmetrics) reduce injury risk by 50–70%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scaffold shows promise as biological primary repair — may change paradigm within 5 years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ACL Reconstruction</dc:title>
  <dc:subject>PptxGenJS Presentation</dc:subject>
  <dc:creator>PptxGenJS</dc:creator>
  <cp:lastModifiedBy>PptxGenJS</cp:lastModifiedBy>
  <cp:revision>1</cp:revision>
  <dcterms:created xsi:type="dcterms:W3CDTF">2026-06-15T17:07:06Z</dcterms:created>
  <dcterms:modified xsi:type="dcterms:W3CDTF">2026-06-15T17:07:06Z</dcterms:modified>
</cp:coreProperties>
</file>