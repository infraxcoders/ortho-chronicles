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6438A-A558-17E9-2B77-C0B891240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4D528-0632-1A85-BA2E-202F2E9B0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D49B8-52F5-A9A7-0F4F-B6AB0386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45A06-933C-41B0-A91A-9AC95EB033B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85F13-4607-FA1E-6501-0469B47D6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CED58-CE4C-6F47-465A-BAB9696C5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533F-6D60-450A-A062-BB6A8B766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78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FF1D6-E55B-8043-30F7-8554E69CC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F2914-85EA-2816-D66D-2D7399D7E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250F1-FB6D-0C15-FBDB-C0A02AD1A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45A06-933C-41B0-A91A-9AC95EB033B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4885C-74D5-C34E-A2FF-07BF47CAB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21093-B3BF-AE85-709D-36FE05301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533F-6D60-450A-A062-BB6A8B766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1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B44CE-E6BC-784E-5CB6-4B85C730A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E43A4-922F-F1B8-A1B3-BC91C4E19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28355-4F53-38DB-441B-C45D8B0E4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45A06-933C-41B0-A91A-9AC95EB033B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62FAA-6A39-3962-82C7-04AEE7CCA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C471D-130C-B7E6-34AB-18089850B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533F-6D60-450A-A062-BB6A8B766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97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25CD4-28B9-A8DD-98E3-ECAA63F1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CE093-DA5C-3EA5-DF7A-B67966A16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3CA22-9FB8-2AB4-70CD-E981C76D9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8DC55-5D35-835C-4639-7E87E17BC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45A06-933C-41B0-A91A-9AC95EB033B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531D1-C09C-E0A6-7762-73377735A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A6A1E-0F64-7A5F-9F6C-7C86C163B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533F-6D60-450A-A062-BB6A8B766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486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FC270-C32F-93C7-35F8-30A502026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7FE72-3D7D-EBCE-16E5-EBED3052F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B39B5-AFEE-A3F5-1F34-2E4B218B2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B1BEFF-B1C2-E1F0-8392-CA7E353F6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EAFBA3-1A64-E578-C2C0-143BEA259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7FCC17-518F-CD8C-4F74-70120D9B1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45A06-933C-41B0-A91A-9AC95EB033B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0B1C70-9424-26B7-0BF8-44619B83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8EFE0-E813-67CB-D679-33AAFF6E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533F-6D60-450A-A062-BB6A8B766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089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8FEE9-15D9-E3B8-7EB2-4AF9E847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787F6F-856D-9C17-988B-4BE8A1909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45A06-933C-41B0-A91A-9AC95EB033B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8EA8BF-6B10-DB81-BCF4-492066426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12B020-4BAE-99B0-090C-C9C65AC3F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533F-6D60-450A-A062-BB6A8B766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59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95723C-C244-AE44-51BD-BC4054522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45A06-933C-41B0-A91A-9AC95EB033B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4BF16-9832-F474-2860-A93B50FF0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EC458-2F9C-F38E-3079-90105A380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533F-6D60-450A-A062-BB6A8B766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344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26BCD-1AC1-2690-C8A6-CBBD84C39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C5152-7190-0B3B-4F27-54A0700B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98D0E-B8B7-81BF-41B6-E5DF6F8F2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7FC6F-AB87-A443-DE26-836B4B1AA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45A06-933C-41B0-A91A-9AC95EB033B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7100C-202F-5A40-6C42-57B79CD32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E7860-3B55-ED2B-1D53-F2003FBE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533F-6D60-450A-A062-BB6A8B766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32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6AF8-C794-D00F-6181-0CF852F64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985306-A3CC-2FB4-F56C-14B91D4480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3CD43-7DC6-A1A1-0464-4A9294285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427C9-1BDC-024B-8E70-6C609FE4E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45A06-933C-41B0-A91A-9AC95EB033B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7272A-AB17-71F6-C687-BB1780F16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C36FD-12E8-7590-671C-B5E55AFBE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533F-6D60-450A-A062-BB6A8B766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675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3823A-E99B-80F7-B3C9-771DDC062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D8105-AEAC-BF45-E89E-EFC4155E6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E201C-276E-BE21-D526-49242378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45A06-933C-41B0-A91A-9AC95EB033B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90A4A-2139-366C-E1B7-432947AA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D23BE-0282-BD45-D42A-C8C77D6D4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533F-6D60-450A-A062-BB6A8B766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835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81B228-4291-C16B-ABDC-B9CF2B9065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81B8A-90A8-153D-A704-9095395E6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8ABEA-DAFB-4158-2343-9F177CECF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45A06-933C-41B0-A91A-9AC95EB033B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B9D8A-6B50-2758-5CBB-5ACC85144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8D593-CB58-8D83-6739-417917D5C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533F-6D60-450A-A062-BB6A8B766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411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54571-4159-B49B-3006-D16D0BCA7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083A3-64DE-40CC-DE43-CE3FBF1D8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5E98B-A8C0-3537-BC8D-F67FA6078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45A06-933C-41B0-A91A-9AC95EB033B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AFCFA-FA21-149B-F873-FAE755BFB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4BDF6-974A-ECF3-0546-8114BA45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F533F-6D60-450A-A062-BB6A8B766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540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A79732-2517-60B6-95FD-D24D6F2D0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EABF5-60ED-58A9-7144-C8F696ECB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5E18D-ABAF-8CC6-8E5B-F67386971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45A06-933C-41B0-A91A-9AC95EB033B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0323C-6566-CAFF-CCC5-9640CCEFC0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7A656-F5E2-1250-1CAC-56C293906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EF533F-6D60-450A-A062-BB6A8B766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05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94EE-4582-913C-8ADD-BB7D19EE2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Reading Orthopedic X-rays
A Systematic Approach</a:t>
            </a:r>
            <a:endParaRPr lang="en-IN" sz="30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F6A5F-5003-45AC-A239-2B0A68592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1800"/>
              <a:t>Dr. Maninder Singh, MS Orthopaedics | GMCH Amritsar</a:t>
            </a:r>
          </a:p>
        </p:txBody>
      </p:sp>
    </p:spTree>
    <p:extLst>
      <p:ext uri="{BB962C8B-B14F-4D97-AF65-F5344CB8AC3E}">
        <p14:creationId xmlns:p14="http://schemas.microsoft.com/office/powerpoint/2010/main" val="3972369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5AB3-4164-6970-CBDB-2A28808B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Basics: X-ray Physics &amp; Quality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7CA4A-8F46-4856-2AC1-B10375862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X-rays pass through tissue; attenuated by density — bone (white), air (black), soft tissue (grey)</a:t>
            </a:r>
          </a:p>
          <a:p>
            <a:r>
              <a:rPr lang="en-US" sz="1600"/>
              <a:t>• 5 radiographic densities: Air &lt; Fat &lt; Soft tissue &lt; Bone &lt; Metal</a:t>
            </a:r>
          </a:p>
          <a:p>
            <a:r>
              <a:rPr lang="en-US" sz="1600"/>
              <a:t>• AP and lateral views minimum for any bone/joint injury</a:t>
            </a:r>
          </a:p>
          <a:p>
            <a:r>
              <a:rPr lang="en-US" sz="1600"/>
              <a:t>• Check for: Correct patient, date, side marker (R/L), adequate penetration and exposure</a:t>
            </a:r>
          </a:p>
          <a:p>
            <a:r>
              <a:rPr lang="en-US" sz="1600"/>
              <a:t>• ABCDE systematic approach: Alignment, Bone, Cartilage, Disc/soft tissue, Everything else</a:t>
            </a:r>
          </a:p>
          <a:p>
            <a:r>
              <a:rPr lang="en-US" sz="1600"/>
              <a:t>• Compare with contralateral side whenever possible</a:t>
            </a:r>
          </a:p>
          <a:p>
            <a:r>
              <a:rPr lang="en-US" sz="1600"/>
              <a:t>• Technical errors: Rotation, under/over-exposure, incomplete views — request repeat if needed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4152918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1AD95-39EC-CE18-3C09-689DC41A3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Trauma X-ray — ABCD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A3C6A-0C61-773D-60D7-C245A1F78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600"/>
              <a:t>• A — Alignment: Cortical continuity, joint alignment, angulation/displacement</a:t>
            </a:r>
            <a:endParaRPr lang="en-US" sz="1600"/>
          </a:p>
          <a:p>
            <a:r>
              <a:rPr lang="en-US" sz="1600"/>
              <a:t>• B — Bones: Cortex irregularity, periosteal reaction, lucent/sclerotic lines</a:t>
            </a:r>
          </a:p>
          <a:p>
            <a:r>
              <a:rPr lang="en-US" sz="1600"/>
              <a:t>  — Fracture description: Location (proximal/mid/distal 1/3), pattern, displacement, angulation</a:t>
            </a:r>
          </a:p>
          <a:p>
            <a:r>
              <a:rPr lang="en-US" sz="1600"/>
              <a:t>• C — Cartilage: Joint space width; loss = arthritis; asymmetric = ligament injury</a:t>
            </a:r>
          </a:p>
          <a:p>
            <a:r>
              <a:rPr lang="en-US" sz="1600"/>
              <a:t>• D — Density: Lucency = lytic lesion/osteomyelitis; Sclerosis = healing/AVN/OA</a:t>
            </a:r>
          </a:p>
          <a:p>
            <a:r>
              <a:rPr lang="en-US" sz="1600"/>
              <a:t>• E — Extras: Foreign bodies, gas, effusion, calcification</a:t>
            </a:r>
          </a:p>
          <a:p>
            <a:r>
              <a:rPr lang="en-US" sz="1600"/>
              <a:t>• Soft tissue signs: Fat pad sign (elbow), sail sign, periosteal reaction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1127522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5EC49-AF61-5A95-41C3-E351A127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Hip &amp; Pelvis X-ray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6E789-09E1-3C74-A417-48A9391FD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AP pelvis: Ilioischial/iliopectineal lines; Shenton's line; teardrop figure</a:t>
            </a:r>
          </a:p>
          <a:p>
            <a:r>
              <a:rPr lang="en-US" sz="1600"/>
              <a:t>  — Disruption indicates acetabular fracture or dislocation</a:t>
            </a:r>
          </a:p>
          <a:p>
            <a:r>
              <a:rPr lang="en-US" sz="1600"/>
              <a:t>• Neck-shaft angle: Normal 120–135°; Coxa vara &lt;120°; Coxa valga &gt;135°</a:t>
            </a:r>
          </a:p>
          <a:p>
            <a:r>
              <a:rPr lang="en-US" sz="1600"/>
              <a:t>• Hip OA: Joint space loss (superior/medial), subchondral sclerosis, osteophytes</a:t>
            </a:r>
          </a:p>
          <a:p>
            <a:r>
              <a:rPr lang="en-US" sz="1600"/>
              <a:t>• NOF fracture: Garden classification — undisplaced (I/II) vs displaced (III/IV)</a:t>
            </a:r>
          </a:p>
          <a:p>
            <a:r>
              <a:rPr lang="en-US" sz="1600"/>
              <a:t>• Pauwels: I (&lt;30°), II (30–50°), III (&gt;50°) — predicts stability</a:t>
            </a:r>
            <a:endParaRPr lang="fr-FR" sz="1600"/>
          </a:p>
          <a:p>
            <a:r>
              <a:rPr lang="fr-FR" sz="1600"/>
              <a:t>• Pelvic fractures: Tile classification; look for SI joint disruption, ramus fractures</a:t>
            </a:r>
            <a:endParaRPr lang="en-US" sz="1600"/>
          </a:p>
          <a:p>
            <a:r>
              <a:rPr lang="en-US" sz="1600"/>
              <a:t>• Judet views (45° oblique): Assess anterior/posterior column of acetabulum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4194178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01933-59D7-AF25-19ED-E4F95E3D0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Knee X-ray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CDFCF-51D3-9AC3-172B-F39A22D02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Standard views: Weight-bearing AP, lateral 30° flexion, Merchant (skyline) for patella</a:t>
            </a:r>
          </a:p>
          <a:p>
            <a:r>
              <a:rPr lang="en-US" sz="1600"/>
              <a:t>• Joint space: Medial 4–5 mm, lateral 4–5 mm; loss = OA/meniscal tear</a:t>
            </a:r>
          </a:p>
          <a:p>
            <a:r>
              <a:rPr lang="en-US" sz="1600"/>
              <a:t>• Alignment: Mechanical axis (hip-knee-ankle); normal = 3° valgus</a:t>
            </a:r>
          </a:p>
          <a:p>
            <a:r>
              <a:rPr lang="en-US" sz="1600"/>
              <a:t>• Tibial slope: Lateral 7–10° posterior; increased slope = ACL risk</a:t>
            </a:r>
          </a:p>
          <a:p>
            <a:r>
              <a:rPr lang="en-US" sz="1600"/>
              <a:t>• Fracture pearls: Lipohaemarthrosis on lateral film (fat fluid level = intraarticular fracture)</a:t>
            </a:r>
          </a:p>
          <a:p>
            <a:r>
              <a:rPr lang="en-US" sz="1600"/>
              <a:t>• Tibial plateau: Schatzker I–VI; look for lateral condyle depression &gt;2 mm</a:t>
            </a:r>
          </a:p>
          <a:p>
            <a:r>
              <a:rPr lang="en-US" sz="1600"/>
              <a:t>• Patella fracture: Bipartite (superolateral — normal variant) vs acute (irregular margins)</a:t>
            </a:r>
          </a:p>
          <a:p>
            <a:r>
              <a:rPr lang="en-US" sz="1600"/>
              <a:t>• Distal femur fractures: AO/OTA classification; supracondylar vs intercondylar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320350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B45E-5A89-6595-2DC4-72B1EE946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Spine X-ray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C31F4-6534-234E-2DFD-BFF12CA2F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Cervical AP, lateral, odontoid peg view (open mouth)</a:t>
            </a:r>
          </a:p>
          <a:p>
            <a:r>
              <a:rPr lang="en-US" sz="1600"/>
              <a:t>• Lateral: Anterior vertebral line, posterior vertebral line, spinolaminar line — all should be smooth</a:t>
            </a:r>
          </a:p>
          <a:p>
            <a:r>
              <a:rPr lang="en-US" sz="1600"/>
              <a:t>• Disc space: C5/6 and C6/7 most common OA; loss with infection/degeneration</a:t>
            </a:r>
          </a:p>
          <a:p>
            <a:r>
              <a:rPr lang="en-US" sz="1600"/>
              <a:t>• Instability: &gt;3.5 mm translation or &gt;11° angulation between adjacent vertebrae</a:t>
            </a:r>
          </a:p>
          <a:p>
            <a:r>
              <a:rPr lang="en-US" sz="1600"/>
              <a:t>• Denis 3-column model: Anterior (AVL–mid), Middle (mid–PVL), Posterior (neural arch)</a:t>
            </a:r>
          </a:p>
          <a:p>
            <a:r>
              <a:rPr lang="en-US" sz="1600"/>
              <a:t>• Cobb angle: Scoliosis — perpendicular from end vertebrae; &gt;10° = scoliosis</a:t>
            </a:r>
          </a:p>
          <a:p>
            <a:r>
              <a:rPr lang="en-US" sz="1600"/>
              <a:t>• Thoracolumbar fractures: AO classification; TLICS scoring for management</a:t>
            </a:r>
          </a:p>
          <a:p>
            <a:r>
              <a:rPr lang="en-US" sz="1600"/>
              <a:t>• Harris ring (C2): Disruption = odontoid fracture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1847338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E6CFA-9118-3F41-7D89-BC616260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Post-operative &amp; Implant X-rays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5E670-0CE1-884B-A2E2-6C92FC6E5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TKR: Check alignment, cement mantle, tibial slope, patellar tracking</a:t>
            </a:r>
          </a:p>
          <a:p>
            <a:r>
              <a:rPr lang="en-US" sz="1600"/>
              <a:t>  — Radiolucent lines &gt;2 mm around tibial component = loosening</a:t>
            </a:r>
          </a:p>
          <a:p>
            <a:r>
              <a:rPr lang="en-US" sz="1600"/>
              <a:t>• THR: Cup angle (acetabular inclination 40–45°, anteversion 15–20°), stem position (neutral ± 2°)</a:t>
            </a:r>
            <a:endParaRPr lang="fr-FR" sz="1600"/>
          </a:p>
          <a:p>
            <a:r>
              <a:rPr lang="fr-FR" sz="1600"/>
              <a:t>  — Periprosthetic fractures: Vancouver classification (A, B1/B2/B3, C)</a:t>
            </a:r>
            <a:endParaRPr lang="en-US" sz="1600"/>
          </a:p>
          <a:p>
            <a:r>
              <a:rPr lang="en-US" sz="1600"/>
              <a:t>• Fracture healing: Callus formation 3–6 wk; remodelling 6–12 wk</a:t>
            </a:r>
          </a:p>
          <a:p>
            <a:r>
              <a:rPr lang="en-US" sz="1600"/>
              <a:t>• Implant failure signs: Broken screws, lucent lines, implant migration</a:t>
            </a:r>
          </a:p>
          <a:p>
            <a:r>
              <a:rPr lang="en-US" sz="1600"/>
              <a:t>• Osteomyelitis: Periosteal reaction, bone destruction, sequestrum/involucrum</a:t>
            </a:r>
          </a:p>
          <a:p>
            <a:r>
              <a:rPr lang="en-US" sz="1600"/>
              <a:t>• AVN (Osteonecrosis): Subchondral lucency → crescent sign → collapse (Ficat staging)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1562784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1079A-148D-2841-E730-C59D903A1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98034-4727-8138-EBB6-5D123A22B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Always take two views at right angles — AP and lateral</a:t>
            </a:r>
          </a:p>
          <a:p>
            <a:r>
              <a:rPr lang="en-US" sz="1600"/>
              <a:t>• Use ABCDE approach for every X-ray</a:t>
            </a:r>
          </a:p>
          <a:p>
            <a:r>
              <a:rPr lang="en-US" sz="1600"/>
              <a:t>• Know normal anatomy before identifying pathology</a:t>
            </a:r>
          </a:p>
          <a:p>
            <a:r>
              <a:rPr lang="en-US" sz="1600"/>
              <a:t>• Compare with contralateral side when uncertain</a:t>
            </a:r>
          </a:p>
          <a:p>
            <a:r>
              <a:rPr lang="en-US" sz="1600"/>
              <a:t>• Describe fractures: Site, pattern, displacement, angulation, special features</a:t>
            </a:r>
          </a:p>
          <a:p>
            <a:r>
              <a:rPr lang="en-US" sz="1600"/>
              <a:t>• Post-op X-rays: Assess alignment, implant position, complications</a:t>
            </a:r>
          </a:p>
          <a:p>
            <a:r>
              <a:rPr lang="en-US" sz="1600"/>
              <a:t>• Reference: Apley &amp; Solomon — System of Orthopaedics; Rockwood Fractures in Adults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2918510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Reading Orthopedic X-rays
A Systematic Approach</vt:lpstr>
      <vt:lpstr>Basics: X-ray Physics &amp; Quality</vt:lpstr>
      <vt:lpstr>Trauma X-ray — ABCD Approach</vt:lpstr>
      <vt:lpstr>Hip &amp; Pelvis X-ray</vt:lpstr>
      <vt:lpstr>Knee X-ray</vt:lpstr>
      <vt:lpstr>Spine X-ray</vt:lpstr>
      <vt:lpstr>Post-operative &amp; Implant X-rays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Pawanpreet Singh</dc:creator>
  <cp:lastModifiedBy>Dr Pawanpreet Singh</cp:lastModifiedBy>
  <cp:revision>1</cp:revision>
  <dcterms:created xsi:type="dcterms:W3CDTF">2026-06-08T08:18:32Z</dcterms:created>
  <dcterms:modified xsi:type="dcterms:W3CDTF">2026-06-08T08:18:32Z</dcterms:modified>
</cp:coreProperties>
</file>