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79662-2520-6726-B022-5FA4BC475D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2A5A36-7764-94B8-39DA-2607DF45C8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9043A-449C-9CD3-285E-83C1B913C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6F72B-76DF-446A-BE3D-08D42858E4D3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27BE76-D1A9-07EB-6F98-471369923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96BCA-F94C-36E0-4645-60D197964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9995E-0E77-400D-8D3B-E24B2A4D7E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4265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49EB4-C7A3-6716-C74C-656BC5B36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C07B4-3659-0CCC-4B0C-CBC4A1FDCC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5905A3-7516-A994-8FE1-9E690C09B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6F72B-76DF-446A-BE3D-08D42858E4D3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A2D5D-FEDD-3771-5377-4C5FE5DA7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68FDA9-2647-B24D-9C86-680CD78CE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9995E-0E77-400D-8D3B-E24B2A4D7E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6898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488FE-1883-9927-85F5-3A5EAA55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BAEA1A-5D80-FA9E-3729-C5F3EF90A7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B38A7-501C-AE7B-197A-CCD46DA6C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6F72B-76DF-446A-BE3D-08D42858E4D3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C8E62-5E86-843E-ECB6-29C5BD448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9564C2-E596-27E7-4EDC-EA0DBC141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9995E-0E77-400D-8D3B-E24B2A4D7E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4539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691F3-CC5A-3ED5-740B-6AED35A33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DA8D5-C461-7FF6-E3FA-0F53DAD770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214978-D524-EA81-7BB0-8195342CBE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0D45F3-75EA-AB4E-53B9-AC79BB472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6F72B-76DF-446A-BE3D-08D42858E4D3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D98054-F2D1-ADF4-B5C7-3EA054649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7A8F7E-C692-AD38-28A7-37173E314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9995E-0E77-400D-8D3B-E24B2A4D7E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5941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272EA-B8CD-FC36-157E-1864BC856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33263-57F0-CC79-D99D-964869AF6A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C3DDB8-0BC5-D182-3D82-2B24855E1F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663CD0-0F20-C195-292B-36384AC63F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B040BE-EE01-C4AA-A9F7-20E0647423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008334-5B28-5348-3F76-405D59209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6F72B-76DF-446A-BE3D-08D42858E4D3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7D9091-4BEE-6F5C-5602-4157CF20E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0D5B44-4B7B-AEEB-E9EF-8183B17F6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9995E-0E77-400D-8D3B-E24B2A4D7E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090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71232-B739-4102-2F63-FB05734B9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7C024E-C0C3-AFEC-A66B-3DED142C3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6F72B-76DF-446A-BE3D-08D42858E4D3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71AF1E-045F-EED3-A2CB-873208975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4DDAC9-D860-FB83-89D8-B4F8D9AFD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9995E-0E77-400D-8D3B-E24B2A4D7E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8423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08CFC-D709-6A9A-1F81-29DBDF8AA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6F72B-76DF-446A-BE3D-08D42858E4D3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D7D287-681E-28B7-1756-106AE3064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2AE79D-477C-CA4C-877D-6B9A806B4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9995E-0E77-400D-8D3B-E24B2A4D7E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757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67E34-1A40-07A0-C0CE-97AC326E0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E0782-1F0E-3CF1-D2C8-92937796F6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392750-0BFB-8AAE-E9D6-41D7F9C534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23F8D5-73FA-49B5-A515-27B6F5769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6F72B-76DF-446A-BE3D-08D42858E4D3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35C756-152D-F2E8-446F-590F14F28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CD2881-9E64-2A34-5E69-7046FE42D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9995E-0E77-400D-8D3B-E24B2A4D7E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950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70BE1-8040-7797-F2D8-0DEF77A8C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223033-EAFF-98FF-0B42-2C85F2AF1F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8DC593-3C6E-961C-A899-D85547C323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5848BF-11A1-6070-1460-E339E657C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6F72B-76DF-446A-BE3D-08D42858E4D3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C404D2-5D1C-8D5E-CA68-A3AA2EC8F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2E64A3-869F-A636-A2E8-F86E487F8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9995E-0E77-400D-8D3B-E24B2A4D7E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8133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EB4C2-5743-4DF4-F1E0-DBF068A01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152C79-4C6E-41EF-A404-96F728D813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746EA-6E3B-89F2-2A80-ADC5DEF95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6F72B-76DF-446A-BE3D-08D42858E4D3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71E119-ECAE-7967-1B18-05939E496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1AE9BA-C6FB-4177-FC8A-F8FE47B62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9995E-0E77-400D-8D3B-E24B2A4D7E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4153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B710D6-8209-EAB7-3400-6A7FBD42D4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C0D776-6EA2-E1D3-0E6C-3D2E304EBD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77310-F822-7CDD-3934-636337995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6F72B-76DF-446A-BE3D-08D42858E4D3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0C41B6-37FB-84F3-B3BA-00ACB6A5D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A9B63E-B542-B9CE-90CF-40240A349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9995E-0E77-400D-8D3B-E24B2A4D7E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59183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E87B2-EF51-C3AC-1656-17E83497C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653E2A-3DE9-D29D-DAEA-A1D22EFB0B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777D6-490A-8F3E-28E1-CD9A46166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6F72B-76DF-446A-BE3D-08D42858E4D3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10BDE-FC3F-A2CA-B456-958971436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CF41F9-5FCC-B058-6D54-A8F800FE3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9995E-0E77-400D-8D3B-E24B2A4D7E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9037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93973F-71E4-1CBB-F433-E30231840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67CA28-B3C8-5325-9574-01C8BDFD4A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DD03B-91D5-98BC-1E38-D4AC8B2CEF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56F72B-76DF-446A-BE3D-08D42858E4D3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DCE6D8-8B36-72F4-B196-B3BB399E6F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52A12-F0ED-6012-697C-693C412105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9995E-0E77-400D-8D3B-E24B2A4D7E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9753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7A4DC-3B45-81FD-4983-4DAF7ACA4A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3000" b="1"/>
              <a:t>Post-operative Rehabilitation
After Joint Replacement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AF267F-71BA-D0C0-92D1-1CCF68636E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1800"/>
              <a:t>Dr. Maninder Singh, MS Orthopaedics | GMCH Amritsar</a:t>
            </a:r>
          </a:p>
        </p:txBody>
      </p:sp>
    </p:spTree>
    <p:extLst>
      <p:ext uri="{BB962C8B-B14F-4D97-AF65-F5344CB8AC3E}">
        <p14:creationId xmlns:p14="http://schemas.microsoft.com/office/powerpoint/2010/main" val="1039315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0194B-B486-199B-182F-53C350A39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/>
              <a:t>Goals of Rehabilitation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CD903D-FE25-81F9-95AD-390479D605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600"/>
              <a:t>• Restore range of motion, strength and functional independence</a:t>
            </a:r>
          </a:p>
          <a:p>
            <a:r>
              <a:rPr lang="en-US" sz="1600"/>
              <a:t>• Prevent complications: DVT, pneumonia, wound problems, stiffness</a:t>
            </a:r>
          </a:p>
          <a:p>
            <a:r>
              <a:rPr lang="en-US" sz="1600"/>
              <a:t>• Achieve pain-free activities of daily living</a:t>
            </a:r>
          </a:p>
          <a:p>
            <a:r>
              <a:rPr lang="en-US" sz="1600"/>
              <a:t>• Return to recreational activities and work</a:t>
            </a:r>
          </a:p>
          <a:p>
            <a:r>
              <a:rPr lang="en-US" sz="1600"/>
              <a:t>• Education: Joint protection, activity modification, home exercise programme</a:t>
            </a:r>
          </a:p>
          <a:p>
            <a:r>
              <a:rPr lang="en-US" sz="1600"/>
              <a:t>• Expected outcomes: TKR — 120°+ flexion; THR — full ADLs, no dislocation</a:t>
            </a:r>
          </a:p>
          <a:p>
            <a:r>
              <a:rPr lang="en-US" sz="1600"/>
              <a:t>• Multidisciplinary team: Surgeon, physiotherapist, occupational therapist, nurse</a:t>
            </a:r>
            <a:endParaRPr lang="en-IN" sz="1600"/>
          </a:p>
        </p:txBody>
      </p:sp>
    </p:spTree>
    <p:extLst>
      <p:ext uri="{BB962C8B-B14F-4D97-AF65-F5344CB8AC3E}">
        <p14:creationId xmlns:p14="http://schemas.microsoft.com/office/powerpoint/2010/main" val="3700328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EE08A-1BAE-7412-D4AA-44576DAD7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/>
              <a:t>TKR Rehabilitation — Phase 1 (Day 0–6 weeks)</a:t>
            </a:r>
            <a:endParaRPr lang="en-IN" sz="2400" b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422EF2-67EE-DA63-E492-C7D975E2B2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600"/>
              <a:t>• Day 0–1: Ankle pumps, quadriceps sets, bed exercises, ice therapy</a:t>
            </a:r>
          </a:p>
          <a:p>
            <a:r>
              <a:rPr lang="en-US" sz="1600"/>
              <a:t>• Day 1–2: Sitting up, leg dangling, standing with support (walker)</a:t>
            </a:r>
          </a:p>
          <a:p>
            <a:r>
              <a:rPr lang="en-US" sz="1600"/>
              <a:t>• Target: Knee flexion 90° by Day 3–5; full passive extension</a:t>
            </a:r>
          </a:p>
          <a:p>
            <a:r>
              <a:rPr lang="en-US" sz="1600"/>
              <a:t>• Exercises: SLR, terminal knee extension, heel slides, prone hangs</a:t>
            </a:r>
          </a:p>
          <a:p>
            <a:r>
              <a:rPr lang="en-US" sz="1600"/>
              <a:t>• CPM (Continuous Passive Motion): Controversial; current evidence does not support routine use</a:t>
            </a:r>
          </a:p>
          <a:p>
            <a:r>
              <a:rPr lang="en-US" sz="1600"/>
              <a:t>• Wound care: Waterproof dressing; watch for signs of infection</a:t>
            </a:r>
          </a:p>
          <a:p>
            <a:r>
              <a:rPr lang="en-US" sz="1600"/>
              <a:t>• DVT prophylaxis: LMWH/Aspirin + TED stockings + early ambulation</a:t>
            </a:r>
          </a:p>
          <a:p>
            <a:r>
              <a:rPr lang="en-US" sz="1600"/>
              <a:t>• Scar management from Week 3: Massage to prevent adhesions</a:t>
            </a:r>
            <a:endParaRPr lang="en-IN" sz="1600"/>
          </a:p>
        </p:txBody>
      </p:sp>
    </p:spTree>
    <p:extLst>
      <p:ext uri="{BB962C8B-B14F-4D97-AF65-F5344CB8AC3E}">
        <p14:creationId xmlns:p14="http://schemas.microsoft.com/office/powerpoint/2010/main" val="4073442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726A8-F2FA-FAA6-AC56-DDE5AC971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/>
              <a:t>TKR Rehabilitation — Phase 2 &amp; 3 (6–12 weeks / 3–6 months)</a:t>
            </a:r>
            <a:endParaRPr lang="en-IN" sz="2400" b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6789E0-7FB4-1FC2-ED83-B015F8EEA0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600"/>
              <a:t>• Phase 2 (Wk 6–12): Stationary cycling, pool walking, proprioception exercises</a:t>
            </a:r>
          </a:p>
          <a:p>
            <a:r>
              <a:rPr lang="en-US" sz="1600"/>
              <a:t>  — Target: 120°+ flexion; minimal swelling; walk without aids</a:t>
            </a:r>
          </a:p>
          <a:p>
            <a:r>
              <a:rPr lang="en-US" sz="1600"/>
              <a:t>  — Stair climbing with reciprocal pattern</a:t>
            </a:r>
          </a:p>
          <a:p>
            <a:r>
              <a:rPr lang="en-US" sz="1600"/>
              <a:t>• Phase 3 (3–6 months): Progressive strengthening — leg press, mini squats</a:t>
            </a:r>
          </a:p>
          <a:p>
            <a:r>
              <a:rPr lang="en-US" sz="1600"/>
              <a:t>  — Functional training: Rising from chair, car transfers, kerb steps</a:t>
            </a:r>
          </a:p>
          <a:p>
            <a:r>
              <a:rPr lang="en-US" sz="1600"/>
              <a:t>  — Hydrotherapy: Reduces joint load, improves motion</a:t>
            </a:r>
          </a:p>
          <a:p>
            <a:r>
              <a:rPr lang="en-US" sz="1600"/>
              <a:t>• MUA (Manipulation Under Anaesthesia): If &lt;90° at 3 months</a:t>
            </a:r>
          </a:p>
          <a:p>
            <a:r>
              <a:rPr lang="en-US" sz="1600"/>
              <a:t>• Return to driving: 6 weeks (left TKR automatic) / 8–10 weeks (right TKR)</a:t>
            </a:r>
            <a:endParaRPr lang="en-IN" sz="1600"/>
          </a:p>
        </p:txBody>
      </p:sp>
    </p:spTree>
    <p:extLst>
      <p:ext uri="{BB962C8B-B14F-4D97-AF65-F5344CB8AC3E}">
        <p14:creationId xmlns:p14="http://schemas.microsoft.com/office/powerpoint/2010/main" val="2846695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A6C44-DFCD-FA38-4725-AB6949CD4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/>
              <a:t>THR Rehabilitation — Precautions &amp; Protocol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57CAA8-891E-7071-378C-8F6CE39F99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600"/>
              <a:t>• Posterior approach precautions (6 weeks): No hip flexion &gt;90°, no adduction past midline, no IR</a:t>
            </a:r>
          </a:p>
          <a:p>
            <a:r>
              <a:rPr lang="en-US" sz="1600"/>
              <a:t>• Anterior approach: No extension + ER (impingement risk); fewer restrictions than posterior</a:t>
            </a:r>
          </a:p>
          <a:p>
            <a:r>
              <a:rPr lang="en-US" sz="1600"/>
              <a:t>• Day 1: Mobilize with frame; partial weight-bearing (cemented: FWB immediately)</a:t>
            </a:r>
          </a:p>
          <a:p>
            <a:r>
              <a:rPr lang="en-US" sz="1600"/>
              <a:t>• Cementless stems: Partial WB 6 weeks; cemented: FWB Day 1–2</a:t>
            </a:r>
          </a:p>
          <a:p>
            <a:r>
              <a:rPr lang="en-US" sz="1600"/>
              <a:t>• Phase 1 (0–6 wk): Abductor strengthening, hip extension, stationary bike</a:t>
            </a:r>
          </a:p>
          <a:p>
            <a:r>
              <a:rPr lang="en-US" sz="1600"/>
              <a:t>• Phase 2 (6–12 wk): Gait re-education, progressive strengthening, water exercises</a:t>
            </a:r>
          </a:p>
          <a:p>
            <a:r>
              <a:rPr lang="en-US" sz="1600"/>
              <a:t>• Phase 3 (3+ months): Sports-specific training; walking, swimming, golf, cycling allowed</a:t>
            </a:r>
          </a:p>
          <a:p>
            <a:r>
              <a:rPr lang="en-US" sz="1600"/>
              <a:t>• Avoid: High-impact activities (running, jumping), contact sports</a:t>
            </a:r>
            <a:endParaRPr lang="en-IN" sz="1600"/>
          </a:p>
        </p:txBody>
      </p:sp>
    </p:spTree>
    <p:extLst>
      <p:ext uri="{BB962C8B-B14F-4D97-AF65-F5344CB8AC3E}">
        <p14:creationId xmlns:p14="http://schemas.microsoft.com/office/powerpoint/2010/main" val="1041489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365DE-B8E8-DE88-0463-DB33B7DD6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/>
              <a:t>Outcome Measures &amp; Assessment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F6D8A7-7C19-357F-5535-AEF342EA57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600"/>
              <a:t>• Oxford Knee/Hip Score (OKS/OHS): 12-item PRO; out of 48; higher = better</a:t>
            </a:r>
          </a:p>
          <a:p>
            <a:r>
              <a:rPr lang="en-US" sz="1600"/>
              <a:t>• WOMAC (Western Ontario McMaster): Pain, stiffness, function subscales</a:t>
            </a:r>
          </a:p>
          <a:p>
            <a:r>
              <a:rPr lang="en-US" sz="1600"/>
              <a:t>• KOOS/HOOS: Knee/Hip injury and Osteoarthritis Outcome Score</a:t>
            </a:r>
          </a:p>
          <a:p>
            <a:r>
              <a:rPr lang="en-US" sz="1600"/>
              <a:t>• VAS Pain Score: 0–10; expect &lt;3 at 6 months</a:t>
            </a:r>
          </a:p>
          <a:p>
            <a:r>
              <a:rPr lang="en-US" sz="1600"/>
              <a:t>• Timed-Up-and-Go (TUG) test: Normal &lt;12 seconds</a:t>
            </a:r>
          </a:p>
          <a:p>
            <a:r>
              <a:rPr lang="en-US" sz="1600"/>
              <a:t>• 6-Minute Walk Test: Functional endurance</a:t>
            </a:r>
          </a:p>
          <a:p>
            <a:r>
              <a:rPr lang="en-US" sz="1600"/>
              <a:t>• ROM measurement: Goniometry at each visit</a:t>
            </a:r>
          </a:p>
          <a:p>
            <a:r>
              <a:rPr lang="en-US" sz="1600"/>
              <a:t>• Patient satisfaction: 85–90% in TKR; &gt;90% in THR</a:t>
            </a:r>
            <a:endParaRPr lang="en-IN" sz="1600"/>
          </a:p>
        </p:txBody>
      </p:sp>
    </p:spTree>
    <p:extLst>
      <p:ext uri="{BB962C8B-B14F-4D97-AF65-F5344CB8AC3E}">
        <p14:creationId xmlns:p14="http://schemas.microsoft.com/office/powerpoint/2010/main" val="4284647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AEFE9-0619-6789-0606-1979BF3E9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/>
              <a:t>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DD8F30-462A-38EA-6BE1-EB7822F1A3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600"/>
              <a:t>• Rehabilitation is as important as the surgical procedure itself</a:t>
            </a:r>
          </a:p>
          <a:p>
            <a:r>
              <a:rPr lang="en-US" sz="1600"/>
              <a:t>• TKR: Target 90° by Day 5; 120°+ by 3 months</a:t>
            </a:r>
          </a:p>
          <a:p>
            <a:r>
              <a:rPr lang="en-US" sz="1600"/>
              <a:t>• THR posterior: Hip precautions mandatory 6 weeks</a:t>
            </a:r>
          </a:p>
          <a:p>
            <a:r>
              <a:rPr lang="en-US" sz="1600"/>
              <a:t>• Early mobilization reduces DVT, pneumonia, stiffness</a:t>
            </a:r>
          </a:p>
          <a:p>
            <a:r>
              <a:rPr lang="en-US" sz="1600"/>
              <a:t>• Multidisciplinary rehabilitation improves outcomes</a:t>
            </a:r>
          </a:p>
          <a:p>
            <a:r>
              <a:rPr lang="en-US" sz="1600"/>
              <a:t>• MUA for TKR stiffness if ROM &lt;90° at 3 months</a:t>
            </a:r>
          </a:p>
          <a:p>
            <a:r>
              <a:rPr lang="en-US" sz="1600"/>
              <a:t>• Reference: Brander VA — Rehabilitation After TJR; Physiotherapy Journal</a:t>
            </a:r>
            <a:endParaRPr lang="en-IN" sz="1600"/>
          </a:p>
        </p:txBody>
      </p:sp>
    </p:spTree>
    <p:extLst>
      <p:ext uri="{BB962C8B-B14F-4D97-AF65-F5344CB8AC3E}">
        <p14:creationId xmlns:p14="http://schemas.microsoft.com/office/powerpoint/2010/main" val="2133797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651</Words>
  <Application>Microsoft Office PowerPoint</Application>
  <PresentationFormat>Widescreen</PresentationFormat>
  <Paragraphs>54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Post-operative Rehabilitation
After Joint Replacement</vt:lpstr>
      <vt:lpstr>Goals of Rehabilitation</vt:lpstr>
      <vt:lpstr>TKR Rehabilitation — Phase 1 (Day 0–6 weeks)</vt:lpstr>
      <vt:lpstr>TKR Rehabilitation — Phase 2 &amp; 3 (6–12 weeks / 3–6 months)</vt:lpstr>
      <vt:lpstr>THR Rehabilitation — Precautions &amp; Protocol</vt:lpstr>
      <vt:lpstr>Outcome Measures &amp; Assessment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 Pawanpreet Singh</dc:creator>
  <cp:lastModifiedBy>Dr Pawanpreet Singh</cp:lastModifiedBy>
  <cp:revision>1</cp:revision>
  <dcterms:created xsi:type="dcterms:W3CDTF">2026-06-08T08:14:37Z</dcterms:created>
  <dcterms:modified xsi:type="dcterms:W3CDTF">2026-06-08T08:14:37Z</dcterms:modified>
</cp:coreProperties>
</file>