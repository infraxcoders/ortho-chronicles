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sldIdLst>
    <p:sldId id="257" r:id="rId2"/>
    <p:sldId id="258" r:id="rId3"/>
    <p:sldId id="259" r:id="rId4"/>
    <p:sldId id="274"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350" r:id="rId20"/>
    <p:sldId id="275" r:id="rId21"/>
    <p:sldId id="276" r:id="rId22"/>
    <p:sldId id="277" r:id="rId23"/>
    <p:sldId id="278" r:id="rId24"/>
    <p:sldId id="279" r:id="rId25"/>
    <p:sldId id="351" r:id="rId26"/>
    <p:sldId id="280" r:id="rId27"/>
    <p:sldId id="281" r:id="rId28"/>
    <p:sldId id="282" r:id="rId29"/>
    <p:sldId id="283" r:id="rId30"/>
    <p:sldId id="284" r:id="rId31"/>
    <p:sldId id="285" r:id="rId32"/>
    <p:sldId id="286" r:id="rId33"/>
    <p:sldId id="287" r:id="rId34"/>
    <p:sldId id="289" r:id="rId35"/>
    <p:sldId id="290"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8" r:id="rId52"/>
    <p:sldId id="309" r:id="rId53"/>
    <p:sldId id="310" r:id="rId54"/>
    <p:sldId id="311" r:id="rId55"/>
    <p:sldId id="312" r:id="rId56"/>
    <p:sldId id="313" r:id="rId57"/>
    <p:sldId id="314" r:id="rId58"/>
    <p:sldId id="345" r:id="rId59"/>
    <p:sldId id="346" r:id="rId60"/>
    <p:sldId id="347" r:id="rId61"/>
    <p:sldId id="315" r:id="rId62"/>
    <p:sldId id="348" r:id="rId63"/>
    <p:sldId id="316" r:id="rId64"/>
    <p:sldId id="317" r:id="rId65"/>
    <p:sldId id="318" r:id="rId66"/>
    <p:sldId id="323" r:id="rId67"/>
    <p:sldId id="324" r:id="rId68"/>
    <p:sldId id="325" r:id="rId69"/>
    <p:sldId id="327" r:id="rId70"/>
    <p:sldId id="328" r:id="rId71"/>
    <p:sldId id="329" r:id="rId72"/>
    <p:sldId id="330" r:id="rId73"/>
    <p:sldId id="331" r:id="rId74"/>
    <p:sldId id="332" r:id="rId75"/>
    <p:sldId id="333" r:id="rId76"/>
    <p:sldId id="334" r:id="rId77"/>
    <p:sldId id="349" r:id="rId78"/>
    <p:sldId id="335" r:id="rId79"/>
    <p:sldId id="336" r:id="rId80"/>
    <p:sldId id="337" r:id="rId81"/>
    <p:sldId id="338" r:id="rId82"/>
    <p:sldId id="339" r:id="rId83"/>
    <p:sldId id="340" r:id="rId84"/>
    <p:sldId id="341" r:id="rId85"/>
    <p:sldId id="342" r:id="rId86"/>
    <p:sldId id="343" r:id="rId87"/>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75" d="100"/>
          <a:sy n="75" d="100"/>
        </p:scale>
        <p:origin x="288" y="2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sym typeface="+mn-ea"/>
              </a:rPr>
              <a:t>Good morning to all today i am presenting a topic on I</a:t>
            </a:r>
            <a:r>
              <a:rPr lang="en-US" dirty="0">
                <a:effectLst>
                  <a:outerShdw blurRad="38100" dist="19050" dir="2700000" algn="tl" rotWithShape="0">
                    <a:schemeClr val="dk1">
                      <a:alpha val="40000"/>
                      <a:alpha val="40000"/>
                    </a:schemeClr>
                  </a:outerShdw>
                </a:effectLst>
                <a:sym typeface="+mn-ea"/>
              </a:rPr>
              <a:t>MAGING OF SOLITARY PULMONARY NODULE </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chest radiograph showing a right upper lobe opacity, the </a:t>
            </a:r>
            <a:r>
              <a:rPr lang="en-US">
                <a:sym typeface="+mn-ea"/>
              </a:rPr>
              <a:t>opacity </a:t>
            </a:r>
            <a:r>
              <a:rPr lang="en-US"/>
              <a:t>is classified as nodule because it is relatively well defined and at least partially surrounded by lung and 3 cm or less.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Ct image showing </a:t>
            </a:r>
            <a:r>
              <a:rPr lang="en-US">
                <a:sym typeface="+mn-ea"/>
              </a:rPr>
              <a:t>lobulated</a:t>
            </a:r>
            <a:r>
              <a:rPr lang="en-US"/>
              <a:t> suggesting more likelihood of malignancy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a:t>
            </a:r>
            <a:r>
              <a:rPr lang="en-US">
                <a:sym typeface="+mn-ea"/>
              </a:rPr>
              <a:t>Solitary metastasis Nodule from head and neck Ca </a:t>
            </a:r>
            <a:r>
              <a:rPr lang="en-US"/>
              <a:t>at subpleural location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ct imgae showing nodule with Two pleural tails extend to the pleural surface. This apperence has been termed corona radiata or corona maligna. several lucencies within the nodule represent air brochograms or areas of pseudocavitation- Typical finding in adenocarcinoma and Brochioalveolar carcinoma.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image showing chest x ray and CT radiograps with nodule having lobulated margin.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image of invasive aspergillosis where (halo represent hemorrage surrounding the septic infarction)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Hrct image showing dense central nodule in brochioalveolar carcinoma surrounded by halo (In BAC halo reprsent the presence of lepidic tumor growth)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In benign nodule type of calciifcations are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image showing homogenous diffuse calcification-seen in healed granuloma or hamartoma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These image showing central calcifcation giving bull eye appearence seen in healed granuloma.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dirty="0">
                <a:effectLst>
                  <a:outerShdw blurRad="38100" dist="19050" dir="2700000" algn="tl" rotWithShape="0">
                    <a:schemeClr val="dk1">
                      <a:alpha val="40000"/>
                      <a:alpha val="40000"/>
                    </a:schemeClr>
                  </a:outerShdw>
                </a:effectLst>
                <a:sym typeface="+mn-ea"/>
              </a:rPr>
              <a:t>Image showing CONCENTRIC RINGS/LAMINATED/TARGET calcification : in Tb, fungal </a:t>
            </a:r>
            <a:r>
              <a:rPr lang="en-US" dirty="0" err="1">
                <a:effectLst>
                  <a:outerShdw blurRad="38100" dist="19050" dir="2700000" algn="tl" rotWithShape="0">
                    <a:schemeClr val="dk1">
                      <a:alpha val="40000"/>
                      <a:alpha val="40000"/>
                    </a:schemeClr>
                  </a:outerShdw>
                </a:effectLst>
                <a:sym typeface="+mn-ea"/>
              </a:rPr>
              <a:t>granulomas</a:t>
            </a:r>
            <a:br>
              <a:rPr lang="en-US" dirty="0">
                <a:effectLst>
                  <a:outerShdw blurRad="38100" dist="19050" dir="2700000" algn="tl" rotWithShape="0">
                    <a:schemeClr val="dk1">
                      <a:alpha val="40000"/>
                      <a:alpha val="40000"/>
                    </a:schemeClr>
                  </a:outerShdw>
                </a:effectLst>
                <a:sym typeface="+mn-ea"/>
              </a:rPr>
            </a:b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dirty="0">
                <a:effectLst>
                  <a:outerShdw blurRad="38100" dist="19050" dir="2700000" algn="tl" rotWithShape="0">
                    <a:schemeClr val="dk1">
                      <a:alpha val="40000"/>
                      <a:alpha val="40000"/>
                    </a:schemeClr>
                  </a:outerShdw>
                </a:effectLst>
                <a:sym typeface="+mn-ea"/>
              </a:rPr>
              <a:t>Image showing POPCORN CALCIFICATION  in </a:t>
            </a:r>
            <a:r>
              <a:rPr lang="en-US" dirty="0" err="1">
                <a:sym typeface="+mn-ea"/>
              </a:rPr>
              <a:t>Hamartomas and</a:t>
            </a:r>
            <a:r>
              <a:rPr lang="en-US" dirty="0">
                <a:sym typeface="+mn-ea"/>
              </a:rPr>
              <a:t> cartilage tumors</a:t>
            </a:r>
          </a:p>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Here are type of calcifcation seen in malignancy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Ct image showing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Fat seen in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showing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A showing benign cavitation with thin smooth wall</a:t>
            </a:r>
          </a:p>
          <a:p>
            <a:r>
              <a:rPr lang="en-US"/>
              <a:t>Image B showing Malignant calcification with thick and irregular wall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This is plain chest radiograph showing cavitatory lesion in left lung which has irrgular margins.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This is HRCT image of cavitatory adenocarcinoma showing the nodule containing an irregular cavity; lobulated in shape, notched, spiculated; and is associated with pleural tails. </a:t>
            </a:r>
            <a:endParaRPr lang="en-US" altLang="en-US"/>
          </a:p>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The wall of the cavity is irregular, with several thick nodular regions (as shown by white arrow). The cavity contains an air-fluid </a:t>
            </a:r>
            <a:endParaRPr lang="en-US" altLang="en-US"/>
          </a:p>
          <a:p>
            <a:r>
              <a:rPr lang="en-US" altLang="en-US">
                <a:sym typeface="+mn-ea"/>
              </a:rPr>
              <a:t>level (as shown by black arrows). This is uncommon in malignancy and may represent hemorrhage or superadded infection in malignancy. </a:t>
            </a:r>
            <a:endParaRPr lang="en-US" altLang="en-US"/>
          </a:p>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This image represents a case of pulmonary metastases from nasopharyngeal carcinoma, characterized by multiple nodules (indicated by arrows) demonstrating a feeding vessel sign.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showing mass lesion abutting the bronchus giving positive brochus sign.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contrast enhancement helps to differentiate benign vs malignant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after 15 min delay</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image showing </a:t>
            </a:r>
            <a:r>
              <a:rPr lang="en-US" dirty="0">
                <a:effectLst>
                  <a:outerShdw blurRad="38100" dist="19050" dir="2700000" algn="tl" rotWithShape="0">
                    <a:schemeClr val="dk1">
                      <a:alpha val="40000"/>
                      <a:alpha val="40000"/>
                    </a:schemeClr>
                  </a:outerShdw>
                </a:effectLst>
                <a:sym typeface="+mn-ea"/>
              </a:rPr>
              <a:t>Net enhancement of &gt; 25 HU with Washout of 5-31 HU </a:t>
            </a:r>
            <a:r>
              <a:rPr lang="en-US"/>
              <a:t>representing a malignant nodule.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this is a image showing Adenocarcinoma, that was not hypermetabolic on the PET, so it is a false negative on PET.</a:t>
            </a:r>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image showing Axial ct and PET CT with </a:t>
            </a:r>
            <a:r>
              <a:rPr lang="en-US" dirty="0">
                <a:sym typeface="+mn-ea"/>
              </a:rPr>
              <a:t>uptake of FDG in nodule.</a:t>
            </a:r>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Top row image: Ct image showing a lung nodule</a:t>
            </a:r>
          </a:p>
          <a:p>
            <a:r>
              <a:rPr lang="en-US"/>
              <a:t>Bottom row Thallium SPECT image: shown tracer uptake in that nodule. </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For solid nodule criteria is </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A there is a n</a:t>
            </a:r>
            <a:r>
              <a:rPr lang="en-IN" dirty="0">
                <a:sym typeface="+mn-ea"/>
              </a:rPr>
              <a:t>odule with eccentric calcifications </a:t>
            </a:r>
            <a:r>
              <a:rPr lang="en-US" altLang="en-IN" dirty="0">
                <a:sym typeface="+mn-ea"/>
              </a:rPr>
              <a:t>as shown by </a:t>
            </a:r>
            <a:r>
              <a:rPr lang="en-IN" dirty="0">
                <a:sym typeface="+mn-ea"/>
              </a:rPr>
              <a:t>arrow</a:t>
            </a:r>
            <a:r>
              <a:rPr lang="en-US" altLang="en-IN" dirty="0">
                <a:sym typeface="+mn-ea"/>
              </a:rPr>
              <a:t> </a:t>
            </a:r>
            <a:r>
              <a:rPr lang="en-IN" dirty="0">
                <a:sym typeface="+mn-ea"/>
              </a:rPr>
              <a:t>obstructing the posterior segmental bronchus of the right upper lobe. </a:t>
            </a:r>
          </a:p>
          <a:p>
            <a:r>
              <a:rPr lang="en-US"/>
              <a:t>Image B showing </a:t>
            </a:r>
            <a:r>
              <a:rPr lang="en-IN" dirty="0">
                <a:sym typeface="+mn-ea"/>
              </a:rPr>
              <a:t>High-resolution CT scan </a:t>
            </a:r>
            <a:r>
              <a:rPr lang="en-US" altLang="en-IN" dirty="0">
                <a:sym typeface="+mn-ea"/>
              </a:rPr>
              <a:t>with </a:t>
            </a:r>
            <a:r>
              <a:rPr lang="en-IN" dirty="0">
                <a:sym typeface="+mn-ea"/>
              </a:rPr>
              <a:t>a well-defined, round, partially </a:t>
            </a:r>
            <a:r>
              <a:rPr lang="en-IN" dirty="0" err="1">
                <a:solidFill>
                  <a:schemeClr val="accent3"/>
                </a:solidFill>
                <a:sym typeface="+mn-ea"/>
              </a:rPr>
              <a:t>endobronchial</a:t>
            </a:r>
            <a:r>
              <a:rPr lang="en-IN" dirty="0">
                <a:solidFill>
                  <a:schemeClr val="accent3"/>
                </a:solidFill>
                <a:sym typeface="+mn-ea"/>
              </a:rPr>
              <a:t> nodule </a:t>
            </a:r>
            <a:r>
              <a:rPr lang="en-US" altLang="en-IN" dirty="0">
                <a:solidFill>
                  <a:schemeClr val="accent3"/>
                </a:solidFill>
                <a:sym typeface="+mn-ea"/>
              </a:rPr>
              <a:t>shown by </a:t>
            </a:r>
            <a:r>
              <a:rPr lang="en-IN" dirty="0">
                <a:sym typeface="+mn-ea"/>
              </a:rPr>
              <a:t>arrow in the left upper lobe. </a:t>
            </a:r>
            <a:endParaRPr lang="en-IN" dirty="0"/>
          </a:p>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x ray image showing pulmonary hamartoma at periphery of lung with calcifications.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a:buFont typeface="Wingdings" panose="05000000000000000000" charset="0"/>
              <a:buChar char=""/>
            </a:pPr>
            <a:r>
              <a:rPr lang="en-US"/>
              <a:t>These are x ray images showing opacity which is </a:t>
            </a:r>
            <a:r>
              <a:rPr lang="en-US" dirty="0">
                <a:sym typeface="+mn-ea"/>
              </a:rPr>
              <a:t>Single Well defined with Regular outline suggesting </a:t>
            </a:r>
            <a:r>
              <a:rPr lang="en-US">
                <a:sym typeface="+mn-ea"/>
              </a:rPr>
              <a:t>grauloma </a:t>
            </a:r>
            <a:endParaRPr lang="en-US" dirty="0"/>
          </a:p>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x chest ray image showing </a:t>
            </a:r>
            <a:r>
              <a:rPr lang="en-US" altLang="en-US"/>
              <a:t>Confluent air space opacities in the medial parts of both upper zones, more on the left. Obliteration of the aortic arch silhouette. No pneumothorax, effusion seen. On biopsy proven as granulomatosis with polyangiitis.</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A showing </a:t>
            </a:r>
            <a:r>
              <a:rPr lang="en-US" dirty="0" err="1">
                <a:sym typeface="+mn-ea"/>
              </a:rPr>
              <a:t>Lobulated,well</a:t>
            </a:r>
            <a:r>
              <a:rPr lang="en-US" dirty="0">
                <a:sym typeface="+mn-ea"/>
              </a:rPr>
              <a:t> </a:t>
            </a:r>
            <a:r>
              <a:rPr lang="en-US" dirty="0" err="1">
                <a:sym typeface="+mn-ea"/>
              </a:rPr>
              <a:t>marginated</a:t>
            </a:r>
            <a:r>
              <a:rPr lang="en-US" dirty="0">
                <a:sym typeface="+mn-ea"/>
              </a:rPr>
              <a:t> nodule in the right lower lobe</a:t>
            </a:r>
          </a:p>
          <a:p>
            <a:r>
              <a:rPr lang="en-US" dirty="0">
                <a:sym typeface="+mn-ea"/>
              </a:rPr>
              <a:t>image B showing </a:t>
            </a:r>
            <a:r>
              <a:rPr lang="en-IN" dirty="0">
                <a:sym typeface="+mn-ea"/>
              </a:rPr>
              <a:t>Feeding artery </a:t>
            </a:r>
            <a:r>
              <a:rPr lang="en-US" altLang="en-IN" dirty="0">
                <a:sym typeface="+mn-ea"/>
              </a:rPr>
              <a:t>by </a:t>
            </a:r>
            <a:r>
              <a:rPr lang="en-IN" dirty="0">
                <a:sym typeface="+mn-ea"/>
              </a:rPr>
              <a:t>arrow</a:t>
            </a:r>
            <a:r>
              <a:rPr lang="en-US" altLang="en-IN" dirty="0">
                <a:sym typeface="+mn-ea"/>
              </a:rPr>
              <a:t> </a:t>
            </a:r>
            <a:r>
              <a:rPr lang="en-IN" dirty="0">
                <a:sym typeface="+mn-ea"/>
              </a:rPr>
              <a:t>and an enlarged draining vein </a:t>
            </a:r>
            <a:r>
              <a:rPr lang="en-US" altLang="en-IN" dirty="0">
                <a:sym typeface="+mn-ea"/>
              </a:rPr>
              <a:t>by </a:t>
            </a:r>
            <a:r>
              <a:rPr lang="en-IN" dirty="0">
                <a:sym typeface="+mn-ea"/>
              </a:rPr>
              <a:t>arrowhead.</a:t>
            </a:r>
            <a:endParaRPr lang="en-IN" dirty="0"/>
          </a:p>
          <a:p>
            <a:endParaRPr lang="en-US" b="0" dirty="0"/>
          </a:p>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Image A Ct image showing </a:t>
            </a:r>
            <a:r>
              <a:rPr lang="en-US" dirty="0" err="1">
                <a:sym typeface="+mn-ea"/>
              </a:rPr>
              <a:t>Nidus</a:t>
            </a:r>
            <a:r>
              <a:rPr lang="en-US" dirty="0">
                <a:sym typeface="+mn-ea"/>
              </a:rPr>
              <a:t> of malformation in right lung.</a:t>
            </a:r>
          </a:p>
          <a:p>
            <a:r>
              <a:rPr lang="en-US" dirty="0">
                <a:sym typeface="+mn-ea"/>
              </a:rPr>
              <a:t>Image B showing </a:t>
            </a:r>
            <a:r>
              <a:rPr lang="en-IN" dirty="0">
                <a:ln w="6600">
                  <a:solidFill>
                    <a:schemeClr val="accent2"/>
                  </a:solidFill>
                  <a:prstDash val="solid"/>
                </a:ln>
                <a:solidFill>
                  <a:srgbClr val="FFFFFF"/>
                </a:solidFill>
                <a:effectLst>
                  <a:outerShdw dist="38100" dir="2700000" algn="tl" rotWithShape="0">
                    <a:schemeClr val="accent2"/>
                  </a:outerShdw>
                </a:effectLst>
                <a:sym typeface="+mn-ea"/>
              </a:rPr>
              <a:t>Pulmonary angiogram </a:t>
            </a:r>
            <a:r>
              <a:rPr lang="en-IN" dirty="0">
                <a:sym typeface="+mn-ea"/>
              </a:rPr>
              <a:t>helps confirm </a:t>
            </a:r>
            <a:r>
              <a:rPr lang="en-IN" dirty="0" err="1">
                <a:sym typeface="+mn-ea"/>
              </a:rPr>
              <a:t>arteriovenous</a:t>
            </a:r>
            <a:r>
              <a:rPr lang="en-IN" dirty="0">
                <a:sym typeface="+mn-ea"/>
              </a:rPr>
              <a:t> malformation. </a:t>
            </a:r>
            <a:r>
              <a:rPr lang="en-US" altLang="en-IN" dirty="0">
                <a:sym typeface="+mn-ea"/>
              </a:rPr>
              <a:t>here we can seen </a:t>
            </a:r>
            <a:r>
              <a:rPr lang="en-IN" dirty="0">
                <a:sym typeface="+mn-ea"/>
              </a:rPr>
              <a:t>early draining vein </a:t>
            </a:r>
            <a:r>
              <a:rPr lang="en-US" altLang="en-IN" dirty="0">
                <a:sym typeface="+mn-ea"/>
              </a:rPr>
              <a:t>marked by </a:t>
            </a:r>
            <a:r>
              <a:rPr lang="en-IN" dirty="0">
                <a:sym typeface="+mn-ea"/>
              </a:rPr>
              <a:t>arrows</a:t>
            </a:r>
            <a:r>
              <a:rPr lang="en-US" altLang="en-IN" dirty="0">
                <a:sym typeface="+mn-ea"/>
              </a:rPr>
              <a:t>.</a:t>
            </a:r>
            <a:endParaRPr lang="en-US" dirty="0"/>
          </a:p>
          <a:p>
            <a:endParaRPr lang="en-US" dirty="0"/>
          </a:p>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 x ray chest image showing </a:t>
            </a:r>
            <a:r>
              <a:rPr lang="en-IN" dirty="0">
                <a:sym typeface="+mn-ea"/>
              </a:rPr>
              <a:t>poorly </a:t>
            </a:r>
            <a:r>
              <a:rPr lang="en-IN" dirty="0" err="1">
                <a:sym typeface="+mn-ea"/>
              </a:rPr>
              <a:t>marginated</a:t>
            </a:r>
            <a:r>
              <a:rPr lang="en-IN" dirty="0">
                <a:sym typeface="+mn-ea"/>
              </a:rPr>
              <a:t> nodule </a:t>
            </a:r>
            <a:r>
              <a:rPr lang="en-US" altLang="en-IN" dirty="0">
                <a:sym typeface="+mn-ea"/>
              </a:rPr>
              <a:t>at </a:t>
            </a:r>
            <a:r>
              <a:rPr lang="en-IN" dirty="0">
                <a:sym typeface="+mn-ea"/>
              </a:rPr>
              <a:t>peripher</a:t>
            </a:r>
            <a:r>
              <a:rPr lang="en-US" altLang="en-IN" dirty="0">
                <a:sym typeface="+mn-ea"/>
              </a:rPr>
              <a:t>y</a:t>
            </a:r>
            <a:r>
              <a:rPr lang="en-IN" dirty="0">
                <a:sym typeface="+mn-ea"/>
              </a:rPr>
              <a:t> </a:t>
            </a:r>
            <a:r>
              <a:rPr lang="en-US" altLang="en-IN" dirty="0">
                <a:sym typeface="+mn-ea"/>
              </a:rPr>
              <a:t>of </a:t>
            </a:r>
            <a:r>
              <a:rPr lang="en-IN" dirty="0">
                <a:sym typeface="+mn-ea"/>
              </a:rPr>
              <a:t>the </a:t>
            </a:r>
            <a:r>
              <a:rPr lang="en-US" altLang="en-IN" dirty="0">
                <a:sym typeface="+mn-ea"/>
              </a:rPr>
              <a:t>right </a:t>
            </a:r>
            <a:r>
              <a:rPr lang="en-IN" dirty="0">
                <a:sym typeface="+mn-ea"/>
              </a:rPr>
              <a:t>lower </a:t>
            </a:r>
            <a:r>
              <a:rPr lang="en-US" altLang="en-IN" dirty="0">
                <a:sym typeface="+mn-ea"/>
              </a:rPr>
              <a:t>lung zone.</a:t>
            </a:r>
            <a:endParaRPr lang="en-IN" dirty="0"/>
          </a:p>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is </a:t>
            </a:r>
            <a:r>
              <a:rPr lang="en-IN" b="1" dirty="0">
                <a:sym typeface="+mn-ea"/>
              </a:rPr>
              <a:t>Conventional </a:t>
            </a:r>
            <a:r>
              <a:rPr lang="en-IN" b="1" dirty="0" err="1">
                <a:sym typeface="+mn-ea"/>
              </a:rPr>
              <a:t>tomographic</a:t>
            </a:r>
            <a:r>
              <a:rPr lang="en-IN" b="1" dirty="0">
                <a:sym typeface="+mn-ea"/>
              </a:rPr>
              <a:t> scan of the chest in a lateral projection shows a large</a:t>
            </a:r>
            <a:r>
              <a:rPr lang="en-US" altLang="en-IN" b="1" dirty="0">
                <a:sym typeface="+mn-ea"/>
              </a:rPr>
              <a:t>mass</a:t>
            </a:r>
            <a:r>
              <a:rPr lang="en-IN" b="1" dirty="0">
                <a:sym typeface="+mn-ea"/>
              </a:rPr>
              <a:t> </a:t>
            </a:r>
            <a:r>
              <a:rPr lang="en-US" altLang="en-IN" b="1" dirty="0">
                <a:sym typeface="+mn-ea"/>
              </a:rPr>
              <a:t>by </a:t>
            </a:r>
            <a:r>
              <a:rPr lang="en-IN" b="1" dirty="0">
                <a:sym typeface="+mn-ea"/>
              </a:rPr>
              <a:t>arrowhead</a:t>
            </a:r>
            <a:r>
              <a:rPr lang="en-US" altLang="en-IN" b="1" dirty="0">
                <a:sym typeface="+mn-ea"/>
              </a:rPr>
              <a:t> </a:t>
            </a:r>
            <a:r>
              <a:rPr lang="en-IN" b="1" dirty="0">
                <a:solidFill>
                  <a:schemeClr val="accent1"/>
                </a:solidFill>
                <a:sym typeface="+mn-ea"/>
              </a:rPr>
              <a:t>in the right lower lobe of the lung. A curvilinear opacity </a:t>
            </a:r>
            <a:r>
              <a:rPr lang="en-US" altLang="en-IN" b="1" dirty="0">
                <a:solidFill>
                  <a:schemeClr val="accent1"/>
                </a:solidFill>
                <a:sym typeface="+mn-ea"/>
              </a:rPr>
              <a:t>mark by </a:t>
            </a:r>
            <a:r>
              <a:rPr lang="en-IN" b="1" dirty="0">
                <a:solidFill>
                  <a:schemeClr val="accent1"/>
                </a:solidFill>
                <a:sym typeface="+mn-ea"/>
              </a:rPr>
              <a:t>arrow, arises from the inferior pole of the mass and courses toward the </a:t>
            </a:r>
            <a:r>
              <a:rPr lang="en-IN" b="1" dirty="0" err="1">
                <a:solidFill>
                  <a:schemeClr val="accent1"/>
                </a:solidFill>
                <a:sym typeface="+mn-ea"/>
              </a:rPr>
              <a:t>hilum</a:t>
            </a:r>
            <a:r>
              <a:rPr lang="en-IN" dirty="0">
                <a:solidFill>
                  <a:schemeClr val="accent1"/>
                </a:solidFill>
                <a:sym typeface="+mn-ea"/>
              </a:rPr>
              <a:t>.</a:t>
            </a:r>
            <a:endParaRPr lang="en-IN" dirty="0">
              <a:solidFill>
                <a:schemeClr val="accent1"/>
              </a:solidFill>
            </a:endParaRPr>
          </a:p>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6/14/2026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6/14/2026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90204" pitchFamily="34" charset="0"/>
          <a:ea typeface="SimSun" pitchFamily="2" charset="-122"/>
        </a:defRPr>
      </a:lvl2pPr>
      <a:lvl3pPr algn="l" rtl="0" fontAlgn="base">
        <a:spcBef>
          <a:spcPct val="0"/>
        </a:spcBef>
        <a:spcAft>
          <a:spcPct val="0"/>
        </a:spcAft>
        <a:defRPr sz="3600">
          <a:solidFill>
            <a:schemeClr val="tx1"/>
          </a:solidFill>
          <a:latin typeface="Arial" panose="020B0604020202090204" pitchFamily="34" charset="0"/>
          <a:ea typeface="SimSun" pitchFamily="2" charset="-122"/>
        </a:defRPr>
      </a:lvl3pPr>
      <a:lvl4pPr algn="l" rtl="0" fontAlgn="base">
        <a:spcBef>
          <a:spcPct val="0"/>
        </a:spcBef>
        <a:spcAft>
          <a:spcPct val="0"/>
        </a:spcAft>
        <a:defRPr sz="3600">
          <a:solidFill>
            <a:schemeClr val="tx1"/>
          </a:solidFill>
          <a:latin typeface="Arial" panose="020B0604020202090204" pitchFamily="34" charset="0"/>
          <a:ea typeface="SimSun" pitchFamily="2" charset="-122"/>
        </a:defRPr>
      </a:lvl4pPr>
      <a:lvl5pPr algn="l" rtl="0" fontAlgn="base">
        <a:spcBef>
          <a:spcPct val="0"/>
        </a:spcBef>
        <a:spcAft>
          <a:spcPct val="0"/>
        </a:spcAft>
        <a:defRPr sz="3600">
          <a:solidFill>
            <a:schemeClr val="tx1"/>
          </a:solidFill>
          <a:latin typeface="Arial" panose="020B0604020202090204" pitchFamily="34" charset="0"/>
          <a:ea typeface="SimSun" pitchFamily="2" charset="-122"/>
        </a:defRPr>
      </a:lvl5pPr>
      <a:lvl6pPr marL="457200" algn="l" rtl="0" fontAlgn="base">
        <a:spcBef>
          <a:spcPct val="0"/>
        </a:spcBef>
        <a:spcAft>
          <a:spcPct val="0"/>
        </a:spcAft>
        <a:defRPr sz="3600">
          <a:solidFill>
            <a:schemeClr val="tx1"/>
          </a:solidFill>
          <a:latin typeface="Arial" panose="020B0604020202090204" pitchFamily="34" charset="0"/>
          <a:ea typeface="SimSun" pitchFamily="2" charset="-122"/>
        </a:defRPr>
      </a:lvl6pPr>
      <a:lvl7pPr marL="914400" algn="l" rtl="0" fontAlgn="base">
        <a:spcBef>
          <a:spcPct val="0"/>
        </a:spcBef>
        <a:spcAft>
          <a:spcPct val="0"/>
        </a:spcAft>
        <a:defRPr sz="3600">
          <a:solidFill>
            <a:schemeClr val="tx1"/>
          </a:solidFill>
          <a:latin typeface="Arial" panose="020B0604020202090204" pitchFamily="34" charset="0"/>
          <a:ea typeface="SimSun" pitchFamily="2" charset="-122"/>
        </a:defRPr>
      </a:lvl7pPr>
      <a:lvl8pPr marL="1371600" algn="l" rtl="0" fontAlgn="base">
        <a:spcBef>
          <a:spcPct val="0"/>
        </a:spcBef>
        <a:spcAft>
          <a:spcPct val="0"/>
        </a:spcAft>
        <a:defRPr sz="3600">
          <a:solidFill>
            <a:schemeClr val="tx1"/>
          </a:solidFill>
          <a:latin typeface="Arial" panose="020B0604020202090204" pitchFamily="34" charset="0"/>
          <a:ea typeface="SimSun" pitchFamily="2" charset="-122"/>
        </a:defRPr>
      </a:lvl8pPr>
      <a:lvl9pPr marL="1828800" algn="l" rtl="0" fontAlgn="base">
        <a:spcBef>
          <a:spcPct val="0"/>
        </a:spcBef>
        <a:spcAft>
          <a:spcPct val="0"/>
        </a:spcAft>
        <a:defRPr sz="3600">
          <a:solidFill>
            <a:schemeClr val="tx1"/>
          </a:solidFill>
          <a:latin typeface="Arial" panose="020B060402020209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10x.jpe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GIF"/><Relationship Id="rId5" Type="http://schemas.openxmlformats.org/officeDocument/2006/relationships/hyperlink" Target="http://radiographics.rsnajnls.org/content/vol20/issue1/images/large/g00ja03g25a.jpeg" TargetMode="External"/><Relationship Id="rId4" Type="http://schemas.openxmlformats.org/officeDocument/2006/relationships/image" Target="../media/image7.GIF"/></Relationships>
</file>

<file path=ppt/slides/_rels/slide14.xml.rels><?xml version="1.0" encoding="UTF-8" standalone="yes"?>
<Relationships xmlns="http://schemas.openxmlformats.org/package/2006/relationships"><Relationship Id="rId3" Type="http://schemas.openxmlformats.org/officeDocument/2006/relationships/hyperlink" Target="http://radiology.rsnajnls.org/content/vol235/issue1/images/large/r05ap08g01x.jpeg"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9.GIF"/></Relationships>
</file>

<file path=ppt/slides/_rels/slide15.xml.rels><?xml version="1.0" encoding="UTF-8" standalone="yes"?>
<Relationships xmlns="http://schemas.openxmlformats.org/package/2006/relationships"><Relationship Id="rId3" Type="http://schemas.openxmlformats.org/officeDocument/2006/relationships/hyperlink" Target="http://www.ajronline.org/content/vol180/issue4/images/large/04_AB1512_05.jpeg"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0.GI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28b.jpe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2.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21x.jpeg"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17.GIF"/><Relationship Id="rId5" Type="http://schemas.openxmlformats.org/officeDocument/2006/relationships/hyperlink" Target="http://radiographics.rsnajnls.org/content/vol20/issue1/images/large/g00ja03g22a.jpeg" TargetMode="External"/><Relationship Id="rId4" Type="http://schemas.openxmlformats.org/officeDocument/2006/relationships/image" Target="../media/image16.GIF"/></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radiology.rsnajnls.org/cgi/content/full/239/1/34/F11"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2.GIF"/><Relationship Id="rId5" Type="http://schemas.openxmlformats.org/officeDocument/2006/relationships/hyperlink" Target="http://radiographics.rsnajnls.org/content/vol20/issue1/images/large/g00ja03g25b.jpeg" TargetMode="External"/><Relationship Id="rId4" Type="http://schemas.openxmlformats.org/officeDocument/2006/relationships/image" Target="../media/image21.GI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20b.jpeg"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GI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radiology.rsnajnls.org/content/vol239/issue1/images/large/r06ap20g19x.jpeg"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25.GIF"/><Relationship Id="rId5" Type="http://schemas.openxmlformats.org/officeDocument/2006/relationships/hyperlink" Target="http://radiology.rsnajnls.org/content/vol239/issue1/images/large/r06ap20g18x.jpeg" TargetMode="External"/><Relationship Id="rId4" Type="http://schemas.openxmlformats.org/officeDocument/2006/relationships/image" Target="../media/image24.GIF"/></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www.ajronline.org/content/vol188/issue1/images/large/01_05_2131_03B.jpeg"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5.GI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8.GI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radiographics.rsnajnls.org/content/vol22/issue2/images/large/g02mr01g5a.jpeg" TargetMode="External"/><Relationship Id="rId2" Type="http://schemas.openxmlformats.org/officeDocument/2006/relationships/notesSlide" Target="../notesSlides/notesSlide66.xml"/><Relationship Id="rId1" Type="http://schemas.openxmlformats.org/officeDocument/2006/relationships/slideLayout" Target="../slideLayouts/slideLayout5.xml"/><Relationship Id="rId6" Type="http://schemas.openxmlformats.org/officeDocument/2006/relationships/image" Target="../media/image43.GIF"/><Relationship Id="rId5" Type="http://schemas.openxmlformats.org/officeDocument/2006/relationships/hyperlink" Target="http://radiographics.rsnajnls.org/content/vol22/issue2/images/large/g02mr01g6b.jpeg" TargetMode="External"/><Relationship Id="rId4" Type="http://schemas.openxmlformats.org/officeDocument/2006/relationships/image" Target="../media/image42.GI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2g3x.jpeg" TargetMode="External"/><Relationship Id="rId2" Type="http://schemas.openxmlformats.org/officeDocument/2006/relationships/notesSlide" Target="../notesSlides/notesSlide73.xml"/><Relationship Id="rId1" Type="http://schemas.openxmlformats.org/officeDocument/2006/relationships/slideLayout" Target="../slideLayouts/slideLayout4.xml"/><Relationship Id="rId4" Type="http://schemas.openxmlformats.org/officeDocument/2006/relationships/image" Target="../media/image47.GI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11a.jpeg" TargetMode="External"/><Relationship Id="rId2" Type="http://schemas.openxmlformats.org/officeDocument/2006/relationships/notesSlide" Target="../notesSlides/notesSlide78.xml"/><Relationship Id="rId1" Type="http://schemas.openxmlformats.org/officeDocument/2006/relationships/slideLayout" Target="../slideLayouts/slideLayout5.xml"/><Relationship Id="rId6" Type="http://schemas.openxmlformats.org/officeDocument/2006/relationships/image" Target="../media/image50.GIF"/><Relationship Id="rId5" Type="http://schemas.openxmlformats.org/officeDocument/2006/relationships/hyperlink" Target="http://radiographics.rsnajnls.org/content/vol20/issue1/images/large/g00ja03g11b.jpeg" TargetMode="External"/><Relationship Id="rId4" Type="http://schemas.openxmlformats.org/officeDocument/2006/relationships/image" Target="../media/image49.GIF"/></Relationships>
</file>

<file path=ppt/slides/_rels/slide81.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3g11c.jpeg" TargetMode="External"/><Relationship Id="rId2" Type="http://schemas.openxmlformats.org/officeDocument/2006/relationships/notesSlide" Target="../notesSlides/notesSlide79.xml"/><Relationship Id="rId1" Type="http://schemas.openxmlformats.org/officeDocument/2006/relationships/slideLayout" Target="../slideLayouts/slideLayout5.xml"/><Relationship Id="rId6" Type="http://schemas.openxmlformats.org/officeDocument/2006/relationships/image" Target="../media/image52.GIF"/><Relationship Id="rId5" Type="http://schemas.openxmlformats.org/officeDocument/2006/relationships/hyperlink" Target="http://radiographics.rsnajnls.org/content/vol20/issue1/images/large/g00ja03g11d.jpeg" TargetMode="External"/><Relationship Id="rId4" Type="http://schemas.openxmlformats.org/officeDocument/2006/relationships/image" Target="../media/image51.GIF"/></Relationships>
</file>

<file path=ppt/slides/_rels/slide82.xml.rels><?xml version="1.0" encoding="UTF-8" standalone="yes"?>
<Relationships xmlns="http://schemas.openxmlformats.org/package/2006/relationships"><Relationship Id="rId3" Type="http://schemas.openxmlformats.org/officeDocument/2006/relationships/hyperlink" Target="http://radiographics.rsnajnls.org/content/vol20/issue1/images/large/g00ja02g2a.jpeg" TargetMode="External"/><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53.GI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radiology.rsnajnls.org/cgi/content/full/213/2/553/F1" TargetMode="External"/><Relationship Id="rId2" Type="http://schemas.openxmlformats.org/officeDocument/2006/relationships/notesSlide" Target="../notesSlides/notesSlide84.xml"/><Relationship Id="rId1" Type="http://schemas.openxmlformats.org/officeDocument/2006/relationships/slideLayout" Target="../slideLayouts/slideLayout4.xml"/><Relationship Id="rId4" Type="http://schemas.openxmlformats.org/officeDocument/2006/relationships/image" Target="../media/image54.GI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4150" y="457200"/>
            <a:ext cx="8147050" cy="2387600"/>
          </a:xfrm>
        </p:spPr>
        <p:txBody>
          <a:bodyPr/>
          <a:lstStyle/>
          <a:p>
            <a:r>
              <a:rPr lang="en-US" sz="4800" dirty="0">
                <a:solidFill>
                  <a:schemeClr val="tx1"/>
                </a:solidFill>
                <a:effectLst>
                  <a:outerShdw blurRad="38100" dist="19050" dir="2700000" algn="tl" rotWithShape="0">
                    <a:schemeClr val="dk1">
                      <a:alpha val="40000"/>
                      <a:alpha val="40000"/>
                    </a:schemeClr>
                  </a:outerShdw>
                </a:effectLst>
              </a:rPr>
              <a:t>IMAGING OF SOLITARY PULMONARY NODULE (SPN)</a:t>
            </a:r>
          </a:p>
        </p:txBody>
      </p:sp>
      <p:sp>
        <p:nvSpPr>
          <p:cNvPr id="3" name="Subtitle 2"/>
          <p:cNvSpPr>
            <a:spLocks noGrp="1"/>
          </p:cNvSpPr>
          <p:nvPr>
            <p:ph type="subTitle" idx="1"/>
          </p:nvPr>
        </p:nvSpPr>
        <p:spPr>
          <a:xfrm>
            <a:off x="4511040" y="1972628"/>
            <a:ext cx="6858000" cy="1655762"/>
          </a:xfrm>
        </p:spPr>
        <p:txBody>
          <a:bodyPr/>
          <a:lstStyle/>
          <a:p>
            <a:endParaRPr lang="en-US" sz="2800" dirty="0">
              <a:solidFill>
                <a:schemeClr val="tx1"/>
              </a:solidFill>
              <a:effectLst>
                <a:outerShdw blurRad="38100" dist="19050" dir="2700000" algn="tl" rotWithShape="0">
                  <a:schemeClr val="dk1">
                    <a:alpha val="40000"/>
                    <a:alpha val="40000"/>
                  </a:schemeClr>
                </a:outerShdw>
              </a:effectLst>
            </a:endParaRPr>
          </a:p>
          <a:p>
            <a:r>
              <a:rPr lang="en-US" sz="2800" dirty="0">
                <a:solidFill>
                  <a:schemeClr val="tx1"/>
                </a:solidFill>
                <a:effectLst>
                  <a:outerShdw blurRad="38100" dist="19050" dir="2700000" algn="tl" rotWithShape="0">
                    <a:schemeClr val="dk1">
                      <a:alpha val="40000"/>
                      <a:alpha val="40000"/>
                    </a:schemeClr>
                  </a:outerShdw>
                </a:effectLst>
              </a:rPr>
              <a:t>PRESENTOR : Dr. Youpesh Kumar</a:t>
            </a:r>
          </a:p>
          <a:p>
            <a:endParaRPr lang="en-US" sz="2800" dirty="0">
              <a:solidFill>
                <a:schemeClr val="tx1"/>
              </a:solidFill>
              <a:effectLst>
                <a:outerShdw blurRad="38100" dist="19050" dir="2700000" algn="tl" rotWithShape="0">
                  <a:schemeClr val="dk1">
                    <a:alpha val="40000"/>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525" y="49911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DEFINITION</a:t>
            </a:r>
          </a:p>
        </p:txBody>
      </p:sp>
      <p:sp>
        <p:nvSpPr>
          <p:cNvPr id="3" name="Content Placeholder 2"/>
          <p:cNvSpPr>
            <a:spLocks noGrp="1"/>
          </p:cNvSpPr>
          <p:nvPr>
            <p:ph idx="1"/>
          </p:nvPr>
        </p:nvSpPr>
        <p:spPr/>
        <p:txBody>
          <a:bodyPr/>
          <a:lstStyle/>
          <a:p>
            <a:pPr>
              <a:buNone/>
            </a:pPr>
            <a:r>
              <a:rPr lang="en-US" dirty="0"/>
              <a:t>A solitary pulmonary nodules (SPN) usually is defined as a focal opacity on chest radiograph or CT, which has following criteria:</a:t>
            </a:r>
          </a:p>
          <a:p>
            <a:pPr>
              <a:buNone/>
            </a:pPr>
            <a:r>
              <a:rPr lang="en-US" dirty="0"/>
              <a:t>1. It is relatively well defined.</a:t>
            </a:r>
          </a:p>
          <a:p>
            <a:pPr>
              <a:buNone/>
            </a:pPr>
            <a:r>
              <a:rPr lang="en-US" dirty="0"/>
              <a:t>2. It is surrounded, at least partially, by lung.</a:t>
            </a:r>
          </a:p>
          <a:p>
            <a:pPr>
              <a:buNone/>
            </a:pPr>
            <a:r>
              <a:rPr lang="en-US" dirty="0"/>
              <a:t>3. It is roughly spherical in shape.</a:t>
            </a:r>
          </a:p>
          <a:p>
            <a:pPr>
              <a:buNone/>
            </a:pPr>
            <a:r>
              <a:rPr lang="en-US" dirty="0"/>
              <a:t>4. It is 3 cm or less in diameter.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7995"/>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IMAGING OF SPN</a:t>
            </a:r>
          </a:p>
        </p:txBody>
      </p:sp>
      <p:sp>
        <p:nvSpPr>
          <p:cNvPr id="3" name="Content Placeholder 2"/>
          <p:cNvSpPr>
            <a:spLocks noGrp="1"/>
          </p:cNvSpPr>
          <p:nvPr>
            <p:ph idx="1"/>
          </p:nvPr>
        </p:nvSpPr>
        <p:spPr>
          <a:xfrm>
            <a:off x="609600" y="1174750"/>
            <a:ext cx="10972800" cy="3397885"/>
          </a:xfrm>
        </p:spPr>
        <p:txBody>
          <a:bodyPr/>
          <a:lstStyle/>
          <a:p>
            <a:r>
              <a:rPr lang="en-US" dirty="0"/>
              <a:t>CHEST RADIOGRAPH</a:t>
            </a:r>
          </a:p>
          <a:p>
            <a:r>
              <a:rPr lang="en-US" dirty="0"/>
              <a:t>CT SCAN</a:t>
            </a:r>
          </a:p>
          <a:p>
            <a:r>
              <a:rPr lang="en-US" dirty="0"/>
              <a:t>MRI</a:t>
            </a:r>
          </a:p>
          <a:p>
            <a:r>
              <a:rPr lang="en-US" dirty="0"/>
              <a:t>FDG-PET / SPECT (Single photon emission CT)</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90" y="77343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SPURIOUS LESIONS ON CXR</a:t>
            </a:r>
          </a:p>
        </p:txBody>
      </p:sp>
      <p:sp>
        <p:nvSpPr>
          <p:cNvPr id="3" name="Content Placeholder 2"/>
          <p:cNvSpPr>
            <a:spLocks noGrp="1"/>
          </p:cNvSpPr>
          <p:nvPr>
            <p:ph idx="1"/>
          </p:nvPr>
        </p:nvSpPr>
        <p:spPr>
          <a:xfrm>
            <a:off x="1981200" y="1600200"/>
            <a:ext cx="8229600" cy="4693920"/>
          </a:xfrm>
        </p:spPr>
        <p:txBody>
          <a:bodyPr>
            <a:normAutofit lnSpcReduction="10000"/>
          </a:bodyPr>
          <a:lstStyle/>
          <a:p>
            <a:r>
              <a:rPr lang="en-US" dirty="0"/>
              <a:t>NIPPLE SHADOW</a:t>
            </a:r>
          </a:p>
          <a:p>
            <a:r>
              <a:rPr lang="en-US" dirty="0"/>
              <a:t>PLEURAL BASED LESIONS</a:t>
            </a:r>
          </a:p>
          <a:p>
            <a:r>
              <a:rPr lang="en-US" dirty="0"/>
              <a:t>CHEST WALL LESIONS</a:t>
            </a:r>
          </a:p>
          <a:p>
            <a:r>
              <a:rPr lang="en-US" dirty="0"/>
              <a:t>SKIN NODULES</a:t>
            </a:r>
          </a:p>
          <a:p>
            <a:r>
              <a:rPr lang="en-US" dirty="0"/>
              <a:t>ARTIFACTS DUE TO CLOTHING</a:t>
            </a:r>
          </a:p>
          <a:p>
            <a:r>
              <a:rPr lang="en-US" dirty="0"/>
              <a:t>SCREEN ARTIFACTS</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145" y="468630"/>
            <a:ext cx="10972800" cy="582613"/>
          </a:xfrm>
        </p:spPr>
        <p:txBody>
          <a:bodyPr>
            <a:normAutofit/>
          </a:bodyPr>
          <a:lstStyle/>
          <a:p>
            <a:r>
              <a:rPr lang="en-US" dirty="0">
                <a:solidFill>
                  <a:schemeClr val="tx1"/>
                </a:solidFill>
                <a:effectLst>
                  <a:outerShdw blurRad="38100" dist="19050" dir="2700000" algn="tl" rotWithShape="0">
                    <a:schemeClr val="dk1">
                      <a:alpha val="40000"/>
                      <a:alpha val="40000"/>
                    </a:schemeClr>
                  </a:outerShdw>
                </a:effectLst>
              </a:rPr>
              <a:t>MORPHOLOGICAL CHARACTERISTICS OF SPN</a:t>
            </a:r>
          </a:p>
        </p:txBody>
      </p:sp>
      <p:sp>
        <p:nvSpPr>
          <p:cNvPr id="3" name="Content Placeholder 2"/>
          <p:cNvSpPr>
            <a:spLocks noGrp="1"/>
          </p:cNvSpPr>
          <p:nvPr>
            <p:ph idx="1"/>
          </p:nvPr>
        </p:nvSpPr>
        <p:spPr/>
        <p:txBody>
          <a:bodyPr/>
          <a:lstStyle/>
          <a:p>
            <a:pPr marL="514350" indent="-514350">
              <a:buAutoNum type="arabicPeriod"/>
            </a:pPr>
            <a:r>
              <a:rPr lang="en-US" dirty="0"/>
              <a:t>SIZE: </a:t>
            </a:r>
            <a:r>
              <a:rPr lang="en-US" sz="2000" dirty="0"/>
              <a:t>maximum transverse diameter on CT</a:t>
            </a:r>
            <a:endParaRPr lang="en-US" dirty="0"/>
          </a:p>
          <a:p>
            <a:pPr marL="514350" indent="-514350">
              <a:buNone/>
            </a:pPr>
            <a:r>
              <a:rPr lang="en-US" sz="1600" dirty="0"/>
              <a:t>Significance:</a:t>
            </a:r>
          </a:p>
          <a:p>
            <a:r>
              <a:rPr lang="en-US" sz="1600" dirty="0"/>
              <a:t>&lt;6mm: very low malignancy risk</a:t>
            </a:r>
          </a:p>
          <a:p>
            <a:r>
              <a:rPr lang="en-US" sz="1600" dirty="0"/>
              <a:t>6-8mm: intermediate risk- require follow up</a:t>
            </a:r>
          </a:p>
          <a:p>
            <a:r>
              <a:rPr lang="en-US" sz="1600" dirty="0"/>
              <a:t>8mm- increased risk of malignancy-further evalaution needed.</a:t>
            </a:r>
          </a:p>
        </p:txBody>
      </p:sp>
      <p:graphicFrame>
        <p:nvGraphicFramePr>
          <p:cNvPr id="4" name="Table 3"/>
          <p:cNvGraphicFramePr>
            <a:graphicFrameLocks noGrp="1"/>
          </p:cNvGraphicFramePr>
          <p:nvPr/>
        </p:nvGraphicFramePr>
        <p:xfrm>
          <a:off x="4438015" y="3164205"/>
          <a:ext cx="5901690" cy="2408555"/>
        </p:xfrm>
        <a:graphic>
          <a:graphicData uri="http://schemas.openxmlformats.org/drawingml/2006/table">
            <a:tbl>
              <a:tblPr firstRow="1" bandRow="1">
                <a:tableStyleId>{5C22544A-7EE6-4342-B048-85BDC9FD1C3A}</a:tableStyleId>
              </a:tblPr>
              <a:tblGrid>
                <a:gridCol w="2950845">
                  <a:extLst>
                    <a:ext uri="{9D8B030D-6E8A-4147-A177-3AD203B41FA5}">
                      <a16:colId xmlns:a16="http://schemas.microsoft.com/office/drawing/2014/main" val="20000"/>
                    </a:ext>
                  </a:extLst>
                </a:gridCol>
                <a:gridCol w="2950845">
                  <a:extLst>
                    <a:ext uri="{9D8B030D-6E8A-4147-A177-3AD203B41FA5}">
                      <a16:colId xmlns:a16="http://schemas.microsoft.com/office/drawing/2014/main" val="20001"/>
                    </a:ext>
                  </a:extLst>
                </a:gridCol>
              </a:tblGrid>
              <a:tr h="413385">
                <a:tc>
                  <a:txBody>
                    <a:bodyPr/>
                    <a:lstStyle/>
                    <a:p>
                      <a:r>
                        <a:rPr lang="en-US" dirty="0"/>
                        <a:t>DIAMETER</a:t>
                      </a:r>
                    </a:p>
                  </a:txBody>
                  <a:tcPr/>
                </a:tc>
                <a:tc>
                  <a:txBody>
                    <a:bodyPr/>
                    <a:lstStyle/>
                    <a:p>
                      <a:r>
                        <a:rPr lang="en-US" dirty="0"/>
                        <a:t>MALIGNANCY</a:t>
                      </a:r>
                      <a:r>
                        <a:rPr lang="en-US" baseline="0" dirty="0"/>
                        <a:t> RATE</a:t>
                      </a:r>
                      <a:endParaRPr lang="en-US" dirty="0"/>
                    </a:p>
                  </a:txBody>
                  <a:tcPr/>
                </a:tc>
                <a:extLst>
                  <a:ext uri="{0D108BD9-81ED-4DB2-BD59-A6C34878D82A}">
                    <a16:rowId xmlns:a16="http://schemas.microsoft.com/office/drawing/2014/main" val="10000"/>
                  </a:ext>
                </a:extLst>
              </a:tr>
              <a:tr h="499110">
                <a:tc>
                  <a:txBody>
                    <a:bodyPr/>
                    <a:lstStyle/>
                    <a:p>
                      <a:r>
                        <a:rPr lang="en-US" dirty="0"/>
                        <a:t>&lt;1 CM</a:t>
                      </a:r>
                    </a:p>
                  </a:txBody>
                  <a:tcPr/>
                </a:tc>
                <a:tc>
                  <a:txBody>
                    <a:bodyPr/>
                    <a:lstStyle/>
                    <a:p>
                      <a:r>
                        <a:rPr lang="en-US" dirty="0"/>
                        <a:t>35 %</a:t>
                      </a:r>
                    </a:p>
                  </a:txBody>
                  <a:tcPr/>
                </a:tc>
                <a:extLst>
                  <a:ext uri="{0D108BD9-81ED-4DB2-BD59-A6C34878D82A}">
                    <a16:rowId xmlns:a16="http://schemas.microsoft.com/office/drawing/2014/main" val="10001"/>
                  </a:ext>
                </a:extLst>
              </a:tr>
              <a:tr h="497840">
                <a:tc>
                  <a:txBody>
                    <a:bodyPr/>
                    <a:lstStyle/>
                    <a:p>
                      <a:r>
                        <a:rPr lang="en-US" dirty="0"/>
                        <a:t>1-2 CM</a:t>
                      </a:r>
                    </a:p>
                  </a:txBody>
                  <a:tcPr/>
                </a:tc>
                <a:tc>
                  <a:txBody>
                    <a:bodyPr/>
                    <a:lstStyle/>
                    <a:p>
                      <a:r>
                        <a:rPr lang="en-US" dirty="0"/>
                        <a:t>50%</a:t>
                      </a:r>
                    </a:p>
                  </a:txBody>
                  <a:tcPr/>
                </a:tc>
                <a:extLst>
                  <a:ext uri="{0D108BD9-81ED-4DB2-BD59-A6C34878D82A}">
                    <a16:rowId xmlns:a16="http://schemas.microsoft.com/office/drawing/2014/main" val="10002"/>
                  </a:ext>
                </a:extLst>
              </a:tr>
              <a:tr h="499745">
                <a:tc>
                  <a:txBody>
                    <a:bodyPr/>
                    <a:lstStyle/>
                    <a:p>
                      <a:r>
                        <a:rPr lang="en-US" dirty="0"/>
                        <a:t>2-3CM</a:t>
                      </a:r>
                    </a:p>
                  </a:txBody>
                  <a:tcPr/>
                </a:tc>
                <a:tc>
                  <a:txBody>
                    <a:bodyPr/>
                    <a:lstStyle/>
                    <a:p>
                      <a:r>
                        <a:rPr lang="en-US" dirty="0"/>
                        <a:t>80%</a:t>
                      </a:r>
                    </a:p>
                  </a:txBody>
                  <a:tcPr/>
                </a:tc>
                <a:extLst>
                  <a:ext uri="{0D108BD9-81ED-4DB2-BD59-A6C34878D82A}">
                    <a16:rowId xmlns:a16="http://schemas.microsoft.com/office/drawing/2014/main" val="10003"/>
                  </a:ext>
                </a:extLst>
              </a:tr>
              <a:tr h="498475">
                <a:tc>
                  <a:txBody>
                    <a:bodyPr/>
                    <a:lstStyle/>
                    <a:p>
                      <a:r>
                        <a:rPr lang="en-US" dirty="0"/>
                        <a:t>&gt;3CM</a:t>
                      </a:r>
                    </a:p>
                  </a:txBody>
                  <a:tcPr/>
                </a:tc>
                <a:tc>
                  <a:txBody>
                    <a:bodyPr/>
                    <a:lstStyle/>
                    <a:p>
                      <a:r>
                        <a:rPr lang="en-US" dirty="0"/>
                        <a:t>97%</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01.29 AM"/>
          <p:cNvPicPr>
            <a:picLocks noChangeAspect="1"/>
          </p:cNvPicPr>
          <p:nvPr/>
        </p:nvPicPr>
        <p:blipFill>
          <a:blip r:embed="rId3"/>
          <a:stretch>
            <a:fillRect/>
          </a:stretch>
        </p:blipFill>
        <p:spPr>
          <a:xfrm>
            <a:off x="2353945" y="685800"/>
            <a:ext cx="3968750" cy="5055870"/>
          </a:xfrm>
          <a:prstGeom prst="rect">
            <a:avLst/>
          </a:prstGeom>
        </p:spPr>
      </p:pic>
      <p:sp>
        <p:nvSpPr>
          <p:cNvPr id="5" name="Text Box 4"/>
          <p:cNvSpPr txBox="1"/>
          <p:nvPr/>
        </p:nvSpPr>
        <p:spPr>
          <a:xfrm>
            <a:off x="7414895" y="3429000"/>
            <a:ext cx="4844415" cy="645160"/>
          </a:xfrm>
          <a:prstGeom prst="rect">
            <a:avLst/>
          </a:prstGeom>
          <a:noFill/>
        </p:spPr>
        <p:txBody>
          <a:bodyPr wrap="square" rtlCol="0">
            <a:spAutoFit/>
          </a:bodyPr>
          <a:lstStyle/>
          <a:p>
            <a:r>
              <a:rPr lang="en-US"/>
              <a:t>Right upper nodules repesenting an adenocarcinoma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8950" y="502920"/>
            <a:ext cx="8693785" cy="5623560"/>
          </a:xfrm>
        </p:spPr>
        <p:txBody>
          <a:bodyPr>
            <a:normAutofit/>
          </a:bodyPr>
          <a:lstStyle/>
          <a:p>
            <a:pPr>
              <a:buNone/>
            </a:pPr>
            <a:r>
              <a:rPr lang="en-US" dirty="0"/>
              <a:t>2.SHAPE</a:t>
            </a:r>
          </a:p>
          <a:p>
            <a:r>
              <a:rPr lang="en-US" sz="2400" dirty="0"/>
              <a:t>IRREGULAR/LOBULATED/NOTCHED- </a:t>
            </a:r>
            <a:r>
              <a:rPr lang="en-US" sz="2400" dirty="0">
                <a:sym typeface="+mn-ea"/>
              </a:rPr>
              <a:t>CARCINOMAS </a:t>
            </a:r>
            <a:endParaRPr lang="en-US" sz="2400" dirty="0"/>
          </a:p>
          <a:p>
            <a:r>
              <a:rPr lang="en-US" sz="2400" dirty="0"/>
              <a:t>ROUND/OVAL- Benign or malignant possible.</a:t>
            </a:r>
          </a:p>
          <a:p>
            <a:r>
              <a:rPr lang="en-US" sz="2400" dirty="0"/>
              <a:t>Polygonal/triangular-may suggest perifissural intrapulmonary nodule.</a:t>
            </a:r>
          </a:p>
          <a:p>
            <a:r>
              <a:rPr lang="en-US" sz="2400" dirty="0"/>
              <a:t>Linear/angular- Scar/atelectasis</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01.37 AM"/>
          <p:cNvPicPr>
            <a:picLocks noChangeAspect="1"/>
          </p:cNvPicPr>
          <p:nvPr/>
        </p:nvPicPr>
        <p:blipFill>
          <a:blip r:embed="rId3"/>
          <a:stretch>
            <a:fillRect/>
          </a:stretch>
        </p:blipFill>
        <p:spPr>
          <a:xfrm>
            <a:off x="4038600" y="381000"/>
            <a:ext cx="4185285" cy="54413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6060" y="581025"/>
            <a:ext cx="11619230" cy="4613910"/>
          </a:xfrm>
        </p:spPr>
        <p:txBody>
          <a:bodyPr>
            <a:normAutofit lnSpcReduction="20000"/>
          </a:bodyPr>
          <a:lstStyle/>
          <a:p>
            <a:pPr>
              <a:buNone/>
            </a:pPr>
            <a:r>
              <a:rPr lang="en-US" dirty="0"/>
              <a:t>3.LOCATION</a:t>
            </a:r>
          </a:p>
          <a:p>
            <a:r>
              <a:rPr lang="en-US" sz="2800" dirty="0"/>
              <a:t>CENTRAL TUMORS : SMALL CELL CA, SQUAMOUS CELL CA</a:t>
            </a:r>
          </a:p>
          <a:p>
            <a:r>
              <a:rPr lang="en-US" sz="2800" dirty="0"/>
              <a:t>PERIPHERAL TUMORS : ADENO CA, LARGE CELL CA</a:t>
            </a:r>
          </a:p>
          <a:p>
            <a:pPr marL="0" indent="0">
              <a:buNone/>
            </a:pPr>
            <a:r>
              <a:rPr lang="en-US" sz="2800" dirty="0"/>
              <a:t>Lobar distribution:</a:t>
            </a:r>
          </a:p>
          <a:p>
            <a:r>
              <a:rPr lang="en-US" sz="2800" dirty="0"/>
              <a:t>Upper lobe-Primary Lung cancer, TB</a:t>
            </a:r>
          </a:p>
          <a:p>
            <a:r>
              <a:rPr lang="en-US" sz="2800" dirty="0"/>
              <a:t>Lower Lobe- Metastasis, AVM, round atelectasis.</a:t>
            </a:r>
          </a:p>
          <a:p>
            <a:pPr marL="0" indent="0">
              <a:buNone/>
            </a:pPr>
            <a:endParaRPr lang="en-US" sz="2800" dirty="0"/>
          </a:p>
          <a:p>
            <a:pPr marL="0" indent="0">
              <a:buNone/>
            </a:pPr>
            <a:r>
              <a:rPr lang="en-US" sz="2800" dirty="0"/>
              <a:t>METASTASIS USUALLY AT BASAL AND SUBPLEURAL LOCATION</a:t>
            </a:r>
          </a:p>
          <a:p>
            <a:pPr marL="0" indent="0">
              <a:buNone/>
            </a:pPr>
            <a:r>
              <a:rPr lang="en-US" sz="2800" dirty="0"/>
              <a:t>BENIGN LESIONS ARE EQUALLY DISTRIBUTED THROUGHOUT THE LUNG</a:t>
            </a:r>
          </a:p>
          <a:p>
            <a:pPr>
              <a:buNone/>
            </a:pP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33.23 AM"/>
          <p:cNvPicPr>
            <a:picLocks noChangeAspect="1"/>
          </p:cNvPicPr>
          <p:nvPr/>
        </p:nvPicPr>
        <p:blipFill>
          <a:blip r:embed="rId3"/>
          <a:stretch>
            <a:fillRect/>
          </a:stretch>
        </p:blipFill>
        <p:spPr>
          <a:xfrm>
            <a:off x="4342765" y="762000"/>
            <a:ext cx="3648710" cy="5133975"/>
          </a:xfrm>
          <a:prstGeom prst="rect">
            <a:avLst/>
          </a:prstGeom>
        </p:spPr>
      </p:pic>
      <p:sp>
        <p:nvSpPr>
          <p:cNvPr id="6" name="Text Box 5"/>
          <p:cNvSpPr txBox="1"/>
          <p:nvPr/>
        </p:nvSpPr>
        <p:spPr>
          <a:xfrm>
            <a:off x="2085340" y="117475"/>
            <a:ext cx="5507355" cy="523240"/>
          </a:xfrm>
          <a:prstGeom prst="rect">
            <a:avLst/>
          </a:prstGeom>
          <a:noFill/>
        </p:spPr>
        <p:txBody>
          <a:bodyPr wrap="square" rtlCol="0">
            <a:no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790" y="451485"/>
            <a:ext cx="10546715" cy="4404995"/>
          </a:xfrm>
        </p:spPr>
        <p:txBody>
          <a:bodyPr>
            <a:normAutofit fontScale="70000"/>
          </a:bodyPr>
          <a:lstStyle/>
          <a:p>
            <a:pPr>
              <a:buNone/>
            </a:pPr>
            <a:r>
              <a:rPr lang="en-US" dirty="0"/>
              <a:t>4.EDGE CHARACTERSTICS</a:t>
            </a:r>
          </a:p>
          <a:p>
            <a:r>
              <a:rPr lang="en-US" dirty="0"/>
              <a:t>IRREGULAR/SPICULATED/LOBULATED: </a:t>
            </a:r>
            <a:r>
              <a:rPr lang="en-US" dirty="0">
                <a:sym typeface="+mn-ea"/>
              </a:rPr>
              <a:t>MALIGNANT </a:t>
            </a:r>
            <a:endParaRPr lang="en-US" dirty="0"/>
          </a:p>
          <a:p>
            <a:pPr>
              <a:buNone/>
            </a:pPr>
            <a:r>
              <a:rPr lang="en-US" dirty="0"/>
              <a:t>( spiculated-radial extension of the tumor cells seen along the </a:t>
            </a:r>
            <a:r>
              <a:rPr lang="en-US" dirty="0" err="1"/>
              <a:t>lymphatics</a:t>
            </a:r>
            <a:r>
              <a:rPr lang="en-US" dirty="0"/>
              <a:t>, small airways or blood vessels)</a:t>
            </a:r>
          </a:p>
          <a:p>
            <a:r>
              <a:rPr lang="en-US" dirty="0"/>
              <a:t>SMOOTH/SHARP: usually benign</a:t>
            </a:r>
          </a:p>
          <a:p>
            <a:r>
              <a:rPr lang="en-US" dirty="0"/>
              <a:t>ILL defined/ Fuzy: may indicate infection or inflammation.</a:t>
            </a:r>
          </a:p>
          <a:p>
            <a:r>
              <a:rPr lang="en-US" dirty="0"/>
              <a:t>Halo sign</a:t>
            </a:r>
          </a:p>
          <a:p>
            <a:r>
              <a:rPr lang="en-US" dirty="0"/>
              <a:t>Pleural reteraction-Malignancy</a:t>
            </a:r>
          </a:p>
          <a:p>
            <a:pPr>
              <a:buNone/>
            </a:pPr>
            <a:endParaRPr lang="en-US" dirty="0"/>
          </a:p>
          <a:p>
            <a:pPr>
              <a:buNone/>
            </a:pPr>
            <a:r>
              <a:rPr lang="en-US" dirty="0">
                <a:ln w="22225">
                  <a:solidFill>
                    <a:schemeClr val="accent2"/>
                  </a:solidFill>
                  <a:prstDash val="solid"/>
                </a:ln>
                <a:solidFill>
                  <a:schemeClr val="accent2">
                    <a:lumMod val="40000"/>
                    <a:lumOff val="60000"/>
                    <a:lumMod val="40000"/>
                    <a:lumOff val="60000"/>
                  </a:schemeClr>
                </a:solidFill>
                <a:effectLst/>
              </a:rPr>
              <a:t>Metastases and </a:t>
            </a:r>
            <a:r>
              <a:rPr lang="en-US" dirty="0" err="1">
                <a:ln w="22225">
                  <a:solidFill>
                    <a:schemeClr val="accent2"/>
                  </a:solidFill>
                  <a:prstDash val="solid"/>
                </a:ln>
                <a:solidFill>
                  <a:schemeClr val="accent2">
                    <a:lumMod val="40000"/>
                    <a:lumOff val="60000"/>
                    <a:lumMod val="40000"/>
                    <a:lumOff val="60000"/>
                  </a:schemeClr>
                </a:solidFill>
                <a:effectLst/>
              </a:rPr>
              <a:t>carcinoid</a:t>
            </a:r>
            <a:r>
              <a:rPr lang="en-US" dirty="0">
                <a:ln w="22225">
                  <a:solidFill>
                    <a:schemeClr val="accent2"/>
                  </a:solidFill>
                  <a:prstDash val="solid"/>
                </a:ln>
                <a:solidFill>
                  <a:schemeClr val="accent2">
                    <a:lumMod val="40000"/>
                    <a:lumOff val="60000"/>
                    <a:lumMod val="40000"/>
                    <a:lumOff val="60000"/>
                  </a:schemeClr>
                </a:solidFill>
                <a:effectLst/>
              </a:rPr>
              <a:t> tumors have sharp and smooth edges</a:t>
            </a:r>
          </a:p>
          <a:p>
            <a:pPr>
              <a:buNone/>
            </a:pPr>
            <a:endParaRPr lang="en-US" dirty="0">
              <a:ln w="22225">
                <a:solidFill>
                  <a:schemeClr val="accent2"/>
                </a:solidFill>
                <a:prstDash val="solid"/>
              </a:ln>
              <a:solidFill>
                <a:schemeClr val="accent2">
                  <a:lumMod val="40000"/>
                  <a:lumOff val="60000"/>
                  <a:lumMod val="40000"/>
                  <a:lumOff val="60000"/>
                </a:schemeClr>
              </a:solidFill>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13.21 AM"/>
          <p:cNvPicPr>
            <a:picLocks noChangeAspect="1"/>
          </p:cNvPicPr>
          <p:nvPr/>
        </p:nvPicPr>
        <p:blipFill>
          <a:blip r:embed="rId3"/>
          <a:stretch>
            <a:fillRect/>
          </a:stretch>
        </p:blipFill>
        <p:spPr>
          <a:xfrm>
            <a:off x="1906270" y="759460"/>
            <a:ext cx="5478780" cy="4598670"/>
          </a:xfrm>
          <a:prstGeom prst="rect">
            <a:avLst/>
          </a:prstGeom>
        </p:spPr>
      </p:pic>
      <p:sp>
        <p:nvSpPr>
          <p:cNvPr id="5" name="Text Box 4"/>
          <p:cNvSpPr txBox="1"/>
          <p:nvPr/>
        </p:nvSpPr>
        <p:spPr>
          <a:xfrm>
            <a:off x="7880985" y="4712970"/>
            <a:ext cx="4033520" cy="645160"/>
          </a:xfrm>
          <a:prstGeom prst="rect">
            <a:avLst/>
          </a:prstGeom>
          <a:noFill/>
        </p:spPr>
        <p:txBody>
          <a:bodyPr wrap="square" rtlCol="0">
            <a:spAutoFit/>
          </a:bodyPr>
          <a:lstStyle/>
          <a:p>
            <a:r>
              <a:rPr lang="en-US"/>
              <a:t>Adenocarcinoma with spiculated margin seen on 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6615" y="5372100"/>
            <a:ext cx="5137785" cy="582930"/>
          </a:xfrm>
        </p:spPr>
        <p:txBody>
          <a:bodyPr/>
          <a:lstStyle/>
          <a:p>
            <a:r>
              <a:rPr lang="en-US" sz="2800" dirty="0">
                <a:solidFill>
                  <a:schemeClr val="tx1"/>
                </a:solidFill>
                <a:effectLst>
                  <a:outerShdw blurRad="38100" dist="19050" dir="2700000" algn="tl" rotWithShape="0">
                    <a:schemeClr val="dk1">
                      <a:alpha val="40000"/>
                      <a:alpha val="40000"/>
                    </a:schemeClr>
                  </a:outerShdw>
                </a:effectLst>
              </a:rPr>
              <a:t>LOBULATED MARGINS</a:t>
            </a:r>
          </a:p>
        </p:txBody>
      </p:sp>
      <p:pic>
        <p:nvPicPr>
          <p:cNvPr id="4" name="Picture 2" descr=" ">
            <a:hlinkClick r:id="rId3"/>
          </p:cNvPr>
          <p:cNvPicPr>
            <a:picLocks noGrp="1" noChangeAspect="1" noChangeArrowheads="1"/>
          </p:cNvPicPr>
          <p:nvPr>
            <p:ph idx="1"/>
          </p:nvPr>
        </p:nvPicPr>
        <p:blipFill>
          <a:blip r:embed="rId4"/>
          <a:srcRect/>
          <a:stretch>
            <a:fillRect/>
          </a:stretch>
        </p:blipFill>
        <p:spPr bwMode="auto">
          <a:xfrm>
            <a:off x="1226186" y="1052195"/>
            <a:ext cx="3505200" cy="4191000"/>
          </a:xfrm>
          <a:prstGeom prst="rect">
            <a:avLst/>
          </a:prstGeom>
          <a:noFill/>
        </p:spPr>
      </p:pic>
      <p:pic>
        <p:nvPicPr>
          <p:cNvPr id="5" name="Picture 4" descr=" ">
            <a:hlinkClick r:id="rId5"/>
          </p:cNvPr>
          <p:cNvPicPr>
            <a:picLocks noChangeAspect="1" noChangeArrowheads="1"/>
          </p:cNvPicPr>
          <p:nvPr/>
        </p:nvPicPr>
        <p:blipFill>
          <a:blip r:embed="rId6"/>
          <a:srcRect/>
          <a:stretch>
            <a:fillRect/>
          </a:stretch>
        </p:blipFill>
        <p:spPr bwMode="auto">
          <a:xfrm>
            <a:off x="5822950" y="1052195"/>
            <a:ext cx="3241040" cy="421894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8105" y="473710"/>
            <a:ext cx="11713845" cy="959485"/>
          </a:xfrm>
        </p:spPr>
        <p:txBody>
          <a:bodyPr>
            <a:noAutofit/>
          </a:bodyPr>
          <a:lstStyle/>
          <a:p>
            <a:r>
              <a:rPr lang="en-US" sz="1700" dirty="0">
                <a:solidFill>
                  <a:schemeClr val="tx1"/>
                </a:solidFill>
                <a:effectLst>
                  <a:outerShdw blurRad="38100" dist="19050" dir="2700000" algn="tl" rotWithShape="0">
                    <a:schemeClr val="dk1">
                      <a:alpha val="40000"/>
                      <a:alpha val="40000"/>
                    </a:schemeClr>
                  </a:outerShdw>
                </a:effectLst>
              </a:rPr>
              <a:t>CORONA RADIATA/CORONA MALIGNA</a:t>
            </a:r>
          </a:p>
          <a:p>
            <a:pPr>
              <a:buNone/>
            </a:pPr>
            <a:r>
              <a:rPr lang="en-US" sz="1700" dirty="0">
                <a:solidFill>
                  <a:schemeClr val="tx1"/>
                </a:solidFill>
                <a:effectLst>
                  <a:outerShdw blurRad="38100" dist="19050" dir="2700000" algn="tl" rotWithShape="0">
                    <a:schemeClr val="dk1">
                      <a:alpha val="40000"/>
                      <a:alpha val="40000"/>
                    </a:schemeClr>
                  </a:outerShdw>
                </a:effectLst>
              </a:rPr>
              <a:t>    Presence of </a:t>
            </a:r>
            <a:r>
              <a:rPr lang="en-US" sz="1700" dirty="0" err="1">
                <a:solidFill>
                  <a:schemeClr val="tx1"/>
                </a:solidFill>
                <a:effectLst>
                  <a:outerShdw blurRad="38100" dist="19050" dir="2700000" algn="tl" rotWithShape="0">
                    <a:schemeClr val="dk1">
                      <a:alpha val="40000"/>
                      <a:alpha val="40000"/>
                    </a:schemeClr>
                  </a:outerShdw>
                </a:effectLst>
              </a:rPr>
              <a:t>spiculation</a:t>
            </a:r>
            <a:r>
              <a:rPr lang="en-US" sz="1700" dirty="0">
                <a:solidFill>
                  <a:schemeClr val="tx1"/>
                </a:solidFill>
                <a:effectLst>
                  <a:outerShdw blurRad="38100" dist="19050" dir="2700000" algn="tl" rotWithShape="0">
                    <a:schemeClr val="dk1">
                      <a:alpha val="40000"/>
                      <a:alpha val="40000"/>
                    </a:schemeClr>
                  </a:outerShdw>
                </a:effectLst>
              </a:rPr>
              <a:t> associated with a nodule or a mass : </a:t>
            </a:r>
            <a:r>
              <a:rPr lang="en-US" sz="1700" dirty="0" err="1">
                <a:solidFill>
                  <a:schemeClr val="tx1"/>
                </a:solidFill>
                <a:effectLst>
                  <a:outerShdw blurRad="38100" dist="19050" dir="2700000" algn="tl" rotWithShape="0">
                    <a:schemeClr val="dk1">
                      <a:alpha val="40000"/>
                      <a:alpha val="40000"/>
                    </a:schemeClr>
                  </a:outerShdw>
                </a:effectLst>
              </a:rPr>
              <a:t>fine,linear</a:t>
            </a:r>
            <a:r>
              <a:rPr lang="en-US" sz="1700" dirty="0">
                <a:solidFill>
                  <a:schemeClr val="tx1"/>
                </a:solidFill>
                <a:effectLst>
                  <a:outerShdw blurRad="38100" dist="19050" dir="2700000" algn="tl" rotWithShape="0">
                    <a:schemeClr val="dk1">
                      <a:alpha val="40000"/>
                      <a:alpha val="40000"/>
                    </a:schemeClr>
                  </a:outerShdw>
                </a:effectLst>
              </a:rPr>
              <a:t> strands extending outward due to fibrosis surrounding the tumor/</a:t>
            </a:r>
            <a:r>
              <a:rPr lang="en-US" sz="1700" dirty="0" err="1">
                <a:solidFill>
                  <a:schemeClr val="tx1"/>
                </a:solidFill>
                <a:effectLst>
                  <a:outerShdw blurRad="38100" dist="19050" dir="2700000" algn="tl" rotWithShape="0">
                    <a:schemeClr val="dk1">
                      <a:alpha val="40000"/>
                      <a:alpha val="40000"/>
                    </a:schemeClr>
                  </a:outerShdw>
                </a:effectLst>
              </a:rPr>
              <a:t>desmoplastic</a:t>
            </a:r>
            <a:r>
              <a:rPr lang="en-US" sz="1700" dirty="0">
                <a:solidFill>
                  <a:schemeClr val="tx1"/>
                </a:solidFill>
                <a:effectLst>
                  <a:outerShdw blurRad="38100" dist="19050" dir="2700000" algn="tl" rotWithShape="0">
                    <a:schemeClr val="dk1">
                      <a:alpha val="40000"/>
                      <a:alpha val="40000"/>
                    </a:schemeClr>
                  </a:outerShdw>
                </a:effectLst>
              </a:rPr>
              <a:t> reaction</a:t>
            </a:r>
          </a:p>
        </p:txBody>
      </p:sp>
      <p:pic>
        <p:nvPicPr>
          <p:cNvPr id="6" name="Picture 4" descr=" ">
            <a:hlinkClick r:id="rId3"/>
          </p:cNvPr>
          <p:cNvPicPr>
            <a:picLocks noGrp="1" noChangeAspect="1" noChangeArrowheads="1"/>
          </p:cNvPicPr>
          <p:nvPr>
            <p:ph sz="half" idx="2"/>
          </p:nvPr>
        </p:nvPicPr>
        <p:blipFill>
          <a:blip r:embed="rId4"/>
          <a:srcRect/>
          <a:stretch>
            <a:fillRect/>
          </a:stretch>
        </p:blipFill>
        <p:spPr bwMode="auto">
          <a:xfrm>
            <a:off x="3365500" y="1581150"/>
            <a:ext cx="4872990" cy="450088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15900" y="708025"/>
            <a:ext cx="11819255" cy="1123950"/>
          </a:xfrm>
        </p:spPr>
        <p:txBody>
          <a:bodyPr/>
          <a:lstStyle/>
          <a:p>
            <a:r>
              <a:rPr lang="en-US" sz="2000" dirty="0">
                <a:solidFill>
                  <a:schemeClr val="tx1"/>
                </a:solidFill>
                <a:effectLst>
                  <a:outerShdw blurRad="38100" dist="19050" dir="2700000" algn="tl" rotWithShape="0">
                    <a:schemeClr val="dk1">
                      <a:alpha val="40000"/>
                      <a:alpha val="40000"/>
                    </a:schemeClr>
                  </a:outerShdw>
                </a:effectLst>
              </a:rPr>
              <a:t>PLEURAL TAIL</a:t>
            </a:r>
          </a:p>
          <a:p>
            <a:pPr>
              <a:buNone/>
            </a:pPr>
            <a:r>
              <a:rPr lang="en-US" sz="2000" dirty="0">
                <a:solidFill>
                  <a:schemeClr val="tx1"/>
                </a:solidFill>
                <a:effectLst>
                  <a:outerShdw blurRad="38100" dist="19050" dir="2700000" algn="tl" rotWithShape="0">
                    <a:schemeClr val="dk1">
                      <a:alpha val="40000"/>
                      <a:alpha val="40000"/>
                    </a:schemeClr>
                  </a:outerShdw>
                </a:effectLst>
              </a:rPr>
              <a:t>Carcinomas have a thin linear opacity extending from the edge of a nodule to the pleural surface : due to fibrosis</a:t>
            </a:r>
          </a:p>
          <a:p>
            <a:pPr>
              <a:buNone/>
            </a:pPr>
            <a:r>
              <a:rPr lang="en-US" sz="2000" dirty="0">
                <a:ln w="22225">
                  <a:solidFill>
                    <a:schemeClr val="accent2"/>
                  </a:solidFill>
                  <a:prstDash val="solid"/>
                </a:ln>
                <a:solidFill>
                  <a:schemeClr val="accent2">
                    <a:lumMod val="40000"/>
                    <a:lumOff val="60000"/>
                    <a:lumMod val="40000"/>
                    <a:lumOff val="60000"/>
                  </a:schemeClr>
                </a:solidFill>
                <a:effectLst/>
              </a:rPr>
              <a:t>Can be seen in benign lesions too  (in Various granulomatous disease)</a:t>
            </a:r>
          </a:p>
          <a:p>
            <a:endParaRPr lang="en-US" sz="2000" dirty="0">
              <a:ln w="22225">
                <a:solidFill>
                  <a:schemeClr val="accent2"/>
                </a:solidFill>
                <a:prstDash val="solid"/>
              </a:ln>
              <a:solidFill>
                <a:schemeClr val="accent2">
                  <a:lumMod val="40000"/>
                  <a:lumOff val="60000"/>
                  <a:lumMod val="40000"/>
                  <a:lumOff val="60000"/>
                </a:schemeClr>
              </a:solidFill>
              <a:effectLst/>
            </a:endParaRPr>
          </a:p>
        </p:txBody>
      </p:sp>
      <p:pic>
        <p:nvPicPr>
          <p:cNvPr id="6" name="Picture 2" descr=" ">
            <a:hlinkClick r:id="rId3"/>
          </p:cNvPr>
          <p:cNvPicPr>
            <a:picLocks noGrp="1" noChangeAspect="1" noChangeArrowheads="1"/>
          </p:cNvPicPr>
          <p:nvPr>
            <p:ph sz="half" idx="2"/>
          </p:nvPr>
        </p:nvPicPr>
        <p:blipFill>
          <a:blip r:embed="rId4"/>
          <a:srcRect/>
          <a:stretch>
            <a:fillRect/>
          </a:stretch>
        </p:blipFill>
        <p:spPr bwMode="auto">
          <a:xfrm>
            <a:off x="6096000" y="2275840"/>
            <a:ext cx="4130040" cy="372681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05" y="1046480"/>
            <a:ext cx="11764010" cy="3616325"/>
          </a:xfrm>
        </p:spPr>
        <p:txBody>
          <a:bodyPr/>
          <a:lstStyle/>
          <a:p>
            <a:pPr marL="0" indent="0">
              <a:buNone/>
            </a:pPr>
            <a:r>
              <a:rPr lang="en-US" sz="4000" dirty="0">
                <a:solidFill>
                  <a:schemeClr val="tx1"/>
                </a:solidFill>
                <a:effectLst>
                  <a:outerShdw blurRad="38100" dist="19050" dir="2700000" algn="tl" rotWithShape="0">
                    <a:schemeClr val="dk1">
                      <a:alpha val="40000"/>
                      <a:alpha val="40000"/>
                    </a:schemeClr>
                  </a:outerShdw>
                </a:effectLst>
              </a:rPr>
              <a:t>HALO SIGN</a:t>
            </a:r>
          </a:p>
          <a:p>
            <a:pPr marL="0" indent="0">
              <a:buFont typeface="Wingdings" panose="05000000000000000000" pitchFamily="2" charset="2"/>
              <a:buNone/>
            </a:pPr>
            <a:r>
              <a:rPr lang="en-US" sz="2800" dirty="0"/>
              <a:t>Halo of ground glass opacity surrounding a nodule</a:t>
            </a:r>
          </a:p>
          <a:p>
            <a:pPr marL="0" indent="0">
              <a:buFont typeface="Wingdings" panose="05000000000000000000" pitchFamily="2" charset="2"/>
              <a:buNone/>
            </a:pPr>
            <a:r>
              <a:rPr lang="en-US" sz="2800" dirty="0"/>
              <a:t>Seen in:</a:t>
            </a:r>
          </a:p>
          <a:p>
            <a:pPr>
              <a:buFont typeface="Wingdings" panose="05000000000000000000" pitchFamily="2" charset="2"/>
              <a:buChar char="ü"/>
            </a:pPr>
            <a:r>
              <a:rPr lang="en-US" sz="2800" dirty="0"/>
              <a:t>Leukemic patients with invasive </a:t>
            </a:r>
            <a:r>
              <a:rPr lang="en-US" sz="2800" dirty="0" err="1"/>
              <a:t>aspergillosis</a:t>
            </a:r>
            <a:r>
              <a:rPr lang="en-US" sz="2800" dirty="0"/>
              <a:t> due to </a:t>
            </a:r>
            <a:r>
              <a:rPr lang="en-US" sz="2800" dirty="0" err="1"/>
              <a:t>haemorrage.</a:t>
            </a:r>
          </a:p>
          <a:p>
            <a:pPr>
              <a:buFont typeface="Wingdings" panose="05000000000000000000" pitchFamily="2" charset="2"/>
              <a:buChar char="ü"/>
            </a:pPr>
            <a:r>
              <a:rPr lang="en-US" sz="2800" dirty="0"/>
              <a:t> Bronchioalveolar Carcinoma due to </a:t>
            </a:r>
            <a:r>
              <a:rPr lang="en-US" sz="2800" dirty="0" err="1"/>
              <a:t>lepidic</a:t>
            </a:r>
            <a:r>
              <a:rPr lang="en-US" sz="2800" dirty="0"/>
              <a:t> spread of tumor.</a:t>
            </a:r>
          </a:p>
          <a:p>
            <a:pPr>
              <a:buFont typeface="Wingdings" panose="05000000000000000000" pitchFamily="2" charset="2"/>
              <a:buChar char="ü"/>
            </a:pPr>
            <a:r>
              <a:rPr lang="en-US" sz="2800" dirty="0"/>
              <a:t> W</a:t>
            </a:r>
            <a:r>
              <a:rPr lang="en-US" sz="2800" dirty="0" err="1"/>
              <a:t>egeners</a:t>
            </a:r>
            <a:r>
              <a:rPr lang="en-US" sz="2800" dirty="0"/>
              <a:t> </a:t>
            </a:r>
            <a:r>
              <a:rPr lang="en-US" sz="2800" dirty="0" err="1"/>
              <a:t>granulomatosis </a:t>
            </a:r>
          </a:p>
          <a:p>
            <a:pPr>
              <a:buFont typeface="Wingdings" panose="05000000000000000000" pitchFamily="2" charset="2"/>
              <a:buChar char="ü"/>
            </a:pPr>
            <a:r>
              <a:rPr lang="en-US" sz="2800" dirty="0" err="1"/>
              <a:t>Tuberculoma</a:t>
            </a:r>
            <a:endParaRPr lang="en-US" sz="2800" dirty="0"/>
          </a:p>
          <a:p>
            <a:pPr>
              <a:buNone/>
            </a:pP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43.27 AM"/>
          <p:cNvPicPr>
            <a:picLocks noChangeAspect="1"/>
          </p:cNvPicPr>
          <p:nvPr/>
        </p:nvPicPr>
        <p:blipFill>
          <a:blip r:embed="rId3"/>
          <a:stretch>
            <a:fillRect/>
          </a:stretch>
        </p:blipFill>
        <p:spPr>
          <a:xfrm>
            <a:off x="3699510" y="608330"/>
            <a:ext cx="4777740" cy="4632960"/>
          </a:xfrm>
          <a:prstGeom prst="rect">
            <a:avLst/>
          </a:prstGeom>
        </p:spPr>
      </p:pic>
      <p:sp>
        <p:nvSpPr>
          <p:cNvPr id="5" name="Text Box 4"/>
          <p:cNvSpPr txBox="1"/>
          <p:nvPr/>
        </p:nvSpPr>
        <p:spPr>
          <a:xfrm>
            <a:off x="3936365" y="5499100"/>
            <a:ext cx="4540885" cy="368300"/>
          </a:xfrm>
          <a:prstGeom prst="rect">
            <a:avLst/>
          </a:prstGeom>
          <a:noFill/>
        </p:spPr>
        <p:txBody>
          <a:bodyPr wrap="square" rtlCol="0">
            <a:spAutoFit/>
          </a:bodyPr>
          <a:lstStyle/>
          <a:p>
            <a:r>
              <a:rPr lang="en-US">
                <a:sym typeface="+mn-ea"/>
              </a:rPr>
              <a:t>Halo sign in invasive asperigillosis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1 at 11.43.36 AM"/>
          <p:cNvPicPr>
            <a:picLocks noChangeAspect="1"/>
          </p:cNvPicPr>
          <p:nvPr/>
        </p:nvPicPr>
        <p:blipFill>
          <a:blip r:embed="rId3"/>
          <a:stretch>
            <a:fillRect/>
          </a:stretch>
        </p:blipFill>
        <p:spPr>
          <a:xfrm>
            <a:off x="3714115" y="423545"/>
            <a:ext cx="4262120" cy="4611370"/>
          </a:xfrm>
          <a:prstGeom prst="rect">
            <a:avLst/>
          </a:prstGeom>
        </p:spPr>
      </p:pic>
      <p:sp>
        <p:nvSpPr>
          <p:cNvPr id="5" name="Text Box 4"/>
          <p:cNvSpPr txBox="1"/>
          <p:nvPr/>
        </p:nvSpPr>
        <p:spPr>
          <a:xfrm>
            <a:off x="3964940" y="5375275"/>
            <a:ext cx="4262755" cy="368300"/>
          </a:xfrm>
          <a:prstGeom prst="rect">
            <a:avLst/>
          </a:prstGeom>
          <a:noFill/>
        </p:spPr>
        <p:txBody>
          <a:bodyPr wrap="square" rtlCol="0">
            <a:spAutoFit/>
          </a:bodyPr>
          <a:lstStyle/>
          <a:p>
            <a:r>
              <a:rPr lang="en-US">
                <a:sym typeface="+mn-ea"/>
              </a:rPr>
              <a:t>Halo sign in Brochioalveolar carcinoma</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885" y="1257300"/>
            <a:ext cx="11830685" cy="4870450"/>
          </a:xfrm>
        </p:spPr>
        <p:txBody>
          <a:bodyPr/>
          <a:lstStyle/>
          <a:p>
            <a:pPr marL="0" indent="0">
              <a:buNone/>
            </a:pPr>
            <a:r>
              <a:rPr lang="en-US">
                <a:ln w="22225">
                  <a:solidFill>
                    <a:schemeClr val="accent2"/>
                  </a:solidFill>
                  <a:prstDash val="solid"/>
                </a:ln>
                <a:solidFill>
                  <a:schemeClr val="accent2">
                    <a:lumMod val="40000"/>
                    <a:lumOff val="60000"/>
                    <a:lumMod val="40000"/>
                    <a:lumOff val="60000"/>
                  </a:schemeClr>
                </a:solidFill>
                <a:effectLst/>
              </a:rPr>
              <a:t>1. Attenuation: </a:t>
            </a:r>
          </a:p>
          <a:p>
            <a:pPr marL="0" indent="0">
              <a:buNone/>
            </a:pPr>
            <a:r>
              <a:rPr lang="en-US" sz="1800">
                <a:solidFill>
                  <a:schemeClr val="tx1"/>
                </a:solidFill>
                <a:effectLst>
                  <a:outerShdw blurRad="38100" dist="19050" dir="2700000" algn="tl" rotWithShape="0">
                    <a:schemeClr val="dk1">
                      <a:alpha val="40000"/>
                      <a:alpha val="40000"/>
                    </a:schemeClr>
                  </a:outerShdw>
                </a:effectLst>
              </a:rPr>
              <a:t>Solid nodule:</a:t>
            </a:r>
          </a:p>
          <a:p>
            <a:r>
              <a:rPr lang="en-US" sz="1800">
                <a:solidFill>
                  <a:schemeClr val="tx1"/>
                </a:solidFill>
                <a:effectLst>
                  <a:outerShdw blurRad="38100" dist="19050" dir="2700000" algn="tl" rotWithShape="0">
                    <a:schemeClr val="dk1">
                      <a:alpha val="40000"/>
                      <a:alpha val="40000"/>
                    </a:schemeClr>
                  </a:outerShdw>
                </a:effectLst>
              </a:rPr>
              <a:t>Homogenous soft tissue denity completely obscuring lung parenchyma behind.</a:t>
            </a:r>
          </a:p>
          <a:p>
            <a:r>
              <a:rPr lang="en-US" sz="1800">
                <a:solidFill>
                  <a:schemeClr val="tx1"/>
                </a:solidFill>
                <a:effectLst>
                  <a:outerShdw blurRad="38100" dist="19050" dir="2700000" algn="tl" rotWithShape="0">
                    <a:schemeClr val="dk1">
                      <a:alpha val="40000"/>
                      <a:alpha val="40000"/>
                    </a:schemeClr>
                  </a:outerShdw>
                </a:effectLst>
              </a:rPr>
              <a:t>Most common type of SPN.</a:t>
            </a:r>
          </a:p>
          <a:p>
            <a:r>
              <a:rPr lang="en-US" sz="1800">
                <a:solidFill>
                  <a:schemeClr val="tx1"/>
                </a:solidFill>
                <a:effectLst>
                  <a:outerShdw blurRad="38100" dist="19050" dir="2700000" algn="tl" rotWithShape="0">
                    <a:schemeClr val="dk1">
                      <a:alpha val="40000"/>
                      <a:alpha val="40000"/>
                    </a:schemeClr>
                  </a:outerShdw>
                </a:effectLst>
              </a:rPr>
              <a:t>can be benign or malignant.</a:t>
            </a:r>
          </a:p>
          <a:p>
            <a:endParaRPr lang="en-US" sz="1800">
              <a:solidFill>
                <a:schemeClr val="tx1"/>
              </a:solidFill>
              <a:effectLst>
                <a:outerShdw blurRad="38100" dist="19050" dir="2700000" algn="tl" rotWithShape="0">
                  <a:schemeClr val="dk1">
                    <a:alpha val="40000"/>
                    <a:alpha val="40000"/>
                  </a:schemeClr>
                </a:outerShdw>
              </a:effectLst>
            </a:endParaRPr>
          </a:p>
          <a:p>
            <a:pPr marL="0" indent="0">
              <a:buNone/>
            </a:pPr>
            <a:r>
              <a:rPr lang="en-US" sz="1800">
                <a:solidFill>
                  <a:schemeClr val="tx1"/>
                </a:solidFill>
                <a:effectLst>
                  <a:outerShdw blurRad="38100" dist="19050" dir="2700000" algn="tl" rotWithShape="0">
                    <a:schemeClr val="dk1">
                      <a:alpha val="40000"/>
                      <a:alpha val="40000"/>
                    </a:schemeClr>
                  </a:outerShdw>
                </a:effectLst>
              </a:rPr>
              <a:t>Subsolid Nodule: </a:t>
            </a:r>
          </a:p>
          <a:p>
            <a:pPr marL="0" indent="0">
              <a:buNone/>
            </a:pPr>
            <a:r>
              <a:rPr lang="en-US" sz="1800">
                <a:solidFill>
                  <a:schemeClr val="tx1"/>
                </a:solidFill>
                <a:effectLst>
                  <a:outerShdw blurRad="38100" dist="19050" dir="2700000" algn="tl" rotWithShape="0">
                    <a:schemeClr val="dk1">
                      <a:alpha val="40000"/>
                      <a:alpha val="40000"/>
                    </a:schemeClr>
                  </a:outerShdw>
                </a:effectLst>
              </a:rPr>
              <a:t>A) Pure Ground glass nodule.</a:t>
            </a:r>
          </a:p>
          <a:p>
            <a:r>
              <a:rPr lang="en-US" sz="1800">
                <a:solidFill>
                  <a:schemeClr val="tx1"/>
                </a:solidFill>
                <a:effectLst>
                  <a:outerShdw blurRad="38100" dist="19050" dir="2700000" algn="tl" rotWithShape="0">
                    <a:schemeClr val="dk1">
                      <a:alpha val="40000"/>
                      <a:alpha val="40000"/>
                    </a:schemeClr>
                  </a:outerShdw>
                </a:effectLst>
              </a:rPr>
              <a:t>Hazy opacity without obscuring underlying lung parenchyma.</a:t>
            </a:r>
          </a:p>
          <a:p>
            <a:r>
              <a:rPr lang="en-US" sz="1800">
                <a:solidFill>
                  <a:schemeClr val="tx1"/>
                </a:solidFill>
                <a:effectLst>
                  <a:outerShdw blurRad="38100" dist="19050" dir="2700000" algn="tl" rotWithShape="0">
                    <a:schemeClr val="dk1">
                      <a:alpha val="40000"/>
                      <a:alpha val="40000"/>
                    </a:schemeClr>
                  </a:outerShdw>
                </a:effectLst>
              </a:rPr>
              <a:t>can represent inflammation or infection.</a:t>
            </a:r>
          </a:p>
          <a:p>
            <a:r>
              <a:rPr lang="en-US" sz="1800">
                <a:solidFill>
                  <a:schemeClr val="tx1"/>
                </a:solidFill>
                <a:effectLst>
                  <a:outerShdw blurRad="38100" dist="19050" dir="2700000" algn="tl" rotWithShape="0">
                    <a:schemeClr val="dk1">
                      <a:alpha val="40000"/>
                      <a:alpha val="40000"/>
                    </a:schemeClr>
                  </a:outerShdw>
                </a:effectLst>
              </a:rPr>
              <a:t>often pre invasive or early adenocarcinoma.</a:t>
            </a:r>
          </a:p>
          <a:p>
            <a:pPr marL="0" indent="0">
              <a:buNone/>
            </a:pPr>
            <a:r>
              <a:rPr lang="en-US" sz="1800">
                <a:solidFill>
                  <a:schemeClr val="tx1"/>
                </a:solidFill>
                <a:effectLst>
                  <a:outerShdw blurRad="38100" dist="19050" dir="2700000" algn="tl" rotWithShape="0">
                    <a:schemeClr val="dk1">
                      <a:alpha val="40000"/>
                      <a:alpha val="40000"/>
                    </a:schemeClr>
                  </a:outerShdw>
                </a:effectLst>
              </a:rPr>
              <a:t>B) Part Solid Nodule.</a:t>
            </a:r>
          </a:p>
          <a:p>
            <a:r>
              <a:rPr lang="en-US" sz="1800">
                <a:solidFill>
                  <a:schemeClr val="tx1"/>
                </a:solidFill>
                <a:effectLst>
                  <a:outerShdw blurRad="38100" dist="19050" dir="2700000" algn="tl" rotWithShape="0">
                    <a:schemeClr val="dk1">
                      <a:alpha val="40000"/>
                      <a:alpha val="40000"/>
                    </a:schemeClr>
                  </a:outerShdw>
                </a:effectLst>
              </a:rPr>
              <a:t>Ground glass component with soid portion inside.</a:t>
            </a:r>
          </a:p>
          <a:p>
            <a:r>
              <a:rPr lang="en-US" sz="1800">
                <a:solidFill>
                  <a:schemeClr val="tx1"/>
                </a:solidFill>
                <a:effectLst>
                  <a:outerShdw blurRad="38100" dist="19050" dir="2700000" algn="tl" rotWithShape="0">
                    <a:schemeClr val="dk1">
                      <a:alpha val="40000"/>
                      <a:alpha val="40000"/>
                    </a:schemeClr>
                  </a:outerShdw>
                </a:effectLst>
              </a:rPr>
              <a:t>Highly likelihood of malignancy than pure GGO.</a:t>
            </a:r>
            <a:endParaRPr lang="en-US" sz="1800">
              <a:ln w="22225">
                <a:solidFill>
                  <a:schemeClr val="accent2"/>
                </a:solidFill>
                <a:prstDash val="solid"/>
              </a:ln>
              <a:solidFill>
                <a:schemeClr val="accent2">
                  <a:lumMod val="40000"/>
                  <a:lumOff val="60000"/>
                  <a:lumMod val="40000"/>
                  <a:lumOff val="60000"/>
                </a:schemeClr>
              </a:solidFill>
              <a:effectLst/>
            </a:endParaRPr>
          </a:p>
          <a:p>
            <a:pPr marL="0" indent="0">
              <a:buNone/>
            </a:pPr>
            <a:endParaRPr lang="en-US">
              <a:ln w="22225">
                <a:solidFill>
                  <a:schemeClr val="accent2"/>
                </a:solidFill>
                <a:prstDash val="solid"/>
              </a:ln>
              <a:solidFill>
                <a:schemeClr val="accent2">
                  <a:lumMod val="40000"/>
                  <a:lumOff val="60000"/>
                  <a:lumMod val="40000"/>
                  <a:lumOff val="60000"/>
                </a:schemeClr>
              </a:solidFill>
              <a:effectLst/>
            </a:endParaRPr>
          </a:p>
          <a:p>
            <a:pPr marL="0" indent="0">
              <a:buNone/>
            </a:pPr>
            <a:endParaRPr lang="en-US">
              <a:ln w="22225">
                <a:solidFill>
                  <a:schemeClr val="accent2"/>
                </a:solidFill>
                <a:prstDash val="solid"/>
              </a:ln>
              <a:solidFill>
                <a:schemeClr val="accent2">
                  <a:lumMod val="40000"/>
                  <a:lumOff val="60000"/>
                  <a:lumMod val="40000"/>
                  <a:lumOff val="60000"/>
                </a:schemeClr>
              </a:solidFill>
              <a:effectLst/>
            </a:endParaRPr>
          </a:p>
        </p:txBody>
      </p:sp>
      <p:sp>
        <p:nvSpPr>
          <p:cNvPr id="5" name="Title 4"/>
          <p:cNvSpPr>
            <a:spLocks noGrp="1"/>
          </p:cNvSpPr>
          <p:nvPr>
            <p:ph type="title"/>
          </p:nvPr>
        </p:nvSpPr>
        <p:spPr>
          <a:xfrm>
            <a:off x="609600" y="553720"/>
            <a:ext cx="10972800" cy="582613"/>
          </a:xfrm>
        </p:spPr>
        <p:txBody>
          <a:bodyPr>
            <a:normAutofit fontScale="90000"/>
          </a:bodyPr>
          <a:lstStyle/>
          <a:p>
            <a:r>
              <a:rPr lang="en-US" dirty="0">
                <a:solidFill>
                  <a:schemeClr val="tx1"/>
                </a:solidFill>
                <a:effectLst>
                  <a:outerShdw blurRad="38100" dist="19050" dir="2700000" algn="tl" rotWithShape="0">
                    <a:schemeClr val="dk1">
                      <a:alpha val="40000"/>
                      <a:alpha val="40000"/>
                    </a:schemeClr>
                  </a:outerShdw>
                </a:effectLst>
              </a:rPr>
              <a:t>INTERNAL CHARACTERISTICS OF SPN</a:t>
            </a:r>
          </a:p>
        </p:txBody>
      </p:sp>
      <p:pic>
        <p:nvPicPr>
          <p:cNvPr id="6" name="Picture 5" descr="a59371771b7c5c_TAB-nodules-2"/>
          <p:cNvPicPr>
            <a:picLocks noChangeAspect="1"/>
          </p:cNvPicPr>
          <p:nvPr/>
        </p:nvPicPr>
        <p:blipFill>
          <a:blip r:embed="rId2"/>
          <a:stretch>
            <a:fillRect/>
          </a:stretch>
        </p:blipFill>
        <p:spPr>
          <a:xfrm>
            <a:off x="7640955" y="3183255"/>
            <a:ext cx="4272915" cy="248348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68960"/>
            <a:ext cx="10972800" cy="5558790"/>
          </a:xfrm>
        </p:spPr>
        <p:txBody>
          <a:bodyPr/>
          <a:lstStyle/>
          <a:p>
            <a:pPr marL="0" indent="0">
              <a:buNone/>
            </a:pPr>
            <a:r>
              <a:rPr lang="en-US" dirty="0">
                <a:ln w="22225">
                  <a:solidFill>
                    <a:schemeClr val="accent2"/>
                  </a:solidFill>
                  <a:prstDash val="solid"/>
                </a:ln>
                <a:solidFill>
                  <a:schemeClr val="accent2">
                    <a:lumMod val="40000"/>
                    <a:lumOff val="60000"/>
                    <a:lumMod val="40000"/>
                    <a:lumOff val="60000"/>
                  </a:schemeClr>
                </a:solidFill>
                <a:effectLst/>
              </a:rPr>
              <a:t>2. CALCIFICATION:</a:t>
            </a:r>
          </a:p>
          <a:p>
            <a:pPr marL="514350" indent="-514350">
              <a:buNone/>
            </a:pPr>
            <a:r>
              <a:rPr lang="en-US" dirty="0">
                <a:ln w="22225">
                  <a:solidFill>
                    <a:schemeClr val="accent2"/>
                  </a:solidFill>
                  <a:prstDash val="solid"/>
                </a:ln>
                <a:solidFill>
                  <a:schemeClr val="accent2">
                    <a:lumMod val="40000"/>
                    <a:lumOff val="60000"/>
                    <a:lumMod val="40000"/>
                    <a:lumOff val="60000"/>
                  </a:schemeClr>
                </a:solidFill>
                <a:effectLst/>
              </a:rPr>
              <a:t>BENIGN NODULES</a:t>
            </a:r>
          </a:p>
          <a:p>
            <a:pPr marL="514350" indent="-514350">
              <a:buNone/>
            </a:pPr>
            <a:endParaRPr lang="en-US" dirty="0"/>
          </a:p>
          <a:p>
            <a:pPr marL="514350" indent="-514350">
              <a:buNone/>
            </a:pPr>
            <a:endParaRPr lang="en-US" dirty="0"/>
          </a:p>
        </p:txBody>
      </p:sp>
      <p:pic>
        <p:nvPicPr>
          <p:cNvPr id="4" name="Picture 2" descr="http://www.radiologyassistant.nl/images/thmb_460fa9651151fCALCIFICATION.png"/>
          <p:cNvPicPr>
            <a:picLocks noChangeAspect="1" noChangeArrowheads="1"/>
          </p:cNvPicPr>
          <p:nvPr/>
        </p:nvPicPr>
        <p:blipFill>
          <a:blip r:embed="rId3"/>
          <a:srcRect/>
          <a:stretch>
            <a:fillRect/>
          </a:stretch>
        </p:blipFill>
        <p:spPr bwMode="auto">
          <a:xfrm>
            <a:off x="2514600" y="3200400"/>
            <a:ext cx="7355001" cy="222885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295" y="455930"/>
            <a:ext cx="11990705" cy="5989955"/>
          </a:xfrm>
        </p:spPr>
        <p:txBody>
          <a:bodyPr>
            <a:normAutofit lnSpcReduction="10000"/>
          </a:bodyPr>
          <a:lstStyle/>
          <a:p>
            <a:r>
              <a:rPr lang="en-US" dirty="0">
                <a:solidFill>
                  <a:schemeClr val="tx1"/>
                </a:solidFill>
                <a:effectLst>
                  <a:outerShdw blurRad="38100" dist="19050" dir="2700000" algn="tl" rotWithShape="0">
                    <a:schemeClr val="dk1">
                      <a:alpha val="40000"/>
                      <a:alpha val="40000"/>
                    </a:schemeClr>
                  </a:outerShdw>
                </a:effectLst>
              </a:rPr>
              <a:t>HOMOGENOUS/UNIFORM/DIFFUSE/SOLID</a:t>
            </a:r>
          </a:p>
          <a:p>
            <a:pPr>
              <a:buNone/>
            </a:pPr>
            <a:endParaRPr lang="en-US" dirty="0">
              <a:solidFill>
                <a:schemeClr val="tx1"/>
              </a:solidFill>
              <a:effectLst>
                <a:outerShdw blurRad="38100" dist="19050" dir="2700000" algn="tl" rotWithShape="0">
                  <a:schemeClr val="dk1">
                    <a:alpha val="40000"/>
                    <a:alpha val="40000"/>
                  </a:schemeClr>
                </a:outerShdw>
              </a:effectLst>
            </a:endParaRPr>
          </a:p>
          <a:p>
            <a:pPr>
              <a:buNone/>
            </a:pPr>
            <a:endParaRPr lang="en-US" dirty="0">
              <a:solidFill>
                <a:schemeClr val="tx1"/>
              </a:solidFill>
              <a:effectLst>
                <a:outerShdw blurRad="38100" dist="19050" dir="2700000" algn="tl" rotWithShape="0">
                  <a:schemeClr val="dk1">
                    <a:alpha val="40000"/>
                    <a:alpha val="40000"/>
                  </a:schemeClr>
                </a:outerShdw>
              </a:effectLst>
            </a:endParaRPr>
          </a:p>
        </p:txBody>
      </p:sp>
      <p:pic>
        <p:nvPicPr>
          <p:cNvPr id="9" name="Picture 4" descr=" ">
            <a:hlinkClick r:id="rId3"/>
          </p:cNvPr>
          <p:cNvPicPr>
            <a:picLocks noGrp="1" noChangeAspect="1" noChangeArrowheads="1"/>
          </p:cNvPicPr>
          <p:nvPr>
            <p:ph sz="half" idx="2"/>
          </p:nvPr>
        </p:nvPicPr>
        <p:blipFill>
          <a:blip r:embed="rId4"/>
          <a:srcRect/>
          <a:stretch>
            <a:fillRect/>
          </a:stretch>
        </p:blipFill>
        <p:spPr bwMode="auto">
          <a:xfrm>
            <a:off x="1524000" y="1022350"/>
            <a:ext cx="5174615" cy="4857115"/>
          </a:xfrm>
          <a:prstGeom prst="rect">
            <a:avLst/>
          </a:prstGeom>
          <a:noFill/>
        </p:spPr>
      </p:pic>
      <p:sp>
        <p:nvSpPr>
          <p:cNvPr id="5" name="Text Placeholder 4"/>
          <p:cNvSpPr>
            <a:spLocks noGrp="1"/>
          </p:cNvSpPr>
          <p:nvPr/>
        </p:nvSpPr>
        <p:spPr>
          <a:xfrm>
            <a:off x="7971790" y="1585595"/>
            <a:ext cx="2696210" cy="2973070"/>
          </a:xfrm>
          <a:prstGeom prst="rect">
            <a:avLst/>
          </a:prstGeom>
          <a:noFill/>
          <a:ln w="9525">
            <a:noFill/>
          </a:ln>
        </p:spPr>
        <p:txBody>
          <a:bodyPr anchor="b"/>
          <a:lstStyle>
            <a:lvl1pPr marL="0" lvl="0" indent="0" algn="l" defTabSz="914400" eaLnBrk="1" fontAlgn="base" latinLnBrk="0" hangingPunct="1">
              <a:lnSpc>
                <a:spcPct val="100000"/>
              </a:lnSpc>
              <a:spcBef>
                <a:spcPct val="20000"/>
              </a:spcBef>
              <a:spcAft>
                <a:spcPct val="0"/>
              </a:spcAft>
              <a:buNone/>
              <a:defRPr sz="1800" b="1" i="0" u="none" kern="1200" baseline="0">
                <a:solidFill>
                  <a:schemeClr val="tx1"/>
                </a:solidFill>
                <a:latin typeface="+mn-lt"/>
                <a:ea typeface="+mn-ea"/>
                <a:cs typeface="+mn-cs"/>
              </a:defRPr>
            </a:lvl1pPr>
            <a:lvl2pPr marL="342900" lvl="1" indent="0" algn="l" defTabSz="914400" eaLnBrk="1" fontAlgn="base" latinLnBrk="0" hangingPunct="1">
              <a:lnSpc>
                <a:spcPct val="100000"/>
              </a:lnSpc>
              <a:spcBef>
                <a:spcPct val="20000"/>
              </a:spcBef>
              <a:spcAft>
                <a:spcPct val="0"/>
              </a:spcAft>
              <a:buNone/>
              <a:defRPr sz="1500" b="1" i="0" u="none" kern="1200" baseline="0">
                <a:solidFill>
                  <a:schemeClr val="tx1"/>
                </a:solidFill>
                <a:latin typeface="+mn-lt"/>
                <a:ea typeface="+mn-ea"/>
                <a:cs typeface="+mn-cs"/>
              </a:defRPr>
            </a:lvl2pPr>
            <a:lvl3pPr marL="685800" lvl="2" indent="0" algn="l" defTabSz="914400" eaLnBrk="1" fontAlgn="base" latinLnBrk="0" hangingPunct="1">
              <a:lnSpc>
                <a:spcPct val="100000"/>
              </a:lnSpc>
              <a:spcBef>
                <a:spcPct val="20000"/>
              </a:spcBef>
              <a:spcAft>
                <a:spcPct val="0"/>
              </a:spcAft>
              <a:buNone/>
              <a:defRPr sz="1350" b="1" i="0" u="none" kern="1200" baseline="0">
                <a:solidFill>
                  <a:schemeClr val="tx1"/>
                </a:solidFill>
                <a:latin typeface="+mn-lt"/>
                <a:ea typeface="+mn-ea"/>
                <a:cs typeface="+mn-cs"/>
              </a:defRPr>
            </a:lvl3pPr>
            <a:lvl4pPr marL="1028700" lvl="3"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4pPr>
            <a:lvl5pPr marL="1371600" lvl="4"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5pPr>
            <a:lvl6pPr marL="1714500" lvl="5"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6pPr>
            <a:lvl7pPr marL="2057400" lvl="6"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7pPr>
            <a:lvl8pPr marL="2400300" lvl="7"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8pPr>
            <a:lvl9pPr marL="2743200" lvl="8" indent="0" algn="l" defTabSz="914400" eaLnBrk="1" fontAlgn="base" latinLnBrk="0" hangingPunct="1">
              <a:lnSpc>
                <a:spcPct val="100000"/>
              </a:lnSpc>
              <a:spcBef>
                <a:spcPct val="20000"/>
              </a:spcBef>
              <a:spcAft>
                <a:spcPct val="0"/>
              </a:spcAft>
              <a:buNone/>
              <a:defRPr sz="1200" b="1" i="0" u="none" kern="1200" baseline="0">
                <a:solidFill>
                  <a:schemeClr val="tx1"/>
                </a:solidFill>
                <a:latin typeface="+mn-lt"/>
                <a:ea typeface="+mn-ea"/>
                <a:cs typeface="+mn-cs"/>
              </a:defRPr>
            </a:lvl9pPr>
          </a:lstStyle>
          <a:p>
            <a:r>
              <a:rPr lang="en-US" dirty="0"/>
              <a:t>DIFFUSE,SOLID: GRANULOMA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dirty="0">
                <a:solidFill>
                  <a:schemeClr val="tx1"/>
                </a:solidFill>
                <a:effectLst>
                  <a:outerShdw blurRad="38100" dist="19050" dir="2700000" algn="tl" rotWithShape="0">
                    <a:schemeClr val="dk1">
                      <a:alpha val="40000"/>
                      <a:alpha val="40000"/>
                    </a:schemeClr>
                  </a:outerShdw>
                </a:effectLst>
              </a:rPr>
              <a:t>CENTRAL CALCIFICATION</a:t>
            </a:r>
            <a:r>
              <a:rPr lang="en-US" sz="3600" dirty="0">
                <a:solidFill>
                  <a:schemeClr val="tx1"/>
                </a:solidFill>
                <a:effectLst>
                  <a:outerShdw blurRad="38100" dist="19050" dir="2700000" algn="tl" rotWithShape="0">
                    <a:schemeClr val="dk1">
                      <a:alpha val="40000"/>
                      <a:alpha val="40000"/>
                    </a:schemeClr>
                  </a:outerShdw>
                </a:effectLst>
                <a:sym typeface="+mn-ea"/>
              </a:rPr>
              <a:t>/BULLS EYE</a:t>
            </a:r>
          </a:p>
        </p:txBody>
      </p:sp>
      <p:pic>
        <p:nvPicPr>
          <p:cNvPr id="9" name="Picture 2" descr=" ">
            <a:hlinkClick r:id="rId3"/>
          </p:cNvPr>
          <p:cNvPicPr>
            <a:picLocks noGrp="1" noChangeAspect="1" noChangeArrowheads="1"/>
          </p:cNvPicPr>
          <p:nvPr>
            <p:ph sz="half" idx="2"/>
          </p:nvPr>
        </p:nvPicPr>
        <p:blipFill>
          <a:blip r:embed="rId4"/>
          <a:srcRect/>
          <a:stretch>
            <a:fillRect/>
          </a:stretch>
        </p:blipFill>
        <p:spPr bwMode="auto">
          <a:xfrm>
            <a:off x="2088515" y="2174875"/>
            <a:ext cx="3375660" cy="3486150"/>
          </a:xfrm>
          <a:prstGeom prst="rect">
            <a:avLst/>
          </a:prstGeom>
          <a:noFill/>
        </p:spPr>
      </p:pic>
      <p:pic>
        <p:nvPicPr>
          <p:cNvPr id="10" name="Picture 4" descr=" ">
            <a:hlinkClick r:id="rId5"/>
          </p:cNvPr>
          <p:cNvPicPr>
            <a:picLocks noGrp="1" noChangeAspect="1" noChangeArrowheads="1"/>
          </p:cNvPicPr>
          <p:nvPr>
            <p:ph sz="quarter" idx="4"/>
          </p:nvPr>
        </p:nvPicPr>
        <p:blipFill>
          <a:blip r:embed="rId6"/>
          <a:srcRect/>
          <a:stretch>
            <a:fillRect/>
          </a:stretch>
        </p:blipFill>
        <p:spPr bwMode="auto">
          <a:xfrm>
            <a:off x="6241415" y="2174875"/>
            <a:ext cx="3375660" cy="342265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80860" y="26035"/>
            <a:ext cx="3610610" cy="6548120"/>
          </a:xfrm>
        </p:spPr>
        <p:txBody>
          <a:bodyPr/>
          <a:lstStyle/>
          <a:p>
            <a:br>
              <a:rPr lang="en-US" sz="2000" dirty="0">
                <a:solidFill>
                  <a:schemeClr val="tx1"/>
                </a:solidFill>
                <a:effectLst>
                  <a:outerShdw blurRad="38100" dist="19050" dir="2700000" algn="tl" rotWithShape="0">
                    <a:schemeClr val="dk1">
                      <a:alpha val="40000"/>
                      <a:alpha val="40000"/>
                    </a:schemeClr>
                  </a:outerShdw>
                </a:effectLst>
              </a:rPr>
            </a:br>
            <a:br>
              <a:rPr lang="en-US" sz="2000" dirty="0">
                <a:solidFill>
                  <a:schemeClr val="tx1"/>
                </a:solidFill>
                <a:effectLst>
                  <a:outerShdw blurRad="38100" dist="19050" dir="2700000" algn="tl" rotWithShape="0">
                    <a:schemeClr val="dk1">
                      <a:alpha val="40000"/>
                      <a:alpha val="40000"/>
                    </a:schemeClr>
                  </a:outerShdw>
                </a:effectLst>
              </a:rPr>
            </a:br>
            <a:r>
              <a:rPr lang="en-US" sz="1800" dirty="0">
                <a:solidFill>
                  <a:schemeClr val="tx1"/>
                </a:solidFill>
                <a:effectLst>
                  <a:outerShdw blurRad="38100" dist="19050" dir="2700000" algn="tl" rotWithShape="0">
                    <a:schemeClr val="dk1">
                      <a:alpha val="40000"/>
                      <a:alpha val="40000"/>
                    </a:schemeClr>
                  </a:outerShdw>
                </a:effectLst>
                <a:sym typeface="+mn-ea"/>
              </a:rPr>
              <a:t>CONCENTRIC RINGS/LAMINATED/TARGET</a:t>
            </a:r>
            <a:r>
              <a:rPr lang="en-US" sz="2000" dirty="0">
                <a:solidFill>
                  <a:schemeClr val="tx1"/>
                </a:solidFill>
                <a:effectLst>
                  <a:outerShdw blurRad="38100" dist="19050" dir="2700000" algn="tl" rotWithShape="0">
                    <a:schemeClr val="dk1">
                      <a:alpha val="40000"/>
                      <a:alpha val="40000"/>
                    </a:schemeClr>
                  </a:outerShdw>
                </a:effectLst>
                <a:sym typeface="+mn-ea"/>
              </a:rPr>
              <a:t> : Tb, fungal </a:t>
            </a:r>
            <a:r>
              <a:rPr lang="en-US" sz="2000" dirty="0" err="1">
                <a:solidFill>
                  <a:schemeClr val="tx1"/>
                </a:solidFill>
                <a:effectLst>
                  <a:outerShdw blurRad="38100" dist="19050" dir="2700000" algn="tl" rotWithShape="0">
                    <a:schemeClr val="dk1">
                      <a:alpha val="40000"/>
                      <a:alpha val="40000"/>
                    </a:schemeClr>
                  </a:outerShdw>
                </a:effectLst>
                <a:sym typeface="+mn-ea"/>
              </a:rPr>
              <a:t>granulomas</a:t>
            </a:r>
            <a:br>
              <a:rPr lang="en-US" sz="2000" dirty="0">
                <a:solidFill>
                  <a:schemeClr val="tx1"/>
                </a:solidFill>
                <a:effectLst>
                  <a:outerShdw blurRad="38100" dist="19050" dir="2700000" algn="tl" rotWithShape="0">
                    <a:schemeClr val="dk1">
                      <a:alpha val="40000"/>
                      <a:alpha val="40000"/>
                    </a:schemeClr>
                  </a:outerShdw>
                </a:effectLst>
              </a:rPr>
            </a:br>
            <a:br>
              <a:rPr lang="en-US" sz="2000" dirty="0">
                <a:solidFill>
                  <a:schemeClr val="tx1"/>
                </a:solidFill>
                <a:effectLst>
                  <a:outerShdw blurRad="38100" dist="19050" dir="2700000" algn="tl" rotWithShape="0">
                    <a:schemeClr val="dk1">
                      <a:alpha val="40000"/>
                      <a:alpha val="40000"/>
                    </a:schemeClr>
                  </a:outerShdw>
                </a:effectLst>
              </a:rPr>
            </a:br>
            <a:br>
              <a:rPr lang="en-US" sz="2000" dirty="0">
                <a:solidFill>
                  <a:schemeClr val="tx1"/>
                </a:solidFill>
                <a:effectLst>
                  <a:outerShdw blurRad="38100" dist="19050" dir="2700000" algn="tl" rotWithShape="0">
                    <a:schemeClr val="dk1">
                      <a:alpha val="40000"/>
                      <a:alpha val="40000"/>
                    </a:schemeClr>
                  </a:outerShdw>
                </a:effectLst>
              </a:rPr>
            </a:br>
            <a:endParaRPr lang="en-US" sz="2000" dirty="0">
              <a:solidFill>
                <a:schemeClr val="tx1"/>
              </a:solidFill>
              <a:effectLst>
                <a:outerShdw blurRad="38100" dist="19050" dir="2700000" algn="tl" rotWithShape="0">
                  <a:schemeClr val="dk1">
                    <a:alpha val="40000"/>
                    <a:alpha val="40000"/>
                  </a:schemeClr>
                </a:outerShdw>
              </a:effectLst>
            </a:endParaRPr>
          </a:p>
        </p:txBody>
      </p:sp>
      <p:pic>
        <p:nvPicPr>
          <p:cNvPr id="10" name="Picture 2" descr="http://download.imaging.consult.com/ic/images/S1933033207700903/gr2-midi.jpg"/>
          <p:cNvPicPr>
            <a:picLocks noGrp="1" noChangeAspect="1" noChangeArrowheads="1"/>
          </p:cNvPicPr>
          <p:nvPr>
            <p:ph sz="quarter" idx="4"/>
          </p:nvPr>
        </p:nvPicPr>
        <p:blipFill>
          <a:blip r:embed="rId3"/>
          <a:srcRect b="5494"/>
          <a:stretch>
            <a:fillRect/>
          </a:stretch>
        </p:blipFill>
        <p:spPr bwMode="auto">
          <a:xfrm>
            <a:off x="2087245" y="777875"/>
            <a:ext cx="3611245" cy="4619625"/>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34330" y="687705"/>
            <a:ext cx="4911090" cy="598805"/>
          </a:xfrm>
        </p:spPr>
        <p:txBody>
          <a:bodyPr/>
          <a:lstStyle/>
          <a:p>
            <a:r>
              <a:rPr lang="en-US" sz="2800" dirty="0">
                <a:solidFill>
                  <a:schemeClr val="tx1"/>
                </a:solidFill>
                <a:effectLst>
                  <a:outerShdw blurRad="38100" dist="19050" dir="2700000" algn="tl" rotWithShape="0">
                    <a:schemeClr val="dk1">
                      <a:alpha val="40000"/>
                      <a:alpha val="40000"/>
                    </a:schemeClr>
                  </a:outerShdw>
                </a:effectLst>
              </a:rPr>
              <a:t>POPCORN CALCIFICATION</a:t>
            </a:r>
          </a:p>
        </p:txBody>
      </p:sp>
      <p:pic>
        <p:nvPicPr>
          <p:cNvPr id="7" name="Picture 8" descr="popcorn hamartoma"/>
          <p:cNvPicPr>
            <a:picLocks noGrp="1" noChangeAspect="1" noChangeArrowheads="1"/>
          </p:cNvPicPr>
          <p:nvPr>
            <p:ph sz="half" idx="1"/>
          </p:nvPr>
        </p:nvPicPr>
        <p:blipFill>
          <a:blip r:embed="rId3"/>
          <a:srcRect/>
          <a:stretch>
            <a:fillRect/>
          </a:stretch>
        </p:blipFill>
        <p:spPr>
          <a:xfrm>
            <a:off x="1553845" y="1286510"/>
            <a:ext cx="4542155" cy="4486275"/>
          </a:xfrm>
          <a:prstGeom prst="rect">
            <a:avLst/>
          </a:prstGeom>
          <a:noFill/>
        </p:spPr>
      </p:pic>
      <p:sp>
        <p:nvSpPr>
          <p:cNvPr id="2" name="Text Box 1"/>
          <p:cNvSpPr txBox="1"/>
          <p:nvPr/>
        </p:nvSpPr>
        <p:spPr>
          <a:xfrm>
            <a:off x="7488555" y="2510155"/>
            <a:ext cx="3088005" cy="2339975"/>
          </a:xfrm>
          <a:prstGeom prst="rect">
            <a:avLst/>
          </a:prstGeom>
          <a:noFill/>
        </p:spPr>
        <p:txBody>
          <a:bodyPr wrap="square" rtlCol="0" anchor="t">
            <a:noAutofit/>
          </a:bodyPr>
          <a:lstStyle/>
          <a:p>
            <a:r>
              <a:rPr lang="en-US" sz="2400" dirty="0">
                <a:sym typeface="+mn-ea"/>
              </a:rPr>
              <a:t>POPCORN : </a:t>
            </a:r>
            <a:r>
              <a:rPr lang="en-US" sz="2400" dirty="0" err="1">
                <a:sym typeface="+mn-ea"/>
              </a:rPr>
              <a:t>Hamartomas</a:t>
            </a:r>
            <a:r>
              <a:rPr lang="en-US" sz="2400" dirty="0">
                <a:sym typeface="+mn-ea"/>
              </a:rPr>
              <a:t>, cartilage tumors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055" y="773430"/>
            <a:ext cx="10972800" cy="582613"/>
          </a:xfrm>
        </p:spPr>
        <p:txBody>
          <a:bodyPr/>
          <a:lstStyle/>
          <a:p>
            <a:r>
              <a:rPr lang="en-US" dirty="0">
                <a:effectLst>
                  <a:outerShdw blurRad="38100" dist="19050" dir="2700000" algn="tl" rotWithShape="0">
                    <a:schemeClr val="dk1">
                      <a:alpha val="40000"/>
                      <a:alpha val="40000"/>
                    </a:schemeClr>
                  </a:outerShdw>
                </a:effectLst>
                <a:sym typeface="+mn-ea"/>
              </a:rPr>
              <a:t>CALCIFICATION: INTERMEDIATE</a:t>
            </a:r>
            <a:endParaRPr lang="en-US"/>
          </a:p>
        </p:txBody>
      </p:sp>
      <p:sp>
        <p:nvSpPr>
          <p:cNvPr id="3" name="Content Placeholder 2"/>
          <p:cNvSpPr>
            <a:spLocks noGrp="1"/>
          </p:cNvSpPr>
          <p:nvPr>
            <p:ph sz="half" idx="1"/>
          </p:nvPr>
        </p:nvSpPr>
        <p:spPr>
          <a:xfrm>
            <a:off x="609600" y="1779270"/>
            <a:ext cx="11437620" cy="3223260"/>
          </a:xfrm>
        </p:spPr>
        <p:txBody>
          <a:bodyPr/>
          <a:lstStyle/>
          <a:p>
            <a:r>
              <a:rPr lang="en-US" sz="2400" dirty="0">
                <a:sym typeface="+mn-ea"/>
              </a:rPr>
              <a:t>STIPPLED/PUNCTATE: Metastatic </a:t>
            </a:r>
            <a:r>
              <a:rPr lang="en-US" sz="2400" dirty="0" err="1">
                <a:sym typeface="+mn-ea"/>
              </a:rPr>
              <a:t>osteosarcoma</a:t>
            </a:r>
            <a:r>
              <a:rPr lang="en-US" sz="2400" dirty="0">
                <a:sym typeface="+mn-ea"/>
              </a:rPr>
              <a:t>, </a:t>
            </a:r>
            <a:r>
              <a:rPr lang="en-US" sz="2400" dirty="0" err="1">
                <a:sym typeface="+mn-ea"/>
              </a:rPr>
              <a:t>chondrosarcoma.</a:t>
            </a:r>
            <a:endParaRPr lang="en-US" sz="2400" dirty="0"/>
          </a:p>
          <a:p>
            <a:endParaRPr lang="en-US" sz="2400" dirty="0"/>
          </a:p>
          <a:p>
            <a:r>
              <a:rPr lang="en-US" sz="2400" dirty="0">
                <a:sym typeface="+mn-ea"/>
              </a:rPr>
              <a:t>ECCENTRIC DENSE : </a:t>
            </a:r>
            <a:r>
              <a:rPr lang="en-US" sz="2400" dirty="0" err="1">
                <a:sym typeface="+mn-ea"/>
              </a:rPr>
              <a:t>malignant tumor engulfing prior granuloma.</a:t>
            </a:r>
          </a:p>
          <a:p>
            <a:endParaRPr lang="en-US" sz="2400" dirty="0" err="1">
              <a:sym typeface="+mn-ea"/>
            </a:endParaRPr>
          </a:p>
          <a:p>
            <a:r>
              <a:rPr lang="en-US" sz="2400" dirty="0">
                <a:sym typeface="+mn-ea"/>
              </a:rPr>
              <a:t>DIFFUSE / AMORPHOUS: Scar carcinoma, partially calcified granuloma.</a:t>
            </a:r>
            <a:endParaRPr lang="en-US" sz="2400" dirty="0"/>
          </a:p>
          <a:p>
            <a:endParaRPr lang="en-US" sz="2400" dirty="0" err="1">
              <a:sym typeface="+mn-ea"/>
            </a:endParaRPr>
          </a:p>
          <a:p>
            <a:endParaRPr lang="en-US" sz="2400" dirty="0"/>
          </a:p>
          <a:p>
            <a:endParaRPr lang="en-US"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10" y="712470"/>
            <a:ext cx="10972800" cy="582613"/>
          </a:xfrm>
        </p:spPr>
        <p:txBody>
          <a:bodyPr/>
          <a:lstStyle/>
          <a:p>
            <a:r>
              <a:rPr lang="en-US" sz="3600" dirty="0">
                <a:solidFill>
                  <a:schemeClr val="tx1"/>
                </a:solidFill>
                <a:effectLst>
                  <a:outerShdw blurRad="38100" dist="19050" dir="2700000" algn="tl" rotWithShape="0">
                    <a:schemeClr val="dk1">
                      <a:alpha val="40000"/>
                      <a:alpha val="40000"/>
                    </a:schemeClr>
                  </a:outerShdw>
                </a:effectLst>
              </a:rPr>
              <a:t>CALCIFICATION: MALIGNANCY</a:t>
            </a:r>
          </a:p>
        </p:txBody>
      </p:sp>
      <p:sp>
        <p:nvSpPr>
          <p:cNvPr id="3" name="Content Placeholder 2"/>
          <p:cNvSpPr>
            <a:spLocks noGrp="1"/>
          </p:cNvSpPr>
          <p:nvPr>
            <p:ph idx="1"/>
          </p:nvPr>
        </p:nvSpPr>
        <p:spPr>
          <a:xfrm>
            <a:off x="838200" y="1295400"/>
            <a:ext cx="10515600" cy="4881880"/>
          </a:xfrm>
        </p:spPr>
        <p:txBody>
          <a:bodyPr>
            <a:normAutofit/>
          </a:bodyPr>
          <a:lstStyle/>
          <a:p>
            <a:r>
              <a:rPr lang="en-US" sz="1555" dirty="0"/>
              <a:t>DYSTROPHIC : in areas of necrosis</a:t>
            </a:r>
          </a:p>
          <a:p>
            <a:pPr>
              <a:buNone/>
            </a:pPr>
            <a:endParaRPr lang="en-US" sz="1555" dirty="0"/>
          </a:p>
          <a:p>
            <a:r>
              <a:rPr lang="en-US" sz="1555" dirty="0"/>
              <a:t>PSAMMOMATOUS : metastases from </a:t>
            </a:r>
            <a:r>
              <a:rPr lang="en-US" sz="1555" dirty="0" err="1"/>
              <a:t>mucin</a:t>
            </a:r>
            <a:r>
              <a:rPr lang="en-US" sz="1555" dirty="0"/>
              <a:t> secreting tumors such as colon and ovarian cancers.</a:t>
            </a:r>
          </a:p>
          <a:p>
            <a:pPr>
              <a:buNone/>
            </a:pPr>
            <a:endParaRPr lang="en-US" sz="1555" dirty="0"/>
          </a:p>
          <a:p>
            <a:r>
              <a:rPr lang="en-US" sz="1555" dirty="0"/>
              <a:t>CENTRAL CALCIFICATION IN SPICULATED SPN.</a:t>
            </a:r>
          </a:p>
          <a:p>
            <a:endParaRPr lang="en-US" sz="1555" dirty="0"/>
          </a:p>
          <a:p>
            <a:r>
              <a:rPr lang="en-US" sz="1555" dirty="0"/>
              <a:t>Peripheral Rim: Metastasis.</a:t>
            </a:r>
          </a:p>
          <a:p>
            <a:endParaRPr lang="en-US" sz="1555" dirty="0"/>
          </a:p>
          <a:p>
            <a:endParaRPr lang="en-US" sz="1555" dirty="0"/>
          </a:p>
          <a:p>
            <a:endParaRPr lang="en-US" sz="1555" dirty="0"/>
          </a:p>
        </p:txBody>
      </p:sp>
      <p:pic>
        <p:nvPicPr>
          <p:cNvPr id="4" name="Picture 3" descr="Screenshot 2026-05-01 at 2.45.03 PM"/>
          <p:cNvPicPr>
            <a:picLocks noChangeAspect="1"/>
          </p:cNvPicPr>
          <p:nvPr/>
        </p:nvPicPr>
        <p:blipFill>
          <a:blip r:embed="rId3"/>
          <a:stretch>
            <a:fillRect/>
          </a:stretch>
        </p:blipFill>
        <p:spPr>
          <a:xfrm>
            <a:off x="6629400" y="1295400"/>
            <a:ext cx="3783330" cy="1143000"/>
          </a:xfrm>
          <a:prstGeom prst="rect">
            <a:avLst/>
          </a:prstGeom>
        </p:spPr>
      </p:pic>
      <p:sp>
        <p:nvSpPr>
          <p:cNvPr id="6" name="Text Box 5"/>
          <p:cNvSpPr txBox="1"/>
          <p:nvPr/>
        </p:nvSpPr>
        <p:spPr>
          <a:xfrm>
            <a:off x="1559560" y="3829685"/>
            <a:ext cx="4232275" cy="1071880"/>
          </a:xfrm>
          <a:prstGeom prst="rect">
            <a:avLst/>
          </a:prstGeom>
          <a:noFill/>
        </p:spPr>
        <p:txBody>
          <a:bodyPr wrap="square" rtlCol="0">
            <a:noAutofit/>
          </a:bodyPr>
          <a:lstStyle/>
          <a:p>
            <a:r>
              <a:rPr lang="en-US">
                <a:ln w="22225">
                  <a:solidFill>
                    <a:schemeClr val="accent2"/>
                  </a:solidFill>
                  <a:prstDash val="solid"/>
                </a:ln>
                <a:solidFill>
                  <a:schemeClr val="accent2">
                    <a:lumMod val="40000"/>
                    <a:lumOff val="60000"/>
                    <a:lumMod val="40000"/>
                    <a:lumOff val="60000"/>
                  </a:schemeClr>
                </a:solidFill>
                <a:effectLst/>
              </a:rPr>
              <a:t>Metastasis from osteogenic sarcoma or ostochondroma can show homogenous calcification, but history of primary tumor allows correct diagnosis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271905" y="920750"/>
            <a:ext cx="3868420" cy="944245"/>
          </a:xfrm>
        </p:spPr>
        <p:txBody>
          <a:bodyPr>
            <a:normAutofit fontScale="90000" lnSpcReduction="10000"/>
          </a:bodyPr>
          <a:lstStyle/>
          <a:p>
            <a:r>
              <a:rPr lang="en-US" sz="2220" dirty="0">
                <a:solidFill>
                  <a:schemeClr val="tx1"/>
                </a:solidFill>
                <a:effectLst>
                  <a:outerShdw blurRad="38100" dist="19050" dir="2700000" algn="tl" rotWithShape="0">
                    <a:schemeClr val="dk1">
                      <a:alpha val="40000"/>
                      <a:alpha val="40000"/>
                    </a:schemeClr>
                  </a:outerShdw>
                </a:effectLst>
              </a:rPr>
              <a:t>C</a:t>
            </a:r>
            <a:r>
              <a:rPr lang="en-US" sz="2220" dirty="0" err="1">
                <a:solidFill>
                  <a:schemeClr val="tx1"/>
                </a:solidFill>
                <a:effectLst>
                  <a:outerShdw blurRad="38100" dist="19050" dir="2700000" algn="tl" rotWithShape="0">
                    <a:schemeClr val="dk1">
                      <a:alpha val="40000"/>
                      <a:alpha val="40000"/>
                    </a:schemeClr>
                  </a:outerShdw>
                </a:effectLst>
              </a:rPr>
              <a:t>arcinoid showing c</a:t>
            </a:r>
            <a:r>
              <a:rPr lang="en-US" sz="2220" dirty="0">
                <a:effectLst>
                  <a:outerShdw blurRad="38100" dist="19050" dir="2700000" algn="tl" rotWithShape="0">
                    <a:schemeClr val="dk1">
                      <a:alpha val="40000"/>
                      <a:alpha val="40000"/>
                    </a:schemeClr>
                  </a:outerShdw>
                </a:effectLst>
                <a:sym typeface="+mn-ea"/>
              </a:rPr>
              <a:t>ccentric dense calcification in right lower lobe.</a:t>
            </a:r>
            <a:endParaRPr lang="en-US" sz="2220" dirty="0" err="1">
              <a:solidFill>
                <a:schemeClr val="tx1"/>
              </a:solidFill>
              <a:effectLst>
                <a:outerShdw blurRad="38100" dist="19050" dir="2700000" algn="tl" rotWithShape="0">
                  <a:schemeClr val="dk1">
                    <a:alpha val="40000"/>
                    <a:alpha val="40000"/>
                  </a:schemeClr>
                </a:outerShdw>
              </a:effectLst>
            </a:endParaRPr>
          </a:p>
        </p:txBody>
      </p:sp>
      <p:sp>
        <p:nvSpPr>
          <p:cNvPr id="7" name="Text Placeholder 6"/>
          <p:cNvSpPr>
            <a:spLocks noGrp="1"/>
          </p:cNvSpPr>
          <p:nvPr>
            <p:ph type="body" sz="quarter" idx="3"/>
          </p:nvPr>
        </p:nvSpPr>
        <p:spPr>
          <a:xfrm>
            <a:off x="6586220" y="1041083"/>
            <a:ext cx="3887391" cy="823912"/>
          </a:xfrm>
        </p:spPr>
        <p:txBody>
          <a:bodyPr>
            <a:normAutofit fontScale="90000"/>
          </a:bodyPr>
          <a:lstStyle/>
          <a:p>
            <a:r>
              <a:rPr lang="en-US" sz="2595" dirty="0">
                <a:solidFill>
                  <a:schemeClr val="tx1"/>
                </a:solidFill>
                <a:effectLst>
                  <a:outerShdw blurRad="38100" dist="19050" dir="2700000" algn="tl" rotWithShape="0">
                    <a:schemeClr val="dk1">
                      <a:alpha val="40000"/>
                      <a:alpha val="40000"/>
                    </a:schemeClr>
                  </a:outerShdw>
                </a:effectLst>
              </a:rPr>
              <a:t>Amorphous calcification in non small cell ca lung</a:t>
            </a:r>
          </a:p>
        </p:txBody>
      </p:sp>
      <p:pic>
        <p:nvPicPr>
          <p:cNvPr id="9" name="Picture 2" descr="Figure 11">
            <a:hlinkClick r:id="rId3"/>
          </p:cNvPr>
          <p:cNvPicPr>
            <a:picLocks noGrp="1" noChangeAspect="1" noChangeArrowheads="1"/>
          </p:cNvPicPr>
          <p:nvPr>
            <p:ph sz="half" idx="2"/>
          </p:nvPr>
        </p:nvPicPr>
        <p:blipFill>
          <a:blip r:embed="rId4"/>
          <a:srcRect/>
          <a:stretch>
            <a:fillRect/>
          </a:stretch>
        </p:blipFill>
        <p:spPr bwMode="auto">
          <a:xfrm>
            <a:off x="1676400" y="2057400"/>
            <a:ext cx="3280410" cy="3910965"/>
          </a:xfrm>
          <a:prstGeom prst="rect">
            <a:avLst/>
          </a:prstGeom>
          <a:noFill/>
        </p:spPr>
      </p:pic>
      <p:pic>
        <p:nvPicPr>
          <p:cNvPr id="10" name="Picture 4" descr=" ">
            <a:hlinkClick r:id="rId5"/>
          </p:cNvPr>
          <p:cNvPicPr>
            <a:picLocks noGrp="1" noChangeAspect="1" noChangeArrowheads="1"/>
          </p:cNvPicPr>
          <p:nvPr>
            <p:ph sz="quarter" idx="4"/>
          </p:nvPr>
        </p:nvPicPr>
        <p:blipFill>
          <a:blip r:embed="rId6"/>
          <a:srcRect/>
          <a:stretch>
            <a:fillRect/>
          </a:stretch>
        </p:blipFill>
        <p:spPr bwMode="auto">
          <a:xfrm>
            <a:off x="6863080" y="1984375"/>
            <a:ext cx="3153410" cy="398399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38125" y="703580"/>
            <a:ext cx="11752580" cy="5422900"/>
          </a:xfrm>
        </p:spPr>
        <p:txBody>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2. FAT</a:t>
            </a:r>
          </a:p>
          <a:p>
            <a:pPr>
              <a:buNone/>
            </a:pPr>
            <a:endParaRPr lang="en-US" dirty="0"/>
          </a:p>
          <a:p>
            <a:r>
              <a:rPr lang="en-US" dirty="0"/>
              <a:t>HAMARTOMA</a:t>
            </a:r>
          </a:p>
          <a:p>
            <a:r>
              <a:rPr lang="en-US" dirty="0"/>
              <a:t>LIPIOD PNEUMONIA</a:t>
            </a:r>
          </a:p>
          <a:p>
            <a:r>
              <a:rPr lang="en-US" dirty="0"/>
              <a:t>METASTATIC LIPOSARCOMA</a:t>
            </a:r>
          </a:p>
        </p:txBody>
      </p:sp>
      <p:sp>
        <p:nvSpPr>
          <p:cNvPr id="2" name="Text Box 1"/>
          <p:cNvSpPr txBox="1"/>
          <p:nvPr/>
        </p:nvSpPr>
        <p:spPr>
          <a:xfrm>
            <a:off x="6343015" y="3061970"/>
            <a:ext cx="2648585" cy="278130"/>
          </a:xfrm>
          <a:prstGeom prst="rect">
            <a:avLst/>
          </a:prstGeom>
          <a:noFill/>
        </p:spPr>
        <p:txBody>
          <a:bodyPr wrap="square" rtlCol="0">
            <a:noAutofit/>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755" y="190500"/>
            <a:ext cx="11758295" cy="1235710"/>
          </a:xfrm>
        </p:spPr>
        <p:txBody>
          <a:bodyPr>
            <a:normAutofit/>
          </a:bodyPr>
          <a:lstStyle/>
          <a:p>
            <a:r>
              <a:rPr lang="en-US" sz="3200" dirty="0">
                <a:solidFill>
                  <a:schemeClr val="tx1"/>
                </a:solidFill>
                <a:effectLst>
                  <a:outerShdw blurRad="38100" dist="19050" dir="2700000" algn="tl" rotWithShape="0">
                    <a:schemeClr val="dk1">
                      <a:alpha val="40000"/>
                      <a:alpha val="40000"/>
                    </a:schemeClr>
                  </a:outerShdw>
                </a:effectLst>
              </a:rPr>
              <a:t>AREA OF FAT ATTENUATION IN NODULE : HAMARTOMA</a:t>
            </a:r>
          </a:p>
        </p:txBody>
      </p:sp>
      <p:pic>
        <p:nvPicPr>
          <p:cNvPr id="5" name="Picture 2" descr=" ">
            <a:hlinkClick r:id="rId3"/>
          </p:cNvPr>
          <p:cNvPicPr>
            <a:picLocks noChangeAspect="1" noChangeArrowheads="1"/>
          </p:cNvPicPr>
          <p:nvPr/>
        </p:nvPicPr>
        <p:blipFill>
          <a:blip r:embed="rId4"/>
          <a:srcRect/>
          <a:stretch>
            <a:fillRect/>
          </a:stretch>
        </p:blipFill>
        <p:spPr bwMode="auto">
          <a:xfrm>
            <a:off x="3429000" y="1542415"/>
            <a:ext cx="3917315" cy="4204335"/>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9885" y="539750"/>
            <a:ext cx="11131550" cy="4909820"/>
          </a:xfrm>
        </p:spPr>
        <p:txBody>
          <a:bodyPr>
            <a:normAutofit fontScale="70000"/>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3. CAVITATION</a:t>
            </a:r>
          </a:p>
          <a:p>
            <a:pPr>
              <a:buNone/>
            </a:pPr>
            <a:endParaRPr lang="en-US" dirty="0"/>
          </a:p>
          <a:p>
            <a:r>
              <a:rPr lang="en-US" dirty="0"/>
              <a:t>CAVITATORY LESION  WITH WALL THICKNESS</a:t>
            </a:r>
          </a:p>
          <a:p>
            <a:pPr>
              <a:buNone/>
            </a:pPr>
            <a:r>
              <a:rPr lang="en-US" dirty="0"/>
              <a:t>      &lt; 3 mm  -LIKELY BENIGN </a:t>
            </a:r>
          </a:p>
          <a:p>
            <a:pPr>
              <a:buNone/>
            </a:pPr>
            <a:r>
              <a:rPr lang="en-US" dirty="0"/>
              <a:t>      </a:t>
            </a:r>
            <a:r>
              <a:rPr lang="en-US" dirty="0">
                <a:sym typeface="+mn-ea"/>
              </a:rPr>
              <a:t>    3-15 MM – INDETERMINATE</a:t>
            </a:r>
            <a:endParaRPr lang="en-US" dirty="0"/>
          </a:p>
          <a:p>
            <a:pPr indent="457200">
              <a:buNone/>
            </a:pPr>
            <a:r>
              <a:rPr lang="en-US" dirty="0"/>
              <a:t>&gt; 15 mm- LIKELY MALIGNANT  </a:t>
            </a:r>
          </a:p>
          <a:p>
            <a:pPr>
              <a:buNone/>
            </a:pPr>
            <a:r>
              <a:rPr lang="en-US" dirty="0"/>
              <a:t> </a:t>
            </a:r>
          </a:p>
          <a:p>
            <a:r>
              <a:rPr lang="en-US" dirty="0"/>
              <a:t> IRREGULAR WALL – LIKELY MALIGNANT </a:t>
            </a:r>
          </a:p>
          <a:p>
            <a:r>
              <a:rPr lang="en-US" dirty="0"/>
              <a:t>THIN SMOOTH WALL– LIKELY BENIGN </a:t>
            </a:r>
          </a:p>
          <a:p>
            <a:endParaRPr lang="en-US" dirty="0"/>
          </a:p>
          <a:p>
            <a:pPr>
              <a:buNone/>
            </a:pPr>
            <a:r>
              <a:rPr lang="en-US" dirty="0"/>
              <a:t>                                                      </a:t>
            </a:r>
          </a:p>
          <a:p>
            <a:endParaRPr lang="en-US" dirty="0"/>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10845" y="1038860"/>
            <a:ext cx="3868420" cy="475615"/>
          </a:xfrm>
        </p:spPr>
        <p:txBody>
          <a:bodyPr/>
          <a:lstStyle/>
          <a:p>
            <a:r>
              <a:rPr lang="en-US" sz="2400" dirty="0">
                <a:solidFill>
                  <a:schemeClr val="tx1"/>
                </a:solidFill>
                <a:effectLst>
                  <a:outerShdw blurRad="38100" dist="19050" dir="2700000" algn="tl" rotWithShape="0">
                    <a:schemeClr val="dk1">
                      <a:alpha val="40000"/>
                      <a:alpha val="40000"/>
                    </a:schemeClr>
                  </a:outerShdw>
                </a:effectLst>
              </a:rPr>
              <a:t>Benign </a:t>
            </a:r>
            <a:r>
              <a:rPr lang="en-US" sz="2400" dirty="0" err="1">
                <a:solidFill>
                  <a:schemeClr val="tx1"/>
                </a:solidFill>
                <a:effectLst>
                  <a:outerShdw blurRad="38100" dist="19050" dir="2700000" algn="tl" rotWithShape="0">
                    <a:schemeClr val="dk1">
                      <a:alpha val="40000"/>
                      <a:alpha val="40000"/>
                    </a:schemeClr>
                  </a:outerShdw>
                </a:effectLst>
              </a:rPr>
              <a:t>cavitation</a:t>
            </a:r>
          </a:p>
        </p:txBody>
      </p:sp>
      <p:sp>
        <p:nvSpPr>
          <p:cNvPr id="5" name="Text Placeholder 4"/>
          <p:cNvSpPr>
            <a:spLocks noGrp="1"/>
          </p:cNvSpPr>
          <p:nvPr>
            <p:ph type="body" sz="quarter" idx="3"/>
          </p:nvPr>
        </p:nvSpPr>
        <p:spPr>
          <a:xfrm>
            <a:off x="6727825" y="932180"/>
            <a:ext cx="3270250" cy="582295"/>
          </a:xfrm>
        </p:spPr>
        <p:txBody>
          <a:bodyPr/>
          <a:lstStyle/>
          <a:p>
            <a:r>
              <a:rPr lang="en-US" sz="2400" dirty="0">
                <a:solidFill>
                  <a:schemeClr val="tx1"/>
                </a:solidFill>
                <a:effectLst>
                  <a:outerShdw blurRad="38100" dist="19050" dir="2700000" algn="tl" rotWithShape="0">
                    <a:schemeClr val="dk1">
                      <a:alpha val="40000"/>
                      <a:alpha val="40000"/>
                    </a:schemeClr>
                  </a:outerShdw>
                </a:effectLst>
              </a:rPr>
              <a:t>Malignant </a:t>
            </a:r>
            <a:r>
              <a:rPr lang="en-US" sz="2400" dirty="0" err="1">
                <a:solidFill>
                  <a:schemeClr val="tx1"/>
                </a:solidFill>
                <a:effectLst>
                  <a:outerShdw blurRad="38100" dist="19050" dir="2700000" algn="tl" rotWithShape="0">
                    <a:schemeClr val="dk1">
                      <a:alpha val="40000"/>
                      <a:alpha val="40000"/>
                    </a:schemeClr>
                  </a:outerShdw>
                </a:effectLst>
              </a:rPr>
              <a:t>cavitation</a:t>
            </a:r>
          </a:p>
        </p:txBody>
      </p:sp>
      <p:pic>
        <p:nvPicPr>
          <p:cNvPr id="7" name="Picture 2" descr="Figure 19">
            <a:hlinkClick r:id="rId3"/>
          </p:cNvPr>
          <p:cNvPicPr>
            <a:picLocks noGrp="1" noChangeAspect="1" noChangeArrowheads="1"/>
          </p:cNvPicPr>
          <p:nvPr>
            <p:ph sz="half" idx="2"/>
          </p:nvPr>
        </p:nvPicPr>
        <p:blipFill>
          <a:blip r:embed="rId4"/>
          <a:srcRect/>
          <a:stretch>
            <a:fillRect/>
          </a:stretch>
        </p:blipFill>
        <p:spPr bwMode="auto">
          <a:xfrm>
            <a:off x="709930" y="1514475"/>
            <a:ext cx="3270250" cy="4207510"/>
          </a:xfrm>
          <a:prstGeom prst="rect">
            <a:avLst/>
          </a:prstGeom>
          <a:noFill/>
        </p:spPr>
      </p:pic>
      <p:pic>
        <p:nvPicPr>
          <p:cNvPr id="8" name="Picture 2" descr="Figure 18">
            <a:hlinkClick r:id="rId5"/>
          </p:cNvPr>
          <p:cNvPicPr>
            <a:picLocks noGrp="1" noChangeAspect="1" noChangeArrowheads="1"/>
          </p:cNvPicPr>
          <p:nvPr>
            <p:ph sz="quarter" idx="4"/>
          </p:nvPr>
        </p:nvPicPr>
        <p:blipFill>
          <a:blip r:embed="rId6"/>
          <a:srcRect/>
          <a:stretch>
            <a:fillRect/>
          </a:stretch>
        </p:blipFill>
        <p:spPr bwMode="auto">
          <a:xfrm>
            <a:off x="6359525" y="1514475"/>
            <a:ext cx="3013710" cy="4043045"/>
          </a:xfrm>
          <a:prstGeom prst="rect">
            <a:avLst/>
          </a:prstGeom>
          <a:noFill/>
        </p:spPr>
      </p:pic>
      <p:sp>
        <p:nvSpPr>
          <p:cNvPr id="2" name="Text Box 1"/>
          <p:cNvSpPr txBox="1"/>
          <p:nvPr/>
        </p:nvSpPr>
        <p:spPr>
          <a:xfrm>
            <a:off x="193040" y="4542155"/>
            <a:ext cx="395605" cy="368300"/>
          </a:xfrm>
          <a:prstGeom prst="rect">
            <a:avLst/>
          </a:prstGeom>
          <a:noFill/>
        </p:spPr>
        <p:txBody>
          <a:bodyPr wrap="square" rtlCol="0">
            <a:spAutoFit/>
          </a:bodyPr>
          <a:lstStyle/>
          <a:p>
            <a:r>
              <a:rPr lang="en-US"/>
              <a:t>A</a:t>
            </a:r>
          </a:p>
        </p:txBody>
      </p:sp>
      <p:sp>
        <p:nvSpPr>
          <p:cNvPr id="6" name="Text Box 5"/>
          <p:cNvSpPr txBox="1"/>
          <p:nvPr/>
        </p:nvSpPr>
        <p:spPr>
          <a:xfrm>
            <a:off x="9479280" y="5280660"/>
            <a:ext cx="395605" cy="368300"/>
          </a:xfrm>
          <a:prstGeom prst="rect">
            <a:avLst/>
          </a:prstGeom>
          <a:noFill/>
        </p:spPr>
        <p:txBody>
          <a:bodyPr wrap="square" rtlCol="0">
            <a:spAutoFit/>
          </a:bodyPr>
          <a:lstStyle/>
          <a:p>
            <a:r>
              <a:rPr lang="en-US"/>
              <a:t>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shot 2026-05-01 at 1.22.11 PM"/>
          <p:cNvPicPr>
            <a:picLocks noChangeAspect="1"/>
          </p:cNvPicPr>
          <p:nvPr/>
        </p:nvPicPr>
        <p:blipFill>
          <a:blip r:embed="rId3"/>
          <a:stretch>
            <a:fillRect/>
          </a:stretch>
        </p:blipFill>
        <p:spPr>
          <a:xfrm>
            <a:off x="2133600" y="1235710"/>
            <a:ext cx="4486275" cy="3988435"/>
          </a:xfrm>
          <a:prstGeom prst="rect">
            <a:avLst/>
          </a:prstGeom>
        </p:spPr>
      </p:pic>
      <p:sp>
        <p:nvSpPr>
          <p:cNvPr id="8" name="Text Box 7"/>
          <p:cNvSpPr txBox="1"/>
          <p:nvPr/>
        </p:nvSpPr>
        <p:spPr>
          <a:xfrm>
            <a:off x="7232650" y="2180590"/>
            <a:ext cx="2471420" cy="762635"/>
          </a:xfrm>
          <a:prstGeom prst="rect">
            <a:avLst/>
          </a:prstGeom>
          <a:noFill/>
        </p:spPr>
        <p:txBody>
          <a:bodyPr wrap="square" rtlCol="0">
            <a:noAutofit/>
          </a:bodyPr>
          <a:lstStyle/>
          <a:p>
            <a:r>
              <a:rPr lang="en-US" altLang="en-US" sz="1400">
                <a:sym typeface="+mn-ea"/>
              </a:rPr>
              <a:t>This mass that represents </a:t>
            </a:r>
            <a:endParaRPr lang="en-US" altLang="en-US" sz="1400"/>
          </a:p>
          <a:p>
            <a:r>
              <a:rPr lang="en-US" altLang="en-US" sz="1400">
                <a:sym typeface="+mn-ea"/>
              </a:rPr>
              <a:t>a squamous cell carcinoma.</a:t>
            </a:r>
            <a:r>
              <a:rPr lang="en-US" sz="140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Screenshot 2026-05-01 at 1.22.30 PM"/>
          <p:cNvPicPr>
            <a:picLocks noChangeAspect="1"/>
          </p:cNvPicPr>
          <p:nvPr/>
        </p:nvPicPr>
        <p:blipFill>
          <a:blip r:embed="rId3"/>
          <a:stretch>
            <a:fillRect/>
          </a:stretch>
        </p:blipFill>
        <p:spPr>
          <a:xfrm>
            <a:off x="1176020" y="880745"/>
            <a:ext cx="5450205" cy="4165600"/>
          </a:xfrm>
          <a:prstGeom prst="rect">
            <a:avLst/>
          </a:prstGeom>
        </p:spPr>
      </p:pic>
      <p:sp>
        <p:nvSpPr>
          <p:cNvPr id="11" name="Text Box 10"/>
          <p:cNvSpPr txBox="1"/>
          <p:nvPr/>
        </p:nvSpPr>
        <p:spPr>
          <a:xfrm>
            <a:off x="7179945" y="3801745"/>
            <a:ext cx="3648710" cy="1244600"/>
          </a:xfrm>
          <a:prstGeom prst="rect">
            <a:avLst/>
          </a:prstGeom>
          <a:noFill/>
        </p:spPr>
        <p:txBody>
          <a:bodyPr wrap="square" rtlCol="0">
            <a:noAutofit/>
          </a:bodyPr>
          <a:lstStyle/>
          <a:p>
            <a:r>
              <a:rPr lang="en-US" altLang="en-US">
                <a:sym typeface="+mn-ea"/>
              </a:rPr>
              <a:t>Cavitary adenocarcinoma shown on HRCT in six </a:t>
            </a:r>
            <a:endParaRPr lang="en-US" altLang="en-US"/>
          </a:p>
          <a:p>
            <a:r>
              <a:rPr lang="en-US" altLang="en-US">
                <a:sym typeface="+mn-ea"/>
              </a:rPr>
              <a:t>contiguous scans. </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955" y="498475"/>
            <a:ext cx="11917045" cy="4658995"/>
          </a:xfrm>
        </p:spPr>
        <p:txBody>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4.  PSEUDOCAVITATION</a:t>
            </a:r>
          </a:p>
          <a:p>
            <a:pPr>
              <a:buNone/>
            </a:pPr>
            <a:r>
              <a:rPr lang="en-US" sz="2400" dirty="0"/>
              <a:t>Seen as small air containing luciencies within the mass.</a:t>
            </a:r>
          </a:p>
          <a:p>
            <a:pPr marL="0" indent="0">
              <a:buNone/>
            </a:pPr>
            <a:r>
              <a:rPr lang="en-US" sz="2400" dirty="0"/>
              <a:t>Represent: </a:t>
            </a:r>
          </a:p>
          <a:p>
            <a:r>
              <a:rPr lang="en-US" sz="2400" dirty="0"/>
              <a:t>Dilated brochi/alveoli.</a:t>
            </a:r>
          </a:p>
          <a:p>
            <a:r>
              <a:rPr lang="en-US" sz="2400" dirty="0"/>
              <a:t>Small cystic spaces.</a:t>
            </a:r>
          </a:p>
          <a:p>
            <a:pPr marL="0" indent="0">
              <a:buNone/>
            </a:pPr>
            <a:endParaRPr lang="en-US" sz="2400" dirty="0"/>
          </a:p>
          <a:p>
            <a:pPr marL="0" indent="0">
              <a:buNone/>
            </a:pPr>
            <a:r>
              <a:rPr lang="en-US" sz="2400" dirty="0"/>
              <a:t>Early cavitation.</a:t>
            </a:r>
          </a:p>
          <a:p>
            <a:pPr>
              <a:buFont typeface="Wingdings" panose="05000000000000000000" charset="0"/>
              <a:buChar char=""/>
            </a:pPr>
            <a:r>
              <a:rPr lang="en-US" sz="2400" dirty="0"/>
              <a:t>same significance as air brochogram</a:t>
            </a:r>
          </a:p>
          <a:p>
            <a:pPr>
              <a:buFont typeface="Wingdings" panose="05000000000000000000" charset="0"/>
              <a:buChar char=""/>
            </a:pPr>
            <a:r>
              <a:rPr lang="en-US" sz="2400" dirty="0"/>
              <a:t>favours malignancy.</a:t>
            </a:r>
          </a:p>
          <a:p>
            <a:endParaRPr lang="en-US" dirty="0"/>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50595" y="686435"/>
            <a:ext cx="4686300" cy="4197350"/>
          </a:xfrm>
        </p:spPr>
        <p:txBody>
          <a:bodyPr>
            <a:normAutofit fontScale="25000"/>
          </a:bodyPr>
          <a:lstStyle/>
          <a:p>
            <a:pPr>
              <a:buNone/>
            </a:pPr>
            <a:r>
              <a:rPr lang="en-US" sz="9600" dirty="0">
                <a:ln w="22225">
                  <a:solidFill>
                    <a:schemeClr val="accent2"/>
                  </a:solidFill>
                  <a:prstDash val="solid"/>
                </a:ln>
                <a:solidFill>
                  <a:schemeClr val="accent2">
                    <a:lumMod val="40000"/>
                    <a:lumOff val="60000"/>
                    <a:lumMod val="40000"/>
                    <a:lumOff val="60000"/>
                  </a:schemeClr>
                </a:solidFill>
                <a:effectLst/>
                <a:cs typeface="+mn-lt"/>
              </a:rPr>
              <a:t>5. AIR CRESCENT SIGN</a:t>
            </a:r>
          </a:p>
          <a:p>
            <a:pPr>
              <a:buNone/>
            </a:pPr>
            <a:r>
              <a:rPr lang="en-US" altLang="en-US" sz="5600" dirty="0" err="1">
                <a:cs typeface="+mn-lt"/>
              </a:rPr>
              <a:t>Air outlining or capping the superior</a:t>
            </a:r>
          </a:p>
          <a:p>
            <a:pPr>
              <a:buNone/>
            </a:pPr>
            <a:r>
              <a:rPr lang="en-US" altLang="en-US" sz="5600" dirty="0" err="1">
                <a:cs typeface="+mn-lt"/>
              </a:rPr>
              <a:t>aspect of the mass results in a</a:t>
            </a:r>
          </a:p>
          <a:p>
            <a:pPr>
              <a:buNone/>
            </a:pPr>
            <a:r>
              <a:rPr lang="en-US" altLang="en-US" sz="5600" dirty="0" err="1">
                <a:cs typeface="+mn-lt"/>
              </a:rPr>
              <a:t>crescent-shaped collection of air,</a:t>
            </a:r>
          </a:p>
          <a:p>
            <a:pPr>
              <a:buNone/>
            </a:pPr>
            <a:r>
              <a:rPr lang="en-US" altLang="en-US" sz="5600" dirty="0" err="1">
                <a:cs typeface="+mn-lt"/>
              </a:rPr>
              <a:t>termed the air cresent sign.</a:t>
            </a:r>
          </a:p>
          <a:p>
            <a:pPr>
              <a:buNone/>
            </a:pPr>
            <a:endParaRPr lang="en-US" altLang="en-US" sz="5600" dirty="0" err="1">
              <a:cs typeface="+mn-lt"/>
            </a:endParaRPr>
          </a:p>
          <a:p>
            <a:pPr>
              <a:buNone/>
            </a:pPr>
            <a:r>
              <a:rPr lang="en-US" altLang="en-US" sz="5600" dirty="0" err="1">
                <a:cs typeface="+mn-lt"/>
              </a:rPr>
              <a:t>Causes are</a:t>
            </a:r>
          </a:p>
          <a:p>
            <a:r>
              <a:rPr lang="en-US" sz="5600" dirty="0" err="1">
                <a:cs typeface="+mn-lt"/>
              </a:rPr>
              <a:t>Aspergilloma</a:t>
            </a:r>
            <a:endParaRPr lang="en-US" sz="5600" dirty="0">
              <a:cs typeface="+mn-lt"/>
            </a:endParaRPr>
          </a:p>
          <a:p>
            <a:r>
              <a:rPr lang="en-US" sz="5600" dirty="0">
                <a:cs typeface="+mn-lt"/>
              </a:rPr>
              <a:t>Blood clot in a cyst</a:t>
            </a:r>
          </a:p>
          <a:p>
            <a:r>
              <a:rPr lang="en-US" sz="5600" dirty="0">
                <a:cs typeface="+mn-lt"/>
              </a:rPr>
              <a:t>Complicated </a:t>
            </a:r>
            <a:r>
              <a:rPr lang="en-US" sz="5600" dirty="0" err="1">
                <a:cs typeface="+mn-lt"/>
              </a:rPr>
              <a:t>hydatid</a:t>
            </a:r>
            <a:r>
              <a:rPr lang="en-US" sz="5600" dirty="0">
                <a:cs typeface="+mn-lt"/>
              </a:rPr>
              <a:t> disease</a:t>
            </a:r>
          </a:p>
          <a:p>
            <a:r>
              <a:rPr lang="en-US" sz="5600" dirty="0">
                <a:cs typeface="+mn-lt"/>
              </a:rPr>
              <a:t>Carcinoma arising in a cyst</a:t>
            </a:r>
          </a:p>
          <a:p>
            <a:r>
              <a:rPr lang="en-US" sz="5600" dirty="0">
                <a:cs typeface="+mn-lt"/>
              </a:rPr>
              <a:t>Rasmussen aneurysm (mycotic pulmonary artery aneurysm in tubercular cavity)</a:t>
            </a:r>
          </a:p>
          <a:p>
            <a:r>
              <a:rPr lang="en-US" sz="5600" dirty="0">
                <a:cs typeface="+mn-lt"/>
              </a:rPr>
              <a:t>Mucus plug in cystic </a:t>
            </a:r>
            <a:r>
              <a:rPr lang="en-US" sz="5600" dirty="0" err="1">
                <a:cs typeface="+mn-lt"/>
              </a:rPr>
              <a:t>bronchiectasis</a:t>
            </a:r>
            <a:endParaRPr lang="en-US" sz="5600" dirty="0">
              <a:cs typeface="+mn-lt"/>
            </a:endParaRPr>
          </a:p>
          <a:p>
            <a:pPr>
              <a:buNone/>
            </a:pPr>
            <a:endParaRPr lang="en-US" sz="9600" dirty="0">
              <a:cs typeface="+mn-lt"/>
            </a:endParaRPr>
          </a:p>
          <a:p>
            <a:endParaRPr lang="en-US" sz="9600" dirty="0">
              <a:cs typeface="+mn-lt"/>
            </a:endParaRPr>
          </a:p>
        </p:txBody>
      </p:sp>
      <p:pic>
        <p:nvPicPr>
          <p:cNvPr id="2" name="Picture 1" descr="Screenshot 2026-05-01 at 1.54.40 PM"/>
          <p:cNvPicPr>
            <a:picLocks noChangeAspect="1"/>
          </p:cNvPicPr>
          <p:nvPr/>
        </p:nvPicPr>
        <p:blipFill>
          <a:blip r:embed="rId3"/>
          <a:stretch>
            <a:fillRect/>
          </a:stretch>
        </p:blipFill>
        <p:spPr>
          <a:xfrm>
            <a:off x="6451600" y="475615"/>
            <a:ext cx="3327400" cy="4197350"/>
          </a:xfrm>
          <a:prstGeom prst="rect">
            <a:avLst/>
          </a:prstGeom>
        </p:spPr>
      </p:pic>
      <p:sp>
        <p:nvSpPr>
          <p:cNvPr id="5" name="Text Box 4"/>
          <p:cNvSpPr txBox="1"/>
          <p:nvPr/>
        </p:nvSpPr>
        <p:spPr>
          <a:xfrm>
            <a:off x="6553200" y="4770120"/>
            <a:ext cx="3798570" cy="621030"/>
          </a:xfrm>
          <a:prstGeom prst="rect">
            <a:avLst/>
          </a:prstGeom>
          <a:noFill/>
        </p:spPr>
        <p:txBody>
          <a:bodyPr wrap="square" rtlCol="0">
            <a:noAutofit/>
          </a:bodyPr>
          <a:lstStyle/>
          <a:p>
            <a:pPr>
              <a:buNone/>
            </a:pPr>
            <a:r>
              <a:rPr lang="en-US" altLang="en-US" dirty="0" err="1">
                <a:cs typeface="+mn-lt"/>
                <a:sym typeface="+mn-ea"/>
              </a:rPr>
              <a:t>CT of a lung abscess with air fluid level. </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6405" y="739775"/>
            <a:ext cx="11587480" cy="2019935"/>
          </a:xfrm>
        </p:spPr>
        <p:txBody>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7. AIR FLUID LEVEL</a:t>
            </a:r>
          </a:p>
          <a:p>
            <a:pPr>
              <a:buNone/>
            </a:pPr>
            <a:r>
              <a:rPr lang="en-US" sz="2800" dirty="0"/>
              <a:t>Usually seen in benign lesions like lung abscess, infected cyst or cavity</a:t>
            </a:r>
          </a:p>
          <a:p>
            <a:pPr>
              <a:buNone/>
            </a:pPr>
            <a:r>
              <a:rPr lang="en-US" sz="2800" dirty="0" err="1"/>
              <a:t>Can be seen in cavitary</a:t>
            </a:r>
            <a:r>
              <a:rPr lang="en-US" sz="2800" dirty="0"/>
              <a:t> carcinoma suggesting </a:t>
            </a:r>
            <a:r>
              <a:rPr lang="en-US" sz="2800" dirty="0" err="1">
                <a:sym typeface="+mn-ea"/>
              </a:rPr>
              <a:t>Intracavitary</a:t>
            </a:r>
            <a:r>
              <a:rPr lang="en-US" sz="2800" dirty="0">
                <a:sym typeface="+mn-ea"/>
              </a:rPr>
              <a:t> hemorrhage </a:t>
            </a:r>
            <a:endParaRPr lang="en-US" sz="2800" dirty="0"/>
          </a:p>
        </p:txBody>
      </p:sp>
      <p:pic>
        <p:nvPicPr>
          <p:cNvPr id="9" name="Picture 8" descr="Screenshot 2026-05-01 at 1.22.22 PM"/>
          <p:cNvPicPr>
            <a:picLocks noChangeAspect="1"/>
          </p:cNvPicPr>
          <p:nvPr/>
        </p:nvPicPr>
        <p:blipFill>
          <a:blip r:embed="rId3"/>
          <a:stretch>
            <a:fillRect/>
          </a:stretch>
        </p:blipFill>
        <p:spPr>
          <a:xfrm>
            <a:off x="1612265" y="2759710"/>
            <a:ext cx="4403090" cy="2895600"/>
          </a:xfrm>
          <a:prstGeom prst="rect">
            <a:avLst/>
          </a:prstGeom>
        </p:spPr>
      </p:pic>
      <p:sp>
        <p:nvSpPr>
          <p:cNvPr id="2" name="Text Box 1"/>
          <p:cNvSpPr txBox="1"/>
          <p:nvPr/>
        </p:nvSpPr>
        <p:spPr>
          <a:xfrm>
            <a:off x="6354445" y="3522980"/>
            <a:ext cx="5013960" cy="1017270"/>
          </a:xfrm>
          <a:prstGeom prst="rect">
            <a:avLst/>
          </a:prstGeom>
          <a:noFill/>
        </p:spPr>
        <p:txBody>
          <a:bodyPr wrap="square" rtlCol="0">
            <a:noAutofit/>
          </a:bodyPr>
          <a:lstStyle/>
          <a:p>
            <a:r>
              <a:rPr lang="en-US" altLang="en-US">
                <a:sym typeface="+mn-ea"/>
              </a:rPr>
              <a:t>Cavitary squamous cell carcinoma shown at two levels. </a:t>
            </a:r>
            <a:endParaRPr lang="en-US"/>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86690" y="988695"/>
            <a:ext cx="6795770" cy="4488180"/>
          </a:xfrm>
        </p:spPr>
        <p:txBody>
          <a:bodyPr>
            <a:normAutofit fontScale="70000"/>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8. SATELLITE NODULES</a:t>
            </a:r>
          </a:p>
          <a:p>
            <a:pPr>
              <a:buNone/>
            </a:pPr>
            <a:endParaRPr lang="en-US" dirty="0">
              <a:ln w="22225">
                <a:solidFill>
                  <a:schemeClr val="accent2"/>
                </a:solidFill>
                <a:prstDash val="solid"/>
              </a:ln>
              <a:solidFill>
                <a:schemeClr val="accent2">
                  <a:lumMod val="40000"/>
                  <a:lumOff val="60000"/>
                  <a:lumMod val="40000"/>
                  <a:lumOff val="60000"/>
                </a:schemeClr>
              </a:solidFill>
              <a:effectLst/>
            </a:endParaRPr>
          </a:p>
          <a:p>
            <a:pPr>
              <a:buNone/>
            </a:pPr>
            <a:r>
              <a:rPr lang="en-US" dirty="0"/>
              <a:t>Small nodules adjacent to larger nodule or mass</a:t>
            </a:r>
          </a:p>
          <a:p>
            <a:pPr>
              <a:buNone/>
            </a:pPr>
            <a:endParaRPr lang="en-US" dirty="0"/>
          </a:p>
          <a:p>
            <a:pPr>
              <a:buNone/>
            </a:pPr>
            <a:r>
              <a:rPr lang="en-US" dirty="0"/>
              <a:t>Predictor of benign disease like </a:t>
            </a:r>
            <a:r>
              <a:rPr lang="en-US" dirty="0" err="1"/>
              <a:t>granulomatous</a:t>
            </a:r>
            <a:r>
              <a:rPr lang="en-US" dirty="0"/>
              <a:t> diseases</a:t>
            </a:r>
          </a:p>
          <a:p>
            <a:pPr>
              <a:buNone/>
            </a:pPr>
            <a:endParaRPr lang="en-US" dirty="0"/>
          </a:p>
          <a:p>
            <a:pPr>
              <a:buNone/>
            </a:pPr>
            <a:r>
              <a:rPr lang="en-US" dirty="0"/>
              <a:t>Galaxy sign : satellite nodules in </a:t>
            </a:r>
            <a:r>
              <a:rPr lang="en-US" dirty="0" err="1"/>
              <a:t>sarcoidosis</a:t>
            </a:r>
            <a:endParaRPr lang="en-US" dirty="0"/>
          </a:p>
          <a:p>
            <a:pPr>
              <a:buNone/>
            </a:pPr>
            <a:endParaRPr lang="en-US" dirty="0"/>
          </a:p>
          <a:p>
            <a:pPr>
              <a:buNone/>
            </a:pPr>
            <a:r>
              <a:rPr lang="en-US" dirty="0"/>
              <a:t>Presence of satellite nodules in lung tumors is considered as locally advanced tumor</a:t>
            </a:r>
          </a:p>
          <a:p>
            <a:pPr>
              <a:buNone/>
            </a:pPr>
            <a:endParaRPr lang="en-US" dirty="0"/>
          </a:p>
        </p:txBody>
      </p:sp>
      <p:pic>
        <p:nvPicPr>
          <p:cNvPr id="6" name="Content Placeholder 5" descr="http://bjr.birjournals.org/content/vol77/issue924/images/large/BJR48908-1.jpeg"/>
          <p:cNvPicPr>
            <a:picLocks noGrp="1" noChangeAspect="1" noChangeArrowheads="1"/>
          </p:cNvPicPr>
          <p:nvPr>
            <p:ph sz="half" idx="2"/>
          </p:nvPr>
        </p:nvPicPr>
        <p:blipFill>
          <a:blip r:embed="rId3"/>
          <a:srcRect r="75650" b="65194"/>
          <a:stretch>
            <a:fillRect/>
          </a:stretch>
        </p:blipFill>
        <p:spPr bwMode="auto">
          <a:xfrm>
            <a:off x="7246874" y="728723"/>
            <a:ext cx="3351276" cy="4236917"/>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40385" y="513715"/>
            <a:ext cx="6216650" cy="4954270"/>
          </a:xfrm>
        </p:spPr>
        <p:txBody>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9. FEEDING VESSEL SIGN</a:t>
            </a:r>
          </a:p>
          <a:p>
            <a:pPr>
              <a:buNone/>
            </a:pPr>
            <a:endParaRPr lang="en-US" dirty="0"/>
          </a:p>
          <a:p>
            <a:pPr>
              <a:buNone/>
            </a:pPr>
            <a:r>
              <a:rPr lang="en-US" dirty="0"/>
              <a:t>Small pulmonary artery leading directly to a nodule</a:t>
            </a:r>
          </a:p>
          <a:p>
            <a:pPr>
              <a:buNone/>
            </a:pPr>
            <a:endParaRPr lang="en-US" dirty="0"/>
          </a:p>
          <a:p>
            <a:pPr>
              <a:buNone/>
            </a:pPr>
            <a:r>
              <a:rPr lang="en-US" dirty="0"/>
              <a:t>Seen in </a:t>
            </a:r>
            <a:r>
              <a:rPr lang="en-US" dirty="0" err="1">
                <a:sym typeface="+mn-ea"/>
              </a:rPr>
              <a:t>hematogenous</a:t>
            </a:r>
            <a:r>
              <a:rPr lang="en-US" dirty="0">
                <a:sym typeface="+mn-ea"/>
              </a:rPr>
              <a:t> </a:t>
            </a:r>
            <a:r>
              <a:rPr lang="en-US" dirty="0"/>
              <a:t>metastasis, </a:t>
            </a:r>
            <a:r>
              <a:rPr lang="en-US" dirty="0">
                <a:sym typeface="+mn-ea"/>
              </a:rPr>
              <a:t>infarct and Artiovenous fistula.</a:t>
            </a:r>
            <a:r>
              <a:rPr lang="en-US" dirty="0"/>
              <a:t> </a:t>
            </a:r>
          </a:p>
        </p:txBody>
      </p:sp>
      <p:pic>
        <p:nvPicPr>
          <p:cNvPr id="2050" name="Picture 2" descr="C:\Users\Dell\Desktop\FEEDING.jpg"/>
          <p:cNvPicPr>
            <a:picLocks noGrp="1" noChangeAspect="1" noChangeArrowheads="1"/>
          </p:cNvPicPr>
          <p:nvPr>
            <p:ph sz="half" idx="2"/>
          </p:nvPr>
        </p:nvPicPr>
        <p:blipFill>
          <a:blip r:embed="rId3"/>
          <a:srcRect/>
          <a:stretch>
            <a:fillRect/>
          </a:stretch>
        </p:blipFill>
        <p:spPr bwMode="auto">
          <a:xfrm>
            <a:off x="7162800" y="855345"/>
            <a:ext cx="3773170" cy="412877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shot 2026-05-01 at 2.11.23 PM"/>
          <p:cNvPicPr>
            <a:picLocks noChangeAspect="1"/>
          </p:cNvPicPr>
          <p:nvPr/>
        </p:nvPicPr>
        <p:blipFill>
          <a:blip r:embed="rId3"/>
          <a:stretch>
            <a:fillRect/>
          </a:stretch>
        </p:blipFill>
        <p:spPr>
          <a:xfrm>
            <a:off x="3657600" y="289560"/>
            <a:ext cx="4159885" cy="517017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7245" y="802005"/>
            <a:ext cx="10882630" cy="3990340"/>
          </a:xfrm>
        </p:spPr>
        <p:txBody>
          <a:bodyPr>
            <a:normAutofit lnSpcReduction="10000"/>
          </a:bodyPr>
          <a:lstStyle/>
          <a:p>
            <a:pPr>
              <a:buNone/>
            </a:pPr>
            <a:r>
              <a:rPr lang="en-US" dirty="0">
                <a:ln w="22225">
                  <a:solidFill>
                    <a:schemeClr val="accent2"/>
                  </a:solidFill>
                  <a:prstDash val="solid"/>
                </a:ln>
                <a:solidFill>
                  <a:schemeClr val="accent2">
                    <a:lumMod val="40000"/>
                    <a:lumOff val="60000"/>
                    <a:lumMod val="40000"/>
                    <a:lumOff val="60000"/>
                  </a:schemeClr>
                </a:solidFill>
                <a:effectLst/>
              </a:rPr>
              <a:t>10. POSITIVE BRONCHUS SIGN </a:t>
            </a:r>
          </a:p>
          <a:p>
            <a:r>
              <a:rPr lang="en-US" dirty="0">
                <a:latin typeface="Calibri" charset="0"/>
                <a:cs typeface="Calibri" charset="0"/>
              </a:rPr>
              <a:t>A pulmonary lesion that directly abuts, narrows or occludes  bronchial lumen  is more likely to be malignant</a:t>
            </a:r>
          </a:p>
          <a:p>
            <a:r>
              <a:rPr lang="en-US" dirty="0">
                <a:latin typeface="Calibri" charset="0"/>
                <a:cs typeface="Calibri" charset="0"/>
              </a:rPr>
              <a:t>Also seen in </a:t>
            </a:r>
            <a:r>
              <a:rPr lang="en-US" dirty="0" err="1">
                <a:latin typeface="Calibri" charset="0"/>
                <a:cs typeface="Calibri" charset="0"/>
              </a:rPr>
              <a:t>tuberculoma</a:t>
            </a:r>
            <a:r>
              <a:rPr lang="en-US" dirty="0">
                <a:latin typeface="Calibri" charset="0"/>
                <a:cs typeface="Calibri" charset="0"/>
              </a:rPr>
              <a:t>, pulmonary infarcts and Inflammatory masses</a:t>
            </a:r>
          </a:p>
          <a:p>
            <a:r>
              <a:rPr lang="en-US" dirty="0">
                <a:latin typeface="Calibri" charset="0"/>
                <a:cs typeface="Calibri" charset="0"/>
              </a:rPr>
              <a:t>This sign helps in whether </a:t>
            </a:r>
            <a:r>
              <a:rPr lang="en-US" dirty="0" err="1">
                <a:latin typeface="Calibri" charset="0"/>
                <a:cs typeface="Calibri" charset="0"/>
              </a:rPr>
              <a:t>transbronchial</a:t>
            </a:r>
            <a:r>
              <a:rPr lang="en-US" dirty="0">
                <a:latin typeface="Calibri" charset="0"/>
                <a:cs typeface="Calibri" charset="0"/>
              </a:rPr>
              <a:t> or </a:t>
            </a:r>
            <a:r>
              <a:rPr lang="en-US">
                <a:latin typeface="Calibri" charset="0"/>
                <a:cs typeface="Calibri" charset="0"/>
              </a:rPr>
              <a:t>trans thoracic </a:t>
            </a:r>
            <a:r>
              <a:rPr lang="en-US" dirty="0">
                <a:latin typeface="Calibri" charset="0"/>
                <a:cs typeface="Calibri" charset="0"/>
              </a:rPr>
              <a:t>biopsy helps in histological diagnosis</a:t>
            </a:r>
          </a:p>
          <a:p>
            <a:pPr>
              <a:buNone/>
            </a:pPr>
            <a:endParaRPr lang="en-US" b="1" dirty="0"/>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609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POSITIVE BRONCHUS SIGN</a:t>
            </a:r>
          </a:p>
        </p:txBody>
      </p:sp>
      <p:pic>
        <p:nvPicPr>
          <p:cNvPr id="4" name="Picture 1"/>
          <p:cNvPicPr>
            <a:picLocks noChangeAspect="1" noChangeArrowheads="1"/>
          </p:cNvPicPr>
          <p:nvPr/>
        </p:nvPicPr>
        <p:blipFill>
          <a:blip r:embed="rId3"/>
          <a:srcRect l="25781" t="39375" r="57813" b="29687"/>
          <a:stretch>
            <a:fillRect/>
          </a:stretch>
        </p:blipFill>
        <p:spPr bwMode="auto">
          <a:xfrm>
            <a:off x="4338955" y="1242695"/>
            <a:ext cx="3883660" cy="457708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9276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CONTRAST ENHANCEMENT</a:t>
            </a:r>
          </a:p>
        </p:txBody>
      </p:sp>
      <p:sp>
        <p:nvSpPr>
          <p:cNvPr id="3" name="Content Placeholder 2"/>
          <p:cNvSpPr>
            <a:spLocks noGrp="1"/>
          </p:cNvSpPr>
          <p:nvPr>
            <p:ph idx="1"/>
          </p:nvPr>
        </p:nvSpPr>
        <p:spPr>
          <a:xfrm>
            <a:off x="160020" y="772795"/>
            <a:ext cx="11892280" cy="5511800"/>
          </a:xfrm>
        </p:spPr>
        <p:txBody>
          <a:bodyPr>
            <a:normAutofit lnSpcReduction="10000"/>
          </a:bodyPr>
          <a:lstStyle/>
          <a:p>
            <a:pPr>
              <a:buNone/>
            </a:pPr>
            <a:endParaRPr lang="en-US" sz="1515" dirty="0"/>
          </a:p>
          <a:p>
            <a:pPr>
              <a:buNone/>
            </a:pPr>
            <a:r>
              <a:rPr lang="en-US" sz="1800" dirty="0">
                <a:sym typeface="+mn-ea"/>
              </a:rPr>
              <a:t>Recommended Protocol: </a:t>
            </a:r>
            <a:endParaRPr lang="en-US" sz="1800" dirty="0"/>
          </a:p>
          <a:p>
            <a:r>
              <a:rPr lang="en-US" sz="1800" dirty="0">
                <a:sym typeface="+mn-ea"/>
              </a:rPr>
              <a:t>Scan at 1 min intervals for 4 minutes following the start of injection.</a:t>
            </a:r>
            <a:endParaRPr lang="en-US" sz="1800" dirty="0"/>
          </a:p>
          <a:p>
            <a:r>
              <a:rPr lang="en-US" sz="1800" dirty="0">
                <a:sym typeface="+mn-ea"/>
              </a:rPr>
              <a:t>A region of interest include about 60% of nodule diameter is use to measure enhancement.</a:t>
            </a:r>
          </a:p>
          <a:p>
            <a:pPr marL="0" indent="0">
              <a:buNone/>
            </a:pPr>
            <a:endParaRPr lang="en-US" sz="1800" dirty="0"/>
          </a:p>
          <a:p>
            <a:r>
              <a:rPr lang="en-US" sz="1515" dirty="0"/>
              <a:t>NODULE ENHANCEMENT &lt;  15 HU   - S/O  BENIGN LESION </a:t>
            </a:r>
          </a:p>
          <a:p>
            <a:r>
              <a:rPr lang="en-US" sz="1515" dirty="0">
                <a:sym typeface="+mn-ea"/>
              </a:rPr>
              <a:t>NODULE ENHANCEMENT</a:t>
            </a:r>
            <a:r>
              <a:rPr lang="en-US" sz="1515" dirty="0"/>
              <a:t> 15-20 HU - S/O  INDETERMINATE LESION</a:t>
            </a:r>
          </a:p>
          <a:p>
            <a:r>
              <a:rPr lang="en-US" sz="1515" dirty="0"/>
              <a:t>NODULE ENHANCEMENT &gt;  20  HU – S/O  MALIGNANT LESION </a:t>
            </a:r>
          </a:p>
          <a:p>
            <a:endParaRPr lang="en-US" sz="1515" dirty="0"/>
          </a:p>
          <a:p>
            <a:r>
              <a:rPr lang="en-US" sz="1515" dirty="0"/>
              <a:t>SENSITIVITY  -  95  -100% </a:t>
            </a:r>
          </a:p>
          <a:p>
            <a:r>
              <a:rPr lang="en-US" sz="1515" dirty="0"/>
              <a:t>SPECIFICITY  -70 -93 %</a:t>
            </a:r>
          </a:p>
          <a:p>
            <a:endParaRPr lang="en-US" sz="1800" dirty="0"/>
          </a:p>
          <a:p>
            <a:pPr marL="0" indent="0">
              <a:buNone/>
            </a:pPr>
            <a:r>
              <a:rPr lang="en-US" altLang="en-US" sz="1800" dirty="0"/>
              <a:t>This applies only for nodules with the following selection criteria:</a:t>
            </a:r>
          </a:p>
          <a:p>
            <a:r>
              <a:rPr lang="en-US" altLang="en-US" sz="1800" dirty="0"/>
              <a:t>Nodule &gt; 5mm</a:t>
            </a:r>
          </a:p>
          <a:p>
            <a:r>
              <a:rPr lang="en-US" altLang="en-US" sz="1800" dirty="0"/>
              <a:t>Relatively spherical</a:t>
            </a:r>
          </a:p>
          <a:p>
            <a:r>
              <a:rPr lang="en-US" altLang="en-US" sz="1800" dirty="0"/>
              <a:t>Homogeneous, no necrosis, fat or calcification</a:t>
            </a:r>
          </a:p>
          <a:p>
            <a:r>
              <a:rPr lang="en-US" altLang="en-US" sz="1800" dirty="0"/>
              <a:t>No motion or beam hardening artifacts</a:t>
            </a:r>
          </a:p>
        </p:txBody>
      </p:sp>
      <p:pic>
        <p:nvPicPr>
          <p:cNvPr id="4" name="Picture 3" descr="Screenshot 2026-05-02 at 9.23.39 AM"/>
          <p:cNvPicPr>
            <a:picLocks noChangeAspect="1"/>
          </p:cNvPicPr>
          <p:nvPr/>
        </p:nvPicPr>
        <p:blipFill>
          <a:blip r:embed="rId3"/>
          <a:srcRect b="10564"/>
          <a:stretch>
            <a:fillRect/>
          </a:stretch>
        </p:blipFill>
        <p:spPr>
          <a:xfrm>
            <a:off x="6915150" y="2363470"/>
            <a:ext cx="4938395" cy="17399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04825"/>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15 MIN DELAY</a:t>
            </a:r>
          </a:p>
        </p:txBody>
      </p:sp>
      <p:sp>
        <p:nvSpPr>
          <p:cNvPr id="3" name="Content Placeholder 2"/>
          <p:cNvSpPr>
            <a:spLocks noGrp="1"/>
          </p:cNvSpPr>
          <p:nvPr>
            <p:ph idx="1"/>
          </p:nvPr>
        </p:nvSpPr>
        <p:spPr>
          <a:xfrm>
            <a:off x="609600" y="1174750"/>
            <a:ext cx="10190480" cy="3724910"/>
          </a:xfrm>
        </p:spPr>
        <p:txBody>
          <a:bodyPr>
            <a:normAutofit/>
          </a:bodyPr>
          <a:lstStyle/>
          <a:p>
            <a:r>
              <a:rPr lang="en-IN" sz="2160" dirty="0"/>
              <a:t>Malignant nodules: </a:t>
            </a:r>
          </a:p>
          <a:p>
            <a:pPr>
              <a:buFont typeface="Wingdings" panose="05000000000000000000" charset="0"/>
              <a:buChar char=""/>
            </a:pPr>
            <a:r>
              <a:rPr lang="en-IN" sz="2160" dirty="0"/>
              <a:t> wash-in of</a:t>
            </a:r>
            <a:r>
              <a:rPr lang="en-IN" sz="2160" baseline="30000" dirty="0"/>
              <a:t> </a:t>
            </a:r>
            <a:r>
              <a:rPr lang="en-IN" sz="2160" dirty="0"/>
              <a:t> &gt;25 HU </a:t>
            </a:r>
          </a:p>
          <a:p>
            <a:pPr>
              <a:buFont typeface="Wingdings" panose="05000000000000000000" charset="0"/>
              <a:buChar char=""/>
            </a:pPr>
            <a:r>
              <a:rPr lang="en-IN" sz="2160" dirty="0"/>
              <a:t> washout of 5-31 HU</a:t>
            </a:r>
          </a:p>
          <a:p>
            <a:endParaRPr lang="en-IN" sz="2160" dirty="0"/>
          </a:p>
          <a:p>
            <a:r>
              <a:rPr lang="en-IN" sz="2160" baseline="30000" dirty="0"/>
              <a:t> </a:t>
            </a:r>
            <a:r>
              <a:rPr lang="en-IN" sz="2160" dirty="0"/>
              <a:t>Benign nodules: </a:t>
            </a:r>
          </a:p>
          <a:p>
            <a:pPr>
              <a:buFont typeface="Wingdings" panose="05000000000000000000" charset="0"/>
              <a:buChar char=""/>
            </a:pPr>
            <a:r>
              <a:rPr lang="en-IN" sz="2160" dirty="0"/>
              <a:t>  wash-in of &lt;</a:t>
            </a:r>
            <a:r>
              <a:rPr lang="en-IN" sz="2160" baseline="30000" dirty="0"/>
              <a:t> </a:t>
            </a:r>
            <a:r>
              <a:rPr lang="en-IN" sz="2160" dirty="0"/>
              <a:t>25 H</a:t>
            </a:r>
          </a:p>
          <a:p>
            <a:pPr>
              <a:buFont typeface="Wingdings" panose="05000000000000000000" charset="0"/>
              <a:buChar char=""/>
            </a:pPr>
            <a:r>
              <a:rPr lang="en-IN" sz="2160" dirty="0"/>
              <a:t>  wash-in of &gt;25 HU in combination with a washout of &gt;</a:t>
            </a:r>
            <a:r>
              <a:rPr lang="en-IN" sz="2160" baseline="30000" dirty="0"/>
              <a:t> </a:t>
            </a:r>
            <a:r>
              <a:rPr lang="en-IN" sz="2160" dirty="0"/>
              <a:t>31 HU </a:t>
            </a:r>
          </a:p>
          <a:p>
            <a:pPr>
              <a:buFont typeface="Wingdings" panose="05000000000000000000" charset="0"/>
              <a:buChar char=""/>
            </a:pPr>
            <a:r>
              <a:rPr lang="en-IN" sz="2160" dirty="0"/>
              <a:t>  wash-in of &gt; 25 HU and persistent enhancement without</a:t>
            </a:r>
            <a:r>
              <a:rPr lang="en-IN" sz="2160" baseline="30000" dirty="0"/>
              <a:t> </a:t>
            </a:r>
            <a:r>
              <a:rPr lang="en-IN" sz="2160" dirty="0"/>
              <a:t>washout </a:t>
            </a:r>
          </a:p>
          <a:p>
            <a:endParaRPr lang="en-US" sz="21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953000"/>
            <a:ext cx="8229600" cy="1401763"/>
          </a:xfrm>
        </p:spPr>
        <p:txBody>
          <a:bodyPr/>
          <a:lstStyle/>
          <a:p>
            <a:r>
              <a:rPr lang="en-US" sz="2800" dirty="0">
                <a:solidFill>
                  <a:schemeClr val="tx1"/>
                </a:solidFill>
                <a:effectLst>
                  <a:outerShdw blurRad="38100" dist="19050" dir="2700000" algn="tl" rotWithShape="0">
                    <a:schemeClr val="dk1">
                      <a:alpha val="40000"/>
                      <a:alpha val="40000"/>
                    </a:schemeClr>
                  </a:outerShdw>
                </a:effectLst>
              </a:rPr>
              <a:t>Net enhancement of &gt; 25 HU</a:t>
            </a:r>
          </a:p>
          <a:p>
            <a:r>
              <a:rPr lang="en-US" sz="2800" dirty="0">
                <a:solidFill>
                  <a:schemeClr val="tx1"/>
                </a:solidFill>
                <a:effectLst>
                  <a:outerShdw blurRad="38100" dist="19050" dir="2700000" algn="tl" rotWithShape="0">
                    <a:schemeClr val="dk1">
                      <a:alpha val="40000"/>
                      <a:alpha val="40000"/>
                    </a:schemeClr>
                  </a:outerShdw>
                </a:effectLst>
              </a:rPr>
              <a:t>Washout of 5-31 HU</a:t>
            </a:r>
          </a:p>
        </p:txBody>
      </p:sp>
      <p:pic>
        <p:nvPicPr>
          <p:cNvPr id="4" name="Picture 2" descr="Figure 6">
            <a:hlinkClick r:id="rId3"/>
          </p:cNvPr>
          <p:cNvPicPr>
            <a:picLocks noChangeAspect="1" noChangeArrowheads="1"/>
          </p:cNvPicPr>
          <p:nvPr/>
        </p:nvPicPr>
        <p:blipFill>
          <a:blip r:embed="rId4"/>
          <a:srcRect/>
          <a:stretch>
            <a:fillRect/>
          </a:stretch>
        </p:blipFill>
        <p:spPr bwMode="auto">
          <a:xfrm>
            <a:off x="869950" y="728980"/>
            <a:ext cx="8115300" cy="422402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5515" y="592455"/>
            <a:ext cx="10770870" cy="4695825"/>
          </a:xfrm>
        </p:spPr>
        <p:txBody>
          <a:bodyPr/>
          <a:lstStyle/>
          <a:p>
            <a:pPr marL="0" indent="0">
              <a:buNone/>
            </a:pPr>
            <a:r>
              <a:rPr lang="en-US" dirty="0">
                <a:solidFill>
                  <a:schemeClr val="tx1"/>
                </a:solidFill>
                <a:effectLst>
                  <a:outerShdw blurRad="38100" dist="19050" dir="2700000" algn="tl" rotWithShape="0">
                    <a:schemeClr val="dk1">
                      <a:alpha val="40000"/>
                      <a:alpha val="40000"/>
                    </a:schemeClr>
                  </a:outerShdw>
                </a:effectLst>
              </a:rPr>
              <a:t>FALSE NEGATIVE CONTRAST ENHANCEMENT:</a:t>
            </a:r>
            <a:endParaRPr lang="en-US" dirty="0"/>
          </a:p>
          <a:p>
            <a:r>
              <a:rPr lang="en-US" dirty="0"/>
              <a:t>Central necrosis</a:t>
            </a:r>
          </a:p>
          <a:p>
            <a:r>
              <a:rPr lang="en-US" dirty="0" err="1"/>
              <a:t>Mucin</a:t>
            </a:r>
            <a:r>
              <a:rPr lang="en-US" dirty="0"/>
              <a:t> producing tumors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9182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GROWTH RATE ASSESSMENT</a:t>
            </a:r>
          </a:p>
        </p:txBody>
      </p:sp>
      <p:sp>
        <p:nvSpPr>
          <p:cNvPr id="3" name="Content Placeholder 2"/>
          <p:cNvSpPr>
            <a:spLocks noGrp="1"/>
          </p:cNvSpPr>
          <p:nvPr>
            <p:ph idx="1"/>
          </p:nvPr>
        </p:nvSpPr>
        <p:spPr/>
        <p:txBody>
          <a:bodyPr>
            <a:normAutofit/>
          </a:bodyPr>
          <a:lstStyle/>
          <a:p>
            <a:r>
              <a:rPr lang="en-US" sz="1895" dirty="0"/>
              <a:t>Volume doubling time is the time required for a lesion to double its volume</a:t>
            </a:r>
          </a:p>
          <a:p>
            <a:endParaRPr lang="en-US" sz="1895" dirty="0"/>
          </a:p>
          <a:p>
            <a:pPr>
              <a:buNone/>
            </a:pPr>
            <a:r>
              <a:rPr lang="en-US" sz="1895" dirty="0"/>
              <a:t>VDT = </a:t>
            </a:r>
            <a:r>
              <a:rPr lang="en-US" sz="1895" u="sng" dirty="0"/>
              <a:t>t * log2</a:t>
            </a:r>
          </a:p>
          <a:p>
            <a:pPr>
              <a:buNone/>
            </a:pPr>
            <a:r>
              <a:rPr lang="en-US" sz="1895" dirty="0"/>
              <a:t>            log </a:t>
            </a:r>
            <a:r>
              <a:rPr lang="en-US" sz="1895" dirty="0" err="1"/>
              <a:t>Vt</a:t>
            </a:r>
            <a:r>
              <a:rPr lang="en-US" sz="1895" dirty="0"/>
              <a:t>/Vo</a:t>
            </a:r>
          </a:p>
          <a:p>
            <a:pPr>
              <a:buNone/>
            </a:pPr>
            <a:endParaRPr lang="en-US" sz="1895" dirty="0"/>
          </a:p>
          <a:p>
            <a:pPr>
              <a:buNone/>
            </a:pPr>
            <a:r>
              <a:rPr lang="en-US" sz="1895" dirty="0"/>
              <a:t>t= time difference</a:t>
            </a:r>
          </a:p>
          <a:p>
            <a:pPr>
              <a:buNone/>
            </a:pPr>
            <a:r>
              <a:rPr lang="en-US" sz="1895" dirty="0" err="1"/>
              <a:t>Vt</a:t>
            </a:r>
            <a:r>
              <a:rPr lang="en-US" sz="1895" dirty="0"/>
              <a:t>= volume at time t</a:t>
            </a:r>
          </a:p>
          <a:p>
            <a:pPr>
              <a:buNone/>
            </a:pPr>
            <a:r>
              <a:rPr lang="en-US" sz="1895" dirty="0"/>
              <a:t>Vo= initial volume</a:t>
            </a:r>
          </a:p>
          <a:p>
            <a:pPr>
              <a:buNone/>
            </a:pPr>
            <a:endParaRPr lang="en-US" sz="1895" dirty="0"/>
          </a:p>
          <a:p>
            <a:pPr>
              <a:buNone/>
            </a:pPr>
            <a:r>
              <a:rPr lang="en-US" sz="1895" dirty="0"/>
              <a:t>1 VDT = 26% increase in the diameter of the nodule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100" y="514985"/>
            <a:ext cx="11630025" cy="5064125"/>
          </a:xfrm>
        </p:spPr>
        <p:txBody>
          <a:bodyPr>
            <a:normAutofit lnSpcReduction="20000"/>
          </a:bodyPr>
          <a:lstStyle/>
          <a:p>
            <a:r>
              <a:rPr lang="en-US" sz="2800" dirty="0"/>
              <a:t>Absence of growth over at least 2 yrs period : reliable Indicator of benignity, however exception is BAC.</a:t>
            </a:r>
          </a:p>
          <a:p>
            <a:r>
              <a:rPr lang="en-US" sz="2800" dirty="0"/>
              <a:t>DT (Doubling time)  less than  1 month – Infection, infarction, lymphoma</a:t>
            </a:r>
          </a:p>
          <a:p>
            <a:r>
              <a:rPr lang="en-US" sz="2800" dirty="0"/>
              <a:t>DT  1 -18 months : bronchial carcinoma</a:t>
            </a:r>
          </a:p>
          <a:p>
            <a:r>
              <a:rPr lang="en-US" sz="2800" dirty="0"/>
              <a:t>DT more than 18 months : </a:t>
            </a:r>
            <a:r>
              <a:rPr lang="en-US" sz="2800" dirty="0" err="1"/>
              <a:t>Granuloma</a:t>
            </a:r>
            <a:r>
              <a:rPr lang="en-US" sz="2800" dirty="0"/>
              <a:t>, </a:t>
            </a:r>
            <a:r>
              <a:rPr lang="en-US" sz="2800" dirty="0" err="1"/>
              <a:t>Hamartoma</a:t>
            </a:r>
            <a:r>
              <a:rPr lang="en-US" sz="2800" dirty="0"/>
              <a:t>,  Bronchial </a:t>
            </a:r>
            <a:r>
              <a:rPr lang="en-US" sz="2800" dirty="0" err="1"/>
              <a:t>carcinoids</a:t>
            </a:r>
            <a:endParaRPr lang="en-US" sz="2800" dirty="0"/>
          </a:p>
          <a:p>
            <a:r>
              <a:rPr lang="en-US" sz="2800" dirty="0"/>
              <a:t>The range of doubling time ranging from 1 to 200 days encompass most cancers.</a:t>
            </a:r>
          </a:p>
          <a:p>
            <a:r>
              <a:rPr lang="en-US" sz="2800" dirty="0">
                <a:sym typeface="+mn-ea"/>
              </a:rPr>
              <a:t>Slowest growing BACs have VDT of more than 3 years</a:t>
            </a:r>
            <a:endParaRPr lang="en-US" sz="2800" dirty="0"/>
          </a:p>
          <a:p>
            <a:r>
              <a:rPr lang="en-US" sz="2800" dirty="0">
                <a:sym typeface="+mn-ea"/>
              </a:rPr>
              <a:t>Mets from testicular tumors and sarcomas have VDT of less than a month</a:t>
            </a:r>
            <a:endParaRPr lang="en-US" sz="2800" dirty="0"/>
          </a:p>
          <a:p>
            <a:pPr>
              <a:buNone/>
            </a:pPr>
            <a:endParaRPr lang="en-US" sz="2800" dirty="0"/>
          </a:p>
          <a:p>
            <a:endParaRPr lang="en-US" sz="2800" dirty="0"/>
          </a:p>
          <a:p>
            <a:endParaRPr lang="en-US" dirty="0"/>
          </a:p>
          <a:p>
            <a:endParaRPr lang="en-US" dirty="0"/>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7343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COMPUTER AIDED DIAGNOSIS (AI)</a:t>
            </a:r>
          </a:p>
        </p:txBody>
      </p:sp>
      <p:sp>
        <p:nvSpPr>
          <p:cNvPr id="3" name="Content Placeholder 2"/>
          <p:cNvSpPr>
            <a:spLocks noGrp="1"/>
          </p:cNvSpPr>
          <p:nvPr>
            <p:ph idx="1"/>
          </p:nvPr>
        </p:nvSpPr>
        <p:spPr>
          <a:xfrm>
            <a:off x="609600" y="1682750"/>
            <a:ext cx="10972800" cy="4445000"/>
          </a:xfrm>
        </p:spPr>
        <p:txBody>
          <a:bodyPr>
            <a:normAutofit lnSpcReduction="10000"/>
          </a:bodyPr>
          <a:lstStyle/>
          <a:p>
            <a:r>
              <a:rPr lang="en-US" sz="2160" dirty="0"/>
              <a:t>Integrated computer system that supports nodule identification, analysis of nodule size, morphology and textural analysis of internal structure of nodule by analysis of high resolution CT data.</a:t>
            </a:r>
          </a:p>
          <a:p>
            <a:r>
              <a:rPr lang="en-US" sz="2160" dirty="0"/>
              <a:t>The CAD system recognizes opacity lesions surrounded by lung </a:t>
            </a:r>
            <a:r>
              <a:rPr lang="en-US" sz="2160" dirty="0" err="1"/>
              <a:t>parenchymal</a:t>
            </a:r>
            <a:r>
              <a:rPr lang="en-US" sz="2160" dirty="0"/>
              <a:t> attenuation as nodules. Therefore, nodules in the </a:t>
            </a:r>
            <a:r>
              <a:rPr lang="en-US" sz="2160" dirty="0" err="1"/>
              <a:t>subpleural</a:t>
            </a:r>
            <a:r>
              <a:rPr lang="en-US" sz="2160" dirty="0"/>
              <a:t>, </a:t>
            </a:r>
            <a:r>
              <a:rPr lang="en-US" sz="2160" dirty="0" err="1"/>
              <a:t>fissural</a:t>
            </a:r>
            <a:r>
              <a:rPr lang="en-US" sz="2160" dirty="0"/>
              <a:t> and </a:t>
            </a:r>
            <a:r>
              <a:rPr lang="en-US" sz="2160" dirty="0" err="1"/>
              <a:t>costophrenic</a:t>
            </a:r>
            <a:r>
              <a:rPr lang="en-US" sz="2160" dirty="0"/>
              <a:t> angle areas might be missed. </a:t>
            </a:r>
          </a:p>
          <a:p>
            <a:r>
              <a:rPr lang="en-US" sz="2160" dirty="0">
                <a:sym typeface="+mn-ea"/>
              </a:rPr>
              <a:t>Not helpful to pick up lesions less than 4mm</a:t>
            </a:r>
            <a:endParaRPr lang="en-US" sz="2160" dirty="0"/>
          </a:p>
          <a:p>
            <a:r>
              <a:rPr lang="en-US" sz="2160" dirty="0">
                <a:sym typeface="+mn-ea"/>
              </a:rPr>
              <a:t>Cannot replace the radiologist ; only supporting tool</a:t>
            </a:r>
            <a:endParaRPr lang="en-US" sz="2160" dirty="0"/>
          </a:p>
          <a:p>
            <a:endParaRPr lang="en-US" sz="216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4742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ROLE OF DUAL ENERGY CT IN SPN</a:t>
            </a:r>
          </a:p>
        </p:txBody>
      </p:sp>
      <p:sp>
        <p:nvSpPr>
          <p:cNvPr id="3" name="Content Placeholder 2"/>
          <p:cNvSpPr>
            <a:spLocks noGrp="1"/>
          </p:cNvSpPr>
          <p:nvPr>
            <p:ph idx="1"/>
          </p:nvPr>
        </p:nvSpPr>
        <p:spPr>
          <a:xfrm>
            <a:off x="609600" y="1704975"/>
            <a:ext cx="10972800" cy="2836545"/>
          </a:xfrm>
        </p:spPr>
        <p:txBody>
          <a:bodyPr/>
          <a:lstStyle/>
          <a:p>
            <a:r>
              <a:rPr lang="en-US" sz="2800" dirty="0"/>
              <a:t>DECT can decompose enhanced structures into soft tissue and iodine</a:t>
            </a:r>
          </a:p>
          <a:p>
            <a:r>
              <a:rPr lang="en-US" sz="2800" dirty="0"/>
              <a:t>Allows for differentiation of calcification from enhancing tissue by subtraction of iodine component</a:t>
            </a:r>
          </a:p>
          <a:p>
            <a:r>
              <a:rPr lang="en-US" sz="2800" dirty="0"/>
              <a:t>By single scanning after iodine injection, we can measure the degree of enhancement without an additional non enhanced CT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13385"/>
            <a:ext cx="10972800" cy="955040"/>
          </a:xfrm>
        </p:spPr>
        <p:txBody>
          <a:bodyPr>
            <a:normAutofit fontScale="90000"/>
          </a:bodyPr>
          <a:lstStyle/>
          <a:p>
            <a:r>
              <a:rPr lang="en-US" dirty="0">
                <a:solidFill>
                  <a:schemeClr val="tx1"/>
                </a:solidFill>
                <a:effectLst>
                  <a:outerShdw blurRad="38100" dist="19050" dir="2700000" algn="tl" rotWithShape="0">
                    <a:schemeClr val="dk1">
                      <a:alpha val="40000"/>
                      <a:alpha val="40000"/>
                    </a:schemeClr>
                  </a:outerShdw>
                </a:effectLst>
              </a:rPr>
              <a:t>ROLE OF CONTRAST ENHANCED DYNAMIC MRI IN SPN</a:t>
            </a:r>
          </a:p>
        </p:txBody>
      </p:sp>
      <p:sp>
        <p:nvSpPr>
          <p:cNvPr id="3" name="Content Placeholder 2"/>
          <p:cNvSpPr>
            <a:spLocks noGrp="1"/>
          </p:cNvSpPr>
          <p:nvPr>
            <p:ph idx="1"/>
          </p:nvPr>
        </p:nvSpPr>
        <p:spPr>
          <a:xfrm>
            <a:off x="609600" y="1368425"/>
            <a:ext cx="10972800" cy="4759325"/>
          </a:xfrm>
        </p:spPr>
        <p:txBody>
          <a:bodyPr>
            <a:normAutofit lnSpcReduction="10000"/>
          </a:bodyPr>
          <a:lstStyle/>
          <a:p>
            <a:r>
              <a:rPr lang="en-IN" sz="2800" dirty="0"/>
              <a:t>Dynamic contrast-enhanced MRI is helpful in differentiating</a:t>
            </a:r>
            <a:r>
              <a:rPr lang="en-IN" sz="2800" baseline="30000" dirty="0"/>
              <a:t> </a:t>
            </a:r>
            <a:r>
              <a:rPr lang="en-IN" sz="2800" dirty="0"/>
              <a:t>benign from malignant solitary pulmonary nodules</a:t>
            </a:r>
          </a:p>
          <a:p>
            <a:r>
              <a:rPr lang="en-IN" sz="2800" dirty="0"/>
              <a:t>Absence of significant</a:t>
            </a:r>
            <a:r>
              <a:rPr lang="en-IN" sz="2800" baseline="30000" dirty="0"/>
              <a:t> </a:t>
            </a:r>
            <a:r>
              <a:rPr lang="en-IN" sz="2800" dirty="0"/>
              <a:t>enhancement is a strong predictor that a lesion is benign.</a:t>
            </a:r>
          </a:p>
          <a:p>
            <a:r>
              <a:rPr lang="en-US" sz="2800" dirty="0"/>
              <a:t>Presence of  rim enhancement seen in –</a:t>
            </a:r>
            <a:r>
              <a:rPr lang="en-US" sz="2800" dirty="0" err="1"/>
              <a:t>granuloma</a:t>
            </a:r>
            <a:r>
              <a:rPr lang="en-US" sz="2800" dirty="0"/>
              <a:t>  and network or rim  enhancement </a:t>
            </a:r>
            <a:r>
              <a:rPr lang="en-US" sz="2800" dirty="0">
                <a:sym typeface="+mn-ea"/>
              </a:rPr>
              <a:t>seen in</a:t>
            </a:r>
            <a:r>
              <a:rPr lang="en-US" sz="2800" dirty="0"/>
              <a:t>–</a:t>
            </a:r>
            <a:r>
              <a:rPr lang="en-US" sz="2800" dirty="0" err="1"/>
              <a:t>hamartoma</a:t>
            </a:r>
            <a:endParaRPr lang="en-US" sz="2800" dirty="0"/>
          </a:p>
          <a:p>
            <a:r>
              <a:rPr lang="en-US" sz="2800" dirty="0"/>
              <a:t>Presence of homogeneous/</a:t>
            </a:r>
            <a:r>
              <a:rPr lang="en-US" sz="2800" dirty="0" err="1"/>
              <a:t>heterogenous</a:t>
            </a:r>
            <a:r>
              <a:rPr lang="en-US" sz="2800" dirty="0"/>
              <a:t> enhancement : malignancy</a:t>
            </a:r>
            <a:endParaRPr lang="en-IN" sz="2800" baseline="30000" dirty="0"/>
          </a:p>
          <a:p>
            <a:endParaRPr lang="en-US" baseline="30000" dirty="0"/>
          </a:p>
          <a:p>
            <a:endParaRPr lang="en-IN" baseline="30000" dirty="0"/>
          </a:p>
          <a:p>
            <a:endParaRPr lang="en-IN" dirty="0"/>
          </a:p>
          <a:p>
            <a:endParaRPr lang="en-IN" dirty="0"/>
          </a:p>
          <a:p>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nvGraphicFramePr>
        <p:xfrm>
          <a:off x="1382395" y="1119505"/>
          <a:ext cx="9267825" cy="3553460"/>
        </p:xfrm>
        <a:graphic>
          <a:graphicData uri="http://schemas.openxmlformats.org/drawingml/2006/table">
            <a:tbl>
              <a:tblPr firstRow="1" bandRow="1">
                <a:tableStyleId>{5C22544A-7EE6-4342-B048-85BDC9FD1C3A}</a:tableStyleId>
              </a:tblPr>
              <a:tblGrid>
                <a:gridCol w="3089275">
                  <a:extLst>
                    <a:ext uri="{9D8B030D-6E8A-4147-A177-3AD203B41FA5}">
                      <a16:colId xmlns:a16="http://schemas.microsoft.com/office/drawing/2014/main" val="20000"/>
                    </a:ext>
                  </a:extLst>
                </a:gridCol>
                <a:gridCol w="3089275">
                  <a:extLst>
                    <a:ext uri="{9D8B030D-6E8A-4147-A177-3AD203B41FA5}">
                      <a16:colId xmlns:a16="http://schemas.microsoft.com/office/drawing/2014/main" val="20001"/>
                    </a:ext>
                  </a:extLst>
                </a:gridCol>
                <a:gridCol w="3089275">
                  <a:extLst>
                    <a:ext uri="{9D8B030D-6E8A-4147-A177-3AD203B41FA5}">
                      <a16:colId xmlns:a16="http://schemas.microsoft.com/office/drawing/2014/main" val="20002"/>
                    </a:ext>
                  </a:extLst>
                </a:gridCol>
              </a:tblGrid>
              <a:tr h="888365">
                <a:tc>
                  <a:txBody>
                    <a:bodyPr/>
                    <a:lstStyle/>
                    <a:p>
                      <a:pPr>
                        <a:buNone/>
                      </a:pPr>
                      <a:r>
                        <a:rPr lang="en-US"/>
                        <a:t>FEATURE</a:t>
                      </a:r>
                    </a:p>
                  </a:txBody>
                  <a:tcPr/>
                </a:tc>
                <a:tc>
                  <a:txBody>
                    <a:bodyPr/>
                    <a:lstStyle/>
                    <a:p>
                      <a:pPr>
                        <a:buNone/>
                      </a:pPr>
                      <a:r>
                        <a:rPr lang="en-US"/>
                        <a:t>MALIGNANT</a:t>
                      </a:r>
                    </a:p>
                  </a:txBody>
                  <a:tcPr/>
                </a:tc>
                <a:tc>
                  <a:txBody>
                    <a:bodyPr/>
                    <a:lstStyle/>
                    <a:p>
                      <a:pPr>
                        <a:buNone/>
                      </a:pPr>
                      <a:r>
                        <a:rPr lang="en-US"/>
                        <a:t>BENIGN</a:t>
                      </a:r>
                    </a:p>
                  </a:txBody>
                  <a:tcPr/>
                </a:tc>
                <a:extLst>
                  <a:ext uri="{0D108BD9-81ED-4DB2-BD59-A6C34878D82A}">
                    <a16:rowId xmlns:a16="http://schemas.microsoft.com/office/drawing/2014/main" val="10000"/>
                  </a:ext>
                </a:extLst>
              </a:tr>
              <a:tr h="888365">
                <a:tc>
                  <a:txBody>
                    <a:bodyPr/>
                    <a:lstStyle/>
                    <a:p>
                      <a:pPr>
                        <a:buNone/>
                      </a:pPr>
                      <a:r>
                        <a:rPr lang="en-US"/>
                        <a:t>Time to peak</a:t>
                      </a:r>
                    </a:p>
                  </a:txBody>
                  <a:tcPr/>
                </a:tc>
                <a:tc>
                  <a:txBody>
                    <a:bodyPr/>
                    <a:lstStyle/>
                    <a:p>
                      <a:pPr>
                        <a:buNone/>
                      </a:pPr>
                      <a:r>
                        <a:rPr lang="en-US" altLang="en-US"/>
                        <a:t>≤ 4 min</a:t>
                      </a:r>
                    </a:p>
                  </a:txBody>
                  <a:tcPr/>
                </a:tc>
                <a:tc>
                  <a:txBody>
                    <a:bodyPr/>
                    <a:lstStyle/>
                    <a:p>
                      <a:pPr>
                        <a:buNone/>
                      </a:pPr>
                      <a:r>
                        <a:rPr lang="en-US" altLang="en-US"/>
                        <a:t>&gt; 4 min / no peak   </a:t>
                      </a:r>
                    </a:p>
                  </a:txBody>
                  <a:tcPr/>
                </a:tc>
                <a:extLst>
                  <a:ext uri="{0D108BD9-81ED-4DB2-BD59-A6C34878D82A}">
                    <a16:rowId xmlns:a16="http://schemas.microsoft.com/office/drawing/2014/main" val="10001"/>
                  </a:ext>
                </a:extLst>
              </a:tr>
              <a:tr h="888365">
                <a:tc>
                  <a:txBody>
                    <a:bodyPr/>
                    <a:lstStyle/>
                    <a:p>
                      <a:r>
                        <a:rPr lang="en-US" sz="1800" b="0" i="0">
                          <a:solidFill>
                            <a:srgbClr val="000000"/>
                          </a:solidFill>
                        </a:rPr>
                        <a:t>  Pattern</a:t>
                      </a:r>
                    </a:p>
                  </a:txBody>
                  <a:tcPr marL="0" marR="0" marT="0" marB="0" anchor="ctr"/>
                </a:tc>
                <a:tc>
                  <a:txBody>
                    <a:bodyPr/>
                    <a:lstStyle/>
                    <a:p>
                      <a:r>
                        <a:rPr lang="en-US" sz="1800" b="0" i="0">
                          <a:solidFill>
                            <a:srgbClr val="000000"/>
                          </a:solidFill>
                        </a:rPr>
                        <a:t>  Rapid enhancement</a:t>
                      </a:r>
                    </a:p>
                  </a:txBody>
                  <a:tcPr marL="0" marR="0" marT="0" marB="0" anchor="ctr"/>
                </a:tc>
                <a:tc>
                  <a:txBody>
                    <a:bodyPr/>
                    <a:lstStyle/>
                    <a:p>
                      <a:r>
                        <a:rPr lang="en-US" sz="1800" b="0" i="0">
                          <a:solidFill>
                            <a:srgbClr val="000000"/>
                          </a:solidFill>
                        </a:rPr>
                        <a:t>  Gradual</a:t>
                      </a:r>
                    </a:p>
                  </a:txBody>
                  <a:tcPr marL="0" marR="0" marT="0" marB="0" anchor="ctr"/>
                </a:tc>
                <a:extLst>
                  <a:ext uri="{0D108BD9-81ED-4DB2-BD59-A6C34878D82A}">
                    <a16:rowId xmlns:a16="http://schemas.microsoft.com/office/drawing/2014/main" val="10002"/>
                  </a:ext>
                </a:extLst>
              </a:tr>
              <a:tr h="888365">
                <a:tc>
                  <a:txBody>
                    <a:bodyPr/>
                    <a:lstStyle/>
                    <a:p>
                      <a:r>
                        <a:rPr lang="en-US" sz="1800" b="0" i="0">
                          <a:solidFill>
                            <a:srgbClr val="000000"/>
                          </a:solidFill>
                        </a:rPr>
                        <a:t>  Vascularity</a:t>
                      </a:r>
                    </a:p>
                  </a:txBody>
                  <a:tcPr marL="0" marR="0" marT="0" marB="0" anchor="ctr"/>
                </a:tc>
                <a:tc>
                  <a:txBody>
                    <a:bodyPr/>
                    <a:lstStyle/>
                    <a:p>
                      <a:r>
                        <a:rPr lang="en-US" sz="1800" b="0" i="0">
                          <a:solidFill>
                            <a:srgbClr val="000000"/>
                          </a:solidFill>
                        </a:rPr>
                        <a:t>  High</a:t>
                      </a:r>
                    </a:p>
                  </a:txBody>
                  <a:tcPr marL="0" marR="0" marT="0" marB="0" anchor="ctr"/>
                </a:tc>
                <a:tc>
                  <a:txBody>
                    <a:bodyPr/>
                    <a:lstStyle/>
                    <a:p>
                      <a:r>
                        <a:rPr lang="en-US" sz="1800" b="0" i="0">
                          <a:solidFill>
                            <a:srgbClr val="000000"/>
                          </a:solidFill>
                        </a:rPr>
                        <a:t>  Low</a:t>
                      </a:r>
                    </a:p>
                  </a:txBody>
                  <a:tcPr marL="0" marR="0" marT="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450" y="640080"/>
            <a:ext cx="11703685" cy="4686300"/>
          </a:xfrm>
        </p:spPr>
        <p:txBody>
          <a:bodyPr/>
          <a:lstStyle/>
          <a:p>
            <a:pPr>
              <a:buNone/>
            </a:pPr>
            <a:r>
              <a:rPr lang="en-US" dirty="0"/>
              <a:t>Maximum relative enhancement ratio:</a:t>
            </a:r>
          </a:p>
          <a:p>
            <a:r>
              <a:rPr lang="en-US" sz="2400" dirty="0"/>
              <a:t>It is a normalised measure of how much a nodules enhance after contrast.</a:t>
            </a:r>
          </a:p>
          <a:p>
            <a:r>
              <a:rPr lang="en-US" sz="2400" dirty="0"/>
              <a:t>It tells you percentage increase in enhancement relative to baseline.</a:t>
            </a:r>
          </a:p>
          <a:p>
            <a:r>
              <a:rPr lang="en-US" sz="2400" dirty="0"/>
              <a:t>Why it is important?-- because it differntiate malignant vs benign and </a:t>
            </a:r>
            <a:r>
              <a:rPr lang="en-US" sz="2400" dirty="0">
                <a:sym typeface="+mn-ea"/>
              </a:rPr>
              <a:t>malignant vs infective nodules.</a:t>
            </a:r>
            <a:endParaRPr lang="en-US" sz="2400" dirty="0"/>
          </a:p>
          <a:p>
            <a:r>
              <a:rPr lang="en-US" sz="2400" dirty="0"/>
              <a:t> MRER&gt;0.15 is the adopted threshold for a positive differentiation between malignant and benign SPN ( &gt;0.15 = malignant )</a:t>
            </a:r>
          </a:p>
          <a:p>
            <a:r>
              <a:rPr lang="en-US" sz="2400" dirty="0"/>
              <a:t>0.80 is the adopted threshold between malignant and infective SPN ( &lt;0.80 = Malignant )</a:t>
            </a:r>
          </a:p>
          <a:p>
            <a:r>
              <a:rPr lang="en-IN" sz="2400" dirty="0">
                <a:sym typeface="+mn-ea"/>
              </a:rPr>
              <a:t>Dynamic MRI has been used to assess </a:t>
            </a:r>
            <a:r>
              <a:rPr lang="en-IN" sz="2400" dirty="0" err="1">
                <a:sym typeface="+mn-ea"/>
              </a:rPr>
              <a:t>tumor</a:t>
            </a:r>
            <a:r>
              <a:rPr lang="en-IN" sz="2400" dirty="0">
                <a:sym typeface="+mn-ea"/>
              </a:rPr>
              <a:t> </a:t>
            </a:r>
            <a:r>
              <a:rPr lang="en-IN" sz="2400" dirty="0" err="1">
                <a:sym typeface="+mn-ea"/>
              </a:rPr>
              <a:t>vascularity</a:t>
            </a:r>
            <a:r>
              <a:rPr lang="en-IN" sz="2400" dirty="0">
                <a:sym typeface="+mn-ea"/>
              </a:rPr>
              <a:t> (</a:t>
            </a:r>
            <a:r>
              <a:rPr lang="en-IN" sz="2400" dirty="0" err="1">
                <a:sym typeface="+mn-ea"/>
              </a:rPr>
              <a:t>microvessel</a:t>
            </a:r>
            <a:r>
              <a:rPr lang="en-IN" sz="2400" baseline="30000" dirty="0">
                <a:sym typeface="+mn-ea"/>
              </a:rPr>
              <a:t> </a:t>
            </a:r>
            <a:r>
              <a:rPr lang="en-IN" sz="2400" dirty="0">
                <a:sym typeface="+mn-ea"/>
              </a:rPr>
              <a:t>counts) and </a:t>
            </a:r>
            <a:r>
              <a:rPr lang="en-IN" sz="2400" dirty="0" err="1">
                <a:sym typeface="+mn-ea"/>
              </a:rPr>
              <a:t>interstitium</a:t>
            </a:r>
            <a:r>
              <a:rPr lang="en-IN" sz="2400" dirty="0">
                <a:sym typeface="+mn-ea"/>
              </a:rPr>
              <a:t> (degree of elastic and collagen </a:t>
            </a:r>
            <a:r>
              <a:rPr lang="en-IN" sz="2400" dirty="0" err="1">
                <a:sym typeface="+mn-ea"/>
              </a:rPr>
              <a:t>fibers</a:t>
            </a:r>
            <a:r>
              <a:rPr lang="en-IN" sz="2400" dirty="0">
                <a:sym typeface="+mn-ea"/>
              </a:rPr>
              <a:t>)</a:t>
            </a:r>
            <a:r>
              <a:rPr lang="en-IN" sz="2400" baseline="30000" dirty="0">
                <a:sym typeface="+mn-ea"/>
              </a:rPr>
              <a:t> </a:t>
            </a:r>
            <a:endParaRPr lang="en-IN" sz="2400" dirty="0"/>
          </a:p>
          <a:p>
            <a:endParaRPr lang="en-US" sz="2800" dirty="0"/>
          </a:p>
          <a:p>
            <a:endParaRPr 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575" y="59182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ROLE OF DW-MRI IN SPN</a:t>
            </a:r>
          </a:p>
        </p:txBody>
      </p:sp>
      <p:sp>
        <p:nvSpPr>
          <p:cNvPr id="3" name="Content Placeholder 2"/>
          <p:cNvSpPr>
            <a:spLocks noGrp="1"/>
          </p:cNvSpPr>
          <p:nvPr>
            <p:ph idx="1"/>
          </p:nvPr>
        </p:nvSpPr>
        <p:spPr>
          <a:xfrm>
            <a:off x="609600" y="1295400"/>
            <a:ext cx="10972800" cy="4832350"/>
          </a:xfrm>
        </p:spPr>
        <p:txBody>
          <a:bodyPr>
            <a:normAutofit/>
          </a:bodyPr>
          <a:lstStyle/>
          <a:p>
            <a:pPr>
              <a:buNone/>
            </a:pPr>
            <a:r>
              <a:rPr lang="en-US" sz="2800" dirty="0"/>
              <a:t>SCALE ( study by Satoh </a:t>
            </a:r>
            <a:r>
              <a:rPr lang="en-US" sz="2800" i="1" dirty="0"/>
              <a:t>et al </a:t>
            </a:r>
            <a:r>
              <a:rPr lang="en-US" sz="2800" dirty="0"/>
              <a:t>) are:</a:t>
            </a:r>
          </a:p>
          <a:p>
            <a:pPr marL="514350" indent="-514350">
              <a:buAutoNum type="arabicPeriod"/>
            </a:pPr>
            <a:r>
              <a:rPr lang="en-US" sz="2800" dirty="0"/>
              <a:t>Nearly no signal intensity</a:t>
            </a:r>
          </a:p>
          <a:p>
            <a:pPr marL="514350" indent="-514350">
              <a:buAutoNum type="arabicPeriod"/>
            </a:pPr>
            <a:r>
              <a:rPr lang="en-US" sz="2800" dirty="0"/>
              <a:t>Signal intensity between 1 and 3</a:t>
            </a:r>
          </a:p>
          <a:p>
            <a:pPr marL="514350" indent="-514350">
              <a:buAutoNum type="arabicPeriod"/>
            </a:pPr>
            <a:r>
              <a:rPr lang="en-US" sz="2800" dirty="0"/>
              <a:t>Signal intensity almost equal to the spinal cord at </a:t>
            </a:r>
            <a:r>
              <a:rPr lang="en-US" sz="2800" dirty="0" err="1"/>
              <a:t>thoracic</a:t>
            </a:r>
            <a:r>
              <a:rPr lang="en-US" sz="2800" dirty="0"/>
              <a:t> spine</a:t>
            </a:r>
          </a:p>
          <a:p>
            <a:pPr marL="514350" indent="-514350">
              <a:buAutoNum type="arabicPeriod"/>
            </a:pPr>
            <a:r>
              <a:rPr lang="en-US" sz="2800" dirty="0"/>
              <a:t>Higher signal than spinal cord</a:t>
            </a:r>
          </a:p>
          <a:p>
            <a:pPr marL="514350" indent="-514350">
              <a:buNone/>
            </a:pPr>
            <a:r>
              <a:rPr lang="en-US" sz="2800" dirty="0"/>
              <a:t> SCORE OF 3 IS  THRESHOLD FOR DIFFERENTIATING BENIGN AND MALIGNANT NODULES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35610"/>
            <a:ext cx="10972800" cy="582613"/>
          </a:xfrm>
        </p:spPr>
        <p:txBody>
          <a:bodyPr/>
          <a:lstStyle/>
          <a:p>
            <a:pPr>
              <a:lnSpc>
                <a:spcPct val="110000"/>
              </a:lnSpc>
            </a:pPr>
            <a:r>
              <a:rPr lang="en-US" dirty="0">
                <a:solidFill>
                  <a:schemeClr val="tx1"/>
                </a:solidFill>
                <a:effectLst>
                  <a:outerShdw blurRad="38100" dist="19050" dir="2700000" algn="tl" rotWithShape="0">
                    <a:schemeClr val="dk1">
                      <a:alpha val="40000"/>
                      <a:alpha val="40000"/>
                    </a:schemeClr>
                  </a:outerShdw>
                </a:effectLst>
              </a:rPr>
              <a:t>Disadvantages of MRI</a:t>
            </a:r>
          </a:p>
        </p:txBody>
      </p:sp>
      <p:sp>
        <p:nvSpPr>
          <p:cNvPr id="3" name="Content Placeholder 2"/>
          <p:cNvSpPr>
            <a:spLocks noGrp="1"/>
          </p:cNvSpPr>
          <p:nvPr>
            <p:ph idx="1"/>
          </p:nvPr>
        </p:nvSpPr>
        <p:spPr>
          <a:xfrm>
            <a:off x="446405" y="1018540"/>
            <a:ext cx="10515600" cy="3830320"/>
          </a:xfrm>
        </p:spPr>
        <p:txBody>
          <a:bodyPr>
            <a:normAutofit fontScale="90000" lnSpcReduction="20000"/>
          </a:bodyPr>
          <a:lstStyle/>
          <a:p>
            <a:endParaRPr lang="en-US" dirty="0"/>
          </a:p>
          <a:p>
            <a:r>
              <a:rPr lang="en-US" dirty="0"/>
              <a:t>Poor resolution  </a:t>
            </a:r>
          </a:p>
          <a:p>
            <a:endParaRPr lang="en-US" dirty="0"/>
          </a:p>
          <a:p>
            <a:r>
              <a:rPr lang="en-US" dirty="0"/>
              <a:t>Cardiac and respiratory motion artifacts</a:t>
            </a:r>
          </a:p>
          <a:p>
            <a:endParaRPr lang="en-US" dirty="0"/>
          </a:p>
          <a:p>
            <a:r>
              <a:rPr lang="en-US" dirty="0"/>
              <a:t>Difficulty in detecting lesion  &lt; 1 cm lesion</a:t>
            </a:r>
          </a:p>
          <a:p>
            <a:endParaRPr lang="en-US" dirty="0"/>
          </a:p>
          <a:p>
            <a:r>
              <a:rPr lang="en-US" dirty="0"/>
              <a:t>Not useful in peripheral  SPN due to signal loss</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020" y="339090"/>
            <a:ext cx="4426585" cy="699770"/>
          </a:xfrm>
        </p:spPr>
        <p:txBody>
          <a:bodyPr/>
          <a:lstStyle/>
          <a:p>
            <a:r>
              <a:rPr lang="en-US" dirty="0">
                <a:solidFill>
                  <a:schemeClr val="tx1"/>
                </a:solidFill>
                <a:effectLst>
                  <a:outerShdw blurRad="38100" dist="19050" dir="2700000" algn="tl" rotWithShape="0">
                    <a:schemeClr val="dk1">
                      <a:alpha val="40000"/>
                      <a:alpha val="40000"/>
                    </a:schemeClr>
                  </a:outerShdw>
                </a:effectLst>
              </a:rPr>
              <a:t>ROLE OF FDG-PET</a:t>
            </a:r>
          </a:p>
        </p:txBody>
      </p:sp>
      <p:sp>
        <p:nvSpPr>
          <p:cNvPr id="3" name="Content Placeholder 2"/>
          <p:cNvSpPr>
            <a:spLocks noGrp="1"/>
          </p:cNvSpPr>
          <p:nvPr>
            <p:ph idx="1"/>
          </p:nvPr>
        </p:nvSpPr>
        <p:spPr>
          <a:xfrm>
            <a:off x="350520" y="1038860"/>
            <a:ext cx="11349355" cy="4584065"/>
          </a:xfrm>
        </p:spPr>
        <p:txBody>
          <a:bodyPr>
            <a:noAutofit/>
          </a:bodyPr>
          <a:lstStyle/>
          <a:p>
            <a:r>
              <a:rPr lang="en-IN" sz="2400" dirty="0"/>
              <a:t>Malignant cells have </a:t>
            </a:r>
            <a:r>
              <a:rPr lang="en-IN" sz="2400" dirty="0" err="1"/>
              <a:t>upregulated</a:t>
            </a:r>
            <a:r>
              <a:rPr lang="en-IN" sz="2400" baseline="30000" dirty="0"/>
              <a:t> </a:t>
            </a:r>
            <a:r>
              <a:rPr lang="en-IN" sz="2400" dirty="0"/>
              <a:t>metabolisms and proliferate rapidly.</a:t>
            </a:r>
            <a:r>
              <a:rPr lang="en-US" sz="2400" dirty="0"/>
              <a:t>This results in marked uptake of FDG </a:t>
            </a:r>
          </a:p>
          <a:p>
            <a:r>
              <a:rPr lang="en-US" altLang="en-US" sz="2400">
                <a:sym typeface="+mn-ea"/>
              </a:rPr>
              <a:t>PET-CT plays an increasingly important role in the evaluation of solitary nodules.</a:t>
            </a:r>
            <a:endParaRPr lang="en-US" altLang="en-US" sz="2400"/>
          </a:p>
          <a:p>
            <a:r>
              <a:rPr lang="en-US" altLang="en-US" sz="2400">
                <a:sym typeface="+mn-ea"/>
              </a:rPr>
              <a:t>PET has a very high sensitivity 95%, but a lesser specificity of only 81%</a:t>
            </a:r>
            <a:endParaRPr lang="en-US" altLang="en-US" sz="2400"/>
          </a:p>
          <a:p>
            <a:r>
              <a:rPr lang="en-US" sz="2400" dirty="0"/>
              <a:t>False negative  results  due to -   </a:t>
            </a:r>
            <a:r>
              <a:rPr lang="en-US" sz="2400" dirty="0" err="1"/>
              <a:t>Carcinoids</a:t>
            </a:r>
            <a:r>
              <a:rPr lang="en-US" sz="2400" dirty="0"/>
              <a:t> , BAC , </a:t>
            </a:r>
            <a:r>
              <a:rPr lang="en-US" sz="2400" dirty="0" err="1"/>
              <a:t>Adeno</a:t>
            </a:r>
            <a:r>
              <a:rPr lang="en-US" sz="2400" dirty="0"/>
              <a:t> with BAC component  , SPN &lt; 10 mm</a:t>
            </a:r>
          </a:p>
          <a:p>
            <a:r>
              <a:rPr lang="en-US" sz="2400" dirty="0"/>
              <a:t>False positive results are due to –Active TB , </a:t>
            </a:r>
            <a:r>
              <a:rPr lang="en-US" sz="2400" dirty="0" err="1"/>
              <a:t>Histoplasmosis</a:t>
            </a:r>
            <a:r>
              <a:rPr lang="en-US" sz="2400" dirty="0"/>
              <a:t> ,   </a:t>
            </a:r>
            <a:r>
              <a:rPr lang="en-US" sz="2400" dirty="0" err="1"/>
              <a:t>Rhematoid</a:t>
            </a:r>
            <a:r>
              <a:rPr lang="en-US" sz="2400" dirty="0"/>
              <a:t> nodules ,</a:t>
            </a:r>
            <a:r>
              <a:rPr lang="en-US" sz="2400" dirty="0" err="1"/>
              <a:t>Aspergillosis</a:t>
            </a:r>
            <a:r>
              <a:rPr lang="en-US" sz="2400" dirty="0"/>
              <a:t>  , </a:t>
            </a:r>
            <a:r>
              <a:rPr lang="en-US" sz="2400" dirty="0" err="1"/>
              <a:t>wegeners</a:t>
            </a:r>
            <a:r>
              <a:rPr lang="en-US" sz="2400" dirty="0"/>
              <a:t> </a:t>
            </a:r>
            <a:r>
              <a:rPr lang="en-US" sz="2400" dirty="0" err="1"/>
              <a:t>granulomatosis</a:t>
            </a:r>
            <a:endParaRPr lang="en-US" sz="2400" dirty="0"/>
          </a:p>
          <a:p>
            <a:r>
              <a:rPr lang="en-US" sz="2400" dirty="0"/>
              <a:t>Possibility of malignancy with negative FDG-PET is &lt;5%</a:t>
            </a:r>
          </a:p>
          <a:p>
            <a:r>
              <a:rPr lang="en-US" sz="2400" dirty="0"/>
              <a:t>The SUV (Standarized uptake value) is more that 2.5 for lung cancers.</a:t>
            </a:r>
          </a:p>
          <a:p>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5-02 at 9.23.27 AM"/>
          <p:cNvPicPr>
            <a:picLocks noChangeAspect="1"/>
          </p:cNvPicPr>
          <p:nvPr/>
        </p:nvPicPr>
        <p:blipFill>
          <a:blip r:embed="rId3"/>
          <a:stretch>
            <a:fillRect/>
          </a:stretch>
        </p:blipFill>
        <p:spPr>
          <a:xfrm>
            <a:off x="820420" y="412750"/>
            <a:ext cx="9831705" cy="51777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62880" y="709930"/>
            <a:ext cx="4681855" cy="334645"/>
          </a:xfrm>
        </p:spPr>
        <p:txBody>
          <a:bodyPr>
            <a:normAutofit fontScale="90000"/>
          </a:bodyPr>
          <a:lstStyle/>
          <a:p>
            <a:r>
              <a:rPr lang="en-US" dirty="0">
                <a:solidFill>
                  <a:schemeClr val="tx1"/>
                </a:solidFill>
                <a:effectLst>
                  <a:outerShdw blurRad="38100" dist="19050" dir="2700000" algn="tl" rotWithShape="0">
                    <a:schemeClr val="dk1">
                      <a:alpha val="40000"/>
                      <a:alpha val="40000"/>
                    </a:schemeClr>
                  </a:outerShdw>
                </a:effectLst>
              </a:rPr>
              <a:t>Axial CT         Axial PET</a:t>
            </a:r>
          </a:p>
        </p:txBody>
      </p:sp>
      <p:pic>
        <p:nvPicPr>
          <p:cNvPr id="7" name="Picture 2" descr="http://img.medscape.com/fullsize/migrated/editorial/casecme/2008/8994/images/shulkin8994.fig6.gif"/>
          <p:cNvPicPr>
            <a:picLocks noGrp="1" noChangeAspect="1" noChangeArrowheads="1"/>
          </p:cNvPicPr>
          <p:nvPr>
            <p:ph sz="half" idx="1"/>
          </p:nvPr>
        </p:nvPicPr>
        <p:blipFill>
          <a:blip r:embed="rId3"/>
          <a:srcRect t="8890"/>
          <a:stretch>
            <a:fillRect/>
          </a:stretch>
        </p:blipFill>
        <p:spPr bwMode="auto">
          <a:xfrm>
            <a:off x="4103370" y="1145540"/>
            <a:ext cx="6095365" cy="2283460"/>
          </a:xfrm>
          <a:prstGeom prst="rect">
            <a:avLst/>
          </a:prstGeom>
          <a:noFill/>
        </p:spPr>
      </p:pic>
      <p:pic>
        <p:nvPicPr>
          <p:cNvPr id="9" name="Picture 4" descr="http://img.medscape.com/fullsize/migrated/editorial/casecme/2008/8994/images/shulkin8994.fig7.gif"/>
          <p:cNvPicPr>
            <a:picLocks noChangeAspect="1" noChangeArrowheads="1"/>
          </p:cNvPicPr>
          <p:nvPr/>
        </p:nvPicPr>
        <p:blipFill>
          <a:blip r:embed="rId4"/>
          <a:srcRect t="7679"/>
          <a:stretch>
            <a:fillRect/>
          </a:stretch>
        </p:blipFill>
        <p:spPr bwMode="auto">
          <a:xfrm>
            <a:off x="5361305" y="3529965"/>
            <a:ext cx="3828415" cy="2563495"/>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186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ROLE OF SPECT IN SPN</a:t>
            </a:r>
          </a:p>
        </p:txBody>
      </p:sp>
      <p:sp>
        <p:nvSpPr>
          <p:cNvPr id="5" name="Content Placeholder 4"/>
          <p:cNvSpPr>
            <a:spLocks noGrp="1"/>
          </p:cNvSpPr>
          <p:nvPr>
            <p:ph idx="1"/>
          </p:nvPr>
        </p:nvSpPr>
        <p:spPr>
          <a:xfrm>
            <a:off x="609600" y="1633855"/>
            <a:ext cx="10972800" cy="4493895"/>
          </a:xfrm>
        </p:spPr>
        <p:txBody>
          <a:bodyPr/>
          <a:lstStyle/>
          <a:p>
            <a:r>
              <a:rPr lang="en-IN" dirty="0"/>
              <a:t>The diagnostic ability of SPECT has been reported, with sensitivity</a:t>
            </a:r>
            <a:r>
              <a:rPr lang="en-US" altLang="en-IN" dirty="0"/>
              <a:t> (</a:t>
            </a:r>
            <a:r>
              <a:rPr lang="en-IN" dirty="0">
                <a:sym typeface="+mn-ea"/>
              </a:rPr>
              <a:t>85</a:t>
            </a:r>
            <a:r>
              <a:rPr lang="en-US" altLang="en-IN" dirty="0">
                <a:sym typeface="+mn-ea"/>
              </a:rPr>
              <a:t> </a:t>
            </a:r>
            <a:r>
              <a:rPr lang="en-IN" dirty="0">
                <a:sym typeface="+mn-ea"/>
              </a:rPr>
              <a:t>to 100%</a:t>
            </a:r>
            <a:r>
              <a:rPr lang="en-US" altLang="en-IN" dirty="0"/>
              <a:t>)</a:t>
            </a:r>
            <a:r>
              <a:rPr lang="en-IN" dirty="0"/>
              <a:t>, specificity</a:t>
            </a:r>
            <a:r>
              <a:rPr lang="en-US" altLang="en-IN" dirty="0"/>
              <a:t> (</a:t>
            </a:r>
            <a:r>
              <a:rPr lang="en-IN" dirty="0">
                <a:sym typeface="+mn-ea"/>
              </a:rPr>
              <a:t>90 to 100%</a:t>
            </a:r>
            <a:r>
              <a:rPr lang="en-US" altLang="en-IN" dirty="0"/>
              <a:t>)</a:t>
            </a:r>
            <a:r>
              <a:rPr lang="en-IN" dirty="0"/>
              <a:t> and accuracy of</a:t>
            </a:r>
            <a:r>
              <a:rPr lang="en-US" altLang="en-IN" dirty="0"/>
              <a:t> </a:t>
            </a:r>
            <a:r>
              <a:rPr lang="en-IN" dirty="0"/>
              <a:t>85 to 100%.</a:t>
            </a:r>
          </a:p>
          <a:p>
            <a:r>
              <a:rPr lang="en-IN" dirty="0"/>
              <a:t>Diagnostic accuracy for the pulmonary nodules over 2 cm in size between SPECT and FDG-PET is almost the same</a:t>
            </a:r>
            <a:r>
              <a:rPr lang="en-US" altLang="en-IN" dirty="0"/>
              <a:t>, However less sensitive than PET for nodules smaller than 2 cm </a:t>
            </a:r>
            <a:endParaRPr lang="en-IN" dirty="0"/>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53770"/>
            <a:ext cx="10972800" cy="582613"/>
          </a:xfrm>
        </p:spPr>
        <p:txBody>
          <a:bodyPr/>
          <a:lstStyle/>
          <a:p>
            <a:r>
              <a:rPr lang="en-US" dirty="0">
                <a:solidFill>
                  <a:schemeClr val="tx1"/>
                </a:solidFill>
                <a:effectLst>
                  <a:outerShdw blurRad="38100" dist="19050" dir="2700000" algn="tl" rotWithShape="0">
                    <a:schemeClr val="dk1">
                      <a:alpha val="40000"/>
                      <a:alpha val="40000"/>
                    </a:schemeClr>
                  </a:outerShdw>
                </a:effectLst>
              </a:rPr>
              <a:t>THALLIUM SPECT IN SPN</a:t>
            </a:r>
          </a:p>
        </p:txBody>
      </p:sp>
      <p:pic>
        <p:nvPicPr>
          <p:cNvPr id="4" name="Picture 2"/>
          <p:cNvPicPr>
            <a:picLocks noGrp="1" noChangeAspect="1" noChangeArrowheads="1"/>
          </p:cNvPicPr>
          <p:nvPr>
            <p:ph idx="1"/>
          </p:nvPr>
        </p:nvPicPr>
        <p:blipFill>
          <a:blip r:embed="rId3"/>
          <a:srcRect b="40639"/>
          <a:stretch>
            <a:fillRect/>
          </a:stretch>
        </p:blipFill>
        <p:spPr bwMode="auto">
          <a:xfrm>
            <a:off x="1316990" y="1805305"/>
            <a:ext cx="8893810" cy="382905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6155" y="1209040"/>
            <a:ext cx="9224645" cy="3224530"/>
          </a:xfrm>
        </p:spPr>
        <p:txBody>
          <a:bodyPr/>
          <a:lstStyle/>
          <a:p>
            <a:pPr marL="0" indent="0">
              <a:lnSpc>
                <a:spcPct val="100000"/>
              </a:lnSpc>
              <a:buNone/>
            </a:pPr>
            <a:r>
              <a:rPr lang="en-US" sz="2800" dirty="0" err="1"/>
              <a:t>For </a:t>
            </a:r>
            <a:r>
              <a:rPr lang="en-US" sz="2800" dirty="0">
                <a:effectLst>
                  <a:outerShdw blurRad="38100" dist="38100" dir="2700000" algn="tl">
                    <a:srgbClr val="000000">
                      <a:alpha val="43137"/>
                    </a:srgbClr>
                  </a:outerShdw>
                </a:effectLst>
                <a:sym typeface="+mn-ea"/>
              </a:rPr>
              <a:t>Inderterminate </a:t>
            </a:r>
            <a:r>
              <a:rPr lang="en-US" sz="2800" dirty="0">
                <a:effectLst>
                  <a:outerShdw blurRad="38100" dist="19050" dir="2700000" algn="tl" rotWithShape="0">
                    <a:schemeClr val="dk1">
                      <a:alpha val="40000"/>
                      <a:alpha val="40000"/>
                    </a:schemeClr>
                  </a:outerShdw>
                </a:effectLst>
                <a:sym typeface="+mn-ea"/>
              </a:rPr>
              <a:t>SPN, method fo biopsy include:</a:t>
            </a:r>
            <a:endParaRPr lang="en-US" sz="2800" dirty="0" err="1"/>
          </a:p>
          <a:p>
            <a:r>
              <a:rPr lang="en-US" sz="2400" dirty="0" err="1"/>
              <a:t>Transthoracic</a:t>
            </a:r>
            <a:r>
              <a:rPr lang="en-US" sz="2400" dirty="0"/>
              <a:t> needle aspiration biopsy (TTNB) for peripheral nodules</a:t>
            </a:r>
          </a:p>
          <a:p>
            <a:r>
              <a:rPr lang="en-US" sz="2400" dirty="0" err="1"/>
              <a:t>Fibreoptic</a:t>
            </a:r>
            <a:r>
              <a:rPr lang="en-US" sz="2400" dirty="0"/>
              <a:t> </a:t>
            </a:r>
            <a:r>
              <a:rPr lang="en-US" sz="2400" dirty="0" err="1"/>
              <a:t>bronchoscopy</a:t>
            </a:r>
            <a:r>
              <a:rPr lang="en-US" sz="2400" dirty="0"/>
              <a:t> with </a:t>
            </a:r>
            <a:r>
              <a:rPr lang="en-US" sz="2400" dirty="0" err="1"/>
              <a:t>transbronchial</a:t>
            </a:r>
            <a:r>
              <a:rPr lang="en-US" sz="2400" dirty="0"/>
              <a:t> biopsy for </a:t>
            </a:r>
            <a:r>
              <a:rPr lang="en-US" sz="2400" dirty="0" err="1"/>
              <a:t>endobronchial</a:t>
            </a:r>
            <a:r>
              <a:rPr lang="en-US" sz="2400" dirty="0"/>
              <a:t> lesions</a:t>
            </a:r>
          </a:p>
          <a:p>
            <a:r>
              <a:rPr lang="en-US" sz="2400" dirty="0"/>
              <a:t>Video assisted thoracic surgery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0" y="989330"/>
            <a:ext cx="10972800" cy="582613"/>
          </a:xfrm>
        </p:spPr>
        <p:txBody>
          <a:bodyPr/>
          <a:lstStyle/>
          <a:p>
            <a:r>
              <a:rPr lang="en-US" altLang="en-US"/>
              <a:t>Fleischner Guideline 2017</a:t>
            </a:r>
          </a:p>
        </p:txBody>
      </p:sp>
      <p:sp>
        <p:nvSpPr>
          <p:cNvPr id="3" name="Content Placeholder 2"/>
          <p:cNvSpPr>
            <a:spLocks noGrp="1"/>
          </p:cNvSpPr>
          <p:nvPr>
            <p:ph sz="half" idx="1"/>
          </p:nvPr>
        </p:nvSpPr>
        <p:spPr>
          <a:xfrm>
            <a:off x="609600" y="1670050"/>
            <a:ext cx="9246235" cy="3538220"/>
          </a:xfrm>
        </p:spPr>
        <p:txBody>
          <a:bodyPr>
            <a:normAutofit/>
          </a:bodyPr>
          <a:lstStyle/>
          <a:p>
            <a:r>
              <a:rPr lang="en-US" altLang="en-US" sz="1800"/>
              <a:t>These new guidelines should reduce the number of unnecessary follow-up examinations and provide clear management decisions.</a:t>
            </a:r>
          </a:p>
          <a:p>
            <a:r>
              <a:rPr lang="en-US" altLang="en-US" sz="1800"/>
              <a:t>Nodule characterization should be performed on thin-slice CT images ≤1.5 mm, since a small solid nodule may appear to have groundglass density on a thick slice due to partial-volume effect.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575" y="591820"/>
            <a:ext cx="10972800" cy="582613"/>
          </a:xfrm>
        </p:spPr>
        <p:txBody>
          <a:bodyPr>
            <a:normAutofit fontScale="90000"/>
          </a:bodyPr>
          <a:lstStyle/>
          <a:p>
            <a:r>
              <a:rPr lang="en-US" altLang="en-US">
                <a:ln w="22225">
                  <a:solidFill>
                    <a:schemeClr val="accent2"/>
                  </a:solidFill>
                  <a:prstDash val="solid"/>
                </a:ln>
                <a:solidFill>
                  <a:schemeClr val="accent2">
                    <a:lumMod val="40000"/>
                    <a:lumOff val="60000"/>
                    <a:lumMod val="40000"/>
                    <a:lumOff val="60000"/>
                  </a:schemeClr>
                </a:solidFill>
                <a:effectLst/>
                <a:sym typeface="+mn-ea"/>
              </a:rPr>
              <a:t>Risk Factors of Pulmonary Nodule Malignancy are</a:t>
            </a:r>
          </a:p>
        </p:txBody>
      </p:sp>
      <p:sp>
        <p:nvSpPr>
          <p:cNvPr id="3" name="Content Placeholder 2"/>
          <p:cNvSpPr>
            <a:spLocks noGrp="1"/>
          </p:cNvSpPr>
          <p:nvPr>
            <p:ph sz="half" idx="1"/>
          </p:nvPr>
        </p:nvSpPr>
        <p:spPr/>
        <p:txBody>
          <a:bodyPr>
            <a:normAutofit fontScale="70000"/>
            <a:scene3d>
              <a:camera prst="orthographicFront"/>
              <a:lightRig rig="threePt" dir="t"/>
            </a:scene3d>
          </a:bodyPr>
          <a:lstStyle/>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History of heavy smoking</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Exposure to asbestos.</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Family history of lung cancer</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Older age</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Sex: Females &gt; Males</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Marginal spiculation</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Upper lobe location</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Multiplicity (&lt; 5 nodules increases risk for malignancy)</a:t>
            </a:r>
            <a:endParaRPr lang="en-US" altLang="en-US">
              <a:solidFill>
                <a:schemeClr val="tx1"/>
              </a:solidFill>
              <a:effectLst>
                <a:outerShdw blurRad="38100" dist="19050" dir="2700000" algn="tl" rotWithShape="0">
                  <a:schemeClr val="dk1">
                    <a:alpha val="40000"/>
                    <a:alpha val="40000"/>
                  </a:schemeClr>
                </a:outerShdw>
              </a:effectLst>
            </a:endParaRPr>
          </a:p>
          <a:p>
            <a:pPr marL="285750" indent="-285750">
              <a:buFont typeface="Arial" panose="020B0604020202090204" pitchFamily="34" charset="0"/>
              <a:buChar char="•"/>
            </a:pPr>
            <a:r>
              <a:rPr lang="en-US" altLang="en-US">
                <a:solidFill>
                  <a:schemeClr val="tx1"/>
                </a:solidFill>
                <a:effectLst>
                  <a:outerShdw blurRad="38100" dist="19050" dir="2700000" algn="tl" rotWithShape="0">
                    <a:schemeClr val="dk1">
                      <a:alpha val="40000"/>
                      <a:alpha val="40000"/>
                    </a:schemeClr>
                  </a:outerShdw>
                </a:effectLst>
                <a:sym typeface="+mn-ea"/>
              </a:rPr>
              <a:t>Emphysema and pulmonary fibrosis.</a:t>
            </a:r>
            <a:endParaRPr lang="en-US" altLang="en-US">
              <a:solidFill>
                <a:schemeClr val="tx1"/>
              </a:solidFill>
              <a:effectLst>
                <a:outerShdw blurRad="38100" dist="19050" dir="2700000" algn="tl" rotWithShape="0">
                  <a:schemeClr val="dk1">
                    <a:alpha val="40000"/>
                    <a:alpha val="40000"/>
                  </a:schemeClr>
                </a:outerShdw>
              </a:effectLst>
            </a:endParaRPr>
          </a:p>
          <a:p>
            <a:endParaRPr lang="en-US" altLang="en-US">
              <a:solidFill>
                <a:schemeClr val="tx1"/>
              </a:solidFill>
              <a:effectLst>
                <a:outerShdw blurRad="38100" dist="19050" dir="2700000" algn="tl" rotWithShape="0">
                  <a:schemeClr val="dk1">
                    <a:alpha val="40000"/>
                    <a:alpha val="40000"/>
                  </a:schemeClr>
                </a:outerShdw>
              </a:effectLs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5905f86dedd3d_TAB-solid-4"/>
          <p:cNvPicPr>
            <a:picLocks noChangeAspect="1"/>
          </p:cNvPicPr>
          <p:nvPr/>
        </p:nvPicPr>
        <p:blipFill>
          <a:blip r:embed="rId3"/>
          <a:stretch>
            <a:fillRect/>
          </a:stretch>
        </p:blipFill>
        <p:spPr>
          <a:xfrm>
            <a:off x="2228850" y="514985"/>
            <a:ext cx="6777990" cy="533209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593851a2021d7_TAB-subsolidB"/>
          <p:cNvPicPr>
            <a:picLocks noGrp="1" noChangeAspect="1"/>
          </p:cNvPicPr>
          <p:nvPr>
            <p:ph idx="1"/>
          </p:nvPr>
        </p:nvPicPr>
        <p:blipFill>
          <a:blip r:embed="rId3"/>
          <a:stretch>
            <a:fillRect/>
          </a:stretch>
        </p:blipFill>
        <p:spPr>
          <a:xfrm>
            <a:off x="1503680" y="198120"/>
            <a:ext cx="8482330" cy="523176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3670" y="1398905"/>
            <a:ext cx="11610340" cy="3701415"/>
          </a:xfrm>
          <a:prstGeom prst="rect">
            <a:avLst/>
          </a:prstGeom>
        </p:spPr>
        <p:txBody>
          <a:bodyPr>
            <a:noAutofit/>
          </a:bodyPr>
          <a:lstStyle/>
          <a:p>
            <a:pPr>
              <a:buFont typeface="Arial" panose="020B0604020202090204"/>
              <a:buChar char="•"/>
            </a:pPr>
            <a:r>
              <a:rPr sz="2000"/>
              <a:t>﻿Only apply in subjects 35 years or older</a:t>
            </a:r>
          </a:p>
          <a:p>
            <a:pPr>
              <a:buFont typeface="Arial" panose="020B0604020202090204"/>
              <a:buChar char="•"/>
            </a:pPr>
            <a:r>
              <a:rPr sz="2000"/>
              <a:t>﻿﻿Do not apply in immunocompromised subjects, or patients with a known or suspected malignancy</a:t>
            </a:r>
          </a:p>
          <a:p>
            <a:pPr>
              <a:buFont typeface="Arial" panose="020B0604020202090204"/>
              <a:buChar char="•"/>
            </a:pPr>
            <a:r>
              <a:rPr sz="2000"/>
              <a:t>﻿﻿Use thin-slice (low-dose) CT imaging with off-axis reconstructions to characterize and follow-up lung nodules</a:t>
            </a:r>
          </a:p>
          <a:p>
            <a:pPr>
              <a:buFont typeface="Arial" panose="020B0604020202090204"/>
              <a:buChar char="•"/>
            </a:pPr>
            <a:r>
              <a:rPr sz="2000"/>
              <a:t>﻿﻿Manual nodule measurements should be based on the average of long- and short-axis diameters (obtained on the same image in any plane). </a:t>
            </a:r>
          </a:p>
          <a:p>
            <a:pPr>
              <a:buFont typeface="Arial" panose="020B0604020202090204"/>
              <a:buChar char="•"/>
            </a:pPr>
            <a:r>
              <a:rPr sz="2000"/>
              <a:t> </a:t>
            </a:r>
            <a:r>
              <a:rPr lang="en-US" sz="2000"/>
              <a:t>K</a:t>
            </a:r>
            <a:r>
              <a:rPr sz="2000"/>
              <a:t>eep imaging technique and software constant during follow-up</a:t>
            </a:r>
          </a:p>
          <a:p>
            <a:pPr>
              <a:buFont typeface="Arial" panose="020B0604020202090204"/>
              <a:buChar char="•"/>
            </a:pPr>
            <a:r>
              <a:rPr sz="2000"/>
              <a:t>﻿﻿The new guideline requires risk-stratification on both patient- and nodule-characteristics</a:t>
            </a:r>
            <a:r>
              <a:rPr lang="en-US" sz="2000"/>
              <a:t>.</a:t>
            </a:r>
          </a:p>
        </p:txBody>
      </p:sp>
      <p:sp>
        <p:nvSpPr>
          <p:cNvPr id="3" name="Text Box 2"/>
          <p:cNvSpPr txBox="1"/>
          <p:nvPr/>
        </p:nvSpPr>
        <p:spPr>
          <a:xfrm>
            <a:off x="412115" y="526415"/>
            <a:ext cx="9037320" cy="600710"/>
          </a:xfrm>
          <a:prstGeom prst="rect">
            <a:avLst/>
          </a:prstGeom>
          <a:noFill/>
        </p:spPr>
        <p:txBody>
          <a:bodyPr wrap="square" rtlCol="0">
            <a:noAutofit/>
          </a:bodyPr>
          <a:lstStyle/>
          <a:p>
            <a:r>
              <a:rPr lang="en-US" altLang="en-US" sz="2000">
                <a:ln w="22225">
                  <a:solidFill>
                    <a:schemeClr val="accent2"/>
                  </a:solidFill>
                  <a:prstDash val="solid"/>
                </a:ln>
                <a:solidFill>
                  <a:schemeClr val="accent2">
                    <a:lumMod val="40000"/>
                    <a:lumOff val="60000"/>
                    <a:lumMod val="40000"/>
                    <a:lumOff val="60000"/>
                  </a:schemeClr>
                </a:solidFill>
                <a:effectLst/>
              </a:rPr>
              <a:t>Notes using 2017 Fleischner guideline for pulmonary nodule management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145" y="591820"/>
            <a:ext cx="10972800" cy="582613"/>
          </a:xfrm>
        </p:spPr>
        <p:txBody>
          <a:bodyPr/>
          <a:lstStyle/>
          <a:p>
            <a:r>
              <a:rPr lang="en-US" dirty="0">
                <a:ln w="22225">
                  <a:solidFill>
                    <a:schemeClr val="accent2"/>
                  </a:solidFill>
                  <a:prstDash val="solid"/>
                </a:ln>
                <a:solidFill>
                  <a:schemeClr val="accent2">
                    <a:lumMod val="40000"/>
                    <a:lumOff val="60000"/>
                    <a:lumMod val="40000"/>
                    <a:lumOff val="60000"/>
                  </a:schemeClr>
                </a:solidFill>
                <a:effectLst/>
              </a:rPr>
              <a:t>DIFFERNTIAL DIAGNOSIS OF SPN</a:t>
            </a:r>
          </a:p>
        </p:txBody>
      </p:sp>
      <p:sp>
        <p:nvSpPr>
          <p:cNvPr id="3" name="Content Placeholder 2"/>
          <p:cNvSpPr>
            <a:spLocks noGrp="1"/>
          </p:cNvSpPr>
          <p:nvPr>
            <p:ph idx="1"/>
          </p:nvPr>
        </p:nvSpPr>
        <p:spPr>
          <a:xfrm>
            <a:off x="609600" y="1174750"/>
            <a:ext cx="10528935" cy="4730750"/>
          </a:xfrm>
        </p:spPr>
        <p:txBody>
          <a:bodyPr>
            <a:normAutofit lnSpcReduction="10000"/>
          </a:bodyPr>
          <a:lstStyle/>
          <a:p>
            <a:r>
              <a:rPr lang="en-US" dirty="0"/>
              <a:t>MALIGNANT NEOPLASMS</a:t>
            </a:r>
          </a:p>
          <a:p>
            <a:pPr marL="514350" indent="-514350">
              <a:buFont typeface="+mj-lt"/>
              <a:buAutoNum type="alphaUcPeriod"/>
            </a:pPr>
            <a:r>
              <a:rPr lang="en-US" sz="2400" dirty="0"/>
              <a:t>CARCINOMA</a:t>
            </a:r>
          </a:p>
          <a:p>
            <a:pPr marL="514350" indent="-514350">
              <a:buFont typeface="+mj-lt"/>
              <a:buAutoNum type="alphaUcPeriod"/>
            </a:pPr>
            <a:r>
              <a:rPr lang="en-US" sz="2400" dirty="0"/>
              <a:t>LYMPHOMA</a:t>
            </a:r>
          </a:p>
          <a:p>
            <a:pPr marL="514350" indent="-514350">
              <a:buFont typeface="+mj-lt"/>
              <a:buAutoNum type="alphaUcPeriod"/>
            </a:pPr>
            <a:r>
              <a:rPr lang="en-US" sz="2400" dirty="0"/>
              <a:t>LYMPHOPROLIFERATIVE DISEASES</a:t>
            </a:r>
          </a:p>
          <a:p>
            <a:pPr marL="514350" indent="-514350">
              <a:buFont typeface="+mj-lt"/>
              <a:buAutoNum type="alphaUcPeriod"/>
            </a:pPr>
            <a:r>
              <a:rPr lang="en-US" sz="2400" dirty="0"/>
              <a:t>SOLITARY METASTATIC NEOPLASM (MELANOMA,OSTEOSARCOMA,PROSTATE, COLON,BREAST,RCC,TESTICULAR CARCINOMA)</a:t>
            </a:r>
          </a:p>
          <a:p>
            <a:pPr marL="514350" indent="-514350">
              <a:buFont typeface="+mj-lt"/>
              <a:buAutoNum type="alphaUcPeriod"/>
            </a:pPr>
            <a:r>
              <a:rPr lang="en-US" sz="2400" dirty="0"/>
              <a:t>BRONCHIAL CARCINOID</a:t>
            </a:r>
          </a:p>
          <a:p>
            <a:pPr marL="514350" indent="-514350">
              <a:buFont typeface="+mj-lt"/>
              <a:buAutoNum type="alphaUcPeriod"/>
            </a:pPr>
            <a:r>
              <a:rPr lang="en-US" sz="2400" dirty="0"/>
              <a:t>SARCOMA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865" y="1000760"/>
            <a:ext cx="6772275" cy="722630"/>
          </a:xfrm>
        </p:spPr>
        <p:txBody>
          <a:bodyPr/>
          <a:lstStyle/>
          <a:p>
            <a:pPr marL="571500" indent="-571500">
              <a:buFont typeface="Wingdings" panose="05000000000000000000" charset="0"/>
              <a:buChar char=""/>
            </a:pPr>
            <a:r>
              <a:rPr lang="en-US" dirty="0">
                <a:solidFill>
                  <a:schemeClr val="accent1"/>
                </a:solidFill>
                <a:effectLst>
                  <a:outerShdw blurRad="38100" dist="25400" dir="5400000" algn="ctr" rotWithShape="0">
                    <a:srgbClr val="6E747A">
                      <a:alpha val="43000"/>
                      <a:alpha val="43000"/>
                    </a:srgbClr>
                  </a:outerShdw>
                </a:effectLst>
              </a:rPr>
              <a:t>BRONCHIAL CARCINOID</a:t>
            </a:r>
          </a:p>
        </p:txBody>
      </p:sp>
      <p:sp>
        <p:nvSpPr>
          <p:cNvPr id="3" name="Content Placeholder 2"/>
          <p:cNvSpPr>
            <a:spLocks noGrp="1"/>
          </p:cNvSpPr>
          <p:nvPr>
            <p:ph idx="1"/>
          </p:nvPr>
        </p:nvSpPr>
        <p:spPr>
          <a:xfrm>
            <a:off x="879475" y="1854200"/>
            <a:ext cx="9170035" cy="3011805"/>
          </a:xfrm>
        </p:spPr>
        <p:txBody>
          <a:bodyPr>
            <a:normAutofit fontScale="55000"/>
          </a:bodyPr>
          <a:lstStyle/>
          <a:p>
            <a:r>
              <a:rPr lang="en-US" dirty="0"/>
              <a:t>Typical triad –</a:t>
            </a:r>
          </a:p>
          <a:p>
            <a:endParaRPr lang="en-US" dirty="0"/>
          </a:p>
          <a:p>
            <a:pPr marL="457200" indent="-457200">
              <a:buAutoNum type="arabicPeriod"/>
            </a:pPr>
            <a:r>
              <a:rPr lang="en-US" dirty="0"/>
              <a:t>Well defined round </a:t>
            </a:r>
            <a:r>
              <a:rPr lang="en-US" dirty="0" err="1"/>
              <a:t>lobulated </a:t>
            </a:r>
            <a:r>
              <a:rPr lang="en-US" dirty="0"/>
              <a:t>lesion </a:t>
            </a:r>
          </a:p>
          <a:p>
            <a:pPr marL="457200" indent="-457200">
              <a:buAutoNum type="arabicPeriod"/>
            </a:pPr>
            <a:endParaRPr lang="en-US" dirty="0"/>
          </a:p>
          <a:p>
            <a:pPr marL="457200" indent="-457200">
              <a:buAutoNum type="arabicPeriod"/>
            </a:pPr>
            <a:r>
              <a:rPr lang="en-US" dirty="0"/>
              <a:t>At the bifurcation </a:t>
            </a:r>
          </a:p>
          <a:p>
            <a:pPr marL="457200" indent="-457200">
              <a:buAutoNum type="arabicPeriod"/>
            </a:pPr>
            <a:endParaRPr lang="en-US" dirty="0"/>
          </a:p>
          <a:p>
            <a:pPr marL="457200" indent="-457200">
              <a:buAutoNum type="arabicPeriod"/>
            </a:pPr>
            <a:r>
              <a:rPr lang="en-US" dirty="0"/>
              <a:t>Eccentric  calcification</a:t>
            </a:r>
          </a:p>
          <a:p>
            <a:pPr>
              <a:buNone/>
            </a:pPr>
            <a:r>
              <a:rPr lang="en-US" dirty="0"/>
              <a:t>  </a:t>
            </a:r>
            <a:endParaRPr lang="en-IN"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 ">
            <a:hlinkClick r:id="rId3"/>
          </p:cNvPr>
          <p:cNvPicPr>
            <a:picLocks noGrp="1" noChangeAspect="1" noChangeArrowheads="1"/>
          </p:cNvPicPr>
          <p:nvPr>
            <p:ph sz="half" idx="2"/>
          </p:nvPr>
        </p:nvPicPr>
        <p:blipFill>
          <a:blip r:embed="rId4"/>
          <a:srcRect/>
          <a:stretch>
            <a:fillRect/>
          </a:stretch>
        </p:blipFill>
        <p:spPr bwMode="auto">
          <a:xfrm>
            <a:off x="1696085" y="1191260"/>
            <a:ext cx="4493895" cy="3615690"/>
          </a:xfrm>
          <a:prstGeom prst="rect">
            <a:avLst/>
          </a:prstGeom>
          <a:noFill/>
        </p:spPr>
      </p:pic>
      <p:pic>
        <p:nvPicPr>
          <p:cNvPr id="8" name="Picture 4" descr=" ">
            <a:hlinkClick r:id="rId5"/>
          </p:cNvPr>
          <p:cNvPicPr>
            <a:picLocks noGrp="1" noChangeAspect="1" noChangeArrowheads="1"/>
          </p:cNvPicPr>
          <p:nvPr>
            <p:ph sz="quarter" idx="4"/>
          </p:nvPr>
        </p:nvPicPr>
        <p:blipFill>
          <a:blip r:embed="rId6"/>
          <a:srcRect/>
          <a:stretch>
            <a:fillRect/>
          </a:stretch>
        </p:blipFill>
        <p:spPr bwMode="auto">
          <a:xfrm>
            <a:off x="7435850" y="1231900"/>
            <a:ext cx="4204970" cy="3575050"/>
          </a:xfrm>
          <a:prstGeom prst="rect">
            <a:avLst/>
          </a:prstGeom>
          <a:noFill/>
        </p:spPr>
      </p:pic>
      <p:sp>
        <p:nvSpPr>
          <p:cNvPr id="9" name="Text Box 8"/>
          <p:cNvSpPr txBox="1"/>
          <p:nvPr/>
        </p:nvSpPr>
        <p:spPr>
          <a:xfrm>
            <a:off x="3046095" y="4318000"/>
            <a:ext cx="530225" cy="336550"/>
          </a:xfrm>
          <a:prstGeom prst="rect">
            <a:avLst/>
          </a:prstGeom>
          <a:noFill/>
        </p:spPr>
        <p:txBody>
          <a:bodyPr wrap="square" rtlCol="0">
            <a:noAutofit/>
          </a:bodyPr>
          <a:lstStyle/>
          <a:p>
            <a:endParaRPr lang="en-US"/>
          </a:p>
        </p:txBody>
      </p:sp>
      <p:sp>
        <p:nvSpPr>
          <p:cNvPr id="10" name="Text Box 9"/>
          <p:cNvSpPr txBox="1"/>
          <p:nvPr/>
        </p:nvSpPr>
        <p:spPr>
          <a:xfrm>
            <a:off x="2875915" y="5068570"/>
            <a:ext cx="423545" cy="368300"/>
          </a:xfrm>
          <a:prstGeom prst="rect">
            <a:avLst/>
          </a:prstGeom>
          <a:noFill/>
        </p:spPr>
        <p:txBody>
          <a:bodyPr wrap="square" rtlCol="0">
            <a:spAutoFit/>
          </a:bodyPr>
          <a:lstStyle/>
          <a:p>
            <a:r>
              <a:rPr lang="en-US"/>
              <a:t>A</a:t>
            </a:r>
          </a:p>
        </p:txBody>
      </p:sp>
      <p:sp>
        <p:nvSpPr>
          <p:cNvPr id="11" name="Text Box 10"/>
          <p:cNvSpPr txBox="1"/>
          <p:nvPr/>
        </p:nvSpPr>
        <p:spPr>
          <a:xfrm>
            <a:off x="9571355" y="5226050"/>
            <a:ext cx="423545" cy="368300"/>
          </a:xfrm>
          <a:prstGeom prst="rect">
            <a:avLst/>
          </a:prstGeom>
          <a:noFill/>
        </p:spPr>
        <p:txBody>
          <a:bodyPr wrap="square" rtlCol="0">
            <a:spAutoFit/>
          </a:bodyPr>
          <a:lstStyle/>
          <a:p>
            <a:r>
              <a:rPr lang="en-US"/>
              <a:t>B</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0350" y="1085850"/>
            <a:ext cx="8736965" cy="3897630"/>
          </a:xfrm>
        </p:spPr>
        <p:txBody>
          <a:bodyPr/>
          <a:lstStyle/>
          <a:p>
            <a:r>
              <a:rPr lang="en-US" dirty="0">
                <a:solidFill>
                  <a:schemeClr val="tx1"/>
                </a:solidFill>
                <a:effectLst>
                  <a:outerShdw blurRad="38100" dist="19050" dir="2700000" algn="tl" rotWithShape="0">
                    <a:schemeClr val="dk1">
                      <a:alpha val="40000"/>
                      <a:alpha val="40000"/>
                    </a:schemeClr>
                  </a:outerShdw>
                </a:effectLst>
                <a:sym typeface="+mn-ea"/>
              </a:rPr>
              <a:t>BENIGN NEOPLASM AND NEOPLASM LIKE CONDITION</a:t>
            </a:r>
            <a:endParaRPr lang="en-US" dirty="0">
              <a:solidFill>
                <a:schemeClr val="tx1"/>
              </a:solidFill>
              <a:effectLst>
                <a:outerShdw blurRad="38100" dist="19050" dir="2700000" algn="tl" rotWithShape="0">
                  <a:schemeClr val="dk1">
                    <a:alpha val="40000"/>
                    <a:alpha val="40000"/>
                  </a:schemeClr>
                </a:outerShdw>
              </a:effectLst>
            </a:endParaRPr>
          </a:p>
          <a:p>
            <a:pPr marL="514350" indent="-514350">
              <a:buFont typeface="+mj-lt"/>
              <a:buAutoNum type="alphaUcPeriod"/>
            </a:pPr>
            <a:r>
              <a:rPr lang="en-US" dirty="0"/>
              <a:t>HAMARTOMA</a:t>
            </a:r>
          </a:p>
          <a:p>
            <a:pPr marL="514350" indent="-514350">
              <a:buFont typeface="+mj-lt"/>
              <a:buAutoNum type="alphaUcPeriod"/>
            </a:pPr>
            <a:r>
              <a:rPr lang="en-US" dirty="0"/>
              <a:t>ENDOMETRIOMA</a:t>
            </a:r>
          </a:p>
          <a:p>
            <a:pPr marL="514350" indent="-514350">
              <a:buFont typeface="+mj-lt"/>
              <a:buAutoNum type="alphaUcPeriod"/>
            </a:pPr>
            <a:r>
              <a:rPr lang="en-US" dirty="0"/>
              <a:t>MESENCHYMAL TUMOR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342265"/>
            <a:ext cx="4937760" cy="582930"/>
          </a:xfrm>
        </p:spPr>
        <p:txBody>
          <a:bodyPr/>
          <a:lstStyle/>
          <a:p>
            <a:pPr marL="571500" indent="-571500">
              <a:buFont typeface="Wingdings" panose="05000000000000000000" charset="0"/>
              <a:buChar char=""/>
            </a:pPr>
            <a:r>
              <a:rPr lang="en-US" sz="2400" dirty="0">
                <a:solidFill>
                  <a:schemeClr val="accent1"/>
                </a:solidFill>
                <a:effectLst>
                  <a:outerShdw blurRad="38100" dist="25400" dir="5400000" algn="ctr" rotWithShape="0">
                    <a:srgbClr val="6E747A">
                      <a:alpha val="43000"/>
                      <a:alpha val="43000"/>
                    </a:srgbClr>
                  </a:outerShdw>
                </a:effectLst>
              </a:rPr>
              <a:t>PULMONARY HAMARTOMA</a:t>
            </a:r>
          </a:p>
        </p:txBody>
      </p:sp>
      <p:sp>
        <p:nvSpPr>
          <p:cNvPr id="3" name="Content Placeholder 2"/>
          <p:cNvSpPr>
            <a:spLocks noGrp="1"/>
          </p:cNvSpPr>
          <p:nvPr>
            <p:ph idx="1"/>
          </p:nvPr>
        </p:nvSpPr>
        <p:spPr>
          <a:xfrm>
            <a:off x="563880" y="849630"/>
            <a:ext cx="9548495" cy="2399030"/>
          </a:xfrm>
        </p:spPr>
        <p:txBody>
          <a:bodyPr>
            <a:noAutofit/>
          </a:bodyPr>
          <a:lstStyle/>
          <a:p>
            <a:r>
              <a:rPr lang="en-US" sz="2000" dirty="0"/>
              <a:t>Benign pulmonary mass  containing connective tissue ,cartilage, fat , smooth muscle, marrow and bone. </a:t>
            </a:r>
          </a:p>
          <a:p>
            <a:r>
              <a:rPr lang="en-US" sz="2000" dirty="0"/>
              <a:t>Most common location – periphery of the lung </a:t>
            </a:r>
          </a:p>
          <a:p>
            <a:r>
              <a:rPr lang="en-US" sz="2000" dirty="0"/>
              <a:t>X ray chest – spherical ,</a:t>
            </a:r>
            <a:r>
              <a:rPr lang="en-US" sz="2000" dirty="0" err="1"/>
              <a:t>lobulated</a:t>
            </a:r>
            <a:r>
              <a:rPr lang="en-US" sz="2000" dirty="0"/>
              <a:t> and well defined nodule </a:t>
            </a:r>
          </a:p>
          <a:p>
            <a:r>
              <a:rPr lang="en-US" sz="2000" dirty="0"/>
              <a:t>Popcorn like calcification </a:t>
            </a:r>
          </a:p>
          <a:p>
            <a:r>
              <a:rPr lang="en-US" sz="2000" dirty="0"/>
              <a:t>Fat density within the mass is a diagnostic feature and can be seen on CT</a:t>
            </a:r>
            <a:endParaRPr lang="en-US" sz="2000" b="1" dirty="0">
              <a:solidFill>
                <a:schemeClr val="accent4"/>
              </a:solidFill>
            </a:endParaRPr>
          </a:p>
          <a:p>
            <a:endParaRPr lang="en-US" sz="2400" b="1" dirty="0"/>
          </a:p>
          <a:p>
            <a:pPr>
              <a:buNone/>
            </a:pPr>
            <a:endParaRPr lang="en-IN" sz="2400" b="1" dirty="0"/>
          </a:p>
          <a:p>
            <a:endParaRPr lang="en-US" sz="2400" dirty="0"/>
          </a:p>
        </p:txBody>
      </p:sp>
      <p:pic>
        <p:nvPicPr>
          <p:cNvPr id="7" name="Picture 1"/>
          <p:cNvPicPr>
            <a:picLocks noGrp="1" noChangeAspect="1" noChangeArrowheads="1"/>
          </p:cNvPicPr>
          <p:nvPr/>
        </p:nvPicPr>
        <p:blipFill>
          <a:blip r:embed="rId3"/>
          <a:srcRect l="25781" t="18750" r="33203" b="52187"/>
          <a:stretch>
            <a:fillRect/>
          </a:stretch>
        </p:blipFill>
        <p:spPr bwMode="auto">
          <a:xfrm>
            <a:off x="3333115" y="3171825"/>
            <a:ext cx="4937760" cy="271145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popcorn hamartoma"/>
          <p:cNvPicPr>
            <a:picLocks noGrp="1" noChangeAspect="1" noChangeArrowheads="1"/>
          </p:cNvPicPr>
          <p:nvPr/>
        </p:nvPicPr>
        <p:blipFill>
          <a:blip r:embed="rId3"/>
          <a:srcRect/>
          <a:stretch>
            <a:fillRect/>
          </a:stretch>
        </p:blipFill>
        <p:spPr>
          <a:xfrm>
            <a:off x="3352800" y="627380"/>
            <a:ext cx="3900170" cy="455422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105" y="672465"/>
            <a:ext cx="10005695" cy="3868420"/>
          </a:xfrm>
        </p:spPr>
        <p:txBody>
          <a:bodyPr/>
          <a:lstStyle/>
          <a:p>
            <a:r>
              <a:rPr lang="en-US" sz="4000" dirty="0">
                <a:solidFill>
                  <a:schemeClr val="tx1"/>
                </a:solidFill>
                <a:effectLst>
                  <a:outerShdw blurRad="38100" dist="19050" dir="2700000" algn="tl" rotWithShape="0">
                    <a:schemeClr val="dk1">
                      <a:alpha val="40000"/>
                      <a:alpha val="40000"/>
                    </a:schemeClr>
                  </a:outerShdw>
                </a:effectLst>
              </a:rPr>
              <a:t>INFECTIVE CAUSES</a:t>
            </a:r>
          </a:p>
          <a:p>
            <a:pPr marL="514350" indent="-514350">
              <a:buFont typeface="+mj-lt"/>
              <a:buAutoNum type="alphaUcPeriod"/>
            </a:pPr>
            <a:r>
              <a:rPr lang="en-US" dirty="0"/>
              <a:t>GRANULOMATOUS (TB)</a:t>
            </a:r>
          </a:p>
          <a:p>
            <a:pPr marL="514350" indent="-514350">
              <a:buFont typeface="+mj-lt"/>
              <a:buAutoNum type="alphaUcPeriod"/>
            </a:pPr>
            <a:r>
              <a:rPr lang="en-US" dirty="0"/>
              <a:t>MYCETOMA</a:t>
            </a:r>
          </a:p>
          <a:p>
            <a:pPr marL="514350" indent="-514350">
              <a:buFont typeface="+mj-lt"/>
              <a:buAutoNum type="alphaUcPeriod"/>
            </a:pPr>
            <a:r>
              <a:rPr lang="en-US" dirty="0"/>
              <a:t>ASPERGILLOMA</a:t>
            </a:r>
          </a:p>
          <a:p>
            <a:pPr marL="514350" indent="-514350">
              <a:buFont typeface="+mj-lt"/>
              <a:buAutoNum type="alphaUcPeriod"/>
            </a:pPr>
            <a:r>
              <a:rPr lang="en-US" dirty="0"/>
              <a:t>ECHINOCOCCUS/HYDATID CYST</a:t>
            </a:r>
          </a:p>
          <a:p>
            <a:pPr marL="514350" indent="-514350">
              <a:buFont typeface="+mj-lt"/>
              <a:buAutoNum type="alphaUcPeriod"/>
            </a:pPr>
            <a:r>
              <a:rPr lang="en-US" dirty="0"/>
              <a:t>FOCAL ROUND PNEUMONIA</a:t>
            </a:r>
          </a:p>
          <a:p>
            <a:pPr marL="514350" indent="-514350">
              <a:buFont typeface="+mj-lt"/>
              <a:buAutoNum type="alphaUcPeriod"/>
            </a:pPr>
            <a:r>
              <a:rPr lang="en-US" dirty="0"/>
              <a:t>LUNG ABSCESS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860" y="1244600"/>
            <a:ext cx="10515600" cy="4001135"/>
          </a:xfrm>
        </p:spPr>
        <p:txBody>
          <a:bodyPr>
            <a:normAutofit fontScale="60000"/>
          </a:bodyPr>
          <a:lstStyle/>
          <a:p>
            <a:r>
              <a:rPr lang="en-US" dirty="0"/>
              <a:t>Commonest are </a:t>
            </a:r>
            <a:r>
              <a:rPr lang="en-US" dirty="0" err="1"/>
              <a:t>Tuberculomas</a:t>
            </a:r>
            <a:r>
              <a:rPr lang="en-US" dirty="0"/>
              <a:t> </a:t>
            </a:r>
          </a:p>
          <a:p>
            <a:r>
              <a:rPr lang="en-US" dirty="0"/>
              <a:t>Features</a:t>
            </a:r>
          </a:p>
          <a:p>
            <a:pPr>
              <a:buFont typeface="Wingdings" panose="05000000000000000000" charset="0"/>
              <a:buChar char=""/>
            </a:pPr>
            <a:r>
              <a:rPr lang="en-US" dirty="0"/>
              <a:t>Single </a:t>
            </a:r>
          </a:p>
          <a:p>
            <a:pPr>
              <a:buFont typeface="Wingdings" panose="05000000000000000000" charset="0"/>
              <a:buChar char=""/>
            </a:pPr>
            <a:r>
              <a:rPr lang="en-US" dirty="0"/>
              <a:t>1-3 cm in diameter </a:t>
            </a:r>
          </a:p>
          <a:p>
            <a:pPr>
              <a:buFont typeface="Wingdings" panose="05000000000000000000" charset="0"/>
              <a:buChar char=""/>
            </a:pPr>
            <a:r>
              <a:rPr lang="en-US" dirty="0"/>
              <a:t>Well defined </a:t>
            </a:r>
          </a:p>
          <a:p>
            <a:pPr>
              <a:buFont typeface="Wingdings" panose="05000000000000000000" charset="0"/>
              <a:buChar char=""/>
            </a:pPr>
            <a:r>
              <a:rPr lang="en-US" dirty="0"/>
              <a:t>Smooth</a:t>
            </a:r>
          </a:p>
          <a:p>
            <a:pPr>
              <a:buFont typeface="Wingdings" panose="05000000000000000000" charset="0"/>
              <a:buChar char=""/>
            </a:pPr>
            <a:r>
              <a:rPr lang="en-US" dirty="0"/>
              <a:t>Regular outline </a:t>
            </a:r>
          </a:p>
          <a:p>
            <a:r>
              <a:rPr lang="en-US" dirty="0"/>
              <a:t>Commonest location is close to pleural surface </a:t>
            </a:r>
          </a:p>
          <a:p>
            <a:r>
              <a:rPr lang="en-US" dirty="0"/>
              <a:t>Satellite lesions can be sometimes seen </a:t>
            </a:r>
          </a:p>
          <a:p>
            <a:r>
              <a:rPr lang="en-US" dirty="0"/>
              <a:t>Commonly seen in upper lobes  </a:t>
            </a:r>
          </a:p>
          <a:p>
            <a:endParaRPr lang="en-US" dirty="0"/>
          </a:p>
        </p:txBody>
      </p:sp>
      <p:sp>
        <p:nvSpPr>
          <p:cNvPr id="4" name="Text Box 3"/>
          <p:cNvSpPr txBox="1"/>
          <p:nvPr/>
        </p:nvSpPr>
        <p:spPr>
          <a:xfrm>
            <a:off x="695325" y="661035"/>
            <a:ext cx="5567680" cy="583565"/>
          </a:xfrm>
          <a:prstGeom prst="rect">
            <a:avLst/>
          </a:prstGeom>
          <a:noFill/>
        </p:spPr>
        <p:txBody>
          <a:bodyPr wrap="square" rtlCol="0">
            <a:spAutoFit/>
          </a:bodyPr>
          <a:lstStyle/>
          <a:p>
            <a:pPr>
              <a:buFont typeface="Wingdings" panose="05000000000000000000" charset="0"/>
              <a:buChar char=""/>
            </a:pPr>
            <a:r>
              <a:rPr lang="en-US" sz="3200" dirty="0">
                <a:ln w="22225">
                  <a:solidFill>
                    <a:schemeClr val="accent2"/>
                  </a:solidFill>
                  <a:prstDash val="solid"/>
                </a:ln>
                <a:solidFill>
                  <a:schemeClr val="accent2">
                    <a:lumMod val="40000"/>
                    <a:lumOff val="60000"/>
                    <a:lumMod val="40000"/>
                    <a:lumOff val="60000"/>
                  </a:schemeClr>
                </a:solidFill>
                <a:effectLst/>
                <a:sym typeface="+mn-ea"/>
              </a:rPr>
              <a:t>GRANULOMA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920" y="381000"/>
            <a:ext cx="3155950" cy="725170"/>
          </a:xfrm>
        </p:spPr>
        <p:txBody>
          <a:bodyPr>
            <a:normAutofit fontScale="90000"/>
          </a:bodyPr>
          <a:lstStyle/>
          <a:p>
            <a:r>
              <a:rPr lang="en-US" dirty="0" err="1">
                <a:ln w="6600">
                  <a:solidFill>
                    <a:schemeClr val="accent2"/>
                  </a:solidFill>
                  <a:prstDash val="solid"/>
                </a:ln>
                <a:solidFill>
                  <a:srgbClr val="FFFFFF"/>
                </a:solidFill>
                <a:effectLst>
                  <a:outerShdw dist="38100" dir="2700000" algn="tl" rotWithShape="0">
                    <a:schemeClr val="accent2"/>
                  </a:outerShdw>
                </a:effectLst>
              </a:rPr>
              <a:t>Granuloma</a:t>
            </a:r>
            <a:r>
              <a:rPr lang="en-US" dirty="0">
                <a:ln w="6600">
                  <a:solidFill>
                    <a:schemeClr val="accent2"/>
                  </a:solidFill>
                  <a:prstDash val="solid"/>
                </a:ln>
                <a:solidFill>
                  <a:srgbClr val="FFFFFF"/>
                </a:solidFill>
                <a:effectLst>
                  <a:outerShdw dist="38100" dir="2700000" algn="tl" rotWithShape="0">
                    <a:schemeClr val="accent2"/>
                  </a:outerShdw>
                </a:effectLst>
              </a:rPr>
              <a:t> </a:t>
            </a:r>
          </a:p>
        </p:txBody>
      </p:sp>
      <p:pic>
        <p:nvPicPr>
          <p:cNvPr id="7" name="Picture 1"/>
          <p:cNvPicPr>
            <a:picLocks noGrp="1" noChangeAspect="1" noChangeArrowheads="1"/>
          </p:cNvPicPr>
          <p:nvPr>
            <p:ph sz="half" idx="2"/>
          </p:nvPr>
        </p:nvPicPr>
        <p:blipFill>
          <a:blip r:embed="rId3"/>
          <a:srcRect l="22852" t="13750" r="62500" b="47812"/>
          <a:stretch>
            <a:fillRect/>
          </a:stretch>
        </p:blipFill>
        <p:spPr bwMode="auto">
          <a:xfrm>
            <a:off x="1546225" y="1490980"/>
            <a:ext cx="3763010" cy="4091305"/>
          </a:xfrm>
          <a:prstGeom prst="rect">
            <a:avLst/>
          </a:prstGeom>
          <a:noFill/>
          <a:ln w="9525">
            <a:noFill/>
            <a:miter lim="800000"/>
            <a:headEnd/>
            <a:tailEnd/>
          </a:ln>
          <a:effectLst/>
        </p:spPr>
      </p:pic>
      <p:pic>
        <p:nvPicPr>
          <p:cNvPr id="8" name="Picture 1"/>
          <p:cNvPicPr>
            <a:picLocks noGrp="1" noChangeAspect="1" noChangeArrowheads="1"/>
          </p:cNvPicPr>
          <p:nvPr>
            <p:ph sz="quarter" idx="4"/>
          </p:nvPr>
        </p:nvPicPr>
        <p:blipFill>
          <a:blip r:embed="rId4"/>
          <a:srcRect l="24023" t="23437" r="50195" b="40000"/>
          <a:stretch>
            <a:fillRect/>
          </a:stretch>
        </p:blipFill>
        <p:spPr bwMode="auto">
          <a:xfrm>
            <a:off x="6650990" y="1491615"/>
            <a:ext cx="4214495" cy="4091305"/>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45" y="896620"/>
            <a:ext cx="6336665" cy="455295"/>
          </a:xfrm>
        </p:spPr>
        <p:txBody>
          <a:bodyPr/>
          <a:lstStyle/>
          <a:p>
            <a:r>
              <a:rPr lang="en-US" dirty="0">
                <a:ln w="22225">
                  <a:solidFill>
                    <a:schemeClr val="accent2"/>
                  </a:solidFill>
                  <a:prstDash val="solid"/>
                </a:ln>
                <a:solidFill>
                  <a:schemeClr val="accent2">
                    <a:lumMod val="40000"/>
                    <a:lumOff val="60000"/>
                    <a:lumMod val="40000"/>
                    <a:lumOff val="60000"/>
                  </a:schemeClr>
                </a:solidFill>
                <a:effectLst/>
              </a:rPr>
              <a:t>FOCAL ROUND PNEUMONIA</a:t>
            </a:r>
          </a:p>
        </p:txBody>
      </p:sp>
      <p:sp>
        <p:nvSpPr>
          <p:cNvPr id="5" name="Content Placeholder 4"/>
          <p:cNvSpPr>
            <a:spLocks noGrp="1"/>
          </p:cNvSpPr>
          <p:nvPr>
            <p:ph sz="half" idx="1"/>
          </p:nvPr>
        </p:nvSpPr>
        <p:spPr>
          <a:xfrm>
            <a:off x="486410" y="1600200"/>
            <a:ext cx="5527040" cy="4112895"/>
          </a:xfrm>
        </p:spPr>
        <p:txBody>
          <a:bodyPr>
            <a:normAutofit fontScale="80000"/>
          </a:bodyPr>
          <a:lstStyle/>
          <a:p>
            <a:r>
              <a:rPr lang="en-US" sz="3000" dirty="0"/>
              <a:t>It is form of pneumonia in which consolidation appears as a rounded mass like opacity mimicking a tumor hence called Inflammatory </a:t>
            </a:r>
            <a:r>
              <a:rPr lang="en-US" sz="3000" dirty="0" err="1"/>
              <a:t>pseudotumour</a:t>
            </a:r>
            <a:r>
              <a:rPr lang="en-US" sz="3000" dirty="0"/>
              <a:t> </a:t>
            </a:r>
          </a:p>
          <a:p>
            <a:r>
              <a:rPr lang="en-US" sz="3000" dirty="0"/>
              <a:t>Careful study reveals irregular margin and air </a:t>
            </a:r>
            <a:r>
              <a:rPr lang="en-US" sz="3000" dirty="0" err="1"/>
              <a:t>bronchogram</a:t>
            </a:r>
            <a:r>
              <a:rPr lang="en-US" sz="3000" dirty="0"/>
              <a:t> </a:t>
            </a:r>
          </a:p>
          <a:p>
            <a:r>
              <a:rPr lang="en-US" sz="3000" dirty="0"/>
              <a:t>Common in children  </a:t>
            </a:r>
          </a:p>
          <a:p>
            <a:r>
              <a:rPr lang="en-US" sz="3000" dirty="0"/>
              <a:t>May persists after recovery  from infection </a:t>
            </a:r>
          </a:p>
          <a:p>
            <a:endParaRPr lang="en-US" dirty="0"/>
          </a:p>
          <a:p>
            <a:endParaRPr lang="en-US" dirty="0"/>
          </a:p>
        </p:txBody>
      </p:sp>
      <p:pic>
        <p:nvPicPr>
          <p:cNvPr id="7" name="Picture 4" descr=" ">
            <a:hlinkClick r:id="rId3"/>
          </p:cNvPr>
          <p:cNvPicPr>
            <a:picLocks noGrp="1" noChangeAspect="1" noChangeArrowheads="1"/>
          </p:cNvPicPr>
          <p:nvPr>
            <p:ph sz="half" idx="2"/>
          </p:nvPr>
        </p:nvPicPr>
        <p:blipFill>
          <a:blip r:embed="rId4"/>
          <a:srcRect/>
          <a:stretch>
            <a:fillRect/>
          </a:stretch>
        </p:blipFill>
        <p:spPr bwMode="auto">
          <a:xfrm>
            <a:off x="7037705" y="751840"/>
            <a:ext cx="3866515" cy="446532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146810"/>
            <a:ext cx="8229600" cy="3836670"/>
          </a:xfrm>
        </p:spPr>
        <p:txBody>
          <a:bodyPr/>
          <a:lstStyle/>
          <a:p>
            <a:r>
              <a:rPr lang="en-US" sz="4000" dirty="0">
                <a:solidFill>
                  <a:schemeClr val="tx1"/>
                </a:solidFill>
                <a:effectLst>
                  <a:outerShdw blurRad="38100" dist="19050" dir="2700000" algn="tl" rotWithShape="0">
                    <a:schemeClr val="dk1">
                      <a:alpha val="40000"/>
                      <a:alpha val="40000"/>
                    </a:schemeClr>
                  </a:outerShdw>
                </a:effectLst>
              </a:rPr>
              <a:t>INFLAMMATORY </a:t>
            </a:r>
            <a:r>
              <a:rPr lang="en-US" sz="2800" dirty="0">
                <a:solidFill>
                  <a:schemeClr val="tx1"/>
                </a:solidFill>
                <a:effectLst>
                  <a:outerShdw blurRad="38100" dist="19050" dir="2700000" algn="tl" rotWithShape="0">
                    <a:schemeClr val="dk1">
                      <a:alpha val="40000"/>
                      <a:alpha val="40000"/>
                    </a:schemeClr>
                  </a:outerShdw>
                </a:effectLst>
              </a:rPr>
              <a:t>(NON INFECTIOUS)</a:t>
            </a:r>
            <a:endParaRPr lang="en-US" sz="4000" dirty="0">
              <a:solidFill>
                <a:schemeClr val="tx1"/>
              </a:solidFill>
              <a:effectLst>
                <a:outerShdw blurRad="38100" dist="19050" dir="2700000" algn="tl" rotWithShape="0">
                  <a:schemeClr val="dk1">
                    <a:alpha val="40000"/>
                    <a:alpha val="40000"/>
                  </a:schemeClr>
                </a:outerShdw>
              </a:effectLst>
            </a:endParaRPr>
          </a:p>
          <a:p>
            <a:pPr marL="514350" indent="-514350">
              <a:buFont typeface="+mj-lt"/>
              <a:buAutoNum type="alphaUcPeriod"/>
            </a:pPr>
            <a:r>
              <a:rPr lang="en-US" dirty="0"/>
              <a:t>RHEUMATOID NODULES</a:t>
            </a:r>
          </a:p>
          <a:p>
            <a:pPr marL="514350" indent="-514350">
              <a:buFont typeface="+mj-lt"/>
              <a:buAutoNum type="alphaUcPeriod"/>
            </a:pPr>
            <a:r>
              <a:rPr lang="en-US" dirty="0"/>
              <a:t>SARCOIDOSIS</a:t>
            </a:r>
          </a:p>
          <a:p>
            <a:pPr marL="514350" indent="-514350">
              <a:buFont typeface="+mj-lt"/>
              <a:buAutoNum type="alphaUcPeriod"/>
            </a:pPr>
            <a:r>
              <a:rPr lang="en-US" dirty="0"/>
              <a:t>WEGENERS GRANULOMATOSIS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d87f5ee3bfbbb1fe22bb5b905cc58ac6d72845936da65c1816d0ca7f08fe0e0_big_gallery.jpeg"/>
          <p:cNvPicPr>
            <a:picLocks noGrp="1" noChangeAspect="1"/>
          </p:cNvPicPr>
          <p:nvPr>
            <p:ph idx="1"/>
          </p:nvPr>
        </p:nvPicPr>
        <p:blipFill>
          <a:blip r:embed="rId3"/>
          <a:stretch>
            <a:fillRect/>
          </a:stretch>
        </p:blipFill>
        <p:spPr>
          <a:xfrm>
            <a:off x="3277870" y="894715"/>
            <a:ext cx="4629150" cy="461518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6995" y="725170"/>
            <a:ext cx="8853805" cy="4404995"/>
          </a:xfrm>
        </p:spPr>
        <p:txBody>
          <a:bodyPr/>
          <a:lstStyle/>
          <a:p>
            <a:r>
              <a:rPr lang="en-US" sz="4000" dirty="0">
                <a:solidFill>
                  <a:schemeClr val="tx1"/>
                </a:solidFill>
                <a:effectLst>
                  <a:outerShdw blurRad="38100" dist="19050" dir="2700000" algn="tl" rotWithShape="0">
                    <a:schemeClr val="dk1">
                      <a:alpha val="40000"/>
                      <a:alpha val="40000"/>
                    </a:schemeClr>
                  </a:outerShdw>
                </a:effectLst>
              </a:rPr>
              <a:t>VASCULAR LESIONS</a:t>
            </a:r>
          </a:p>
          <a:p>
            <a:pPr marL="514350" indent="-514350">
              <a:buFont typeface="+mj-lt"/>
              <a:buAutoNum type="alphaUcPeriod"/>
            </a:pPr>
            <a:r>
              <a:rPr lang="en-US" dirty="0">
                <a:sym typeface="+mn-ea"/>
              </a:rPr>
              <a:t>ARTERIOVENOUS FISTULA</a:t>
            </a:r>
            <a:endParaRPr lang="en-US" dirty="0"/>
          </a:p>
          <a:p>
            <a:pPr marL="514350" indent="-514350">
              <a:buFont typeface="+mj-lt"/>
              <a:buAutoNum type="alphaUcPeriod"/>
            </a:pPr>
            <a:r>
              <a:rPr lang="en-US" dirty="0"/>
              <a:t>HEMATOMA</a:t>
            </a:r>
          </a:p>
          <a:p>
            <a:pPr marL="514350" indent="-514350">
              <a:buFont typeface="+mj-lt"/>
              <a:buAutoNum type="alphaUcPeriod"/>
            </a:pPr>
            <a:r>
              <a:rPr lang="en-US" dirty="0"/>
              <a:t>INFARCTION</a:t>
            </a:r>
          </a:p>
          <a:p>
            <a:pPr marL="514350" indent="-514350">
              <a:buFont typeface="+mj-lt"/>
              <a:buAutoNum type="alphaUcPeriod"/>
            </a:pPr>
            <a:r>
              <a:rPr lang="en-US" dirty="0"/>
              <a:t>PULMONARY ARTERY ANEURYSM</a:t>
            </a:r>
          </a:p>
          <a:p>
            <a:pPr marL="514350" indent="-514350">
              <a:buFont typeface="+mj-lt"/>
              <a:buAutoNum type="alphaUcPeriod"/>
            </a:pPr>
            <a:r>
              <a:rPr lang="en-US" dirty="0"/>
              <a:t>PULMONARY VEIN VARIX</a:t>
            </a:r>
          </a:p>
          <a:p>
            <a:pPr marL="514350" indent="-514350">
              <a:buFont typeface="+mj-lt"/>
              <a:buAutoNum type="alphaUcPeriod"/>
            </a:pPr>
            <a:r>
              <a:rPr lang="en-US" dirty="0"/>
              <a:t>SEPTIC EMBOLISM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9670" y="740410"/>
            <a:ext cx="2247900" cy="605790"/>
          </a:xfrm>
        </p:spPr>
        <p:txBody>
          <a:bodyPr/>
          <a:lstStyle/>
          <a:p>
            <a:pPr marL="571500" indent="-571500">
              <a:buFont typeface="Wingdings" panose="05000000000000000000" charset="0"/>
              <a:buChar char=""/>
            </a:pPr>
            <a:r>
              <a:rPr lang="en-US" dirty="0">
                <a:solidFill>
                  <a:schemeClr val="accent1"/>
                </a:solidFill>
                <a:effectLst>
                  <a:outerShdw blurRad="38100" dist="25400" dir="5400000" algn="ctr" rotWithShape="0">
                    <a:srgbClr val="6E747A">
                      <a:alpha val="43000"/>
                      <a:alpha val="43000"/>
                    </a:srgbClr>
                  </a:outerShdw>
                </a:effectLst>
              </a:rPr>
              <a:t>AVM</a:t>
            </a:r>
          </a:p>
        </p:txBody>
      </p:sp>
      <p:sp>
        <p:nvSpPr>
          <p:cNvPr id="3" name="Content Placeholder 2"/>
          <p:cNvSpPr>
            <a:spLocks noGrp="1"/>
          </p:cNvSpPr>
          <p:nvPr>
            <p:ph idx="1"/>
          </p:nvPr>
        </p:nvSpPr>
        <p:spPr>
          <a:xfrm>
            <a:off x="884555" y="1482725"/>
            <a:ext cx="8332470" cy="3221355"/>
          </a:xfrm>
        </p:spPr>
        <p:txBody>
          <a:bodyPr>
            <a:normAutofit lnSpcReduction="10000"/>
          </a:bodyPr>
          <a:lstStyle/>
          <a:p>
            <a:pPr>
              <a:buNone/>
            </a:pPr>
            <a:endParaRPr lang="en-US" sz="2120" dirty="0"/>
          </a:p>
          <a:p>
            <a:r>
              <a:rPr lang="en-US" sz="2120" dirty="0"/>
              <a:t>X ray – well circumscribed lesion with </a:t>
            </a:r>
            <a:r>
              <a:rPr lang="en-US" sz="2120" dirty="0" err="1"/>
              <a:t>lobulated</a:t>
            </a:r>
            <a:r>
              <a:rPr lang="en-US" sz="2120" dirty="0"/>
              <a:t> outline</a:t>
            </a:r>
          </a:p>
          <a:p>
            <a:endParaRPr lang="en-US" sz="2120" dirty="0"/>
          </a:p>
          <a:p>
            <a:r>
              <a:rPr lang="en-US" sz="2120" dirty="0"/>
              <a:t>X ray/CT -  Feeding vessels and draining vein can be seen </a:t>
            </a:r>
          </a:p>
          <a:p>
            <a:endParaRPr lang="en-US" sz="2120" dirty="0"/>
          </a:p>
          <a:p>
            <a:r>
              <a:rPr lang="en-US" sz="2120" dirty="0"/>
              <a:t>It can be confirmed on CT </a:t>
            </a:r>
          </a:p>
          <a:p>
            <a:endParaRPr lang="en-US" sz="2120" dirty="0"/>
          </a:p>
          <a:p>
            <a:r>
              <a:rPr lang="en-US" sz="2120" dirty="0"/>
              <a:t>PULMONARY ANGIOGRAPHY RARELY INDICATED </a:t>
            </a:r>
          </a:p>
          <a:p>
            <a:endParaRPr lang="en-US" dirty="0"/>
          </a:p>
          <a:p>
            <a:endParaRPr lang="en-IN" dirty="0"/>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95400" y="393700"/>
            <a:ext cx="2267585" cy="460375"/>
          </a:xfrm>
        </p:spPr>
        <p:txBody>
          <a:bodyPr/>
          <a:lstStyle/>
          <a:p>
            <a:r>
              <a:rPr lang="en-US" dirty="0"/>
              <a:t>AVM</a:t>
            </a:r>
          </a:p>
        </p:txBody>
      </p:sp>
      <p:pic>
        <p:nvPicPr>
          <p:cNvPr id="10" name="Picture 2" descr=" ">
            <a:hlinkClick r:id="rId3"/>
          </p:cNvPr>
          <p:cNvPicPr>
            <a:picLocks noGrp="1" noChangeAspect="1" noChangeArrowheads="1"/>
          </p:cNvPicPr>
          <p:nvPr>
            <p:ph sz="half" idx="2"/>
          </p:nvPr>
        </p:nvPicPr>
        <p:blipFill>
          <a:blip r:embed="rId4"/>
          <a:srcRect/>
          <a:stretch>
            <a:fillRect/>
          </a:stretch>
        </p:blipFill>
        <p:spPr bwMode="auto">
          <a:xfrm>
            <a:off x="746576" y="1000760"/>
            <a:ext cx="3861486" cy="3951288"/>
          </a:xfrm>
          <a:prstGeom prst="rect">
            <a:avLst/>
          </a:prstGeom>
          <a:noFill/>
        </p:spPr>
      </p:pic>
      <p:pic>
        <p:nvPicPr>
          <p:cNvPr id="11" name="Picture 4" descr=" ">
            <a:hlinkClick r:id="rId5"/>
          </p:cNvPr>
          <p:cNvPicPr>
            <a:picLocks noGrp="1" noChangeAspect="1" noChangeArrowheads="1"/>
          </p:cNvPicPr>
          <p:nvPr>
            <p:ph sz="quarter" idx="4"/>
          </p:nvPr>
        </p:nvPicPr>
        <p:blipFill>
          <a:blip r:embed="rId6"/>
          <a:srcRect/>
          <a:stretch>
            <a:fillRect/>
          </a:stretch>
        </p:blipFill>
        <p:spPr bwMode="auto">
          <a:xfrm>
            <a:off x="6261100" y="1000760"/>
            <a:ext cx="4549775" cy="3764280"/>
          </a:xfrm>
          <a:prstGeom prst="rect">
            <a:avLst/>
          </a:prstGeom>
          <a:noFill/>
        </p:spPr>
      </p:pic>
      <p:sp>
        <p:nvSpPr>
          <p:cNvPr id="2" name="Text Box 1"/>
          <p:cNvSpPr txBox="1"/>
          <p:nvPr/>
        </p:nvSpPr>
        <p:spPr>
          <a:xfrm>
            <a:off x="2014855" y="5172075"/>
            <a:ext cx="413385" cy="368300"/>
          </a:xfrm>
          <a:prstGeom prst="rect">
            <a:avLst/>
          </a:prstGeom>
          <a:noFill/>
        </p:spPr>
        <p:txBody>
          <a:bodyPr wrap="square" rtlCol="0">
            <a:spAutoFit/>
          </a:bodyPr>
          <a:lstStyle/>
          <a:p>
            <a:r>
              <a:rPr lang="en-US"/>
              <a:t>A</a:t>
            </a:r>
          </a:p>
        </p:txBody>
      </p:sp>
      <p:sp>
        <p:nvSpPr>
          <p:cNvPr id="4" name="Text Box 3"/>
          <p:cNvSpPr txBox="1"/>
          <p:nvPr/>
        </p:nvSpPr>
        <p:spPr>
          <a:xfrm>
            <a:off x="8843645" y="4952365"/>
            <a:ext cx="413385" cy="368300"/>
          </a:xfrm>
          <a:prstGeom prst="rect">
            <a:avLst/>
          </a:prstGeom>
          <a:noFill/>
        </p:spPr>
        <p:txBody>
          <a:bodyPr wrap="square" rtlCol="0">
            <a:spAutoFit/>
          </a:bodyPr>
          <a:lstStyle/>
          <a:p>
            <a:r>
              <a:rPr lang="en-US"/>
              <a:t>B</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22960" y="688340"/>
            <a:ext cx="4396740" cy="347980"/>
          </a:xfrm>
        </p:spPr>
        <p:txBody>
          <a:bodyPr/>
          <a:lstStyle/>
          <a:p>
            <a:r>
              <a:rPr lang="en-US" sz="2800" dirty="0" err="1"/>
              <a:t>Nidus</a:t>
            </a:r>
            <a:r>
              <a:rPr lang="en-US" sz="2800" dirty="0"/>
              <a:t> of malformation</a:t>
            </a:r>
          </a:p>
        </p:txBody>
      </p:sp>
      <p:sp>
        <p:nvSpPr>
          <p:cNvPr id="5" name="Text Placeholder 4"/>
          <p:cNvSpPr>
            <a:spLocks noGrp="1"/>
          </p:cNvSpPr>
          <p:nvPr>
            <p:ph type="body" sz="quarter" idx="3"/>
          </p:nvPr>
        </p:nvSpPr>
        <p:spPr>
          <a:xfrm>
            <a:off x="6959600" y="864235"/>
            <a:ext cx="2994025" cy="348615"/>
          </a:xfrm>
        </p:spPr>
        <p:txBody>
          <a:bodyPr>
            <a:noAutofit/>
          </a:bodyPr>
          <a:lstStyle/>
          <a:p>
            <a:r>
              <a:rPr lang="en-IN" sz="2000" dirty="0">
                <a:ln w="6600">
                  <a:solidFill>
                    <a:schemeClr val="accent2"/>
                  </a:solidFill>
                  <a:prstDash val="solid"/>
                </a:ln>
                <a:solidFill>
                  <a:srgbClr val="FFFFFF"/>
                </a:solidFill>
                <a:effectLst>
                  <a:outerShdw dist="38100" dir="2700000" algn="tl" rotWithShape="0">
                    <a:schemeClr val="accent2"/>
                  </a:outerShdw>
                </a:effectLst>
              </a:rPr>
              <a:t>Pulmonary angiogram </a:t>
            </a:r>
            <a:endParaRPr lang="en-US" sz="2000" dirty="0"/>
          </a:p>
          <a:p>
            <a:endParaRPr lang="en-US" sz="2000" dirty="0"/>
          </a:p>
        </p:txBody>
      </p:sp>
      <p:pic>
        <p:nvPicPr>
          <p:cNvPr id="7" name="Picture 2" descr=" ">
            <a:hlinkClick r:id="rId3"/>
          </p:cNvPr>
          <p:cNvPicPr>
            <a:picLocks noGrp="1" noChangeAspect="1" noChangeArrowheads="1"/>
          </p:cNvPicPr>
          <p:nvPr>
            <p:ph sz="half" idx="2"/>
          </p:nvPr>
        </p:nvPicPr>
        <p:blipFill>
          <a:blip r:embed="rId4"/>
          <a:srcRect/>
          <a:stretch>
            <a:fillRect/>
          </a:stretch>
        </p:blipFill>
        <p:spPr bwMode="auto">
          <a:xfrm>
            <a:off x="415925" y="1212850"/>
            <a:ext cx="5210810" cy="4404995"/>
          </a:xfrm>
          <a:prstGeom prst="rect">
            <a:avLst/>
          </a:prstGeom>
          <a:noFill/>
        </p:spPr>
      </p:pic>
      <p:pic>
        <p:nvPicPr>
          <p:cNvPr id="8" name="Picture 4" descr=" ">
            <a:hlinkClick r:id="rId5"/>
          </p:cNvPr>
          <p:cNvPicPr>
            <a:picLocks noGrp="1" noChangeAspect="1" noChangeArrowheads="1"/>
          </p:cNvPicPr>
          <p:nvPr>
            <p:ph sz="quarter" idx="4"/>
          </p:nvPr>
        </p:nvPicPr>
        <p:blipFill>
          <a:blip r:embed="rId6"/>
          <a:srcRect/>
          <a:stretch>
            <a:fillRect/>
          </a:stretch>
        </p:blipFill>
        <p:spPr bwMode="auto">
          <a:xfrm>
            <a:off x="6503670" y="1155065"/>
            <a:ext cx="4396740" cy="4467860"/>
          </a:xfrm>
          <a:prstGeom prst="rect">
            <a:avLst/>
          </a:prstGeom>
          <a:noFill/>
        </p:spPr>
      </p:pic>
      <p:sp>
        <p:nvSpPr>
          <p:cNvPr id="2" name="Text Box 1"/>
          <p:cNvSpPr txBox="1"/>
          <p:nvPr/>
        </p:nvSpPr>
        <p:spPr>
          <a:xfrm>
            <a:off x="2023745" y="5794375"/>
            <a:ext cx="413385" cy="368300"/>
          </a:xfrm>
          <a:prstGeom prst="rect">
            <a:avLst/>
          </a:prstGeom>
          <a:noFill/>
        </p:spPr>
        <p:txBody>
          <a:bodyPr wrap="square" rtlCol="0">
            <a:spAutoFit/>
          </a:bodyPr>
          <a:lstStyle/>
          <a:p>
            <a:r>
              <a:rPr lang="en-US"/>
              <a:t>A</a:t>
            </a:r>
          </a:p>
        </p:txBody>
      </p:sp>
      <p:sp>
        <p:nvSpPr>
          <p:cNvPr id="4" name="Text Box 3"/>
          <p:cNvSpPr txBox="1"/>
          <p:nvPr/>
        </p:nvSpPr>
        <p:spPr>
          <a:xfrm>
            <a:off x="9065260" y="5794375"/>
            <a:ext cx="413385" cy="368300"/>
          </a:xfrm>
          <a:prstGeom prst="rect">
            <a:avLst/>
          </a:prstGeom>
          <a:noFill/>
        </p:spPr>
        <p:txBody>
          <a:bodyPr wrap="square" rtlCol="0">
            <a:spAutoFit/>
          </a:bodyPr>
          <a:lstStyle/>
          <a:p>
            <a:r>
              <a:rPr lang="en-US"/>
              <a:t>B</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770" y="584835"/>
            <a:ext cx="2171065" cy="582930"/>
          </a:xfrm>
        </p:spPr>
        <p:txBody>
          <a:bodyPr/>
          <a:lstStyle/>
          <a:p>
            <a:r>
              <a:rPr lang="en-US" dirty="0">
                <a:ln w="22225">
                  <a:solidFill>
                    <a:schemeClr val="accent2"/>
                  </a:solidFill>
                  <a:prstDash val="solid"/>
                </a:ln>
                <a:solidFill>
                  <a:schemeClr val="accent2">
                    <a:lumMod val="40000"/>
                    <a:lumOff val="60000"/>
                    <a:lumMod val="40000"/>
                    <a:lumOff val="60000"/>
                  </a:schemeClr>
                </a:solidFill>
                <a:effectLst/>
              </a:rPr>
              <a:t>INFARCT</a:t>
            </a:r>
          </a:p>
        </p:txBody>
      </p:sp>
      <p:pic>
        <p:nvPicPr>
          <p:cNvPr id="8" name="Picture 2" descr=" ">
            <a:hlinkClick r:id="rId3"/>
          </p:cNvPr>
          <p:cNvPicPr>
            <a:picLocks noGrp="1" noChangeAspect="1" noChangeArrowheads="1"/>
          </p:cNvPicPr>
          <p:nvPr>
            <p:ph sz="half" idx="1"/>
          </p:nvPr>
        </p:nvPicPr>
        <p:blipFill>
          <a:blip r:embed="rId4"/>
          <a:stretch>
            <a:fillRect/>
          </a:stretch>
        </p:blipFill>
        <p:spPr bwMode="auto">
          <a:xfrm>
            <a:off x="1341755" y="1167765"/>
            <a:ext cx="3757295" cy="4862830"/>
          </a:xfrm>
          <a:prstGeom prst="rect">
            <a:avLst/>
          </a:prstGeom>
          <a:noFill/>
        </p:spPr>
      </p:pic>
      <p:sp>
        <p:nvSpPr>
          <p:cNvPr id="11" name="Content Placeholder 10"/>
          <p:cNvSpPr>
            <a:spLocks noGrp="1"/>
          </p:cNvSpPr>
          <p:nvPr>
            <p:ph sz="half" idx="2"/>
          </p:nvPr>
        </p:nvSpPr>
        <p:spPr>
          <a:xfrm>
            <a:off x="6178550" y="1600200"/>
            <a:ext cx="4032250" cy="2237105"/>
          </a:xfrm>
        </p:spPr>
        <p:txBody>
          <a:bodyPr/>
          <a:lstStyle/>
          <a:p>
            <a:r>
              <a:rPr lang="en-IN" dirty="0"/>
              <a:t>poorly </a:t>
            </a:r>
            <a:r>
              <a:rPr lang="en-IN" dirty="0" err="1"/>
              <a:t>marginated</a:t>
            </a:r>
            <a:r>
              <a:rPr lang="en-IN" dirty="0"/>
              <a:t> nodule peripherally </a:t>
            </a:r>
            <a:r>
              <a:rPr lang="en-US" altLang="en-IN" dirty="0"/>
              <a:t>of </a:t>
            </a:r>
            <a:r>
              <a:rPr lang="en-IN" dirty="0"/>
              <a:t>the </a:t>
            </a:r>
            <a:r>
              <a:rPr lang="en-US" altLang="en-IN" dirty="0"/>
              <a:t>right </a:t>
            </a:r>
            <a:r>
              <a:rPr lang="en-IN" dirty="0"/>
              <a:t>lower </a:t>
            </a:r>
            <a:r>
              <a:rPr lang="en-US" altLang="en-IN" dirty="0"/>
              <a:t>lung zone</a:t>
            </a:r>
            <a:endParaRPr lang="en-IN" dirty="0"/>
          </a:p>
          <a:p>
            <a:pPr>
              <a:buNone/>
            </a:pP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9980" y="813435"/>
            <a:ext cx="9403080" cy="5313045"/>
          </a:xfrm>
        </p:spPr>
        <p:txBody>
          <a:bodyPr/>
          <a:lstStyle/>
          <a:p>
            <a:r>
              <a:rPr lang="en-US" sz="4000" dirty="0">
                <a:solidFill>
                  <a:schemeClr val="tx1"/>
                </a:solidFill>
                <a:effectLst>
                  <a:outerShdw blurRad="38100" dist="19050" dir="2700000" algn="tl" rotWithShape="0">
                    <a:schemeClr val="dk1">
                      <a:alpha val="40000"/>
                      <a:alpha val="40000"/>
                    </a:schemeClr>
                  </a:outerShdw>
                </a:effectLst>
              </a:rPr>
              <a:t>CONGENITAL</a:t>
            </a:r>
          </a:p>
          <a:p>
            <a:pPr marL="514350" indent="-514350">
              <a:buFont typeface="+mj-lt"/>
              <a:buAutoNum type="alphaUcPeriod"/>
            </a:pPr>
            <a:r>
              <a:rPr lang="en-US" dirty="0"/>
              <a:t>BRONCHOGENIC CYST</a:t>
            </a:r>
          </a:p>
          <a:p>
            <a:pPr marL="514350" indent="-514350">
              <a:buFont typeface="+mj-lt"/>
              <a:buAutoNum type="alphaUcPeriod"/>
            </a:pPr>
            <a:r>
              <a:rPr lang="en-US" dirty="0"/>
              <a:t>CCAM (Congenital Cystic adenomatoid malformation)</a:t>
            </a:r>
          </a:p>
          <a:p>
            <a:pPr marL="514350" indent="-514350">
              <a:buFont typeface="+mj-lt"/>
              <a:buAutoNum type="alphaUcPeriod"/>
            </a:pPr>
            <a:r>
              <a:rPr lang="en-US" dirty="0"/>
              <a:t>INTRAPULMONARY LYMPH NODE</a:t>
            </a:r>
          </a:p>
          <a:p>
            <a:pPr marL="514350" indent="-514350">
              <a:buFont typeface="+mj-lt"/>
              <a:buAutoNum type="alphaUcPeriod"/>
            </a:pPr>
            <a:r>
              <a:rPr lang="en-US" dirty="0"/>
              <a:t>SEQUESTRATION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710" y="511175"/>
            <a:ext cx="10190480" cy="5615305"/>
          </a:xfrm>
        </p:spPr>
        <p:txBody>
          <a:bodyPr/>
          <a:lstStyle/>
          <a:p>
            <a:r>
              <a:rPr lang="en-US" sz="4000" dirty="0">
                <a:solidFill>
                  <a:schemeClr val="tx1"/>
                </a:solidFill>
                <a:effectLst>
                  <a:outerShdw blurRad="38100" dist="19050" dir="2700000" algn="tl" rotWithShape="0">
                    <a:schemeClr val="dk1">
                      <a:alpha val="40000"/>
                      <a:alpha val="40000"/>
                    </a:schemeClr>
                  </a:outerShdw>
                </a:effectLst>
              </a:rPr>
              <a:t>IDIOPATHIC/MISCELLANEOUS</a:t>
            </a:r>
          </a:p>
          <a:p>
            <a:pPr marL="514350" indent="-514350">
              <a:buFont typeface="+mj-lt"/>
              <a:buAutoNum type="alphaUcPeriod"/>
            </a:pPr>
            <a:r>
              <a:rPr lang="en-US" dirty="0"/>
              <a:t>AMYLOIDOSIS</a:t>
            </a:r>
          </a:p>
          <a:p>
            <a:pPr marL="514350" indent="-514350">
              <a:buFont typeface="+mj-lt"/>
              <a:buAutoNum type="alphaUcPeriod"/>
            </a:pPr>
            <a:r>
              <a:rPr lang="en-US" dirty="0"/>
              <a:t>FLUID FILLED BULLA</a:t>
            </a:r>
          </a:p>
          <a:p>
            <a:pPr marL="514350" indent="-514350">
              <a:buFont typeface="+mj-lt"/>
              <a:buAutoNum type="alphaUcPeriod"/>
            </a:pPr>
            <a:r>
              <a:rPr lang="en-US" dirty="0"/>
              <a:t>ROUND ATELECTASIS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095" y="1100455"/>
            <a:ext cx="10972800" cy="582613"/>
          </a:xfrm>
        </p:spPr>
        <p:txBody>
          <a:bodyPr/>
          <a:lstStyle/>
          <a:p>
            <a:r>
              <a:rPr lang="en-US" dirty="0">
                <a:ln w="22225">
                  <a:solidFill>
                    <a:schemeClr val="accent2"/>
                  </a:solidFill>
                  <a:prstDash val="solid"/>
                </a:ln>
                <a:solidFill>
                  <a:schemeClr val="accent2">
                    <a:lumMod val="40000"/>
                    <a:lumOff val="60000"/>
                    <a:lumMod val="40000"/>
                    <a:lumOff val="60000"/>
                  </a:schemeClr>
                </a:solidFill>
                <a:effectLst/>
              </a:rPr>
              <a:t>ROUND ATELECTASIS</a:t>
            </a:r>
          </a:p>
        </p:txBody>
      </p:sp>
      <p:sp>
        <p:nvSpPr>
          <p:cNvPr id="3" name="Content Placeholder 2"/>
          <p:cNvSpPr>
            <a:spLocks noGrp="1"/>
          </p:cNvSpPr>
          <p:nvPr>
            <p:ph idx="1"/>
          </p:nvPr>
        </p:nvSpPr>
        <p:spPr>
          <a:xfrm>
            <a:off x="737870" y="2010410"/>
            <a:ext cx="9928860" cy="3143250"/>
          </a:xfrm>
        </p:spPr>
        <p:txBody>
          <a:bodyPr>
            <a:noAutofit/>
          </a:bodyPr>
          <a:lstStyle/>
          <a:p>
            <a:r>
              <a:rPr lang="en-US" sz="2000" dirty="0"/>
              <a:t>FOLDED LUNG </a:t>
            </a:r>
          </a:p>
          <a:p>
            <a:r>
              <a:rPr lang="en-US" sz="2000" dirty="0"/>
              <a:t>Chronic </a:t>
            </a:r>
            <a:r>
              <a:rPr lang="en-US" sz="2000" dirty="0" err="1"/>
              <a:t>atelectasis</a:t>
            </a:r>
            <a:r>
              <a:rPr lang="en-US" sz="2000" dirty="0"/>
              <a:t> that resembles mass </a:t>
            </a:r>
          </a:p>
          <a:p>
            <a:r>
              <a:rPr lang="en-US" sz="2000" dirty="0"/>
              <a:t>X ray and ct – </a:t>
            </a:r>
            <a:r>
              <a:rPr lang="en-US" sz="2000" dirty="0" err="1"/>
              <a:t>Peripherily</a:t>
            </a:r>
            <a:r>
              <a:rPr lang="en-US" sz="2000" dirty="0"/>
              <a:t> located , wedge shaped opacity </a:t>
            </a:r>
          </a:p>
          <a:p>
            <a:r>
              <a:rPr lang="en-US" sz="2000" dirty="0"/>
              <a:t>Based against focally thickened pleura, commonly at lung base</a:t>
            </a:r>
          </a:p>
          <a:p>
            <a:r>
              <a:rPr lang="en-US" sz="2000" dirty="0"/>
              <a:t>Crow feet  / comet tail of </a:t>
            </a:r>
            <a:r>
              <a:rPr lang="en-US" sz="2000" dirty="0" err="1"/>
              <a:t>vessels</a:t>
            </a:r>
            <a:r>
              <a:rPr lang="en-US" sz="2000" dirty="0"/>
              <a:t> sweeping into the margin of this opacity </a:t>
            </a:r>
          </a:p>
          <a:p>
            <a:r>
              <a:rPr lang="en-IN" sz="2000" dirty="0"/>
              <a:t>A rapidly forming pleural effusion produces an adjacent area of passive </a:t>
            </a:r>
            <a:r>
              <a:rPr lang="en-IN" sz="2000" dirty="0" err="1"/>
              <a:t>atelectasis</a:t>
            </a:r>
            <a:r>
              <a:rPr lang="en-IN" sz="2000" dirty="0"/>
              <a:t> </a:t>
            </a:r>
          </a:p>
          <a:p>
            <a:r>
              <a:rPr lang="en-IN" sz="2000" dirty="0"/>
              <a:t>A groove of visceral pleura may </a:t>
            </a:r>
            <a:r>
              <a:rPr lang="en-IN" sz="2000" dirty="0" err="1"/>
              <a:t>infold</a:t>
            </a:r>
            <a:r>
              <a:rPr lang="en-IN" sz="2000" dirty="0"/>
              <a:t> into the area of </a:t>
            </a:r>
            <a:r>
              <a:rPr lang="en-IN" sz="2000" dirty="0" err="1"/>
              <a:t>atelectasis</a:t>
            </a:r>
            <a:r>
              <a:rPr lang="en-IN" sz="2000" dirty="0"/>
              <a:t> and come to surround a part of it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 ">
            <a:hlinkClick r:id="rId3"/>
          </p:cNvPr>
          <p:cNvPicPr>
            <a:picLocks noGrp="1" noChangeAspect="1" noChangeArrowheads="1"/>
          </p:cNvPicPr>
          <p:nvPr>
            <p:ph sz="half" idx="1"/>
          </p:nvPr>
        </p:nvPicPr>
        <p:blipFill>
          <a:blip r:embed="rId4"/>
          <a:srcRect/>
          <a:stretch>
            <a:fillRect/>
          </a:stretch>
        </p:blipFill>
        <p:spPr bwMode="auto">
          <a:xfrm>
            <a:off x="3570605" y="497840"/>
            <a:ext cx="4445635" cy="4900295"/>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76600" y="1828800"/>
            <a:ext cx="6109335" cy="1322070"/>
          </a:xfrm>
          <a:prstGeom prst="rect">
            <a:avLst/>
          </a:prstGeom>
          <a:noFill/>
        </p:spPr>
        <p:txBody>
          <a:bodyPr wrap="none" rtlCol="0">
            <a:spAutoFit/>
          </a:bodyPr>
          <a:lstStyle/>
          <a:p>
            <a:r>
              <a:rPr lang="en-US" sz="8000" dirty="0">
                <a:solidFill>
                  <a:schemeClr val="tx2">
                    <a:lumMod val="40000"/>
                    <a:lumOff val="60000"/>
                  </a:schemeClr>
                </a:solidFill>
                <a:effectLst>
                  <a:outerShdw blurRad="38100" dist="19050" dir="2700000" algn="tl" rotWithShape="0">
                    <a:schemeClr val="dk1">
                      <a:alpha val="40000"/>
                      <a:alpha val="40000"/>
                    </a:schemeClr>
                  </a:outerShdw>
                </a:effectLst>
                <a:latin typeface="Algerian" pitchFamily="82" charset="0"/>
              </a:rPr>
              <a:t>THANK YOU</a:t>
            </a:r>
          </a:p>
        </p:txBody>
      </p:sp>
      <p:sp>
        <p:nvSpPr>
          <p:cNvPr id="4" name="Date Placeholder 3"/>
          <p:cNvSpPr>
            <a:spLocks noGrp="1"/>
          </p:cNvSpPr>
          <p:nvPr>
            <p:ph type="dt" sz="half" idx="10"/>
          </p:nvPr>
        </p:nvSpPr>
        <p:spPr/>
        <p:txBody>
          <a:bodyPr/>
          <a:lstStyle/>
          <a:p>
            <a:fld id="{AA821633-BCD1-49F5-9F10-1BBAEEB32351}" type="datetime1">
              <a:rPr lang="en-US" smtClean="0"/>
              <a:t>6/14/2026</a:t>
            </a:fld>
            <a:endParaRPr lang="en-US"/>
          </a:p>
        </p:txBody>
      </p:sp>
      <p:sp>
        <p:nvSpPr>
          <p:cNvPr id="5" name="Slide Number Placeholder 4"/>
          <p:cNvSpPr>
            <a:spLocks noGrp="1"/>
          </p:cNvSpPr>
          <p:nvPr>
            <p:ph type="sldNum" sz="quarter" idx="12"/>
          </p:nvPr>
        </p:nvSpPr>
        <p:spPr/>
        <p:txBody>
          <a:bodyPr/>
          <a:lstStyle/>
          <a:p>
            <a:fld id="{353E3468-D7AF-43C9-BBCC-9E0083E67E6F}" type="slidenum">
              <a:rPr lang="en-US" smtClean="0"/>
              <a:t>87</a:t>
            </a:fld>
            <a:endParaRPr lang="en-US"/>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SimSun"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3330</Words>
  <Application>Microsoft Office PowerPoint</Application>
  <PresentationFormat>Widescreen</PresentationFormat>
  <Paragraphs>480</Paragraphs>
  <Slides>87</Slides>
  <Notes>85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87</vt:i4>
      </vt:variant>
    </vt:vector>
  </HeadingPairs>
  <TitlesOfParts>
    <vt:vector size="92" baseType="lpstr">
      <vt:lpstr>Algerian</vt:lpstr>
      <vt:lpstr>Arial</vt:lpstr>
      <vt:lpstr>Calibri</vt:lpstr>
      <vt:lpstr>Wingdings</vt:lpstr>
      <vt:lpstr>Orange Waves</vt:lpstr>
      <vt:lpstr>IMAGING OF SOLITARY PULMONARY NODULE (SPN)</vt:lpstr>
      <vt:lpstr>DEFINITION</vt:lpstr>
      <vt:lpstr>IMAGING OF SPN</vt:lpstr>
      <vt:lpstr>SPURIOUS LESIONS ON CXR</vt:lpstr>
      <vt:lpstr>MORPHOLOGICAL CHARACTERISTICS OF SPN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LOBULATED MARGINS</vt:lpstr>
      <vt:lpstr>PowerPoint Presentation</vt:lpstr>
      <vt:lpstr>PowerPoint Presentation</vt:lpstr>
      <vt:lpstr>PowerPoint Presentation</vt:lpstr>
      <vt:lpstr>PowerPoint Presentation</vt:lpstr>
      <vt:lpstr>PowerPoint Presentation</vt:lpstr>
      <vt:lpstr>INTERNAL CHARACTERISTICS OF SPN</vt:lpstr>
      <vt:lpstr>PowerPoint Presentation</vt:lpstr>
      <vt:lpstr>PowerPoint Presentation</vt:lpstr>
      <vt:lpstr>CENTRAL CALCIFICATION/BULLS EYE</vt:lpstr>
      <vt:lpstr>  CONCENTRIC RINGS/LAMINATED/TARGET : Tb, fungal granulomas   </vt:lpstr>
      <vt:lpstr>POPCORN CALCIFICATION</vt:lpstr>
      <vt:lpstr>CALCIFICATION: INTERMEDIATE</vt:lpstr>
      <vt:lpstr>CALCIFICATION: MALIGNANCY</vt:lpstr>
      <vt:lpstr>PowerPoint Presentation</vt:lpstr>
      <vt:lpstr>PowerPoint Presentation</vt:lpstr>
      <vt:lpstr>AREA OF FAT ATTENUATION IN NODULE : HAMARTOMA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POSITIVE BRONCHUS SIGN</vt:lpstr>
      <vt:lpstr>CONTRAST ENHANCEMENT</vt:lpstr>
      <vt:lpstr>15 MIN DELAY</vt:lpstr>
      <vt:lpstr>PowerPoint Presentation</vt:lpstr>
      <vt:lpstr>PowerPoint Presentation</vt:lpstr>
      <vt:lpstr>GROWTH RATE ASSESSMENT</vt:lpstr>
      <vt:lpstr>PowerPoint Presentation</vt:lpstr>
      <vt:lpstr>COMPUTER AIDED DIAGNOSIS (AI)</vt:lpstr>
      <vt:lpstr>ROLE OF DUAL ENERGY CT IN SPN</vt:lpstr>
      <vt:lpstr>ROLE OF CONTRAST ENHANCED DYNAMIC MRI IN SPN</vt:lpstr>
      <vt:lpstr>PowerPoint Presentation</vt:lpstr>
      <vt:lpstr>PowerPoint Presentation</vt:lpstr>
      <vt:lpstr>ROLE OF DW-MRI IN SPN</vt:lpstr>
      <vt:lpstr>Disadvantages of MRI</vt:lpstr>
      <vt:lpstr>ROLE OF FDG-PET</vt:lpstr>
      <vt:lpstr>PowerPoint Presentation</vt:lpstr>
      <vt:lpstr>Axial CT         Axial PET</vt:lpstr>
      <vt:lpstr>ROLE OF SPECT IN SPN</vt:lpstr>
      <vt:lpstr>THALLIUM SPECT IN SPN</vt:lpstr>
      <vt:lpstr>PowerPoint Presentation</vt:lpstr>
      <vt:lpstr>Fleischner Guideline 2017</vt:lpstr>
      <vt:lpstr>Risk Factors of Pulmonary Nodule Malignancy are</vt:lpstr>
      <vt:lpstr>PowerPoint Presentation</vt:lpstr>
      <vt:lpstr>PowerPoint Presentation</vt:lpstr>
      <vt:lpstr>PowerPoint Presentation</vt:lpstr>
      <vt:lpstr>DIFFERNTIAL DIAGNOSIS OF SPN</vt:lpstr>
      <vt:lpstr>BRONCHIAL CARCINOID</vt:lpstr>
      <vt:lpstr>PowerPoint Presentation</vt:lpstr>
      <vt:lpstr>PowerPoint Presentation</vt:lpstr>
      <vt:lpstr>PULMONARY HAMARTOMA</vt:lpstr>
      <vt:lpstr>PowerPoint Presentation</vt:lpstr>
      <vt:lpstr>PowerPoint Presentation</vt:lpstr>
      <vt:lpstr>PowerPoint Presentation</vt:lpstr>
      <vt:lpstr>Granuloma </vt:lpstr>
      <vt:lpstr>FOCAL ROUND PNEUMONIA</vt:lpstr>
      <vt:lpstr>PowerPoint Presentation</vt:lpstr>
      <vt:lpstr>PowerPoint Presentation</vt:lpstr>
      <vt:lpstr>PowerPoint Presentation</vt:lpstr>
      <vt:lpstr>AVM</vt:lpstr>
      <vt:lpstr>AVM</vt:lpstr>
      <vt:lpstr>PowerPoint Presentation</vt:lpstr>
      <vt:lpstr>INFARCT</vt:lpstr>
      <vt:lpstr>PowerPoint Presentation</vt:lpstr>
      <vt:lpstr>PowerPoint Presentation</vt:lpstr>
      <vt:lpstr>ROUND ATELECTASIS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youpeshkumarmeena</dc:creator>
  <cp:lastModifiedBy>Dr Pawanpreet Singh</cp:lastModifiedBy>
  <cp:revision>89</cp:revision>
  <dcterms:created xsi:type="dcterms:W3CDTF">2026-05-03T15:33:41Z</dcterms:created>
  <dcterms:modified xsi:type="dcterms:W3CDTF">2026-06-14T16:07:55Z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60F074535B8419F60E91F569CB69FC86_41</vt:lpwstr>
  </property>
  <property fmtid="{D5CDD505-2E9C-101B-9397-08002B2CF9AE}" pid="3" name="KSOProductBuildVer">
    <vt:lpwstr>1033-12.1.23153.23153</vt:lpwstr>
  </property>
</Properties>
</file>