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EB1B-6713-C14F-54E5-50B1FF69B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E0FC-64B6-FCFA-7027-E12FFA97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5B98D-F99F-2076-DA37-C521B079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18796-E224-02FF-12B4-7FCA0E27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E3CFE-FD04-D082-A1A2-15DCBFF1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93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2482E-87AC-DFCE-132A-EA7CE29B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1218-62D9-2D3F-AFCA-4C26FA210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3FE2-DE2C-AEC6-BE54-58F27F676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13DFD-DC0D-B7CB-8BC5-AC555890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9C83-34AD-0F0E-6E64-FA3C45F5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9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D152-C8B1-35CF-B631-E2085ECD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939F-2621-FFA9-30B0-34C340829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BB4D-BF97-C384-F7F4-504E499A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0F-97C9-810F-5AF8-DD5D914B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0183E-6B9A-84FE-EB05-8911028F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87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FDBF-1B95-AB0D-285D-CEB63895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D31A-006F-9744-A73D-E5EC9ABDD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FD3FC-871F-6F7C-0FE1-79BEA5E50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D0BCA-9497-1A37-C480-8DB5913F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E8419-FF0F-78C1-7CBD-D04094B7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3EEA4-F5FF-2CA8-A90B-B96470E4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47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7255-8504-610A-7662-91229C3A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CE45B-A5D3-5F14-64FC-A4B2605AF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6845F-837F-24F5-CA19-AB3910F4E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1C784-A33E-865B-AEF7-77398E903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64B73-3C48-6022-A2FF-94B0BE566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61F4D6-30A4-F492-C08F-B74EC6F0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C983F-F981-E3BD-4FF7-B96AD281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CBB2F-5C16-2A7E-DF59-219AC551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43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CA11-9F4B-9F92-C196-4B8B2FAC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2FE00-C8E2-E1B0-5A18-B1F14C8E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C2484-169C-8E1D-8D31-7278347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AEC7-BED2-CA69-F340-9E140735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13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CB9F7-191C-5241-3088-D5E4A2F6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1ACA7-8559-791F-3AA0-C9AAD9CC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8B4A-D460-7544-7AD0-B4D3D384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10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C5A2-5FE2-4361-533E-EB13FB604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E01D2-D223-C188-49E6-1C02A981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869FC-D22B-DD0B-6019-E86DDC981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123E4-5B5D-BF50-AE4A-FAD751D1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EF974-039B-86FD-81B4-96DB81D0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8F613-FD2F-7C06-DA3E-F4FFA99D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290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DA2C-885F-9730-E707-F3AF46D7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64C92-54A0-3BD6-DB97-8888BF393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31EE5-9426-9C45-F05F-24E46E610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C4A99-17DF-14BA-FBC3-0F85672F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11F95-3E03-95E0-416B-28DA5B33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3BEE0-D01C-3674-7533-915FF344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898F-5D3C-8D3F-5220-8D0EDFEE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08DB3-8C51-E38E-E055-BC337F7F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0BD18-C0BA-B6F8-509A-56761171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9CF5C-FF7B-4AA6-098C-C121EA9F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68E6E-428A-7C3F-93C1-0CCFD2CF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45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0F839-4D41-02E0-8C01-23C9228AC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079D9-B3C0-7536-80F6-31E2354B9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D054D-C8A0-D1FC-0E29-63FB93B1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184FB-F914-80A6-ED51-817B7B15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DB171-75DC-E1EB-7F41-3D4E3E82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70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2AED-1828-0DA0-AC0F-693035D2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6676-13B0-1395-32C3-0A317F11E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694B-541E-FA84-DBF5-CD7837F9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22874-8E4E-44FE-0103-5A1ACD1D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98F41-5527-F24F-D1B1-DB0AFF72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20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3B2F0-CEC9-DDE7-FBE1-60430789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A83F5-68D0-A010-FA2E-8128EEE3D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F1F65-5F0A-48E4-6D3C-06E84A19D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C1D0D-79E3-4A28-99C5-B2DB29689C0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8449C-296D-DBD3-4E82-B21DE57B5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6281A-75D3-FF15-EBA5-DFD2B5B0C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5094B-EDCC-4A01-A636-907DA5182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67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8A49-777A-4FA9-38C2-AFA3DE2E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Total Hip Arthroplasty
Approaches &amp; Outcomes</a:t>
            </a:r>
            <a:endParaRPr lang="en-IN" sz="3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953E9-C992-149B-8720-28FB0B910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Dr. Maninder Singh, MS Orthopaedics | GMCH Amritsar</a:t>
            </a:r>
          </a:p>
        </p:txBody>
      </p:sp>
    </p:spTree>
    <p:extLst>
      <p:ext uri="{BB962C8B-B14F-4D97-AF65-F5344CB8AC3E}">
        <p14:creationId xmlns:p14="http://schemas.microsoft.com/office/powerpoint/2010/main" val="201175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EBEB-89A5-1EC7-FE25-36F3B6C5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Indications &amp; Pre-operative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F5C5F-479B-DB94-2126-E935AA0F1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Indications: End-stage hip OA, AVN femoral head, RA, post-traumatic arthritis, failed hemiarthroplasty</a:t>
            </a:r>
          </a:p>
          <a:p>
            <a:r>
              <a:rPr lang="en-US" sz="1600"/>
              <a:t>• Relative: Age, activity level, BMI, bone stock</a:t>
            </a:r>
          </a:p>
          <a:p>
            <a:r>
              <a:rPr lang="en-US" sz="1600"/>
              <a:t>• Pre-op planning: Template on AP pelvis X-ray — select cup size, femoral stem, neck length</a:t>
            </a:r>
          </a:p>
          <a:p>
            <a:r>
              <a:rPr lang="en-US" sz="1600"/>
              <a:t>• Leg length discrepancy: Assess and plan correction</a:t>
            </a:r>
          </a:p>
          <a:p>
            <a:r>
              <a:rPr lang="en-US" sz="1600"/>
              <a:t>• Templating: Acetabular cup 40–45° inclination, 15–20° anteversion; Combined anteversion 25–40°</a:t>
            </a:r>
          </a:p>
          <a:p>
            <a:r>
              <a:rPr lang="en-US" sz="1600"/>
              <a:t>• Investigations: CBC, ESR, CRP, coagulation, chest X-ray, ECG</a:t>
            </a:r>
          </a:p>
          <a:p>
            <a:r>
              <a:rPr lang="en-US" sz="1600"/>
              <a:t>• Optimize: Control diabetes, stop anticoagulants 5 days pre-op, pre-donate blood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59179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DB41-759C-2706-E69F-5F39F474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Surgical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E5043-C0C1-2D63-3BCC-5E2641CC2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Posterior (Moore/Southern): Most widely used; excellent access; higher dislocation risk (posterior)</a:t>
            </a:r>
            <a:endParaRPr lang="fr-FR" sz="1600"/>
          </a:p>
          <a:p>
            <a:r>
              <a:rPr lang="fr-FR" sz="1600"/>
              <a:t>  — Internervous: None — splits gluteus maximus fibres</a:t>
            </a:r>
            <a:endParaRPr lang="en-US" sz="1600"/>
          </a:p>
          <a:p>
            <a:r>
              <a:rPr lang="en-US" sz="1600"/>
              <a:t>  — Repair posterior capsule + external rotators reduces dislocation to &lt;1%</a:t>
            </a:r>
          </a:p>
          <a:p>
            <a:r>
              <a:rPr lang="en-US" sz="1600"/>
              <a:t>• Lateral/Hardinge (Direct Lateral, Transgluteal): Detaches anterior gluteus medius</a:t>
            </a:r>
          </a:p>
          <a:p>
            <a:r>
              <a:rPr lang="en-US" sz="1600"/>
              <a:t>  — Advantage: Lower dislocation risk; Disadvantage: Abductor weakness (Trendelenburg gait)</a:t>
            </a:r>
          </a:p>
          <a:p>
            <a:r>
              <a:rPr lang="en-US" sz="1600"/>
              <a:t>• Anterolateral (Watson-Jones): Between TFL and gluteus medius (superior gluteal nerve)</a:t>
            </a:r>
          </a:p>
          <a:p>
            <a:r>
              <a:rPr lang="en-US" sz="1600"/>
              <a:t>• Direct Anterior Approach (DAA/Smith-Petersen): Internervous (LFCN/femoral + gluteal)</a:t>
            </a:r>
          </a:p>
          <a:p>
            <a:r>
              <a:rPr lang="en-US" sz="1600"/>
              <a:t>  — Supine position; allows intraoperative C-arm leg length check</a:t>
            </a:r>
          </a:p>
          <a:p>
            <a:r>
              <a:rPr lang="en-US" sz="1600"/>
              <a:t>  — LFCN (lateral femoral cutaneous nerve) at risk; steep learning curve</a:t>
            </a:r>
          </a:p>
          <a:p>
            <a:r>
              <a:rPr lang="en-US" sz="1600"/>
              <a:t>• Mini-incision approaches: Faster recovery; same outcomes if experienced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50287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69BC-C55E-C3E4-9A4C-4F786856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Implant Options &amp; Fixation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A45BA-B9D1-474B-FC77-F25685B3C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Cemented: PMMA cement; immediate fixation; preferred in elderly osteoporotic bone</a:t>
            </a:r>
            <a:endParaRPr lang="fr-FR" sz="1600"/>
          </a:p>
          <a:p>
            <a:r>
              <a:rPr lang="fr-FR" sz="1600"/>
              <a:t>  — Cement mantle 2–3 mm; Cement gun, pressurization</a:t>
            </a:r>
            <a:endParaRPr lang="en-US" sz="1600"/>
          </a:p>
          <a:p>
            <a:r>
              <a:rPr lang="en-US" sz="1600"/>
              <a:t>• Cementless (Press-fit): HA/porous coating; bone ingrowth; preferred in younger active patients</a:t>
            </a:r>
          </a:p>
          <a:p>
            <a:r>
              <a:rPr lang="en-US" sz="1600"/>
              <a:t>  — Initial press-fit stability essential for ingrowth</a:t>
            </a:r>
          </a:p>
          <a:p>
            <a:r>
              <a:rPr lang="en-US" sz="1600"/>
              <a:t>• Hybrid: Cemented stem + cementless cup (most common in UK)</a:t>
            </a:r>
          </a:p>
          <a:p>
            <a:r>
              <a:rPr lang="en-US" sz="1600"/>
              <a:t>• Cup materials: UHMWPE, Ceramic, Metal; Crosslinked PE = gold standard; reduces wear</a:t>
            </a:r>
          </a:p>
          <a:p>
            <a:r>
              <a:rPr lang="en-US" sz="1600"/>
              <a:t>• Femoral head: 28/32/36 mm; larger head = more ROM, less dislocation; more wear</a:t>
            </a:r>
          </a:p>
          <a:p>
            <a:r>
              <a:rPr lang="en-US" sz="1600"/>
              <a:t>• Bearing surfaces: Metal-on-PE, Ceramic-on-Ceramic (least wear), Metal-on-Metal (avoid — ARMD risk)</a:t>
            </a:r>
          </a:p>
          <a:p>
            <a:r>
              <a:rPr lang="en-US" sz="1600"/>
              <a:t>• Stems: Collared, collarless, modular, monoblock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27261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0671-47EE-E60C-813E-FE7228E2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Complications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DC742-2C4A-5746-0B53-F03620599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Dislocation: Most common complication (posterior approach 3–6%); Reduce with capsule repair</a:t>
            </a:r>
          </a:p>
          <a:p>
            <a:r>
              <a:rPr lang="en-US" sz="1600"/>
              <a:t>• Leg length discrepancy: Measure intraoperatively; aim &lt;1 cm</a:t>
            </a:r>
          </a:p>
          <a:p>
            <a:r>
              <a:rPr lang="en-US" sz="1600"/>
              <a:t>• Nerve injury: Sciatic nerve (posterior) / femoral nerve (anterior) — 1–2%</a:t>
            </a:r>
          </a:p>
          <a:p>
            <a:r>
              <a:rPr lang="en-US" sz="1600"/>
              <a:t>• Vascular injury: Rare; acetabular screw direction critical (posterior quadrant safe zone)</a:t>
            </a:r>
          </a:p>
          <a:p>
            <a:r>
              <a:rPr lang="en-US" sz="1600"/>
              <a:t>• DVT/PE: Prophylaxis — LMWH 28–35 days; Aspirin alternative</a:t>
            </a:r>
          </a:p>
          <a:p>
            <a:r>
              <a:rPr lang="en-US" sz="1600"/>
              <a:t>• Periprosthetic fracture: Vancouver A (trochanter) / B (stem) / C (below stem)</a:t>
            </a:r>
          </a:p>
          <a:p>
            <a:r>
              <a:rPr lang="en-US" sz="1600"/>
              <a:t>• Aseptic loosening: Osteolysis from polyethylene wear; revision surgery required</a:t>
            </a:r>
          </a:p>
          <a:p>
            <a:r>
              <a:rPr lang="en-US" sz="1600"/>
              <a:t>• Periprosthetic joint infection (PJI): &lt;1–2%; Treatment: irrigation+debridement or 2-stage revision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95412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494C-BC62-B191-336A-E1EEAED4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Outcomes &amp;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58D3A-AD23-32C7-AE32-0BA085D7E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Patient satisfaction: &gt;90% at 10 years; pain relief excellent</a:t>
            </a:r>
          </a:p>
          <a:p>
            <a:r>
              <a:rPr lang="en-US" sz="1600"/>
              <a:t>• Survivorship: 95% at 10 years; &gt;85% at 20 years (modern implants)</a:t>
            </a:r>
          </a:p>
          <a:p>
            <a:r>
              <a:rPr lang="en-US" sz="1600"/>
              <a:t>• Harris Hip Score (HHS): Out of 100; excellent &gt;90; poor &lt;70</a:t>
            </a:r>
          </a:p>
          <a:p>
            <a:r>
              <a:rPr lang="en-US" sz="1600"/>
              <a:t>• WOMAC, Oxford Hip Score — patient-reported outcomes</a:t>
            </a:r>
          </a:p>
          <a:p>
            <a:r>
              <a:rPr lang="en-US" sz="1600"/>
              <a:t>• Return to activity: Walking unlimited; cycling, golf, swimming allowed</a:t>
            </a:r>
          </a:p>
          <a:p>
            <a:r>
              <a:rPr lang="en-US" sz="1600"/>
              <a:t>• High-impact activities: Running, contact sports discouraged</a:t>
            </a:r>
          </a:p>
          <a:p>
            <a:r>
              <a:rPr lang="en-US" sz="1600"/>
              <a:t>• NJR (National Joint Registry) data: Cementless most implanted worldwide</a:t>
            </a:r>
          </a:p>
          <a:p>
            <a:r>
              <a:rPr lang="en-US" sz="1600"/>
              <a:t>• Revision rate: 1% per year; higher in young (&lt;55 yrs) active males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21099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7444-49C6-5502-4C45-2A030735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71A8-E5A5-1D3C-D84D-13F88D11F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THR = gold standard for end-stage hip disease</a:t>
            </a:r>
          </a:p>
          <a:p>
            <a:r>
              <a:rPr lang="en-US" sz="1600"/>
              <a:t>• Posterior approach: Most common; repair capsule to reduce dislocation</a:t>
            </a:r>
          </a:p>
          <a:p>
            <a:r>
              <a:rPr lang="en-US" sz="1600"/>
              <a:t>• DAA: Growing popularity; less restriction, faster recovery, LFCN risk</a:t>
            </a:r>
          </a:p>
          <a:p>
            <a:r>
              <a:rPr lang="en-US" sz="1600"/>
              <a:t>• Cementless stems preferred in younger patients; cemented in elderly</a:t>
            </a:r>
          </a:p>
          <a:p>
            <a:r>
              <a:rPr lang="en-US" sz="1600"/>
              <a:t>• Crosslinked PE bearing = best wear profile</a:t>
            </a:r>
          </a:p>
          <a:p>
            <a:r>
              <a:rPr lang="en-US" sz="1600"/>
              <a:t>• Combined anteversion concept (25–40°) critical to prevent impingement/dislocation</a:t>
            </a:r>
          </a:p>
          <a:p>
            <a:r>
              <a:rPr lang="en-US" sz="1600"/>
              <a:t>• Reference: Surgical Approaches to the Hip — Hoppenfeld; Biomechanics of the Hip — Pauwels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90097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Total Hip Arthroplasty
Approaches &amp; Outcomes</vt:lpstr>
      <vt:lpstr>Indications &amp; Pre-operative Planning</vt:lpstr>
      <vt:lpstr>Surgical Approaches</vt:lpstr>
      <vt:lpstr>Implant Options &amp; Fixation</vt:lpstr>
      <vt:lpstr>Complications</vt:lpstr>
      <vt:lpstr>Outcomes &amp;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2026-06-08T08:18:33Z</dcterms:created>
  <dcterms:modified xsi:type="dcterms:W3CDTF">2026-06-08T08:18:33Z</dcterms:modified>
</cp:coreProperties>
</file>